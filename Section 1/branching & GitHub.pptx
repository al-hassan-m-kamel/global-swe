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79" r:id="rId4"/>
    <p:sldId id="283" r:id="rId5"/>
    <p:sldId id="267" r:id="rId6"/>
    <p:sldId id="268" r:id="rId7"/>
    <p:sldId id="273" r:id="rId8"/>
    <p:sldId id="280" r:id="rId9"/>
    <p:sldId id="281" r:id="rId10"/>
    <p:sldId id="286" r:id="rId11"/>
    <p:sldId id="287" r:id="rId12"/>
    <p:sldId id="28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E3260-B649-4122-A879-9EDC0B13B20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F938A0-AF81-431C-ABB0-46603D0A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928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F938A0-AF81-431C-ABB0-46603D0A79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08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42BC7-7827-69F7-B704-80DD48B3A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89864C-18B5-AC24-89ED-30909DDA1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51051-BB83-8752-1E07-B171E65EF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275C6-8CA8-5F14-5359-FC50EAE23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43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C6CD-92B9-A64E-C67E-D28E401F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96EC9-0747-0875-1167-50B42CE7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538C8-9A13-0F34-C2CE-2DEC782FF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A0C2A-BE65-ACA7-3F7B-D7DB298DE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0114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C7C9-A3C8-9444-39FF-377B3DFF7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7EB61-680C-644B-A059-52396FBEC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8EC7A-9F8E-47B5-781A-2CFFE6DFE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92A9C-4951-DBD2-86B2-663479F90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6421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2C1C8-959A-6F14-F138-4011BD999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CCAEE-E731-3CBC-5313-BDDF79937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88C2D-80BD-A7AC-5E24-C81AE1918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B0129-F48E-F894-E0A1-2D5086DD38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16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F4B49-D558-4A58-A660-A6B0C1643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B5E15-69C1-CE42-C030-345C8C87B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72C38-4DEE-749C-92FA-60628FF5A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65EC2-1601-D8B3-0BF4-ED1E7BDA2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20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7C9F-8A2A-93D0-567C-73E99043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E2B2E-1C83-CADF-B4D4-3F6B40251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8DE73-C685-6703-5562-3E1EBB2F04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D0644-5D7A-D5EA-7A63-1564E296A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984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F882-E445-446B-3E0A-09E20AAA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B20528-2108-E4D0-05DF-41DD7438D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C340F-36B6-6ED1-FE83-C1B3C737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9756B-0611-DFF3-AEB2-710570798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044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FA18-2A65-C1DD-7A9D-6D88CB79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F1095-01C1-D5B6-9BBA-608972B1A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3C335-6182-4CC5-B926-63A77E29E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8C1BE-D2BC-91DA-1995-9E42854B0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4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9AC3-C3A9-E879-7E82-E7ED6A95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A9401-7938-47FD-9085-80B8202AA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E9189-229C-98D5-865C-8E9E00493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B797-6F34-82AC-B830-072024255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12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3B4A-DD96-7A93-BE45-7B42DFD5B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A1227-F586-05E2-1AE3-D3BF5BD3E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5ED3F-10CF-2B14-3926-D6140DDD0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5D616-63E5-F8BE-B8C4-F340EB763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058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84C7B-B89D-E192-8E1E-C89C1F82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0DA92-A70F-789F-B0E3-FDBDC254F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6614EA-A563-BF98-9AC9-03DAEB60D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43A7E-B1F4-E8CA-3F55-647866F47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CD1D2-9E42-4E1F-B86C-5AF6F74F60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784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82FF8-DBF6-0522-85CE-556B5F37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6782F-3E16-2905-767B-D61B438C2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5621C-0540-1363-D60B-10A23870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7F11F-596F-5AC2-7D37-7A1F7D1A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5FBC-A81F-58E4-27A3-F24B8D3CA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88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3150-5DC5-2450-35CC-447323D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88372-EF78-CEE9-550F-33DAD9721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77059-25A4-7AAA-ECFF-90A0F154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D06E-B83D-14CC-C1FD-9AD0B538A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21EFB-1096-2F35-D3E7-88AE3298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89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DD64D-C60C-30BF-3864-08F74843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BCB5-862D-E67E-1564-0E6C727B9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93E13-5F36-48FA-AFB3-58111D6B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8ABFF-9D13-D8DE-D850-807C7EAA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CA02E-8208-2937-4C74-3BB40CB1E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5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95C16-2A99-EAAC-72C7-4A35E753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1183-6E6C-ED91-80C5-6CF121A20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896D9-66E5-4E59-A804-48DEB22D8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C334-6FF6-F55B-1ABC-A9A04F9D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29B5C-1330-2EDC-F010-E2DB559BF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003D4-9638-345A-BA96-46F5755A2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0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9B49-4227-F757-FE6D-104C80DA7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281C-746D-4E5D-10D0-A00C64C3D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4350C-73FC-F2D6-520B-DFD804F5A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B238B-2D69-DA8C-389E-38628D0DA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B810F-B85E-0B0D-C974-E70C00ACF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F819EE-1AB8-392F-7EAD-CDC1E67B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32520-8D4D-44B8-36A0-18FB4EAD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9B3BD7-D510-2492-5529-B7725847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26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BEF9-D278-4D04-59FB-4D62DEA7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09EC1A-53FE-0A35-9524-86B8E31BC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2C61C0-1666-5F2E-666A-ADD019AB6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3CF48-5D2E-31ED-7681-99C9D8DD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49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1CBB3-AF76-2691-7974-78CA5B04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231E7-3866-F7EA-4F0F-1CD9A189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78454-8DC0-F804-1304-0E3CE635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4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65B91-FD58-8FF0-0B10-69AD668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243D-6C1C-3216-7CD0-58A331DA0E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CD823-754A-A3D5-6017-8A25F72F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0AB95-7183-1485-5F78-78185ECC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67A4E-BE24-5A34-4E49-9CC98521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D8929-CD0F-6A50-5365-F8922442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009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6BD8-960B-BE56-A936-78946E0B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F5C6AA-D323-D744-C491-7B659532C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AED26-D5BD-11ED-5700-2D26015AF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2E432-EB50-E778-5AFA-A7D3ABE4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25DE3-1644-6B4C-F04D-F1FCEA97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59337-CA1F-F1B3-797E-D10ED23D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6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3ADC-C445-51F8-3A05-D86914EDF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0A29A-6923-D224-54C6-ABA02A15C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16C9A-606D-ED55-F300-17971820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F2BC-4ACC-C67B-A797-197B676E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FE975-388D-20A8-6D7A-626A8846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0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178AA-516E-BDB2-627B-89FE2150F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D3BB6-553F-070F-7C8D-D7C92C251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03285-8101-BF53-52CB-5524859A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A28DA-975C-6D59-D213-C6B3409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D3D9C-9093-8536-4D5F-CA2CF7F8B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70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8D12A4-5869-E617-E29D-B87E8744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E3D66-A66A-8268-6549-5304ADE8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C5F43-CC7A-5295-0C42-D0100827DA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4A305-39DE-4FED-AA7E-6D43CB4055AA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9D855-D744-04B4-CCE8-3DD69B08B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765C5-948C-CC77-8476-7099C51B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9DA78-DC4D-44F2-B69B-E147512CEB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5" Type="http://schemas.openxmlformats.org/officeDocument/2006/relationships/hyperlink" Target="https://youtube.com/playlist?list=PL-osiE80TeTuRUfjRe54Eea17-YfnOOAx&amp;si=rK49ZuLMdGnXnq6c" TargetMode="External"/><Relationship Id="rId4" Type="http://schemas.openxmlformats.org/officeDocument/2006/relationships/hyperlink" Target="https://youtube.com/playlist?list=PLDoPjvoNmBAw4eOj58MZPakHjaO3frVMF&amp;si=sWBFhTCTo3VRZgR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8D73F3-C499-C854-CCD3-33C32B5AEF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72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99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BB8062-0E69-41FD-39B6-5AC2896496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room for controlling your development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CBC99F-7752-74B7-8F6A-2DD030BAC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&amp; GitHub</a:t>
            </a:r>
          </a:p>
        </p:txBody>
      </p:sp>
    </p:spTree>
    <p:extLst>
      <p:ext uri="{BB962C8B-B14F-4D97-AF65-F5344CB8AC3E}">
        <p14:creationId xmlns:p14="http://schemas.microsoft.com/office/powerpoint/2010/main" val="707177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4844A-B1BC-7176-8960-02DB566A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D59ED2-F19C-B6AF-7A79-92658FF93338}"/>
              </a:ext>
            </a:extLst>
          </p:cNvPr>
          <p:cNvSpPr txBox="1">
            <a:spLocks/>
          </p:cNvSpPr>
          <p:nvPr/>
        </p:nvSpPr>
        <p:spPr>
          <a:xfrm>
            <a:off x="9347" y="352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Git Workflows “Committing Files”: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ACF25B-8C97-F284-DC5D-9CD0CBBF83F6}"/>
              </a:ext>
            </a:extLst>
          </p:cNvPr>
          <p:cNvSpPr/>
          <p:nvPr/>
        </p:nvSpPr>
        <p:spPr>
          <a:xfrm>
            <a:off x="148223" y="1360784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7D7BD4-4B1E-EEE4-91D0-FDD42618E0B8}"/>
              </a:ext>
            </a:extLst>
          </p:cNvPr>
          <p:cNvSpPr/>
          <p:nvPr/>
        </p:nvSpPr>
        <p:spPr>
          <a:xfrm>
            <a:off x="224422" y="1360784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Git maintains three snapshots of a file in separate directories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99C74-7F8D-AC58-878D-A45B0C3AB0CC}"/>
              </a:ext>
            </a:extLst>
          </p:cNvPr>
          <p:cNvSpPr txBox="1"/>
          <p:nvPr/>
        </p:nvSpPr>
        <p:spPr>
          <a:xfrm>
            <a:off x="144164" y="2239668"/>
            <a:ext cx="2981549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Dir where the command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init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executed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FC5EF51-6FE1-17DA-425D-3BED14D89909}"/>
              </a:ext>
            </a:extLst>
          </p:cNvPr>
          <p:cNvSpPr/>
          <p:nvPr/>
        </p:nvSpPr>
        <p:spPr>
          <a:xfrm>
            <a:off x="651468" y="3084163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Working Directory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348F5A1-3405-E6AB-FF46-42C77184BA49}"/>
              </a:ext>
            </a:extLst>
          </p:cNvPr>
          <p:cNvSpPr/>
          <p:nvPr/>
        </p:nvSpPr>
        <p:spPr>
          <a:xfrm>
            <a:off x="3864076" y="3250448"/>
            <a:ext cx="2231924" cy="464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2499CA-F7AF-9A91-CCF7-3A889EE8B4CA}"/>
              </a:ext>
            </a:extLst>
          </p:cNvPr>
          <p:cNvSpPr/>
          <p:nvPr/>
        </p:nvSpPr>
        <p:spPr>
          <a:xfrm>
            <a:off x="7341670" y="3084163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Staging Area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FC215C-A7F2-7711-0070-F31BC752C576}"/>
              </a:ext>
            </a:extLst>
          </p:cNvPr>
          <p:cNvSpPr txBox="1"/>
          <p:nvPr/>
        </p:nvSpPr>
        <p:spPr>
          <a:xfrm>
            <a:off x="3410363" y="3918644"/>
            <a:ext cx="3713567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Adding files and changes using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&lt;git add .&gt;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A2E6F9-0172-A543-35FE-A94330AF021E}"/>
              </a:ext>
            </a:extLst>
          </p:cNvPr>
          <p:cNvSpPr txBox="1"/>
          <p:nvPr/>
        </p:nvSpPr>
        <p:spPr>
          <a:xfrm>
            <a:off x="6721946" y="2239668"/>
            <a:ext cx="2981549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Now the file are tracked and ready for committing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66317AD-990A-0A75-56E2-F3BEC67044D4}"/>
              </a:ext>
            </a:extLst>
          </p:cNvPr>
          <p:cNvSpPr/>
          <p:nvPr/>
        </p:nvSpPr>
        <p:spPr>
          <a:xfrm rot="5400000">
            <a:off x="7779964" y="4719833"/>
            <a:ext cx="1090346" cy="464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193CFA-B142-2F15-1358-2437ECF167F9}"/>
              </a:ext>
            </a:extLst>
          </p:cNvPr>
          <p:cNvSpPr/>
          <p:nvPr/>
        </p:nvSpPr>
        <p:spPr>
          <a:xfrm>
            <a:off x="7341670" y="5571725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 Repository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76BF08-90E0-62DA-2698-2458F36A4E86}"/>
              </a:ext>
            </a:extLst>
          </p:cNvPr>
          <p:cNvSpPr txBox="1"/>
          <p:nvPr/>
        </p:nvSpPr>
        <p:spPr>
          <a:xfrm>
            <a:off x="8832652" y="4564975"/>
            <a:ext cx="2981549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commit changes using 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&lt;git commit –m “msg” 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A3FAB6-505B-C302-57A9-92E5EDEF6EC5}"/>
              </a:ext>
            </a:extLst>
          </p:cNvPr>
          <p:cNvSpPr txBox="1"/>
          <p:nvPr/>
        </p:nvSpPr>
        <p:spPr>
          <a:xfrm>
            <a:off x="204103" y="4556062"/>
            <a:ext cx="2981549" cy="2031325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This is the main steps you do in each update in the repo. The updates may be just adding one line in a file you need to add them to staging then commit this update.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B700738-C727-5985-D521-EC22A7B932A9}"/>
              </a:ext>
            </a:extLst>
          </p:cNvPr>
          <p:cNvSpPr/>
          <p:nvPr/>
        </p:nvSpPr>
        <p:spPr>
          <a:xfrm>
            <a:off x="3981089" y="4975914"/>
            <a:ext cx="2478705" cy="161147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Always check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&lt;git status&gt;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669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791D-0F53-5D35-8129-86A50A7F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A1DC8-4F75-D60E-701C-D8DE67434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1958230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Collaborating between local and remote Repos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78082129-AD62-6D7F-9631-234E9050E5AA}"/>
              </a:ext>
            </a:extLst>
          </p:cNvPr>
          <p:cNvSpPr/>
          <p:nvPr/>
        </p:nvSpPr>
        <p:spPr>
          <a:xfrm>
            <a:off x="117988" y="1675430"/>
            <a:ext cx="2241754" cy="110825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 Repo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E9BD3D-E1EF-B380-7322-9E08256589F5}"/>
              </a:ext>
            </a:extLst>
          </p:cNvPr>
          <p:cNvSpPr/>
          <p:nvPr/>
        </p:nvSpPr>
        <p:spPr>
          <a:xfrm>
            <a:off x="486697" y="3027527"/>
            <a:ext cx="1366684" cy="161659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B0ACABB4-0F6F-ADAD-BE1A-FDBCC26A2F4C}"/>
              </a:ext>
            </a:extLst>
          </p:cNvPr>
          <p:cNvSpPr/>
          <p:nvPr/>
        </p:nvSpPr>
        <p:spPr>
          <a:xfrm>
            <a:off x="4690605" y="1701976"/>
            <a:ext cx="2241754" cy="1108258"/>
          </a:xfrm>
          <a:prstGeom prst="cloud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Remote Repo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32578-DAB6-AF03-A7CE-88F48EF5D363}"/>
              </a:ext>
            </a:extLst>
          </p:cNvPr>
          <p:cNvSpPr/>
          <p:nvPr/>
        </p:nvSpPr>
        <p:spPr>
          <a:xfrm>
            <a:off x="5128140" y="3027527"/>
            <a:ext cx="1366684" cy="161659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ED65FFFC-EF0A-E922-187F-423F87223A04}"/>
              </a:ext>
            </a:extLst>
          </p:cNvPr>
          <p:cNvSpPr/>
          <p:nvPr/>
        </p:nvSpPr>
        <p:spPr>
          <a:xfrm>
            <a:off x="9386134" y="1635937"/>
            <a:ext cx="2241754" cy="1108258"/>
          </a:xfrm>
          <a:prstGeom prst="cloud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Local Repo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6C53AE3-AC2B-E0B1-3639-4AA093B3DF51}"/>
              </a:ext>
            </a:extLst>
          </p:cNvPr>
          <p:cNvSpPr/>
          <p:nvPr/>
        </p:nvSpPr>
        <p:spPr>
          <a:xfrm>
            <a:off x="2544096" y="3352251"/>
            <a:ext cx="1828800" cy="441384"/>
          </a:xfrm>
          <a:prstGeom prst="rightArrow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EA944-AD8F-5EF2-FF82-DC4E57B66C30}"/>
              </a:ext>
            </a:extLst>
          </p:cNvPr>
          <p:cNvSpPr txBox="1"/>
          <p:nvPr/>
        </p:nvSpPr>
        <p:spPr>
          <a:xfrm>
            <a:off x="1932038" y="4022562"/>
            <a:ext cx="309224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git push origin master  &gt;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A7118B18-8EB5-03DE-99EC-988F137EF542}"/>
              </a:ext>
            </a:extLst>
          </p:cNvPr>
          <p:cNvSpPr/>
          <p:nvPr/>
        </p:nvSpPr>
        <p:spPr>
          <a:xfrm>
            <a:off x="7210740" y="3352251"/>
            <a:ext cx="1828800" cy="441384"/>
          </a:xfrm>
          <a:prstGeom prst="rightArrow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D351BB-4421-80CF-7C7C-D44A89C10175}"/>
              </a:ext>
            </a:extLst>
          </p:cNvPr>
          <p:cNvSpPr txBox="1"/>
          <p:nvPr/>
        </p:nvSpPr>
        <p:spPr>
          <a:xfrm>
            <a:off x="6598682" y="4022562"/>
            <a:ext cx="309224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git pull origin master  &gt;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6ABD3B-17BA-1181-10A9-1233E7639CFE}"/>
              </a:ext>
            </a:extLst>
          </p:cNvPr>
          <p:cNvSpPr/>
          <p:nvPr/>
        </p:nvSpPr>
        <p:spPr>
          <a:xfrm>
            <a:off x="9823669" y="3027527"/>
            <a:ext cx="1366684" cy="161659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CBE81A-D0F9-40FA-5CE4-EC2CCD333543}"/>
              </a:ext>
            </a:extLst>
          </p:cNvPr>
          <p:cNvSpPr/>
          <p:nvPr/>
        </p:nvSpPr>
        <p:spPr>
          <a:xfrm>
            <a:off x="9823669" y="5616105"/>
            <a:ext cx="1366684" cy="39307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C5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B4C2A221-11F7-4BA2-DB98-D726863A4173}"/>
              </a:ext>
            </a:extLst>
          </p:cNvPr>
          <p:cNvSpPr/>
          <p:nvPr/>
        </p:nvSpPr>
        <p:spPr>
          <a:xfrm flipH="1">
            <a:off x="7230404" y="5567797"/>
            <a:ext cx="1828800" cy="441384"/>
          </a:xfrm>
          <a:prstGeom prst="rightArrow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AAB7B9-DA08-3794-B60B-40654A823E81}"/>
              </a:ext>
            </a:extLst>
          </p:cNvPr>
          <p:cNvSpPr txBox="1"/>
          <p:nvPr/>
        </p:nvSpPr>
        <p:spPr>
          <a:xfrm>
            <a:off x="6598682" y="4990753"/>
            <a:ext cx="309224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git push origin master  &gt;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1FD06B-F763-7BED-F698-AFD7049B7B3E}"/>
              </a:ext>
            </a:extLst>
          </p:cNvPr>
          <p:cNvSpPr/>
          <p:nvPr/>
        </p:nvSpPr>
        <p:spPr>
          <a:xfrm>
            <a:off x="5128140" y="5616105"/>
            <a:ext cx="1366684" cy="39307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C5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4F5F3BAD-604A-CC96-5FA9-7C6BAADDCA66}"/>
              </a:ext>
            </a:extLst>
          </p:cNvPr>
          <p:cNvSpPr/>
          <p:nvPr/>
        </p:nvSpPr>
        <p:spPr>
          <a:xfrm flipH="1">
            <a:off x="2563760" y="5567797"/>
            <a:ext cx="1828800" cy="441384"/>
          </a:xfrm>
          <a:prstGeom prst="rightArrow">
            <a:avLst/>
          </a:prstGeom>
          <a:solidFill>
            <a:srgbClr val="3A3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C4C05D-7138-92F0-619E-B915555B1F54}"/>
              </a:ext>
            </a:extLst>
          </p:cNvPr>
          <p:cNvSpPr txBox="1"/>
          <p:nvPr/>
        </p:nvSpPr>
        <p:spPr>
          <a:xfrm>
            <a:off x="1932038" y="4990753"/>
            <a:ext cx="309224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&lt; git pull origin master  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25B1126-6B41-0FDA-DB04-8F3C52F6EDA0}"/>
              </a:ext>
            </a:extLst>
          </p:cNvPr>
          <p:cNvSpPr/>
          <p:nvPr/>
        </p:nvSpPr>
        <p:spPr>
          <a:xfrm>
            <a:off x="486697" y="5616105"/>
            <a:ext cx="1366684" cy="39307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163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1AA05-7FFB-5F9E-2083-A56CC3C9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399E-505C-6F26-0650-0FEB32A2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195823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clone vs. git pull: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040D33B-A555-B92B-8C93-06D64690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806040"/>
              </p:ext>
            </p:extLst>
          </p:nvPr>
        </p:nvGraphicFramePr>
        <p:xfrm>
          <a:off x="838200" y="1468996"/>
          <a:ext cx="10515600" cy="3957696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6178074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126283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5962370"/>
                    </a:ext>
                  </a:extLst>
                </a:gridCol>
              </a:tblGrid>
              <a:tr h="476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Aspect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clone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git pull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80715"/>
                  </a:ext>
                </a:extLst>
              </a:tr>
              <a:tr h="476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When to use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First time getting the project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Keeping your local copy up to date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2336635"/>
                  </a:ext>
                </a:extLst>
              </a:tr>
              <a:tr h="806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repo?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No, it creates a new local repo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Yes, needs an existing local repo with a remote set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633855"/>
                  </a:ext>
                </a:extLst>
              </a:tr>
              <a:tr h="11364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What it does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Copies entire history, files, branches, remotes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Fetches new commits from remote and merges into current branch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402484"/>
                  </a:ext>
                </a:extLst>
              </a:tr>
              <a:tr h="8065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Frequency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Usually once per machine per repository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Many times, during normal development workflow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58385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1021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13FE-EE04-9825-8991-C9E54AF2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5523B-C855-2BBC-4E22-0A569BF7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between different commits: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184108-4D33-CDA5-6619-BF9EAF8D2573}"/>
              </a:ext>
            </a:extLst>
          </p:cNvPr>
          <p:cNvSpPr/>
          <p:nvPr/>
        </p:nvSpPr>
        <p:spPr>
          <a:xfrm>
            <a:off x="186323" y="1518107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78DC1-6F64-4043-873D-CA1A93494173}"/>
              </a:ext>
            </a:extLst>
          </p:cNvPr>
          <p:cNvSpPr/>
          <p:nvPr/>
        </p:nvSpPr>
        <p:spPr>
          <a:xfrm>
            <a:off x="262522" y="1518107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show previous commits of the repository (changes you have made): &lt;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log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restrict the output to one line: &lt;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log –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oneline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1898B-6E69-BE4B-6CD2-C117743CB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2"/>
          <a:stretch>
            <a:fillRect/>
          </a:stretch>
        </p:blipFill>
        <p:spPr>
          <a:xfrm>
            <a:off x="186323" y="374711"/>
            <a:ext cx="6417349" cy="5269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E20632-9844-FEC8-BD1E-F3CE49BE2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591" y="2504059"/>
            <a:ext cx="5255085" cy="19302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15120E-3D1B-0653-71CE-150E52E0A6D5}"/>
              </a:ext>
            </a:extLst>
          </p:cNvPr>
          <p:cNvSpPr/>
          <p:nvPr/>
        </p:nvSpPr>
        <p:spPr>
          <a:xfrm>
            <a:off x="186322" y="5983207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AE851D-1BF6-8371-80B3-C0EA3DA1761E}"/>
              </a:ext>
            </a:extLst>
          </p:cNvPr>
          <p:cNvSpPr/>
          <p:nvPr/>
        </p:nvSpPr>
        <p:spPr>
          <a:xfrm>
            <a:off x="262521" y="5983207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Tracking file changes is the ability to identify changes between the different versions of the same file, spread across various repositories.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51C385-E5A1-F9BD-FAB5-12C78EE51D86}"/>
              </a:ext>
            </a:extLst>
          </p:cNvPr>
          <p:cNvCxnSpPr/>
          <p:nvPr/>
        </p:nvCxnSpPr>
        <p:spPr>
          <a:xfrm>
            <a:off x="7570839" y="4006646"/>
            <a:ext cx="855406" cy="8554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1881F1-4BF2-795F-7CEE-04254B0A3187}"/>
              </a:ext>
            </a:extLst>
          </p:cNvPr>
          <p:cNvSpPr txBox="1"/>
          <p:nvPr/>
        </p:nvSpPr>
        <p:spPr>
          <a:xfrm>
            <a:off x="8503044" y="4909173"/>
            <a:ext cx="2399071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commit hash code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799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54012-8618-E718-40F2-644F8DF8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8473F-B193-FE33-5323-83483EFC9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between different commits: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12B9E03-1298-8104-2D31-27C8C7A60F75}"/>
              </a:ext>
            </a:extLst>
          </p:cNvPr>
          <p:cNvSpPr/>
          <p:nvPr/>
        </p:nvSpPr>
        <p:spPr>
          <a:xfrm>
            <a:off x="170956" y="1188442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Directory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5F43CB9-1387-5F8E-58FB-0E8E0AB555CE}"/>
              </a:ext>
            </a:extLst>
          </p:cNvPr>
          <p:cNvSpPr/>
          <p:nvPr/>
        </p:nvSpPr>
        <p:spPr>
          <a:xfrm>
            <a:off x="2342133" y="1518502"/>
            <a:ext cx="878856" cy="464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6AEC67-C99C-FE96-98C0-A85B4F61A9A8}"/>
              </a:ext>
            </a:extLst>
          </p:cNvPr>
          <p:cNvSpPr/>
          <p:nvPr/>
        </p:nvSpPr>
        <p:spPr>
          <a:xfrm>
            <a:off x="3425229" y="1188442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Staging Area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469635-240A-F799-6CEC-CE4BCB47B614}"/>
              </a:ext>
            </a:extLst>
          </p:cNvPr>
          <p:cNvSpPr/>
          <p:nvPr/>
        </p:nvSpPr>
        <p:spPr>
          <a:xfrm>
            <a:off x="6679502" y="1182944"/>
            <a:ext cx="1966937" cy="1124544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Repository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198EC07-9237-A1B3-7041-DC5E57FB61C4}"/>
              </a:ext>
            </a:extLst>
          </p:cNvPr>
          <p:cNvSpPr/>
          <p:nvPr/>
        </p:nvSpPr>
        <p:spPr>
          <a:xfrm>
            <a:off x="5596406" y="1518502"/>
            <a:ext cx="848874" cy="464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EDC02F-AF74-9C0C-A2AC-8F5DE09418F2}"/>
              </a:ext>
            </a:extLst>
          </p:cNvPr>
          <p:cNvSpPr txBox="1"/>
          <p:nvPr/>
        </p:nvSpPr>
        <p:spPr>
          <a:xfrm>
            <a:off x="1798092" y="2329339"/>
            <a:ext cx="1966938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add . 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E38E8A-92A8-53FC-3D12-B0256AE371E0}"/>
              </a:ext>
            </a:extLst>
          </p:cNvPr>
          <p:cNvSpPr txBox="1"/>
          <p:nvPr/>
        </p:nvSpPr>
        <p:spPr>
          <a:xfrm>
            <a:off x="5037374" y="2307488"/>
            <a:ext cx="1966938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commit 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F20E31-7499-A70B-9A24-7CBB86831174}"/>
              </a:ext>
            </a:extLst>
          </p:cNvPr>
          <p:cNvSpPr txBox="1"/>
          <p:nvPr/>
        </p:nvSpPr>
        <p:spPr>
          <a:xfrm>
            <a:off x="9663250" y="1360784"/>
            <a:ext cx="2399071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Commit1 &lt;= HeaD1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Commit2 &lt;= HeaD2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6084C12-6EBA-9806-C34F-CFA0FD8E74A3}"/>
              </a:ext>
            </a:extLst>
          </p:cNvPr>
          <p:cNvSpPr/>
          <p:nvPr/>
        </p:nvSpPr>
        <p:spPr>
          <a:xfrm>
            <a:off x="8730407" y="1518502"/>
            <a:ext cx="848874" cy="4644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34C41B-7DCA-CECA-9D79-5B51F471FA9A}"/>
              </a:ext>
            </a:extLst>
          </p:cNvPr>
          <p:cNvSpPr txBox="1"/>
          <p:nvPr/>
        </p:nvSpPr>
        <p:spPr>
          <a:xfrm>
            <a:off x="8171375" y="2307488"/>
            <a:ext cx="1966938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log &gt;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BA847-0C35-83F2-6327-C0CE88E75DC8}"/>
              </a:ext>
            </a:extLst>
          </p:cNvPr>
          <p:cNvSpPr/>
          <p:nvPr/>
        </p:nvSpPr>
        <p:spPr>
          <a:xfrm>
            <a:off x="170956" y="2913832"/>
            <a:ext cx="111760" cy="68072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CC2428-67A9-CDFC-7782-A61487411C2D}"/>
              </a:ext>
            </a:extLst>
          </p:cNvPr>
          <p:cNvSpPr/>
          <p:nvPr/>
        </p:nvSpPr>
        <p:spPr>
          <a:xfrm>
            <a:off x="247155" y="2913832"/>
            <a:ext cx="11743155" cy="680720"/>
          </a:xfrm>
          <a:prstGeom prst="rect">
            <a:avLst/>
          </a:prstGeom>
          <a:solidFill>
            <a:srgbClr val="3A3A3A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get the differences between different commits in other words what happened from the previous commit to the current one: &lt; 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diff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file_name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|| git diff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commit_hashcode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28441E7-DE45-301A-5EAB-5D70E5504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95" y="3667226"/>
            <a:ext cx="6365438" cy="2998088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D27A78B9-D943-F009-8D2E-C33D8429DFBB}"/>
              </a:ext>
            </a:extLst>
          </p:cNvPr>
          <p:cNvSpPr/>
          <p:nvPr/>
        </p:nvSpPr>
        <p:spPr>
          <a:xfrm>
            <a:off x="7061886" y="3986693"/>
            <a:ext cx="3606113" cy="222729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Nothing will be shown if the two versions of the file are the same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1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3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1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7" grpId="0" animBg="1"/>
      <p:bldP spid="17" grpId="1" animBg="1"/>
      <p:bldP spid="1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C6988-85C2-CCD6-9E1E-E29CBBA7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F5C8B-9A5D-06D2-9524-0514B243B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between different commits: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1ADCD-743C-4E3E-272C-D6794A87D9B5}"/>
              </a:ext>
            </a:extLst>
          </p:cNvPr>
          <p:cNvSpPr txBox="1"/>
          <p:nvPr/>
        </p:nvSpPr>
        <p:spPr>
          <a:xfrm>
            <a:off x="2034429" y="1046158"/>
            <a:ext cx="1966938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log &gt;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03E1B58-5E48-87E4-748E-58A7A5C6CEF5}"/>
              </a:ext>
            </a:extLst>
          </p:cNvPr>
          <p:cNvSpPr/>
          <p:nvPr/>
        </p:nvSpPr>
        <p:spPr>
          <a:xfrm rot="5400000">
            <a:off x="2758437" y="1645373"/>
            <a:ext cx="518921" cy="22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55FD17-0106-4E05-B511-D93365D8C42E}"/>
              </a:ext>
            </a:extLst>
          </p:cNvPr>
          <p:cNvSpPr txBox="1"/>
          <p:nvPr/>
        </p:nvSpPr>
        <p:spPr>
          <a:xfrm>
            <a:off x="97112" y="2132700"/>
            <a:ext cx="5841573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checkout “</a:t>
            </a:r>
            <a:r>
              <a:rPr lang="en-US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commit_hash_code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“</a:t>
            </a:r>
            <a:r>
              <a:rPr lang="en-US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file_name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&gt;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985847E-06AC-137F-E992-990C72CF1D43}"/>
              </a:ext>
            </a:extLst>
          </p:cNvPr>
          <p:cNvSpPr/>
          <p:nvPr/>
        </p:nvSpPr>
        <p:spPr>
          <a:xfrm rot="5400000">
            <a:off x="2758437" y="2731915"/>
            <a:ext cx="518921" cy="22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11CB2-497A-81B8-6CDD-76B0B1063D65}"/>
              </a:ext>
            </a:extLst>
          </p:cNvPr>
          <p:cNvSpPr txBox="1"/>
          <p:nvPr/>
        </p:nvSpPr>
        <p:spPr>
          <a:xfrm>
            <a:off x="2034429" y="3219242"/>
            <a:ext cx="1966938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status &gt;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69B5B904-C7BB-E8BE-1E88-6F9203DDA3DC}"/>
              </a:ext>
            </a:extLst>
          </p:cNvPr>
          <p:cNvSpPr/>
          <p:nvPr/>
        </p:nvSpPr>
        <p:spPr>
          <a:xfrm rot="7311321">
            <a:off x="2196656" y="3881398"/>
            <a:ext cx="600263" cy="22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60E4186-4E9B-ECF6-E2CD-E35037D90516}"/>
              </a:ext>
            </a:extLst>
          </p:cNvPr>
          <p:cNvSpPr/>
          <p:nvPr/>
        </p:nvSpPr>
        <p:spPr>
          <a:xfrm rot="14288679" flipH="1">
            <a:off x="3448620" y="3881397"/>
            <a:ext cx="600263" cy="221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1FD6AF-3698-EF1E-4A60-A9A338F97343}"/>
              </a:ext>
            </a:extLst>
          </p:cNvPr>
          <p:cNvSpPr txBox="1"/>
          <p:nvPr/>
        </p:nvSpPr>
        <p:spPr>
          <a:xfrm>
            <a:off x="97112" y="4487603"/>
            <a:ext cx="292078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commit –m “msg” 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642B4C-5DE8-7AC4-B90A-109313946F2A}"/>
              </a:ext>
            </a:extLst>
          </p:cNvPr>
          <p:cNvSpPr txBox="1"/>
          <p:nvPr/>
        </p:nvSpPr>
        <p:spPr>
          <a:xfrm>
            <a:off x="3561852" y="4487603"/>
            <a:ext cx="2081864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reset 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100C05-AEB1-F1D8-0511-A9AA563B6BAF}"/>
              </a:ext>
            </a:extLst>
          </p:cNvPr>
          <p:cNvSpPr txBox="1"/>
          <p:nvPr/>
        </p:nvSpPr>
        <p:spPr>
          <a:xfrm>
            <a:off x="4196515" y="1083785"/>
            <a:ext cx="4632852" cy="92333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 the details of the commit including the commit hash code associated with the file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F066D6-DB04-124C-D920-5BE63258096F}"/>
              </a:ext>
            </a:extLst>
          </p:cNvPr>
          <p:cNvSpPr txBox="1"/>
          <p:nvPr/>
        </p:nvSpPr>
        <p:spPr>
          <a:xfrm>
            <a:off x="6096000" y="2330379"/>
            <a:ext cx="5260258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Stages the file and reverts it to the specified version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368C7E-A3CD-F2CB-EADB-5A4F43DC59C6}"/>
              </a:ext>
            </a:extLst>
          </p:cNvPr>
          <p:cNvSpPr txBox="1"/>
          <p:nvPr/>
        </p:nvSpPr>
        <p:spPr>
          <a:xfrm>
            <a:off x="371891" y="4973041"/>
            <a:ext cx="2124896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a new version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FC2DE2-1EF4-EEDE-2593-FC6E7E3B3DAC}"/>
              </a:ext>
            </a:extLst>
          </p:cNvPr>
          <p:cNvSpPr txBox="1"/>
          <p:nvPr/>
        </p:nvSpPr>
        <p:spPr>
          <a:xfrm>
            <a:off x="3813789" y="4982875"/>
            <a:ext cx="2124896" cy="92333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Delete the file from the staging area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EDBD25B-21D4-8058-9E91-92B19D551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39645"/>
            <a:ext cx="5928853" cy="10582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A185D05D-426B-DA47-A4EF-E7A9A13F3B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4306192"/>
            <a:ext cx="5928853" cy="49603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ADC306A-C0F0-BA84-7162-F469CCDA9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8" y="4910502"/>
            <a:ext cx="5928853" cy="11063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9DAACCBB-F56C-EC6E-137C-66CFF50081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998" y="6079559"/>
            <a:ext cx="5928853" cy="7432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915162-388A-A6A6-0D7F-C7F39AD8A903}"/>
              </a:ext>
            </a:extLst>
          </p:cNvPr>
          <p:cNvSpPr txBox="1"/>
          <p:nvPr/>
        </p:nvSpPr>
        <p:spPr>
          <a:xfrm>
            <a:off x="266317" y="5741979"/>
            <a:ext cx="3429902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git reset –hard </a:t>
            </a:r>
            <a:r>
              <a:rPr lang="en-US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hashCode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D6ACA1F-7726-7B39-77C3-4477D3D9FBE9}"/>
              </a:ext>
            </a:extLst>
          </p:cNvPr>
          <p:cNvSpPr/>
          <p:nvPr/>
        </p:nvSpPr>
        <p:spPr>
          <a:xfrm rot="16200000" flipH="1">
            <a:off x="2265084" y="4517119"/>
            <a:ext cx="1853962" cy="2025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8EC157-34F3-86E3-8AD0-3850DEBC2DD3}"/>
              </a:ext>
            </a:extLst>
          </p:cNvPr>
          <p:cNvSpPr txBox="1"/>
          <p:nvPr/>
        </p:nvSpPr>
        <p:spPr>
          <a:xfrm>
            <a:off x="97111" y="6180138"/>
            <a:ext cx="5841573" cy="6463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commits that were after it on this branch become “lost” from that branch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455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2" grpId="0" animBg="1"/>
      <p:bldP spid="33" grpId="0" animBg="1"/>
      <p:bldP spid="3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8666-6DE4-A68C-23DA-621CA25C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A021-814C-3464-9E77-6C5D8C0C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AD1701-A960-838C-F337-097119EA806D}"/>
              </a:ext>
            </a:extLst>
          </p:cNvPr>
          <p:cNvSpPr/>
          <p:nvPr/>
        </p:nvSpPr>
        <p:spPr>
          <a:xfrm>
            <a:off x="148223" y="1360784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1438F5-967E-30B8-BB44-6E8BBDD8918B}"/>
              </a:ext>
            </a:extLst>
          </p:cNvPr>
          <p:cNvSpPr/>
          <p:nvPr/>
        </p:nvSpPr>
        <p:spPr>
          <a:xfrm>
            <a:off x="224422" y="1360784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in reducing the errors &amp; protecting the contents of the main (master) repository.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CF3FE2-BE2D-A217-E5A5-7B004E45B2B2}"/>
              </a:ext>
            </a:extLst>
          </p:cNvPr>
          <p:cNvSpPr/>
          <p:nvPr/>
        </p:nvSpPr>
        <p:spPr>
          <a:xfrm>
            <a:off x="148223" y="2209965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2EAFD9-2BEA-5918-CAFC-7BCD4C516D05}"/>
              </a:ext>
            </a:extLst>
          </p:cNvPr>
          <p:cNvSpPr/>
          <p:nvPr/>
        </p:nvSpPr>
        <p:spPr>
          <a:xfrm>
            <a:off x="224422" y="2209965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workspace: used to experiment or test something without impact the main codebase.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A8E231-AD90-64BF-AEB6-4760DF8216AE}"/>
              </a:ext>
            </a:extLst>
          </p:cNvPr>
          <p:cNvSpPr/>
          <p:nvPr/>
        </p:nvSpPr>
        <p:spPr>
          <a:xfrm>
            <a:off x="231272" y="3868336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5A3DFD-697E-6DAA-563F-DEFB29282D3F}"/>
              </a:ext>
            </a:extLst>
          </p:cNvPr>
          <p:cNvSpPr/>
          <p:nvPr/>
        </p:nvSpPr>
        <p:spPr>
          <a:xfrm>
            <a:off x="1237105" y="3868336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085B09-4470-F7EA-082E-379D2B453900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699272" y="4119059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01AF9FD-F866-DDE0-A763-5B5ECB4B1579}"/>
              </a:ext>
            </a:extLst>
          </p:cNvPr>
          <p:cNvSpPr/>
          <p:nvPr/>
        </p:nvSpPr>
        <p:spPr>
          <a:xfrm>
            <a:off x="2242938" y="3868336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269219-2802-4194-9740-7018FA7D792C}"/>
              </a:ext>
            </a:extLst>
          </p:cNvPr>
          <p:cNvSpPr/>
          <p:nvPr/>
        </p:nvSpPr>
        <p:spPr>
          <a:xfrm>
            <a:off x="3248771" y="3868336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8A48ED8-3505-C95F-3D39-89F086B9099A}"/>
              </a:ext>
            </a:extLst>
          </p:cNvPr>
          <p:cNvSpPr/>
          <p:nvPr/>
        </p:nvSpPr>
        <p:spPr>
          <a:xfrm>
            <a:off x="4254604" y="3868336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E420AA-DD79-4E5D-3337-5E0C308EB343}"/>
              </a:ext>
            </a:extLst>
          </p:cNvPr>
          <p:cNvSpPr/>
          <p:nvPr/>
        </p:nvSpPr>
        <p:spPr>
          <a:xfrm>
            <a:off x="4254604" y="4748322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AA5548-6A0F-2C1A-E897-EB41E10C000E}"/>
              </a:ext>
            </a:extLst>
          </p:cNvPr>
          <p:cNvSpPr/>
          <p:nvPr/>
        </p:nvSpPr>
        <p:spPr>
          <a:xfrm>
            <a:off x="5347994" y="4748322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4F8FBCE-7540-8C8B-9A3B-F28EC8A96459}"/>
              </a:ext>
            </a:extLst>
          </p:cNvPr>
          <p:cNvSpPr/>
          <p:nvPr/>
        </p:nvSpPr>
        <p:spPr>
          <a:xfrm>
            <a:off x="2242938" y="2998844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AD29DD3-5C94-47D9-4570-EBA91D580CF4}"/>
              </a:ext>
            </a:extLst>
          </p:cNvPr>
          <p:cNvSpPr/>
          <p:nvPr/>
        </p:nvSpPr>
        <p:spPr>
          <a:xfrm>
            <a:off x="3336328" y="2998844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AD6C2C-64E1-8E7E-50D3-1B3FA5086A26}"/>
              </a:ext>
            </a:extLst>
          </p:cNvPr>
          <p:cNvCxnSpPr/>
          <p:nvPr/>
        </p:nvCxnSpPr>
        <p:spPr>
          <a:xfrm>
            <a:off x="1705105" y="4119059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BF8ABC-4F2E-73BB-1ED0-2D30EF54EFCA}"/>
              </a:ext>
            </a:extLst>
          </p:cNvPr>
          <p:cNvCxnSpPr/>
          <p:nvPr/>
        </p:nvCxnSpPr>
        <p:spPr>
          <a:xfrm>
            <a:off x="2710938" y="4119059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19BCABB-752A-CDAA-9234-6B7776DE6F48}"/>
              </a:ext>
            </a:extLst>
          </p:cNvPr>
          <p:cNvCxnSpPr/>
          <p:nvPr/>
        </p:nvCxnSpPr>
        <p:spPr>
          <a:xfrm>
            <a:off x="3716771" y="4119059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6EB7B4-9315-A24E-ADBB-9615419A9C4D}"/>
              </a:ext>
            </a:extLst>
          </p:cNvPr>
          <p:cNvCxnSpPr>
            <a:stCxn id="21" idx="6"/>
            <a:endCxn id="22" idx="2"/>
          </p:cNvCxnSpPr>
          <p:nvPr/>
        </p:nvCxnSpPr>
        <p:spPr>
          <a:xfrm>
            <a:off x="4722604" y="4999045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9A2B6E-3AEE-1962-4474-32C7BC74BE67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2710938" y="3249567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4C3BB06-3C7F-E3CA-ED26-DCA45EA6A983}"/>
              </a:ext>
            </a:extLst>
          </p:cNvPr>
          <p:cNvSpPr/>
          <p:nvPr/>
        </p:nvSpPr>
        <p:spPr>
          <a:xfrm>
            <a:off x="1883091" y="3402448"/>
            <a:ext cx="403123" cy="737420"/>
          </a:xfrm>
          <a:custGeom>
            <a:avLst/>
            <a:gdLst>
              <a:gd name="connsiteX0" fmla="*/ 0 w 403123"/>
              <a:gd name="connsiteY0" fmla="*/ 737420 h 737420"/>
              <a:gd name="connsiteX1" fmla="*/ 9832 w 403123"/>
              <a:gd name="connsiteY1" fmla="*/ 629265 h 737420"/>
              <a:gd name="connsiteX2" fmla="*/ 49161 w 403123"/>
              <a:gd name="connsiteY2" fmla="*/ 481781 h 737420"/>
              <a:gd name="connsiteX3" fmla="*/ 78658 w 403123"/>
              <a:gd name="connsiteY3" fmla="*/ 412955 h 737420"/>
              <a:gd name="connsiteX4" fmla="*/ 98323 w 403123"/>
              <a:gd name="connsiteY4" fmla="*/ 373626 h 737420"/>
              <a:gd name="connsiteX5" fmla="*/ 157316 w 403123"/>
              <a:gd name="connsiteY5" fmla="*/ 294968 h 737420"/>
              <a:gd name="connsiteX6" fmla="*/ 176981 w 403123"/>
              <a:gd name="connsiteY6" fmla="*/ 265471 h 737420"/>
              <a:gd name="connsiteX7" fmla="*/ 206478 w 403123"/>
              <a:gd name="connsiteY7" fmla="*/ 226142 h 737420"/>
              <a:gd name="connsiteX8" fmla="*/ 226142 w 403123"/>
              <a:gd name="connsiteY8" fmla="*/ 167149 h 737420"/>
              <a:gd name="connsiteX9" fmla="*/ 235974 w 403123"/>
              <a:gd name="connsiteY9" fmla="*/ 127820 h 737420"/>
              <a:gd name="connsiteX10" fmla="*/ 344129 w 403123"/>
              <a:gd name="connsiteY10" fmla="*/ 39329 h 737420"/>
              <a:gd name="connsiteX11" fmla="*/ 403123 w 403123"/>
              <a:gd name="connsiteY11" fmla="*/ 0 h 7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123" h="737420">
                <a:moveTo>
                  <a:pt x="0" y="737420"/>
                </a:moveTo>
                <a:cubicBezTo>
                  <a:pt x="3277" y="701368"/>
                  <a:pt x="4462" y="665065"/>
                  <a:pt x="9832" y="629265"/>
                </a:cubicBezTo>
                <a:cubicBezTo>
                  <a:pt x="16930" y="581948"/>
                  <a:pt x="31648" y="527315"/>
                  <a:pt x="49161" y="481781"/>
                </a:cubicBezTo>
                <a:cubicBezTo>
                  <a:pt x="58121" y="458485"/>
                  <a:pt x="68329" y="435678"/>
                  <a:pt x="78658" y="412955"/>
                </a:cubicBezTo>
                <a:cubicBezTo>
                  <a:pt x="84723" y="399612"/>
                  <a:pt x="91051" y="386352"/>
                  <a:pt x="98323" y="373626"/>
                </a:cubicBezTo>
                <a:cubicBezTo>
                  <a:pt x="116109" y="342501"/>
                  <a:pt x="134613" y="325239"/>
                  <a:pt x="157316" y="294968"/>
                </a:cubicBezTo>
                <a:cubicBezTo>
                  <a:pt x="164406" y="285514"/>
                  <a:pt x="170112" y="275087"/>
                  <a:pt x="176981" y="265471"/>
                </a:cubicBezTo>
                <a:cubicBezTo>
                  <a:pt x="186506" y="252136"/>
                  <a:pt x="196646" y="239252"/>
                  <a:pt x="206478" y="226142"/>
                </a:cubicBezTo>
                <a:cubicBezTo>
                  <a:pt x="213033" y="206478"/>
                  <a:pt x="220186" y="187003"/>
                  <a:pt x="226142" y="167149"/>
                </a:cubicBezTo>
                <a:cubicBezTo>
                  <a:pt x="230025" y="154206"/>
                  <a:pt x="227866" y="138631"/>
                  <a:pt x="235974" y="127820"/>
                </a:cubicBezTo>
                <a:cubicBezTo>
                  <a:pt x="293298" y="51388"/>
                  <a:pt x="287467" y="58218"/>
                  <a:pt x="344129" y="39329"/>
                </a:cubicBezTo>
                <a:cubicBezTo>
                  <a:pt x="389321" y="5436"/>
                  <a:pt x="368801" y="17162"/>
                  <a:pt x="40312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B413C210-E425-0D0B-10AF-DD36AA86648B}"/>
              </a:ext>
            </a:extLst>
          </p:cNvPr>
          <p:cNvSpPr/>
          <p:nvPr/>
        </p:nvSpPr>
        <p:spPr>
          <a:xfrm>
            <a:off x="3013801" y="4110371"/>
            <a:ext cx="1229032" cy="983553"/>
          </a:xfrm>
          <a:custGeom>
            <a:avLst/>
            <a:gdLst>
              <a:gd name="connsiteX0" fmla="*/ 0 w 1229032"/>
              <a:gd name="connsiteY0" fmla="*/ 0 h 983553"/>
              <a:gd name="connsiteX1" fmla="*/ 29497 w 1229032"/>
              <a:gd name="connsiteY1" fmla="*/ 117987 h 983553"/>
              <a:gd name="connsiteX2" fmla="*/ 117987 w 1229032"/>
              <a:gd name="connsiteY2" fmla="*/ 235974 h 983553"/>
              <a:gd name="connsiteX3" fmla="*/ 196645 w 1229032"/>
              <a:gd name="connsiteY3" fmla="*/ 285135 h 983553"/>
              <a:gd name="connsiteX4" fmla="*/ 275303 w 1229032"/>
              <a:gd name="connsiteY4" fmla="*/ 344129 h 983553"/>
              <a:gd name="connsiteX5" fmla="*/ 314632 w 1229032"/>
              <a:gd name="connsiteY5" fmla="*/ 383458 h 983553"/>
              <a:gd name="connsiteX6" fmla="*/ 393290 w 1229032"/>
              <a:gd name="connsiteY6" fmla="*/ 432619 h 983553"/>
              <a:gd name="connsiteX7" fmla="*/ 422787 w 1229032"/>
              <a:gd name="connsiteY7" fmla="*/ 471948 h 983553"/>
              <a:gd name="connsiteX8" fmla="*/ 511277 w 1229032"/>
              <a:gd name="connsiteY8" fmla="*/ 550606 h 983553"/>
              <a:gd name="connsiteX9" fmla="*/ 589935 w 1229032"/>
              <a:gd name="connsiteY9" fmla="*/ 688258 h 983553"/>
              <a:gd name="connsiteX10" fmla="*/ 639097 w 1229032"/>
              <a:gd name="connsiteY10" fmla="*/ 727587 h 983553"/>
              <a:gd name="connsiteX11" fmla="*/ 727587 w 1229032"/>
              <a:gd name="connsiteY11" fmla="*/ 816077 h 983553"/>
              <a:gd name="connsiteX12" fmla="*/ 757084 w 1229032"/>
              <a:gd name="connsiteY12" fmla="*/ 835742 h 983553"/>
              <a:gd name="connsiteX13" fmla="*/ 816077 w 1229032"/>
              <a:gd name="connsiteY13" fmla="*/ 865239 h 983553"/>
              <a:gd name="connsiteX14" fmla="*/ 865239 w 1229032"/>
              <a:gd name="connsiteY14" fmla="*/ 904568 h 983553"/>
              <a:gd name="connsiteX15" fmla="*/ 934064 w 1229032"/>
              <a:gd name="connsiteY15" fmla="*/ 914400 h 983553"/>
              <a:gd name="connsiteX16" fmla="*/ 993058 w 1229032"/>
              <a:gd name="connsiteY16" fmla="*/ 924232 h 983553"/>
              <a:gd name="connsiteX17" fmla="*/ 1052051 w 1229032"/>
              <a:gd name="connsiteY17" fmla="*/ 943897 h 983553"/>
              <a:gd name="connsiteX18" fmla="*/ 1170039 w 1229032"/>
              <a:gd name="connsiteY18" fmla="*/ 973394 h 983553"/>
              <a:gd name="connsiteX19" fmla="*/ 1229032 w 1229032"/>
              <a:gd name="connsiteY19" fmla="*/ 983226 h 98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29032" h="983553">
                <a:moveTo>
                  <a:pt x="0" y="0"/>
                </a:moveTo>
                <a:cubicBezTo>
                  <a:pt x="6517" y="32587"/>
                  <a:pt x="16654" y="90162"/>
                  <a:pt x="29497" y="117987"/>
                </a:cubicBezTo>
                <a:cubicBezTo>
                  <a:pt x="40096" y="140950"/>
                  <a:pt x="100191" y="220916"/>
                  <a:pt x="117987" y="235974"/>
                </a:cubicBezTo>
                <a:cubicBezTo>
                  <a:pt x="141590" y="255946"/>
                  <a:pt x="171166" y="267618"/>
                  <a:pt x="196645" y="285135"/>
                </a:cubicBezTo>
                <a:cubicBezTo>
                  <a:pt x="223652" y="303703"/>
                  <a:pt x="252128" y="320954"/>
                  <a:pt x="275303" y="344129"/>
                </a:cubicBezTo>
                <a:cubicBezTo>
                  <a:pt x="288413" y="357239"/>
                  <a:pt x="299800" y="372334"/>
                  <a:pt x="314632" y="383458"/>
                </a:cubicBezTo>
                <a:cubicBezTo>
                  <a:pt x="376937" y="430187"/>
                  <a:pt x="332935" y="372264"/>
                  <a:pt x="393290" y="432619"/>
                </a:cubicBezTo>
                <a:cubicBezTo>
                  <a:pt x="404878" y="444206"/>
                  <a:pt x="411200" y="460361"/>
                  <a:pt x="422787" y="471948"/>
                </a:cubicBezTo>
                <a:cubicBezTo>
                  <a:pt x="454808" y="503969"/>
                  <a:pt x="485041" y="513126"/>
                  <a:pt x="511277" y="550606"/>
                </a:cubicBezTo>
                <a:cubicBezTo>
                  <a:pt x="538950" y="590138"/>
                  <a:pt x="551133" y="657217"/>
                  <a:pt x="589935" y="688258"/>
                </a:cubicBezTo>
                <a:cubicBezTo>
                  <a:pt x="606322" y="701368"/>
                  <a:pt x="623719" y="713307"/>
                  <a:pt x="639097" y="727587"/>
                </a:cubicBezTo>
                <a:cubicBezTo>
                  <a:pt x="669665" y="755972"/>
                  <a:pt x="692879" y="792938"/>
                  <a:pt x="727587" y="816077"/>
                </a:cubicBezTo>
                <a:cubicBezTo>
                  <a:pt x="737419" y="822632"/>
                  <a:pt x="746754" y="830003"/>
                  <a:pt x="757084" y="835742"/>
                </a:cubicBezTo>
                <a:cubicBezTo>
                  <a:pt x="776303" y="846419"/>
                  <a:pt x="797529" y="853436"/>
                  <a:pt x="816077" y="865239"/>
                </a:cubicBezTo>
                <a:cubicBezTo>
                  <a:pt x="833782" y="876506"/>
                  <a:pt x="845867" y="896497"/>
                  <a:pt x="865239" y="904568"/>
                </a:cubicBezTo>
                <a:cubicBezTo>
                  <a:pt x="886631" y="913481"/>
                  <a:pt x="911159" y="910876"/>
                  <a:pt x="934064" y="914400"/>
                </a:cubicBezTo>
                <a:cubicBezTo>
                  <a:pt x="953768" y="917431"/>
                  <a:pt x="973393" y="920955"/>
                  <a:pt x="993058" y="924232"/>
                </a:cubicBezTo>
                <a:cubicBezTo>
                  <a:pt x="1012722" y="930787"/>
                  <a:pt x="1032079" y="938349"/>
                  <a:pt x="1052051" y="943897"/>
                </a:cubicBezTo>
                <a:cubicBezTo>
                  <a:pt x="1091112" y="954747"/>
                  <a:pt x="1131580" y="960574"/>
                  <a:pt x="1170039" y="973394"/>
                </a:cubicBezTo>
                <a:cubicBezTo>
                  <a:pt x="1208863" y="986335"/>
                  <a:pt x="1189171" y="983226"/>
                  <a:pt x="1229032" y="98322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BB8D9F9-84ED-CBDE-250E-5A656CFAF2E1}"/>
              </a:ext>
            </a:extLst>
          </p:cNvPr>
          <p:cNvSpPr/>
          <p:nvPr/>
        </p:nvSpPr>
        <p:spPr>
          <a:xfrm>
            <a:off x="7279592" y="3041527"/>
            <a:ext cx="45719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43160BD-EF0D-6144-2001-BF4067EC0BD3}"/>
              </a:ext>
            </a:extLst>
          </p:cNvPr>
          <p:cNvSpPr/>
          <p:nvPr/>
        </p:nvSpPr>
        <p:spPr>
          <a:xfrm>
            <a:off x="7326296" y="3041527"/>
            <a:ext cx="4634432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 releases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431655-E6C7-B669-3575-1BEEB51B3899}"/>
              </a:ext>
            </a:extLst>
          </p:cNvPr>
          <p:cNvSpPr/>
          <p:nvPr/>
        </p:nvSpPr>
        <p:spPr>
          <a:xfrm>
            <a:off x="7279592" y="3873089"/>
            <a:ext cx="45719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95E8EB-62AA-ADC7-9F41-47743EC853E3}"/>
              </a:ext>
            </a:extLst>
          </p:cNvPr>
          <p:cNvSpPr/>
          <p:nvPr/>
        </p:nvSpPr>
        <p:spPr>
          <a:xfrm>
            <a:off x="7326296" y="3873089"/>
            <a:ext cx="4634432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hot fixes to the production branches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F4ADF7C-3F3F-3B2B-6685-FE1A1D7F9AC6}"/>
              </a:ext>
            </a:extLst>
          </p:cNvPr>
          <p:cNvSpPr/>
          <p:nvPr/>
        </p:nvSpPr>
        <p:spPr>
          <a:xfrm>
            <a:off x="148223" y="5344647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39BE5DD-E956-9A52-2916-AF9BEC321F87}"/>
              </a:ext>
            </a:extLst>
          </p:cNvPr>
          <p:cNvSpPr/>
          <p:nvPr/>
        </p:nvSpPr>
        <p:spPr>
          <a:xfrm>
            <a:off x="224422" y="5344647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a new branch is created, the complete commit history of the master branch is replicated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D389D30-AA94-394F-13B8-E1B95C13CEA6}"/>
              </a:ext>
            </a:extLst>
          </p:cNvPr>
          <p:cNvSpPr/>
          <p:nvPr/>
        </p:nvSpPr>
        <p:spPr>
          <a:xfrm>
            <a:off x="148223" y="6134994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FF913E-0F5F-59CF-E3C6-DD6BBF93FCF2}"/>
              </a:ext>
            </a:extLst>
          </p:cNvPr>
          <p:cNvSpPr/>
          <p:nvPr/>
        </p:nvSpPr>
        <p:spPr>
          <a:xfrm>
            <a:off x="224422" y="6134994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Git branch is just a pointer to the commit; it doesn’t change the content of the repository.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592591-FC76-733D-5A17-98D9ABA6D7DB}"/>
              </a:ext>
            </a:extLst>
          </p:cNvPr>
          <p:cNvSpPr txBox="1"/>
          <p:nvPr/>
        </p:nvSpPr>
        <p:spPr>
          <a:xfrm>
            <a:off x="4800330" y="3950440"/>
            <a:ext cx="2124896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code base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727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1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1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1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12" grpId="0" animBg="1"/>
      <p:bldP spid="12" grpId="1" animBg="1"/>
      <p:bldP spid="13" grpId="0" animBg="1"/>
      <p:bldP spid="5" grpId="0" animBg="1"/>
      <p:bldP spid="10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8" grpId="0" animBg="1"/>
      <p:bldP spid="39" grpId="0" animBg="1"/>
      <p:bldP spid="41" grpId="0" animBg="1"/>
      <p:bldP spid="41" grpId="1" animBg="1"/>
      <p:bldP spid="42" grpId="0" animBg="1"/>
      <p:bldP spid="43" grpId="0" animBg="1"/>
      <p:bldP spid="43" grpId="1" animBg="1"/>
      <p:bldP spid="44" grpId="0" animBg="1"/>
      <p:bldP spid="45" grpId="0" animBg="1"/>
      <p:bldP spid="45" grpId="1" animBg="1"/>
      <p:bldP spid="46" grpId="0" animBg="1"/>
      <p:bldP spid="47" grpId="0" animBg="1"/>
      <p:bldP spid="47" grpId="1" animBg="1"/>
      <p:bldP spid="48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930D4-BA2F-A915-E584-8B4F67C4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627A-7F1E-F6ED-BCA6-17FE5EE5C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Branching: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8EA701-79B3-EA01-48AD-21A5D0895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72" y="1087199"/>
            <a:ext cx="5227773" cy="10800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7B1ACC-0253-1063-6482-32A3302D70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140" y="1134924"/>
            <a:ext cx="4742053" cy="1080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91494C-BE89-9246-0FE5-3C8CD0E9B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2866" y="2306773"/>
            <a:ext cx="5357324" cy="1646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DD94A-2ED6-B13C-1D54-AC9EA87DF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837" y="2334681"/>
            <a:ext cx="5523303" cy="2308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E0B868-7E93-6EBA-9A7F-265C57800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837" y="4762686"/>
            <a:ext cx="5958828" cy="19204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3F9FF3C-0E46-F5FD-7DAF-FF5E57BEDC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193" y="4106838"/>
            <a:ext cx="5410669" cy="25681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499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EB1F4-13FA-5C54-7BA7-15ACF06D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CD46-5716-3862-1BD5-93CB19EF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Merging: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40023-0768-6AC3-96B1-8707E003187E}"/>
              </a:ext>
            </a:extLst>
          </p:cNvPr>
          <p:cNvSpPr/>
          <p:nvPr/>
        </p:nvSpPr>
        <p:spPr>
          <a:xfrm>
            <a:off x="148223" y="1360784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B0F937-A1B8-9210-0DAC-B5A11C54A99D}"/>
              </a:ext>
            </a:extLst>
          </p:cNvPr>
          <p:cNvSpPr/>
          <p:nvPr/>
        </p:nvSpPr>
        <p:spPr>
          <a:xfrm>
            <a:off x="224422" y="1360784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commits of one branch are only visible to that branch; other branches are still untouched, i.e., the branches’ commit history doesn’t include the commits of other branches.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F29899-6DC1-9915-3BEE-FA2AAB000A89}"/>
              </a:ext>
            </a:extLst>
          </p:cNvPr>
          <p:cNvSpPr/>
          <p:nvPr/>
        </p:nvSpPr>
        <p:spPr>
          <a:xfrm>
            <a:off x="148223" y="2167029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283EE-C7B9-048E-6249-E333CD1A754B}"/>
              </a:ext>
            </a:extLst>
          </p:cNvPr>
          <p:cNvSpPr/>
          <p:nvPr/>
        </p:nvSpPr>
        <p:spPr>
          <a:xfrm>
            <a:off x="224422" y="2167029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Thus, if you push that branch, it creates a new branch in GitHub with its own changes.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085C7-C902-FB0F-E9CD-1B7D21560460}"/>
              </a:ext>
            </a:extLst>
          </p:cNvPr>
          <p:cNvSpPr/>
          <p:nvPr/>
        </p:nvSpPr>
        <p:spPr>
          <a:xfrm>
            <a:off x="148223" y="2973274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6C7ED9-EB86-2B13-FA2A-895C5B941A30}"/>
              </a:ext>
            </a:extLst>
          </p:cNvPr>
          <p:cNvSpPr/>
          <p:nvPr/>
        </p:nvSpPr>
        <p:spPr>
          <a:xfrm>
            <a:off x="224422" y="2973274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see all the commits of the whole repo, including other branches commits use the command: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log –</a:t>
            </a:r>
            <a:r>
              <a:rPr lang="en-US" sz="20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oneline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–graph –all </a:t>
            </a: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49D83D-BC6D-4A4E-5277-4B7DD222BCD7}"/>
              </a:ext>
            </a:extLst>
          </p:cNvPr>
          <p:cNvSpPr/>
          <p:nvPr/>
        </p:nvSpPr>
        <p:spPr>
          <a:xfrm>
            <a:off x="148223" y="3775913"/>
            <a:ext cx="111760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47A8CD-6E3F-B26E-A39A-CA6AC684099D}"/>
              </a:ext>
            </a:extLst>
          </p:cNvPr>
          <p:cNvSpPr/>
          <p:nvPr/>
        </p:nvSpPr>
        <p:spPr>
          <a:xfrm>
            <a:off x="224422" y="3775913"/>
            <a:ext cx="11743155" cy="68072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merging is how Git combines the work from one branch into another, so their histories come back together. Once you are sure about your changes!!!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5AE9884-09DC-BEED-BFFF-DED66C36980C}"/>
              </a:ext>
            </a:extLst>
          </p:cNvPr>
          <p:cNvGraphicFramePr>
            <a:graphicFrameLocks noGrp="1"/>
          </p:cNvGraphicFramePr>
          <p:nvPr/>
        </p:nvGraphicFramePr>
        <p:xfrm>
          <a:off x="1554725" y="4578552"/>
          <a:ext cx="9082548" cy="1939634"/>
        </p:xfrm>
        <a:graphic>
          <a:graphicData uri="http://schemas.openxmlformats.org/drawingml/2006/table">
            <a:tbl>
              <a:tblPr/>
              <a:tblGrid>
                <a:gridCol w="4541274">
                  <a:extLst>
                    <a:ext uri="{9D8B030D-6E8A-4147-A177-3AD203B41FA5}">
                      <a16:colId xmlns:a16="http://schemas.microsoft.com/office/drawing/2014/main" val="225465107"/>
                    </a:ext>
                  </a:extLst>
                </a:gridCol>
                <a:gridCol w="4541274">
                  <a:extLst>
                    <a:ext uri="{9D8B030D-6E8A-4147-A177-3AD203B41FA5}">
                      <a16:colId xmlns:a16="http://schemas.microsoft.com/office/drawing/2014/main" val="3182216381"/>
                    </a:ext>
                  </a:extLst>
                </a:gridCol>
              </a:tblGrid>
              <a:tr h="476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Forward Merge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Merge (Non-Fast Forward)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39301"/>
                  </a:ext>
                </a:extLst>
              </a:tr>
              <a:tr h="476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Happens when main has not moved since feature-branch was created.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Happens when both branches have new commits.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832887"/>
                  </a:ext>
                </a:extLst>
              </a:tr>
              <a:tr h="476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History is linear, no extra merge commit.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creates a new merge commit with two parents to join the histories.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28389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3856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8" grpId="0" animBg="1"/>
      <p:bldP spid="8" grpId="1" animBg="1"/>
      <p:bldP spid="10" grpId="0" animBg="1"/>
      <p:bldP spid="13" grpId="0" animBg="1"/>
      <p:bldP spid="13" grpId="1" animBg="1"/>
      <p:bldP spid="14" grpId="0" animBg="1"/>
      <p:bldP spid="15" grpId="0" animBg="1"/>
      <p:bldP spid="15" grpId="1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B7F6-5EB5-8B0D-3B2F-290A4572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06F2-1AEA-C7CC-C58A-651E8C752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Branches: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87FCE2A-0C28-38F1-92BA-85AE6EC8F990}"/>
              </a:ext>
            </a:extLst>
          </p:cNvPr>
          <p:cNvCxnSpPr>
            <a:cxnSpLocks/>
          </p:cNvCxnSpPr>
          <p:nvPr/>
        </p:nvCxnSpPr>
        <p:spPr>
          <a:xfrm>
            <a:off x="108155" y="3429000"/>
            <a:ext cx="119756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584DBF38-B854-FC0F-0503-6A14FC1EA6CC}"/>
              </a:ext>
            </a:extLst>
          </p:cNvPr>
          <p:cNvSpPr/>
          <p:nvPr/>
        </p:nvSpPr>
        <p:spPr>
          <a:xfrm>
            <a:off x="98323" y="2414547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3B6063-AD50-8DB9-FF10-AB6A84B6D2E4}"/>
              </a:ext>
            </a:extLst>
          </p:cNvPr>
          <p:cNvSpPr/>
          <p:nvPr/>
        </p:nvSpPr>
        <p:spPr>
          <a:xfrm>
            <a:off x="1104156" y="2414547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CDDC31C-073D-8CA8-C703-9CDCEA76566A}"/>
              </a:ext>
            </a:extLst>
          </p:cNvPr>
          <p:cNvCxnSpPr>
            <a:stCxn id="42" idx="6"/>
            <a:endCxn id="43" idx="2"/>
          </p:cNvCxnSpPr>
          <p:nvPr/>
        </p:nvCxnSpPr>
        <p:spPr>
          <a:xfrm>
            <a:off x="566323" y="2665270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CD88011B-06B5-2BFF-50B7-9BE92CE0BAB1}"/>
              </a:ext>
            </a:extLst>
          </p:cNvPr>
          <p:cNvSpPr/>
          <p:nvPr/>
        </p:nvSpPr>
        <p:spPr>
          <a:xfrm>
            <a:off x="1839815" y="1673500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4C1EFAF-8775-A63C-1DEC-B72D18E886B9}"/>
              </a:ext>
            </a:extLst>
          </p:cNvPr>
          <p:cNvSpPr/>
          <p:nvPr/>
        </p:nvSpPr>
        <p:spPr>
          <a:xfrm>
            <a:off x="2933205" y="1673500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8717E0-5BBA-9E15-DDCE-CA4FBA09E35D}"/>
              </a:ext>
            </a:extLst>
          </p:cNvPr>
          <p:cNvCxnSpPr>
            <a:cxnSpLocks/>
            <a:stCxn id="45" idx="6"/>
            <a:endCxn id="46" idx="2"/>
          </p:cNvCxnSpPr>
          <p:nvPr/>
        </p:nvCxnSpPr>
        <p:spPr>
          <a:xfrm>
            <a:off x="2307815" y="1924223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2CBC771-54F3-CAF0-6766-D00E057D4368}"/>
              </a:ext>
            </a:extLst>
          </p:cNvPr>
          <p:cNvSpPr/>
          <p:nvPr/>
        </p:nvSpPr>
        <p:spPr>
          <a:xfrm>
            <a:off x="1479968" y="1966559"/>
            <a:ext cx="359847" cy="501446"/>
          </a:xfrm>
          <a:custGeom>
            <a:avLst/>
            <a:gdLst>
              <a:gd name="connsiteX0" fmla="*/ 0 w 403123"/>
              <a:gd name="connsiteY0" fmla="*/ 737420 h 737420"/>
              <a:gd name="connsiteX1" fmla="*/ 9832 w 403123"/>
              <a:gd name="connsiteY1" fmla="*/ 629265 h 737420"/>
              <a:gd name="connsiteX2" fmla="*/ 49161 w 403123"/>
              <a:gd name="connsiteY2" fmla="*/ 481781 h 737420"/>
              <a:gd name="connsiteX3" fmla="*/ 78658 w 403123"/>
              <a:gd name="connsiteY3" fmla="*/ 412955 h 737420"/>
              <a:gd name="connsiteX4" fmla="*/ 98323 w 403123"/>
              <a:gd name="connsiteY4" fmla="*/ 373626 h 737420"/>
              <a:gd name="connsiteX5" fmla="*/ 157316 w 403123"/>
              <a:gd name="connsiteY5" fmla="*/ 294968 h 737420"/>
              <a:gd name="connsiteX6" fmla="*/ 176981 w 403123"/>
              <a:gd name="connsiteY6" fmla="*/ 265471 h 737420"/>
              <a:gd name="connsiteX7" fmla="*/ 206478 w 403123"/>
              <a:gd name="connsiteY7" fmla="*/ 226142 h 737420"/>
              <a:gd name="connsiteX8" fmla="*/ 226142 w 403123"/>
              <a:gd name="connsiteY8" fmla="*/ 167149 h 737420"/>
              <a:gd name="connsiteX9" fmla="*/ 235974 w 403123"/>
              <a:gd name="connsiteY9" fmla="*/ 127820 h 737420"/>
              <a:gd name="connsiteX10" fmla="*/ 344129 w 403123"/>
              <a:gd name="connsiteY10" fmla="*/ 39329 h 737420"/>
              <a:gd name="connsiteX11" fmla="*/ 403123 w 403123"/>
              <a:gd name="connsiteY11" fmla="*/ 0 h 7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123" h="737420">
                <a:moveTo>
                  <a:pt x="0" y="737420"/>
                </a:moveTo>
                <a:cubicBezTo>
                  <a:pt x="3277" y="701368"/>
                  <a:pt x="4462" y="665065"/>
                  <a:pt x="9832" y="629265"/>
                </a:cubicBezTo>
                <a:cubicBezTo>
                  <a:pt x="16930" y="581948"/>
                  <a:pt x="31648" y="527315"/>
                  <a:pt x="49161" y="481781"/>
                </a:cubicBezTo>
                <a:cubicBezTo>
                  <a:pt x="58121" y="458485"/>
                  <a:pt x="68329" y="435678"/>
                  <a:pt x="78658" y="412955"/>
                </a:cubicBezTo>
                <a:cubicBezTo>
                  <a:pt x="84723" y="399612"/>
                  <a:pt x="91051" y="386352"/>
                  <a:pt x="98323" y="373626"/>
                </a:cubicBezTo>
                <a:cubicBezTo>
                  <a:pt x="116109" y="342501"/>
                  <a:pt x="134613" y="325239"/>
                  <a:pt x="157316" y="294968"/>
                </a:cubicBezTo>
                <a:cubicBezTo>
                  <a:pt x="164406" y="285514"/>
                  <a:pt x="170112" y="275087"/>
                  <a:pt x="176981" y="265471"/>
                </a:cubicBezTo>
                <a:cubicBezTo>
                  <a:pt x="186506" y="252136"/>
                  <a:pt x="196646" y="239252"/>
                  <a:pt x="206478" y="226142"/>
                </a:cubicBezTo>
                <a:cubicBezTo>
                  <a:pt x="213033" y="206478"/>
                  <a:pt x="220186" y="187003"/>
                  <a:pt x="226142" y="167149"/>
                </a:cubicBezTo>
                <a:cubicBezTo>
                  <a:pt x="230025" y="154206"/>
                  <a:pt x="227866" y="138631"/>
                  <a:pt x="235974" y="127820"/>
                </a:cubicBezTo>
                <a:cubicBezTo>
                  <a:pt x="293298" y="51388"/>
                  <a:pt x="287467" y="58218"/>
                  <a:pt x="344129" y="39329"/>
                </a:cubicBezTo>
                <a:cubicBezTo>
                  <a:pt x="389321" y="5436"/>
                  <a:pt x="368801" y="17162"/>
                  <a:pt x="40312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7231485-3F6A-90A9-EEEB-4B34DE76C7F1}"/>
              </a:ext>
            </a:extLst>
          </p:cNvPr>
          <p:cNvSpPr/>
          <p:nvPr/>
        </p:nvSpPr>
        <p:spPr>
          <a:xfrm>
            <a:off x="2149497" y="2398938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E184B71-0950-0FD0-98F8-EF5BED454CE1}"/>
              </a:ext>
            </a:extLst>
          </p:cNvPr>
          <p:cNvSpPr/>
          <p:nvPr/>
        </p:nvSpPr>
        <p:spPr>
          <a:xfrm>
            <a:off x="3242887" y="2398938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1F0ACC4-74B1-0654-1E67-DBB0558AA0A2}"/>
              </a:ext>
            </a:extLst>
          </p:cNvPr>
          <p:cNvCxnSpPr>
            <a:cxnSpLocks/>
            <a:stCxn id="50" idx="6"/>
            <a:endCxn id="51" idx="2"/>
          </p:cNvCxnSpPr>
          <p:nvPr/>
        </p:nvCxnSpPr>
        <p:spPr>
          <a:xfrm>
            <a:off x="2617497" y="2649661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BF504E7-1561-5A21-90CD-539EDB1922A0}"/>
              </a:ext>
            </a:extLst>
          </p:cNvPr>
          <p:cNvSpPr txBox="1"/>
          <p:nvPr/>
        </p:nvSpPr>
        <p:spPr>
          <a:xfrm>
            <a:off x="332323" y="2989738"/>
            <a:ext cx="2124896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merge b1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AF1924C-29FD-F72F-9162-2BC4D2752D9C}"/>
              </a:ext>
            </a:extLst>
          </p:cNvPr>
          <p:cNvCxnSpPr/>
          <p:nvPr/>
        </p:nvCxnSpPr>
        <p:spPr>
          <a:xfrm>
            <a:off x="1591910" y="2665270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432C83E8-F32C-0A0D-8625-5AE53805EB1E}"/>
              </a:ext>
            </a:extLst>
          </p:cNvPr>
          <p:cNvSpPr/>
          <p:nvPr/>
        </p:nvSpPr>
        <p:spPr>
          <a:xfrm>
            <a:off x="5631186" y="2217282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2697DA7-084E-061A-69F7-62EA4404AC68}"/>
              </a:ext>
            </a:extLst>
          </p:cNvPr>
          <p:cNvSpPr/>
          <p:nvPr/>
        </p:nvSpPr>
        <p:spPr>
          <a:xfrm>
            <a:off x="6637019" y="2217282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E0A0041-E2DF-A0C0-AB4E-AC204F43C179}"/>
              </a:ext>
            </a:extLst>
          </p:cNvPr>
          <p:cNvCxnSpPr>
            <a:cxnSpLocks/>
            <a:stCxn id="62" idx="6"/>
            <a:endCxn id="63" idx="2"/>
          </p:cNvCxnSpPr>
          <p:nvPr/>
        </p:nvCxnSpPr>
        <p:spPr>
          <a:xfrm>
            <a:off x="6099186" y="2468005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2FDDF653-2073-1DA3-F741-649316E741F5}"/>
              </a:ext>
            </a:extLst>
          </p:cNvPr>
          <p:cNvSpPr/>
          <p:nvPr/>
        </p:nvSpPr>
        <p:spPr>
          <a:xfrm>
            <a:off x="7372678" y="1476235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2F2FFA93-6C2D-7E5D-9CF6-D62ECE665AC5}"/>
              </a:ext>
            </a:extLst>
          </p:cNvPr>
          <p:cNvSpPr/>
          <p:nvPr/>
        </p:nvSpPr>
        <p:spPr>
          <a:xfrm>
            <a:off x="8466068" y="1476235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2132DB68-1649-17F0-CE2D-FB5A6F7FE747}"/>
              </a:ext>
            </a:extLst>
          </p:cNvPr>
          <p:cNvCxnSpPr>
            <a:cxnSpLocks/>
            <a:stCxn id="65" idx="6"/>
            <a:endCxn id="66" idx="2"/>
          </p:cNvCxnSpPr>
          <p:nvPr/>
        </p:nvCxnSpPr>
        <p:spPr>
          <a:xfrm>
            <a:off x="7840678" y="1726958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EC6292C4-5160-4C6A-F685-D2F15BE2ADEF}"/>
              </a:ext>
            </a:extLst>
          </p:cNvPr>
          <p:cNvSpPr/>
          <p:nvPr/>
        </p:nvSpPr>
        <p:spPr>
          <a:xfrm>
            <a:off x="7012831" y="1769294"/>
            <a:ext cx="359847" cy="501446"/>
          </a:xfrm>
          <a:custGeom>
            <a:avLst/>
            <a:gdLst>
              <a:gd name="connsiteX0" fmla="*/ 0 w 403123"/>
              <a:gd name="connsiteY0" fmla="*/ 737420 h 737420"/>
              <a:gd name="connsiteX1" fmla="*/ 9832 w 403123"/>
              <a:gd name="connsiteY1" fmla="*/ 629265 h 737420"/>
              <a:gd name="connsiteX2" fmla="*/ 49161 w 403123"/>
              <a:gd name="connsiteY2" fmla="*/ 481781 h 737420"/>
              <a:gd name="connsiteX3" fmla="*/ 78658 w 403123"/>
              <a:gd name="connsiteY3" fmla="*/ 412955 h 737420"/>
              <a:gd name="connsiteX4" fmla="*/ 98323 w 403123"/>
              <a:gd name="connsiteY4" fmla="*/ 373626 h 737420"/>
              <a:gd name="connsiteX5" fmla="*/ 157316 w 403123"/>
              <a:gd name="connsiteY5" fmla="*/ 294968 h 737420"/>
              <a:gd name="connsiteX6" fmla="*/ 176981 w 403123"/>
              <a:gd name="connsiteY6" fmla="*/ 265471 h 737420"/>
              <a:gd name="connsiteX7" fmla="*/ 206478 w 403123"/>
              <a:gd name="connsiteY7" fmla="*/ 226142 h 737420"/>
              <a:gd name="connsiteX8" fmla="*/ 226142 w 403123"/>
              <a:gd name="connsiteY8" fmla="*/ 167149 h 737420"/>
              <a:gd name="connsiteX9" fmla="*/ 235974 w 403123"/>
              <a:gd name="connsiteY9" fmla="*/ 127820 h 737420"/>
              <a:gd name="connsiteX10" fmla="*/ 344129 w 403123"/>
              <a:gd name="connsiteY10" fmla="*/ 39329 h 737420"/>
              <a:gd name="connsiteX11" fmla="*/ 403123 w 403123"/>
              <a:gd name="connsiteY11" fmla="*/ 0 h 7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123" h="737420">
                <a:moveTo>
                  <a:pt x="0" y="737420"/>
                </a:moveTo>
                <a:cubicBezTo>
                  <a:pt x="3277" y="701368"/>
                  <a:pt x="4462" y="665065"/>
                  <a:pt x="9832" y="629265"/>
                </a:cubicBezTo>
                <a:cubicBezTo>
                  <a:pt x="16930" y="581948"/>
                  <a:pt x="31648" y="527315"/>
                  <a:pt x="49161" y="481781"/>
                </a:cubicBezTo>
                <a:cubicBezTo>
                  <a:pt x="58121" y="458485"/>
                  <a:pt x="68329" y="435678"/>
                  <a:pt x="78658" y="412955"/>
                </a:cubicBezTo>
                <a:cubicBezTo>
                  <a:pt x="84723" y="399612"/>
                  <a:pt x="91051" y="386352"/>
                  <a:pt x="98323" y="373626"/>
                </a:cubicBezTo>
                <a:cubicBezTo>
                  <a:pt x="116109" y="342501"/>
                  <a:pt x="134613" y="325239"/>
                  <a:pt x="157316" y="294968"/>
                </a:cubicBezTo>
                <a:cubicBezTo>
                  <a:pt x="164406" y="285514"/>
                  <a:pt x="170112" y="275087"/>
                  <a:pt x="176981" y="265471"/>
                </a:cubicBezTo>
                <a:cubicBezTo>
                  <a:pt x="186506" y="252136"/>
                  <a:pt x="196646" y="239252"/>
                  <a:pt x="206478" y="226142"/>
                </a:cubicBezTo>
                <a:cubicBezTo>
                  <a:pt x="213033" y="206478"/>
                  <a:pt x="220186" y="187003"/>
                  <a:pt x="226142" y="167149"/>
                </a:cubicBezTo>
                <a:cubicBezTo>
                  <a:pt x="230025" y="154206"/>
                  <a:pt x="227866" y="138631"/>
                  <a:pt x="235974" y="127820"/>
                </a:cubicBezTo>
                <a:cubicBezTo>
                  <a:pt x="293298" y="51388"/>
                  <a:pt x="287467" y="58218"/>
                  <a:pt x="344129" y="39329"/>
                </a:cubicBezTo>
                <a:cubicBezTo>
                  <a:pt x="389321" y="5436"/>
                  <a:pt x="368801" y="17162"/>
                  <a:pt x="40312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825476B-1D39-8B11-3616-04F2D5F8918D}"/>
              </a:ext>
            </a:extLst>
          </p:cNvPr>
          <p:cNvCxnSpPr/>
          <p:nvPr/>
        </p:nvCxnSpPr>
        <p:spPr>
          <a:xfrm>
            <a:off x="7124773" y="2468005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7496F8-228D-5DAD-4F16-E102044E5F96}"/>
              </a:ext>
            </a:extLst>
          </p:cNvPr>
          <p:cNvCxnSpPr>
            <a:stCxn id="2" idx="2"/>
          </p:cNvCxnSpPr>
          <p:nvPr/>
        </p:nvCxnSpPr>
        <p:spPr>
          <a:xfrm>
            <a:off x="5267147" y="1360784"/>
            <a:ext cx="12776" cy="2068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A4A0463C-0C30-126B-57E9-663C9B3C6BF0}"/>
              </a:ext>
            </a:extLst>
          </p:cNvPr>
          <p:cNvSpPr/>
          <p:nvPr/>
        </p:nvSpPr>
        <p:spPr>
          <a:xfrm>
            <a:off x="7685373" y="2232891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D58B25-3FA2-0E0C-1C64-5FC0E41471A4}"/>
              </a:ext>
            </a:extLst>
          </p:cNvPr>
          <p:cNvSpPr txBox="1"/>
          <p:nvPr/>
        </p:nvSpPr>
        <p:spPr>
          <a:xfrm>
            <a:off x="5416551" y="2924546"/>
            <a:ext cx="3873436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merge b1 –m “merge branch.”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6DBAC62-95D4-D0C0-EF40-88DA831BF1E1}"/>
              </a:ext>
            </a:extLst>
          </p:cNvPr>
          <p:cNvSpPr/>
          <p:nvPr/>
        </p:nvSpPr>
        <p:spPr>
          <a:xfrm>
            <a:off x="8682636" y="2204559"/>
            <a:ext cx="561114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baseline="30000" dirty="0">
              <a:solidFill>
                <a:srgbClr val="FF0000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D8FF1E10-FD4C-D082-9765-0E588996F3A9}"/>
              </a:ext>
            </a:extLst>
          </p:cNvPr>
          <p:cNvSpPr/>
          <p:nvPr/>
        </p:nvSpPr>
        <p:spPr>
          <a:xfrm>
            <a:off x="9884185" y="2204559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BD1A6BE5-1958-8203-DDC0-F603AFDE1940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9258795" y="2455282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12E61A9-8C19-7E71-4321-C13748BFB73F}"/>
              </a:ext>
            </a:extLst>
          </p:cNvPr>
          <p:cNvCxnSpPr/>
          <p:nvPr/>
        </p:nvCxnSpPr>
        <p:spPr>
          <a:xfrm>
            <a:off x="8149426" y="2468005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20BB3D4-2A90-ACAD-1DB6-18E93242377B}"/>
              </a:ext>
            </a:extLst>
          </p:cNvPr>
          <p:cNvSpPr txBox="1"/>
          <p:nvPr/>
        </p:nvSpPr>
        <p:spPr>
          <a:xfrm>
            <a:off x="1142208" y="1083776"/>
            <a:ext cx="2619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Fast Forward Merge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A9BB45-18EF-4CC8-AE02-85DD547B7470}"/>
              </a:ext>
            </a:extLst>
          </p:cNvPr>
          <p:cNvSpPr txBox="1"/>
          <p:nvPr/>
        </p:nvSpPr>
        <p:spPr>
          <a:xfrm>
            <a:off x="6644106" y="1047910"/>
            <a:ext cx="47131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Non-Fast Forward Merge (Three-way)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223D7C6-CB81-7E51-5E56-D8CCEB646917}"/>
              </a:ext>
            </a:extLst>
          </p:cNvPr>
          <p:cNvSpPr/>
          <p:nvPr/>
        </p:nvSpPr>
        <p:spPr>
          <a:xfrm>
            <a:off x="1067982" y="5053461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FA8089A-1E05-0255-1DB4-12C4371B782F}"/>
              </a:ext>
            </a:extLst>
          </p:cNvPr>
          <p:cNvSpPr/>
          <p:nvPr/>
        </p:nvSpPr>
        <p:spPr>
          <a:xfrm>
            <a:off x="2073815" y="5053461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36644ADF-12B1-8368-7C14-B378A9AA3A0A}"/>
              </a:ext>
            </a:extLst>
          </p:cNvPr>
          <p:cNvCxnSpPr>
            <a:stCxn id="90" idx="6"/>
            <a:endCxn id="91" idx="2"/>
          </p:cNvCxnSpPr>
          <p:nvPr/>
        </p:nvCxnSpPr>
        <p:spPr>
          <a:xfrm>
            <a:off x="1535982" y="5304184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>
            <a:extLst>
              <a:ext uri="{FF2B5EF4-FFF2-40B4-BE49-F238E27FC236}">
                <a16:creationId xmlns:a16="http://schemas.microsoft.com/office/drawing/2014/main" id="{DA43C5CA-256A-D56D-37BF-CC8B655E622F}"/>
              </a:ext>
            </a:extLst>
          </p:cNvPr>
          <p:cNvSpPr/>
          <p:nvPr/>
        </p:nvSpPr>
        <p:spPr>
          <a:xfrm>
            <a:off x="2809474" y="4312414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A838E1F-E2C8-44BC-F74B-8779047F39BD}"/>
              </a:ext>
            </a:extLst>
          </p:cNvPr>
          <p:cNvSpPr/>
          <p:nvPr/>
        </p:nvSpPr>
        <p:spPr>
          <a:xfrm>
            <a:off x="3902864" y="4312414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D41959A-C6A3-61DA-C028-92201739F952}"/>
              </a:ext>
            </a:extLst>
          </p:cNvPr>
          <p:cNvCxnSpPr>
            <a:cxnSpLocks/>
            <a:stCxn id="93" idx="6"/>
            <a:endCxn id="94" idx="2"/>
          </p:cNvCxnSpPr>
          <p:nvPr/>
        </p:nvCxnSpPr>
        <p:spPr>
          <a:xfrm>
            <a:off x="3277474" y="4563137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3FBF299-F7DE-4B1F-5B4F-9D88625CED9C}"/>
              </a:ext>
            </a:extLst>
          </p:cNvPr>
          <p:cNvSpPr/>
          <p:nvPr/>
        </p:nvSpPr>
        <p:spPr>
          <a:xfrm>
            <a:off x="2449627" y="4605473"/>
            <a:ext cx="359847" cy="501446"/>
          </a:xfrm>
          <a:custGeom>
            <a:avLst/>
            <a:gdLst>
              <a:gd name="connsiteX0" fmla="*/ 0 w 403123"/>
              <a:gd name="connsiteY0" fmla="*/ 737420 h 737420"/>
              <a:gd name="connsiteX1" fmla="*/ 9832 w 403123"/>
              <a:gd name="connsiteY1" fmla="*/ 629265 h 737420"/>
              <a:gd name="connsiteX2" fmla="*/ 49161 w 403123"/>
              <a:gd name="connsiteY2" fmla="*/ 481781 h 737420"/>
              <a:gd name="connsiteX3" fmla="*/ 78658 w 403123"/>
              <a:gd name="connsiteY3" fmla="*/ 412955 h 737420"/>
              <a:gd name="connsiteX4" fmla="*/ 98323 w 403123"/>
              <a:gd name="connsiteY4" fmla="*/ 373626 h 737420"/>
              <a:gd name="connsiteX5" fmla="*/ 157316 w 403123"/>
              <a:gd name="connsiteY5" fmla="*/ 294968 h 737420"/>
              <a:gd name="connsiteX6" fmla="*/ 176981 w 403123"/>
              <a:gd name="connsiteY6" fmla="*/ 265471 h 737420"/>
              <a:gd name="connsiteX7" fmla="*/ 206478 w 403123"/>
              <a:gd name="connsiteY7" fmla="*/ 226142 h 737420"/>
              <a:gd name="connsiteX8" fmla="*/ 226142 w 403123"/>
              <a:gd name="connsiteY8" fmla="*/ 167149 h 737420"/>
              <a:gd name="connsiteX9" fmla="*/ 235974 w 403123"/>
              <a:gd name="connsiteY9" fmla="*/ 127820 h 737420"/>
              <a:gd name="connsiteX10" fmla="*/ 344129 w 403123"/>
              <a:gd name="connsiteY10" fmla="*/ 39329 h 737420"/>
              <a:gd name="connsiteX11" fmla="*/ 403123 w 403123"/>
              <a:gd name="connsiteY11" fmla="*/ 0 h 737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123" h="737420">
                <a:moveTo>
                  <a:pt x="0" y="737420"/>
                </a:moveTo>
                <a:cubicBezTo>
                  <a:pt x="3277" y="701368"/>
                  <a:pt x="4462" y="665065"/>
                  <a:pt x="9832" y="629265"/>
                </a:cubicBezTo>
                <a:cubicBezTo>
                  <a:pt x="16930" y="581948"/>
                  <a:pt x="31648" y="527315"/>
                  <a:pt x="49161" y="481781"/>
                </a:cubicBezTo>
                <a:cubicBezTo>
                  <a:pt x="58121" y="458485"/>
                  <a:pt x="68329" y="435678"/>
                  <a:pt x="78658" y="412955"/>
                </a:cubicBezTo>
                <a:cubicBezTo>
                  <a:pt x="84723" y="399612"/>
                  <a:pt x="91051" y="386352"/>
                  <a:pt x="98323" y="373626"/>
                </a:cubicBezTo>
                <a:cubicBezTo>
                  <a:pt x="116109" y="342501"/>
                  <a:pt x="134613" y="325239"/>
                  <a:pt x="157316" y="294968"/>
                </a:cubicBezTo>
                <a:cubicBezTo>
                  <a:pt x="164406" y="285514"/>
                  <a:pt x="170112" y="275087"/>
                  <a:pt x="176981" y="265471"/>
                </a:cubicBezTo>
                <a:cubicBezTo>
                  <a:pt x="186506" y="252136"/>
                  <a:pt x="196646" y="239252"/>
                  <a:pt x="206478" y="226142"/>
                </a:cubicBezTo>
                <a:cubicBezTo>
                  <a:pt x="213033" y="206478"/>
                  <a:pt x="220186" y="187003"/>
                  <a:pt x="226142" y="167149"/>
                </a:cubicBezTo>
                <a:cubicBezTo>
                  <a:pt x="230025" y="154206"/>
                  <a:pt x="227866" y="138631"/>
                  <a:pt x="235974" y="127820"/>
                </a:cubicBezTo>
                <a:cubicBezTo>
                  <a:pt x="293298" y="51388"/>
                  <a:pt x="287467" y="58218"/>
                  <a:pt x="344129" y="39329"/>
                </a:cubicBezTo>
                <a:cubicBezTo>
                  <a:pt x="389321" y="5436"/>
                  <a:pt x="368801" y="17162"/>
                  <a:pt x="40312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C5D6370-D28B-0A95-5509-6566CCE9811A}"/>
              </a:ext>
            </a:extLst>
          </p:cNvPr>
          <p:cNvSpPr/>
          <p:nvPr/>
        </p:nvSpPr>
        <p:spPr>
          <a:xfrm>
            <a:off x="3690430" y="6149068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D7F6BDA-C053-EAFD-F258-015E0B9F72E6}"/>
              </a:ext>
            </a:extLst>
          </p:cNvPr>
          <p:cNvSpPr/>
          <p:nvPr/>
        </p:nvSpPr>
        <p:spPr>
          <a:xfrm>
            <a:off x="4783820" y="6149068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EA4B3E4-EC3E-64DE-185D-A24924EA0C81}"/>
              </a:ext>
            </a:extLst>
          </p:cNvPr>
          <p:cNvCxnSpPr>
            <a:stCxn id="97" idx="6"/>
            <a:endCxn id="98" idx="2"/>
          </p:cNvCxnSpPr>
          <p:nvPr/>
        </p:nvCxnSpPr>
        <p:spPr>
          <a:xfrm>
            <a:off x="4158430" y="6399791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301094C0-E571-89CA-D7D2-577AA92F9EE4}"/>
              </a:ext>
            </a:extLst>
          </p:cNvPr>
          <p:cNvSpPr/>
          <p:nvPr/>
        </p:nvSpPr>
        <p:spPr>
          <a:xfrm>
            <a:off x="2449627" y="5511117"/>
            <a:ext cx="1229032" cy="983553"/>
          </a:xfrm>
          <a:custGeom>
            <a:avLst/>
            <a:gdLst>
              <a:gd name="connsiteX0" fmla="*/ 0 w 1229032"/>
              <a:gd name="connsiteY0" fmla="*/ 0 h 983553"/>
              <a:gd name="connsiteX1" fmla="*/ 29497 w 1229032"/>
              <a:gd name="connsiteY1" fmla="*/ 117987 h 983553"/>
              <a:gd name="connsiteX2" fmla="*/ 117987 w 1229032"/>
              <a:gd name="connsiteY2" fmla="*/ 235974 h 983553"/>
              <a:gd name="connsiteX3" fmla="*/ 196645 w 1229032"/>
              <a:gd name="connsiteY3" fmla="*/ 285135 h 983553"/>
              <a:gd name="connsiteX4" fmla="*/ 275303 w 1229032"/>
              <a:gd name="connsiteY4" fmla="*/ 344129 h 983553"/>
              <a:gd name="connsiteX5" fmla="*/ 314632 w 1229032"/>
              <a:gd name="connsiteY5" fmla="*/ 383458 h 983553"/>
              <a:gd name="connsiteX6" fmla="*/ 393290 w 1229032"/>
              <a:gd name="connsiteY6" fmla="*/ 432619 h 983553"/>
              <a:gd name="connsiteX7" fmla="*/ 422787 w 1229032"/>
              <a:gd name="connsiteY7" fmla="*/ 471948 h 983553"/>
              <a:gd name="connsiteX8" fmla="*/ 511277 w 1229032"/>
              <a:gd name="connsiteY8" fmla="*/ 550606 h 983553"/>
              <a:gd name="connsiteX9" fmla="*/ 589935 w 1229032"/>
              <a:gd name="connsiteY9" fmla="*/ 688258 h 983553"/>
              <a:gd name="connsiteX10" fmla="*/ 639097 w 1229032"/>
              <a:gd name="connsiteY10" fmla="*/ 727587 h 983553"/>
              <a:gd name="connsiteX11" fmla="*/ 727587 w 1229032"/>
              <a:gd name="connsiteY11" fmla="*/ 816077 h 983553"/>
              <a:gd name="connsiteX12" fmla="*/ 757084 w 1229032"/>
              <a:gd name="connsiteY12" fmla="*/ 835742 h 983553"/>
              <a:gd name="connsiteX13" fmla="*/ 816077 w 1229032"/>
              <a:gd name="connsiteY13" fmla="*/ 865239 h 983553"/>
              <a:gd name="connsiteX14" fmla="*/ 865239 w 1229032"/>
              <a:gd name="connsiteY14" fmla="*/ 904568 h 983553"/>
              <a:gd name="connsiteX15" fmla="*/ 934064 w 1229032"/>
              <a:gd name="connsiteY15" fmla="*/ 914400 h 983553"/>
              <a:gd name="connsiteX16" fmla="*/ 993058 w 1229032"/>
              <a:gd name="connsiteY16" fmla="*/ 924232 h 983553"/>
              <a:gd name="connsiteX17" fmla="*/ 1052051 w 1229032"/>
              <a:gd name="connsiteY17" fmla="*/ 943897 h 983553"/>
              <a:gd name="connsiteX18" fmla="*/ 1170039 w 1229032"/>
              <a:gd name="connsiteY18" fmla="*/ 973394 h 983553"/>
              <a:gd name="connsiteX19" fmla="*/ 1229032 w 1229032"/>
              <a:gd name="connsiteY19" fmla="*/ 983226 h 98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29032" h="983553">
                <a:moveTo>
                  <a:pt x="0" y="0"/>
                </a:moveTo>
                <a:cubicBezTo>
                  <a:pt x="6517" y="32587"/>
                  <a:pt x="16654" y="90162"/>
                  <a:pt x="29497" y="117987"/>
                </a:cubicBezTo>
                <a:cubicBezTo>
                  <a:pt x="40096" y="140950"/>
                  <a:pt x="100191" y="220916"/>
                  <a:pt x="117987" y="235974"/>
                </a:cubicBezTo>
                <a:cubicBezTo>
                  <a:pt x="141590" y="255946"/>
                  <a:pt x="171166" y="267618"/>
                  <a:pt x="196645" y="285135"/>
                </a:cubicBezTo>
                <a:cubicBezTo>
                  <a:pt x="223652" y="303703"/>
                  <a:pt x="252128" y="320954"/>
                  <a:pt x="275303" y="344129"/>
                </a:cubicBezTo>
                <a:cubicBezTo>
                  <a:pt x="288413" y="357239"/>
                  <a:pt x="299800" y="372334"/>
                  <a:pt x="314632" y="383458"/>
                </a:cubicBezTo>
                <a:cubicBezTo>
                  <a:pt x="376937" y="430187"/>
                  <a:pt x="332935" y="372264"/>
                  <a:pt x="393290" y="432619"/>
                </a:cubicBezTo>
                <a:cubicBezTo>
                  <a:pt x="404878" y="444206"/>
                  <a:pt x="411200" y="460361"/>
                  <a:pt x="422787" y="471948"/>
                </a:cubicBezTo>
                <a:cubicBezTo>
                  <a:pt x="454808" y="503969"/>
                  <a:pt x="485041" y="513126"/>
                  <a:pt x="511277" y="550606"/>
                </a:cubicBezTo>
                <a:cubicBezTo>
                  <a:pt x="538950" y="590138"/>
                  <a:pt x="551133" y="657217"/>
                  <a:pt x="589935" y="688258"/>
                </a:cubicBezTo>
                <a:cubicBezTo>
                  <a:pt x="606322" y="701368"/>
                  <a:pt x="623719" y="713307"/>
                  <a:pt x="639097" y="727587"/>
                </a:cubicBezTo>
                <a:cubicBezTo>
                  <a:pt x="669665" y="755972"/>
                  <a:pt x="692879" y="792938"/>
                  <a:pt x="727587" y="816077"/>
                </a:cubicBezTo>
                <a:cubicBezTo>
                  <a:pt x="737419" y="822632"/>
                  <a:pt x="746754" y="830003"/>
                  <a:pt x="757084" y="835742"/>
                </a:cubicBezTo>
                <a:cubicBezTo>
                  <a:pt x="776303" y="846419"/>
                  <a:pt x="797529" y="853436"/>
                  <a:pt x="816077" y="865239"/>
                </a:cubicBezTo>
                <a:cubicBezTo>
                  <a:pt x="833782" y="876506"/>
                  <a:pt x="845867" y="896497"/>
                  <a:pt x="865239" y="904568"/>
                </a:cubicBezTo>
                <a:cubicBezTo>
                  <a:pt x="886631" y="913481"/>
                  <a:pt x="911159" y="910876"/>
                  <a:pt x="934064" y="914400"/>
                </a:cubicBezTo>
                <a:cubicBezTo>
                  <a:pt x="953768" y="917431"/>
                  <a:pt x="973393" y="920955"/>
                  <a:pt x="993058" y="924232"/>
                </a:cubicBezTo>
                <a:cubicBezTo>
                  <a:pt x="1012722" y="930787"/>
                  <a:pt x="1032079" y="938349"/>
                  <a:pt x="1052051" y="943897"/>
                </a:cubicBezTo>
                <a:cubicBezTo>
                  <a:pt x="1091112" y="954747"/>
                  <a:pt x="1131580" y="960574"/>
                  <a:pt x="1170039" y="973394"/>
                </a:cubicBezTo>
                <a:cubicBezTo>
                  <a:pt x="1208863" y="986335"/>
                  <a:pt x="1189171" y="983226"/>
                  <a:pt x="1229032" y="98322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63DDD51-2567-D1CC-DEDD-D8D68BF3CD23}"/>
              </a:ext>
            </a:extLst>
          </p:cNvPr>
          <p:cNvSpPr txBox="1"/>
          <p:nvPr/>
        </p:nvSpPr>
        <p:spPr>
          <a:xfrm>
            <a:off x="4423094" y="4033385"/>
            <a:ext cx="846997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80BA72D-CE7D-1A1A-7B86-BC6CF55CC171}"/>
              </a:ext>
            </a:extLst>
          </p:cNvPr>
          <p:cNvSpPr txBox="1"/>
          <p:nvPr/>
        </p:nvSpPr>
        <p:spPr>
          <a:xfrm>
            <a:off x="5310814" y="6159869"/>
            <a:ext cx="846997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2CEB6D3-24FE-5267-2DA2-D6C0BDCFB0F8}"/>
              </a:ext>
            </a:extLst>
          </p:cNvPr>
          <p:cNvSpPr txBox="1"/>
          <p:nvPr/>
        </p:nvSpPr>
        <p:spPr>
          <a:xfrm>
            <a:off x="5439092" y="4016874"/>
            <a:ext cx="2124896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merge b1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309DED2D-0ACA-59A9-B9C3-40FE2CB1F69C}"/>
              </a:ext>
            </a:extLst>
          </p:cNvPr>
          <p:cNvCxnSpPr/>
          <p:nvPr/>
        </p:nvCxnSpPr>
        <p:spPr>
          <a:xfrm>
            <a:off x="2505641" y="5299995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BA2518B1-6281-BC30-A95E-EE0550295FA5}"/>
              </a:ext>
            </a:extLst>
          </p:cNvPr>
          <p:cNvSpPr/>
          <p:nvPr/>
        </p:nvSpPr>
        <p:spPr>
          <a:xfrm>
            <a:off x="3054277" y="5053461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B57ABFC5-E5A3-B15C-EF9E-D9C8E26B4CF9}"/>
              </a:ext>
            </a:extLst>
          </p:cNvPr>
          <p:cNvSpPr/>
          <p:nvPr/>
        </p:nvSpPr>
        <p:spPr>
          <a:xfrm>
            <a:off x="4147667" y="5053461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4F919B96-5176-8BCA-59E8-14E87F398D75}"/>
              </a:ext>
            </a:extLst>
          </p:cNvPr>
          <p:cNvCxnSpPr>
            <a:cxnSpLocks/>
            <a:stCxn id="105" idx="6"/>
            <a:endCxn id="106" idx="2"/>
          </p:cNvCxnSpPr>
          <p:nvPr/>
        </p:nvCxnSpPr>
        <p:spPr>
          <a:xfrm>
            <a:off x="3522277" y="5304184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6A80CF9-EF6A-F70D-AF17-A1FE5BB570ED}"/>
              </a:ext>
            </a:extLst>
          </p:cNvPr>
          <p:cNvSpPr txBox="1"/>
          <p:nvPr/>
        </p:nvSpPr>
        <p:spPr>
          <a:xfrm>
            <a:off x="6455144" y="6215124"/>
            <a:ext cx="2124896" cy="36933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merge b2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BFAB3BA-F858-C2BC-1090-53D11B7501A0}"/>
              </a:ext>
            </a:extLst>
          </p:cNvPr>
          <p:cNvSpPr/>
          <p:nvPr/>
        </p:nvSpPr>
        <p:spPr>
          <a:xfrm>
            <a:off x="5148877" y="5047557"/>
            <a:ext cx="561114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b="1" baseline="30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baseline="30000" dirty="0">
              <a:solidFill>
                <a:srgbClr val="FFFF00"/>
              </a:solidFill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CF27A140-A504-EA14-C321-B51E9AEA693B}"/>
              </a:ext>
            </a:extLst>
          </p:cNvPr>
          <p:cNvSpPr/>
          <p:nvPr/>
        </p:nvSpPr>
        <p:spPr>
          <a:xfrm>
            <a:off x="6350426" y="5047557"/>
            <a:ext cx="561114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b="1" baseline="300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endParaRPr lang="en-US" baseline="30000" dirty="0">
              <a:solidFill>
                <a:srgbClr val="FFFF00"/>
              </a:solidFill>
            </a:endParaRP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0F60A1B8-2DEF-C7BF-09D2-1E62657EA133}"/>
              </a:ext>
            </a:extLst>
          </p:cNvPr>
          <p:cNvCxnSpPr>
            <a:cxnSpLocks/>
            <a:endCxn id="110" idx="2"/>
          </p:cNvCxnSpPr>
          <p:nvPr/>
        </p:nvCxnSpPr>
        <p:spPr>
          <a:xfrm>
            <a:off x="5725036" y="5298280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29E0F96B-2AAD-C298-6A60-4E21BF198FFE}"/>
              </a:ext>
            </a:extLst>
          </p:cNvPr>
          <p:cNvCxnSpPr/>
          <p:nvPr/>
        </p:nvCxnSpPr>
        <p:spPr>
          <a:xfrm>
            <a:off x="4615667" y="5311003"/>
            <a:ext cx="5378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288F3AA-6182-4823-48C8-645E8110D32A}"/>
              </a:ext>
            </a:extLst>
          </p:cNvPr>
          <p:cNvCxnSpPr>
            <a:cxnSpLocks/>
          </p:cNvCxnSpPr>
          <p:nvPr/>
        </p:nvCxnSpPr>
        <p:spPr>
          <a:xfrm>
            <a:off x="10352185" y="2455282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BCCD6AC8-D7A2-AD9A-7CBA-1BFF481D8419}"/>
              </a:ext>
            </a:extLst>
          </p:cNvPr>
          <p:cNvSpPr/>
          <p:nvPr/>
        </p:nvSpPr>
        <p:spPr>
          <a:xfrm>
            <a:off x="10932444" y="2179165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4536588-6CCF-18B5-22AD-92DD4E5A0FEE}"/>
              </a:ext>
            </a:extLst>
          </p:cNvPr>
          <p:cNvCxnSpPr>
            <a:cxnSpLocks/>
          </p:cNvCxnSpPr>
          <p:nvPr/>
        </p:nvCxnSpPr>
        <p:spPr>
          <a:xfrm>
            <a:off x="6911540" y="5298280"/>
            <a:ext cx="6253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Oval 118">
            <a:extLst>
              <a:ext uri="{FF2B5EF4-FFF2-40B4-BE49-F238E27FC236}">
                <a16:creationId xmlns:a16="http://schemas.microsoft.com/office/drawing/2014/main" id="{E5144864-A0E7-A074-2B0B-37BF9FC21242}"/>
              </a:ext>
            </a:extLst>
          </p:cNvPr>
          <p:cNvSpPr/>
          <p:nvPr/>
        </p:nvSpPr>
        <p:spPr>
          <a:xfrm>
            <a:off x="7556832" y="5060280"/>
            <a:ext cx="468000" cy="5014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836661-A095-65F5-C0B3-284A7CE5065B}"/>
              </a:ext>
            </a:extLst>
          </p:cNvPr>
          <p:cNvSpPr/>
          <p:nvPr/>
        </p:nvSpPr>
        <p:spPr>
          <a:xfrm>
            <a:off x="8425542" y="3572894"/>
            <a:ext cx="3658303" cy="328510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Conflicts happen when both branches changed the same lines or nearby lines in a file.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manual fix + git add, the merge commit records the resolved result.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80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5" grpId="0" animBg="1"/>
      <p:bldP spid="46" grpId="0" animBg="1"/>
      <p:bldP spid="48" grpId="0" animBg="1"/>
      <p:bldP spid="50" grpId="0" animBg="1"/>
      <p:bldP spid="51" grpId="0" animBg="1"/>
      <p:bldP spid="53" grpId="0" animBg="1"/>
      <p:bldP spid="62" grpId="0" animBg="1"/>
      <p:bldP spid="63" grpId="0" animBg="1"/>
      <p:bldP spid="65" grpId="0" animBg="1"/>
      <p:bldP spid="66" grpId="0" animBg="1"/>
      <p:bldP spid="68" grpId="0" animBg="1"/>
      <p:bldP spid="78" grpId="0" animBg="1"/>
      <p:bldP spid="79" grpId="0" animBg="1"/>
      <p:bldP spid="80" grpId="0" animBg="1"/>
      <p:bldP spid="81" grpId="0" animBg="1"/>
      <p:bldP spid="90" grpId="0" animBg="1"/>
      <p:bldP spid="91" grpId="0" animBg="1"/>
      <p:bldP spid="93" grpId="0" animBg="1"/>
      <p:bldP spid="94" grpId="0" animBg="1"/>
      <p:bldP spid="96" grpId="0" animBg="1"/>
      <p:bldP spid="97" grpId="0" animBg="1"/>
      <p:bldP spid="98" grpId="0" animBg="1"/>
      <p:bldP spid="100" grpId="0" animBg="1"/>
      <p:bldP spid="101" grpId="0" animBg="1"/>
      <p:bldP spid="102" grpId="0" animBg="1"/>
      <p:bldP spid="103" grpId="0" animBg="1"/>
      <p:bldP spid="105" grpId="0" animBg="1"/>
      <p:bldP spid="106" grpId="0" animBg="1"/>
      <p:bldP spid="108" grpId="0" animBg="1"/>
      <p:bldP spid="109" grpId="0" animBg="1"/>
      <p:bldP spid="110" grpId="0" animBg="1"/>
      <p:bldP spid="115" grpId="0" animBg="1"/>
      <p:bldP spid="119" grpId="0" animBg="1"/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82042-5282-A7B5-9A03-EAF9119F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A28D-932F-AD48-8A21-66AAE8DC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7" y="35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C540C-F573-B178-D8F3-6D49D06177EE}"/>
              </a:ext>
            </a:extLst>
          </p:cNvPr>
          <p:cNvSpPr/>
          <p:nvPr/>
        </p:nvSpPr>
        <p:spPr>
          <a:xfrm>
            <a:off x="136934" y="1546435"/>
            <a:ext cx="111760" cy="182748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BC3BBB-46D2-49F6-36FB-2BD421CB0FBC}"/>
              </a:ext>
            </a:extLst>
          </p:cNvPr>
          <p:cNvSpPr/>
          <p:nvPr/>
        </p:nvSpPr>
        <p:spPr>
          <a:xfrm>
            <a:off x="213133" y="1546435"/>
            <a:ext cx="11743155" cy="182748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https://youtube.com/playlist?list=PLDoPjvoNmBAw4eOj58MZPakHjaO3frVMF&amp;si=sWBFhTCTo3VRZgRR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https://youtube.com/playlist?list=PL-osiE80TeTuRUfjRe54Eea17-YfnOOAx&amp;si=rK49ZuLMdGnXnq6c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668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893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Git &amp; GitHub</vt:lpstr>
      <vt:lpstr>PowerPoint Presentation</vt:lpstr>
      <vt:lpstr>Collaborating between local and remote Repos</vt:lpstr>
      <vt:lpstr>git clone vs. git pull:</vt:lpstr>
      <vt:lpstr>Traverse between different commits:</vt:lpstr>
      <vt:lpstr>Traverse between different commits:</vt:lpstr>
      <vt:lpstr>Traverse between different commits:</vt:lpstr>
      <vt:lpstr>Branching:</vt:lpstr>
      <vt:lpstr>Branching:</vt:lpstr>
      <vt:lpstr>Merging:</vt:lpstr>
      <vt:lpstr>Merge Branches:</vt:lpstr>
      <vt:lpstr>Resources: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Al-Hassan Abdelhalim</dc:creator>
  <cp:lastModifiedBy>alHasan 20367648</cp:lastModifiedBy>
  <cp:revision>134</cp:revision>
  <dcterms:created xsi:type="dcterms:W3CDTF">2025-09-26T18:08:18Z</dcterms:created>
  <dcterms:modified xsi:type="dcterms:W3CDTF">2026-03-24T21:52:31Z</dcterms:modified>
</cp:coreProperties>
</file>