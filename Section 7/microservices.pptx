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sldIdLst>
    <p:sldId id="297" r:id="rId2"/>
    <p:sldId id="330" r:id="rId3"/>
    <p:sldId id="335" r:id="rId4"/>
    <p:sldId id="336" r:id="rId5"/>
    <p:sldId id="337" r:id="rId6"/>
    <p:sldId id="338" r:id="rId7"/>
    <p:sldId id="274" r:id="rId8"/>
    <p:sldId id="344" r:id="rId9"/>
    <p:sldId id="347" r:id="rId10"/>
    <p:sldId id="345" r:id="rId11"/>
    <p:sldId id="339" r:id="rId12"/>
    <p:sldId id="341" r:id="rId13"/>
    <p:sldId id="342" r:id="rId14"/>
    <p:sldId id="343" r:id="rId15"/>
    <p:sldId id="340" r:id="rId16"/>
    <p:sldId id="273"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54952"/>
    <a:srgbClr val="AE2D68"/>
    <a:srgbClr val="660F56"/>
    <a:srgbClr val="341671"/>
    <a:srgbClr val="42268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902" autoAdjust="0"/>
  </p:normalViewPr>
  <p:slideViewPr>
    <p:cSldViewPr snapToGrid="0">
      <p:cViewPr varScale="1">
        <p:scale>
          <a:sx n="78" d="100"/>
          <a:sy n="78" d="100"/>
        </p:scale>
        <p:origin x="850"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89D4E11-9C44-4A69-B08E-8C90E25E9E99}" type="datetimeFigureOut">
              <a:rPr lang="en-US" smtClean="0"/>
              <a:t>4/23/2026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D7DA465-4BEF-420A-80B9-168D75A79793}" type="slidenum">
              <a:rPr lang="en-US" smtClean="0"/>
              <a:t>‹#›</a:t>
            </a:fld>
            <a:endParaRPr lang="en-US"/>
          </a:p>
        </p:txBody>
      </p:sp>
    </p:spTree>
    <p:extLst>
      <p:ext uri="{BB962C8B-B14F-4D97-AF65-F5344CB8AC3E}">
        <p14:creationId xmlns:p14="http://schemas.microsoft.com/office/powerpoint/2010/main" val="10743697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268DE3-6FF2-9D5A-EFF1-050BA54EF32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35C585-7995-B5C5-C1D3-461DA147204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6B656FD-CB5F-FDAA-95D0-D994AF70953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1DD9953-28FC-D6B4-2515-F6D605FB9799}"/>
              </a:ext>
            </a:extLst>
          </p:cNvPr>
          <p:cNvSpPr>
            <a:spLocks noGrp="1"/>
          </p:cNvSpPr>
          <p:nvPr>
            <p:ph type="sldNum" sz="quarter" idx="5"/>
          </p:nvPr>
        </p:nvSpPr>
        <p:spPr/>
        <p:txBody>
          <a:bodyPr/>
          <a:lstStyle/>
          <a:p>
            <a:fld id="{5D7DA465-4BEF-420A-80B9-168D75A79793}" type="slidenum">
              <a:rPr lang="en-US" smtClean="0"/>
              <a:t>1</a:t>
            </a:fld>
            <a:endParaRPr lang="en-US"/>
          </a:p>
        </p:txBody>
      </p:sp>
    </p:spTree>
    <p:extLst>
      <p:ext uri="{BB962C8B-B14F-4D97-AF65-F5344CB8AC3E}">
        <p14:creationId xmlns:p14="http://schemas.microsoft.com/office/powerpoint/2010/main" val="10837052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722517-87A1-BB00-6013-87473DE3030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FC08ABB-5C7D-633C-CC35-967CCACCAF8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0685314-24DC-EDE2-4F15-8EF5F0796EA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E2C1288-E5FA-D383-5200-747A58BCED77}"/>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D7DA465-4BEF-420A-80B9-168D75A79793}"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82542003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303531-D4E0-847D-3ECD-9623CF34B59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078EA6A-9C52-DD48-8BA1-E97F40705C0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A5B3119-6BEA-9DD1-67A4-FE21E26602E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BF49F16-FF29-B15D-4458-BC7E5F46EDD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D7DA465-4BEF-420A-80B9-168D75A79793}"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40614004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492E52-C02A-C9AE-49AF-E25D53AC688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CA6478B-4820-1D42-8AAE-8B30EEEEED3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1FAEE78-1229-845F-12BC-8D8AB392B488}"/>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CB65B4F0-CD11-6F72-0ECE-8669C15ED789}"/>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4E50753-C76C-40FB-A654-1A38D8FDFA20}"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34877818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CAEC35-A219-5EE2-6DBE-2E29A790AE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4A9F266-A603-F0E1-17F7-F548E9840F9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C99B072-26CC-AB97-A9C9-9F2A2DDAAAA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8F4A1C4-5FAB-8253-2F99-476B055820AC}"/>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D7DA465-4BEF-420A-80B9-168D75A79793}"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62705570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A137E7-8E2F-C865-0319-47A6F76043F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17F59FD-2243-C2B1-CD78-9BBF4EE1C74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DF854EE-38A9-9663-DAFD-46B5E651BC0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F28E973-A3EB-F78F-DBD2-99769DB0C36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4E50753-C76C-40FB-A654-1A38D8FDFA20}"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93655484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24E41E-1CE8-1561-B13D-1BD6BCD1478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1E1187A-759F-BF6B-E1AE-42DD7499C95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C31F3D5-FA1B-49DF-0530-1B6738FA3C1C}"/>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621DF6A2-B53C-488B-B509-C05204B38D46}"/>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4E50753-C76C-40FB-A654-1A38D8FDFA20}"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13378680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05F8E6-F388-EE86-0496-666DB275338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AAF71AE-C12E-C2CE-364C-8B10DBEFA07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CAE7AA1-4B7C-A2F4-E104-1D5E140EA18C}"/>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2F9BC3D5-B36F-4999-82AE-13995AD4FD7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4E50753-C76C-40FB-A654-1A38D8FDFA20}"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94261612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2F0758-42B8-4289-5D72-0F97B387E0B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441D88F-7DE0-B575-B7E3-AB13863F067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8121AB1-29A8-7D70-191A-B79A84CFA7BB}"/>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2AA4E4BE-183E-F53D-76F5-6002E963D86C}"/>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4E50753-C76C-40FB-A654-1A38D8FDFA20}"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5637310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25E6AB-FE4E-3AAD-6312-694993BA82E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213A712-0D54-188B-C885-759624827F9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B98780E-E9CD-7D9A-4E74-D1BD105A4E3C}"/>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2456E3A1-61EB-D2E6-7CCA-649F87F58726}"/>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4E50753-C76C-40FB-A654-1A38D8FDFA20}"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845186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D772C3-0799-D1B6-B2CE-0FD5FBCA971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EE7B60-DBEE-09AE-CD82-0DF1A89A8D1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F889860-1442-3384-1851-7629BFB61941}"/>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7A9FDC7F-CAF9-E8D6-DBFF-4F7435173A74}"/>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4E50753-C76C-40FB-A654-1A38D8FDFA20}"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91057275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11CD14-D954-08A6-6E4D-0AACA8C783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887CEAA-185C-E4D8-A498-C2A356C34C8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FFE0011-BBCC-F5EC-9413-70C4E180851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C7A86E3-5AE5-8242-CAB4-D4DA939DE215}"/>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D7DA465-4BEF-420A-80B9-168D75A79793}"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82045114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63C007-E809-6FB3-6C36-0FA5DDAF26D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3FE72B1-A15E-CFCC-280A-919679E9474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03E7134-12F2-F44C-4615-04B5A6B97BD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D5EA708-5DB8-E545-6C5C-FF45138148B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D7DA465-4BEF-420A-80B9-168D75A79793}"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90200055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641A2-FC9C-C8AD-1675-DDCA0AFE895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F75C9D1-87EC-1290-9035-7065F033F96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CEC1774-C6C5-FCD1-5CB2-73D998D777E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7989D72-23BC-59CE-16CF-E54B800C1849}"/>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D7DA465-4BEF-420A-80B9-168D75A79793}"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85945971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954594-8402-5F1A-4944-8B900FFF66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65390CA-D78F-E306-ABFA-F80C727B199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0CEDECD-1832-DF1D-40B3-E8416C0EED20}"/>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1348C278-F3E9-41AA-CEDB-F33EABF330AF}"/>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4E50753-C76C-40FB-A654-1A38D8FDFA20}"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80792797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8BE3CA-8603-956C-FE73-7961D0B26BB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F2846B5-91CF-4276-E2CE-F7F9C245FB3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E5140E9-E8A5-6367-59AC-BA157806A368}"/>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F2579D7A-7931-B939-A2D4-E5BC257D41A1}"/>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4E50753-C76C-40FB-A654-1A38D8FDFA20}"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03685988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BAD1C8-A001-3671-67CF-2C51F676FFC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206ADB7-3594-8E87-3AC3-2D28C93859B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1E6A22E-43AD-3FAF-B032-45E551E13188}"/>
              </a:ext>
            </a:extLst>
          </p:cNvPr>
          <p:cNvSpPr>
            <a:spLocks noGrp="1"/>
          </p:cNvSpPr>
          <p:nvPr>
            <p:ph type="dt" sz="half" idx="10"/>
          </p:nvPr>
        </p:nvSpPr>
        <p:spPr/>
        <p:txBody>
          <a:bodyPr/>
          <a:lstStyle/>
          <a:p>
            <a:fld id="{26C75AD8-6727-4031-AB70-90E6355DAEBF}" type="datetimeFigureOut">
              <a:rPr lang="en-US" smtClean="0"/>
              <a:t>4/23/2026</a:t>
            </a:fld>
            <a:endParaRPr lang="en-US"/>
          </a:p>
        </p:txBody>
      </p:sp>
      <p:sp>
        <p:nvSpPr>
          <p:cNvPr id="5" name="Footer Placeholder 4">
            <a:extLst>
              <a:ext uri="{FF2B5EF4-FFF2-40B4-BE49-F238E27FC236}">
                <a16:creationId xmlns:a16="http://schemas.microsoft.com/office/drawing/2014/main" id="{0BBC8F42-3300-56C2-9C00-53BF0F0E38F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A7F0A59-56B7-BB1A-9165-4BEE4A08108A}"/>
              </a:ext>
            </a:extLst>
          </p:cNvPr>
          <p:cNvSpPr>
            <a:spLocks noGrp="1"/>
          </p:cNvSpPr>
          <p:nvPr>
            <p:ph type="sldNum" sz="quarter" idx="12"/>
          </p:nvPr>
        </p:nvSpPr>
        <p:spPr/>
        <p:txBody>
          <a:bodyPr/>
          <a:lstStyle/>
          <a:p>
            <a:fld id="{9222EBA9-F5D8-4B2D-AD8E-964F40FFF1DD}" type="slidenum">
              <a:rPr lang="en-US" smtClean="0"/>
              <a:t>‹#›</a:t>
            </a:fld>
            <a:endParaRPr lang="en-US"/>
          </a:p>
        </p:txBody>
      </p:sp>
    </p:spTree>
    <p:extLst>
      <p:ext uri="{BB962C8B-B14F-4D97-AF65-F5344CB8AC3E}">
        <p14:creationId xmlns:p14="http://schemas.microsoft.com/office/powerpoint/2010/main" val="8595356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D494C1-D301-D617-62A6-B5B215F6BF3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64752BD-C41C-9957-4390-1752AB75884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A0A4FB9-FBC8-8247-109F-FCD90198CD24}"/>
              </a:ext>
            </a:extLst>
          </p:cNvPr>
          <p:cNvSpPr>
            <a:spLocks noGrp="1"/>
          </p:cNvSpPr>
          <p:nvPr>
            <p:ph type="dt" sz="half" idx="10"/>
          </p:nvPr>
        </p:nvSpPr>
        <p:spPr/>
        <p:txBody>
          <a:bodyPr/>
          <a:lstStyle/>
          <a:p>
            <a:fld id="{26C75AD8-6727-4031-AB70-90E6355DAEBF}" type="datetimeFigureOut">
              <a:rPr lang="en-US" smtClean="0"/>
              <a:t>4/23/2026</a:t>
            </a:fld>
            <a:endParaRPr lang="en-US"/>
          </a:p>
        </p:txBody>
      </p:sp>
      <p:sp>
        <p:nvSpPr>
          <p:cNvPr id="5" name="Footer Placeholder 4">
            <a:extLst>
              <a:ext uri="{FF2B5EF4-FFF2-40B4-BE49-F238E27FC236}">
                <a16:creationId xmlns:a16="http://schemas.microsoft.com/office/drawing/2014/main" id="{6B37133C-F31A-8484-CA70-C9E5DE128CE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8A77AC4-2595-519D-729F-7AAFDEC9E04C}"/>
              </a:ext>
            </a:extLst>
          </p:cNvPr>
          <p:cNvSpPr>
            <a:spLocks noGrp="1"/>
          </p:cNvSpPr>
          <p:nvPr>
            <p:ph type="sldNum" sz="quarter" idx="12"/>
          </p:nvPr>
        </p:nvSpPr>
        <p:spPr/>
        <p:txBody>
          <a:bodyPr/>
          <a:lstStyle/>
          <a:p>
            <a:fld id="{9222EBA9-F5D8-4B2D-AD8E-964F40FFF1DD}" type="slidenum">
              <a:rPr lang="en-US" smtClean="0"/>
              <a:t>‹#›</a:t>
            </a:fld>
            <a:endParaRPr lang="en-US"/>
          </a:p>
        </p:txBody>
      </p:sp>
    </p:spTree>
    <p:extLst>
      <p:ext uri="{BB962C8B-B14F-4D97-AF65-F5344CB8AC3E}">
        <p14:creationId xmlns:p14="http://schemas.microsoft.com/office/powerpoint/2010/main" val="29053489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51F4A0-31B1-C2F4-E91B-0FD417FCD77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6C96E0D-9544-C6F5-25D3-66053C1F2DA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9F691AA-ECA0-DC27-6FA8-C5EF02D64C69}"/>
              </a:ext>
            </a:extLst>
          </p:cNvPr>
          <p:cNvSpPr>
            <a:spLocks noGrp="1"/>
          </p:cNvSpPr>
          <p:nvPr>
            <p:ph type="dt" sz="half" idx="10"/>
          </p:nvPr>
        </p:nvSpPr>
        <p:spPr/>
        <p:txBody>
          <a:bodyPr/>
          <a:lstStyle/>
          <a:p>
            <a:fld id="{26C75AD8-6727-4031-AB70-90E6355DAEBF}" type="datetimeFigureOut">
              <a:rPr lang="en-US" smtClean="0"/>
              <a:t>4/23/2026</a:t>
            </a:fld>
            <a:endParaRPr lang="en-US"/>
          </a:p>
        </p:txBody>
      </p:sp>
      <p:sp>
        <p:nvSpPr>
          <p:cNvPr id="5" name="Footer Placeholder 4">
            <a:extLst>
              <a:ext uri="{FF2B5EF4-FFF2-40B4-BE49-F238E27FC236}">
                <a16:creationId xmlns:a16="http://schemas.microsoft.com/office/drawing/2014/main" id="{9AB9868D-E9E0-0F4D-E947-F2C22172289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FDC8033-3552-934C-4037-60C0EFB5BE63}"/>
              </a:ext>
            </a:extLst>
          </p:cNvPr>
          <p:cNvSpPr>
            <a:spLocks noGrp="1"/>
          </p:cNvSpPr>
          <p:nvPr>
            <p:ph type="sldNum" sz="quarter" idx="12"/>
          </p:nvPr>
        </p:nvSpPr>
        <p:spPr/>
        <p:txBody>
          <a:bodyPr/>
          <a:lstStyle/>
          <a:p>
            <a:fld id="{9222EBA9-F5D8-4B2D-AD8E-964F40FFF1DD}" type="slidenum">
              <a:rPr lang="en-US" smtClean="0"/>
              <a:t>‹#›</a:t>
            </a:fld>
            <a:endParaRPr lang="en-US"/>
          </a:p>
        </p:txBody>
      </p:sp>
    </p:spTree>
    <p:extLst>
      <p:ext uri="{BB962C8B-B14F-4D97-AF65-F5344CB8AC3E}">
        <p14:creationId xmlns:p14="http://schemas.microsoft.com/office/powerpoint/2010/main" val="20185990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E47608-5968-371C-3C82-5455182A3ED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B31BF24-E95D-63EB-26FE-0465E2C5653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E682935-2122-CBB1-0F37-A5EE2DFA247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9AE2240-CDE3-B77F-97CF-45E873FB02BD}"/>
              </a:ext>
            </a:extLst>
          </p:cNvPr>
          <p:cNvSpPr>
            <a:spLocks noGrp="1"/>
          </p:cNvSpPr>
          <p:nvPr>
            <p:ph type="dt" sz="half" idx="10"/>
          </p:nvPr>
        </p:nvSpPr>
        <p:spPr/>
        <p:txBody>
          <a:bodyPr/>
          <a:lstStyle/>
          <a:p>
            <a:fld id="{26C75AD8-6727-4031-AB70-90E6355DAEBF}" type="datetimeFigureOut">
              <a:rPr lang="en-US" smtClean="0"/>
              <a:t>4/23/2026</a:t>
            </a:fld>
            <a:endParaRPr lang="en-US"/>
          </a:p>
        </p:txBody>
      </p:sp>
      <p:sp>
        <p:nvSpPr>
          <p:cNvPr id="6" name="Footer Placeholder 5">
            <a:extLst>
              <a:ext uri="{FF2B5EF4-FFF2-40B4-BE49-F238E27FC236}">
                <a16:creationId xmlns:a16="http://schemas.microsoft.com/office/drawing/2014/main" id="{F6D94A1D-3E47-96F1-2345-515C088590F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3EA3D5B-3399-9627-0440-B288CF47E434}"/>
              </a:ext>
            </a:extLst>
          </p:cNvPr>
          <p:cNvSpPr>
            <a:spLocks noGrp="1"/>
          </p:cNvSpPr>
          <p:nvPr>
            <p:ph type="sldNum" sz="quarter" idx="12"/>
          </p:nvPr>
        </p:nvSpPr>
        <p:spPr/>
        <p:txBody>
          <a:bodyPr/>
          <a:lstStyle/>
          <a:p>
            <a:fld id="{9222EBA9-F5D8-4B2D-AD8E-964F40FFF1DD}" type="slidenum">
              <a:rPr lang="en-US" smtClean="0"/>
              <a:t>‹#›</a:t>
            </a:fld>
            <a:endParaRPr lang="en-US"/>
          </a:p>
        </p:txBody>
      </p:sp>
    </p:spTree>
    <p:extLst>
      <p:ext uri="{BB962C8B-B14F-4D97-AF65-F5344CB8AC3E}">
        <p14:creationId xmlns:p14="http://schemas.microsoft.com/office/powerpoint/2010/main" val="17597019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F0E29B-86DA-D02F-196C-283013B6F70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830789D-FA88-CEBC-F410-CF39B79EDC8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77D52B0-C28B-3777-C4D4-40BF0213CA2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6F9CC55-B453-1C2B-573F-6B6CB3B15D2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0468186-E574-08D3-B1C9-0944A1F5348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4216783-CACF-23C2-6B18-CBE2E7EC5B77}"/>
              </a:ext>
            </a:extLst>
          </p:cNvPr>
          <p:cNvSpPr>
            <a:spLocks noGrp="1"/>
          </p:cNvSpPr>
          <p:nvPr>
            <p:ph type="dt" sz="half" idx="10"/>
          </p:nvPr>
        </p:nvSpPr>
        <p:spPr/>
        <p:txBody>
          <a:bodyPr/>
          <a:lstStyle/>
          <a:p>
            <a:fld id="{26C75AD8-6727-4031-AB70-90E6355DAEBF}" type="datetimeFigureOut">
              <a:rPr lang="en-US" smtClean="0"/>
              <a:t>4/23/2026</a:t>
            </a:fld>
            <a:endParaRPr lang="en-US"/>
          </a:p>
        </p:txBody>
      </p:sp>
      <p:sp>
        <p:nvSpPr>
          <p:cNvPr id="8" name="Footer Placeholder 7">
            <a:extLst>
              <a:ext uri="{FF2B5EF4-FFF2-40B4-BE49-F238E27FC236}">
                <a16:creationId xmlns:a16="http://schemas.microsoft.com/office/drawing/2014/main" id="{D2085B0D-F54E-AFCC-2A11-1E72F2E6D75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7500F25-0CF2-543D-A790-97EBF24FECC7}"/>
              </a:ext>
            </a:extLst>
          </p:cNvPr>
          <p:cNvSpPr>
            <a:spLocks noGrp="1"/>
          </p:cNvSpPr>
          <p:nvPr>
            <p:ph type="sldNum" sz="quarter" idx="12"/>
          </p:nvPr>
        </p:nvSpPr>
        <p:spPr/>
        <p:txBody>
          <a:bodyPr/>
          <a:lstStyle/>
          <a:p>
            <a:fld id="{9222EBA9-F5D8-4B2D-AD8E-964F40FFF1DD}" type="slidenum">
              <a:rPr lang="en-US" smtClean="0"/>
              <a:t>‹#›</a:t>
            </a:fld>
            <a:endParaRPr lang="en-US"/>
          </a:p>
        </p:txBody>
      </p:sp>
    </p:spTree>
    <p:extLst>
      <p:ext uri="{BB962C8B-B14F-4D97-AF65-F5344CB8AC3E}">
        <p14:creationId xmlns:p14="http://schemas.microsoft.com/office/powerpoint/2010/main" val="823138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CD5F0B-55E3-79B5-0FA9-EBB6E047662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EFFC90D-4E31-68F9-3649-43E5A1734B4A}"/>
              </a:ext>
            </a:extLst>
          </p:cNvPr>
          <p:cNvSpPr>
            <a:spLocks noGrp="1"/>
          </p:cNvSpPr>
          <p:nvPr>
            <p:ph type="dt" sz="half" idx="10"/>
          </p:nvPr>
        </p:nvSpPr>
        <p:spPr/>
        <p:txBody>
          <a:bodyPr/>
          <a:lstStyle/>
          <a:p>
            <a:fld id="{26C75AD8-6727-4031-AB70-90E6355DAEBF}" type="datetimeFigureOut">
              <a:rPr lang="en-US" smtClean="0"/>
              <a:t>4/23/2026</a:t>
            </a:fld>
            <a:endParaRPr lang="en-US"/>
          </a:p>
        </p:txBody>
      </p:sp>
      <p:sp>
        <p:nvSpPr>
          <p:cNvPr id="4" name="Footer Placeholder 3">
            <a:extLst>
              <a:ext uri="{FF2B5EF4-FFF2-40B4-BE49-F238E27FC236}">
                <a16:creationId xmlns:a16="http://schemas.microsoft.com/office/drawing/2014/main" id="{700AE31B-8154-AFEA-99DC-23C1433AF9E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969E499-67B5-6818-9470-20D3245F9A36}"/>
              </a:ext>
            </a:extLst>
          </p:cNvPr>
          <p:cNvSpPr>
            <a:spLocks noGrp="1"/>
          </p:cNvSpPr>
          <p:nvPr>
            <p:ph type="sldNum" sz="quarter" idx="12"/>
          </p:nvPr>
        </p:nvSpPr>
        <p:spPr/>
        <p:txBody>
          <a:bodyPr/>
          <a:lstStyle/>
          <a:p>
            <a:fld id="{9222EBA9-F5D8-4B2D-AD8E-964F40FFF1DD}" type="slidenum">
              <a:rPr lang="en-US" smtClean="0"/>
              <a:t>‹#›</a:t>
            </a:fld>
            <a:endParaRPr lang="en-US"/>
          </a:p>
        </p:txBody>
      </p:sp>
    </p:spTree>
    <p:extLst>
      <p:ext uri="{BB962C8B-B14F-4D97-AF65-F5344CB8AC3E}">
        <p14:creationId xmlns:p14="http://schemas.microsoft.com/office/powerpoint/2010/main" val="36855950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D7925F9-8836-2731-2415-E9048D534C4B}"/>
              </a:ext>
            </a:extLst>
          </p:cNvPr>
          <p:cNvSpPr>
            <a:spLocks noGrp="1"/>
          </p:cNvSpPr>
          <p:nvPr>
            <p:ph type="dt" sz="half" idx="10"/>
          </p:nvPr>
        </p:nvSpPr>
        <p:spPr/>
        <p:txBody>
          <a:bodyPr/>
          <a:lstStyle/>
          <a:p>
            <a:fld id="{26C75AD8-6727-4031-AB70-90E6355DAEBF}" type="datetimeFigureOut">
              <a:rPr lang="en-US" smtClean="0"/>
              <a:t>4/23/2026</a:t>
            </a:fld>
            <a:endParaRPr lang="en-US"/>
          </a:p>
        </p:txBody>
      </p:sp>
      <p:sp>
        <p:nvSpPr>
          <p:cNvPr id="3" name="Footer Placeholder 2">
            <a:extLst>
              <a:ext uri="{FF2B5EF4-FFF2-40B4-BE49-F238E27FC236}">
                <a16:creationId xmlns:a16="http://schemas.microsoft.com/office/drawing/2014/main" id="{9BAA7D79-5525-8E0A-0872-9D9A4FEC208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4E29F34-711B-8DB9-3D9E-025C13C503CF}"/>
              </a:ext>
            </a:extLst>
          </p:cNvPr>
          <p:cNvSpPr>
            <a:spLocks noGrp="1"/>
          </p:cNvSpPr>
          <p:nvPr>
            <p:ph type="sldNum" sz="quarter" idx="12"/>
          </p:nvPr>
        </p:nvSpPr>
        <p:spPr/>
        <p:txBody>
          <a:bodyPr/>
          <a:lstStyle/>
          <a:p>
            <a:fld id="{9222EBA9-F5D8-4B2D-AD8E-964F40FFF1DD}" type="slidenum">
              <a:rPr lang="en-US" smtClean="0"/>
              <a:t>‹#›</a:t>
            </a:fld>
            <a:endParaRPr lang="en-US"/>
          </a:p>
        </p:txBody>
      </p:sp>
    </p:spTree>
    <p:extLst>
      <p:ext uri="{BB962C8B-B14F-4D97-AF65-F5344CB8AC3E}">
        <p14:creationId xmlns:p14="http://schemas.microsoft.com/office/powerpoint/2010/main" val="20154982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604517-18A4-4FA1-97C2-5B727180913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BC8E9F1-DBBE-1648-ACC4-3E85183E1D4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9F3CECB-5FCC-3498-F84D-6562D492B50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4C0641B-8EC0-21D6-9666-AE48C289A1AD}"/>
              </a:ext>
            </a:extLst>
          </p:cNvPr>
          <p:cNvSpPr>
            <a:spLocks noGrp="1"/>
          </p:cNvSpPr>
          <p:nvPr>
            <p:ph type="dt" sz="half" idx="10"/>
          </p:nvPr>
        </p:nvSpPr>
        <p:spPr/>
        <p:txBody>
          <a:bodyPr/>
          <a:lstStyle/>
          <a:p>
            <a:fld id="{26C75AD8-6727-4031-AB70-90E6355DAEBF}" type="datetimeFigureOut">
              <a:rPr lang="en-US" smtClean="0"/>
              <a:t>4/23/2026</a:t>
            </a:fld>
            <a:endParaRPr lang="en-US"/>
          </a:p>
        </p:txBody>
      </p:sp>
      <p:sp>
        <p:nvSpPr>
          <p:cNvPr id="6" name="Footer Placeholder 5">
            <a:extLst>
              <a:ext uri="{FF2B5EF4-FFF2-40B4-BE49-F238E27FC236}">
                <a16:creationId xmlns:a16="http://schemas.microsoft.com/office/drawing/2014/main" id="{62C6EC1D-46D6-41E6-7401-40A89E8C8A1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8ED9433-9223-BF6C-24AE-02969CC0B71C}"/>
              </a:ext>
            </a:extLst>
          </p:cNvPr>
          <p:cNvSpPr>
            <a:spLocks noGrp="1"/>
          </p:cNvSpPr>
          <p:nvPr>
            <p:ph type="sldNum" sz="quarter" idx="12"/>
          </p:nvPr>
        </p:nvSpPr>
        <p:spPr/>
        <p:txBody>
          <a:bodyPr/>
          <a:lstStyle/>
          <a:p>
            <a:fld id="{9222EBA9-F5D8-4B2D-AD8E-964F40FFF1DD}" type="slidenum">
              <a:rPr lang="en-US" smtClean="0"/>
              <a:t>‹#›</a:t>
            </a:fld>
            <a:endParaRPr lang="en-US"/>
          </a:p>
        </p:txBody>
      </p:sp>
    </p:spTree>
    <p:extLst>
      <p:ext uri="{BB962C8B-B14F-4D97-AF65-F5344CB8AC3E}">
        <p14:creationId xmlns:p14="http://schemas.microsoft.com/office/powerpoint/2010/main" val="26238483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383CE3-9F07-2E7E-069E-328F6972B6F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3B286A0-D003-72DE-EB76-122BE1FE4FF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B88D15B-F664-F0A4-7CFF-958E87B2DB9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44D774E-F9F3-66A9-0A07-35536838A1A0}"/>
              </a:ext>
            </a:extLst>
          </p:cNvPr>
          <p:cNvSpPr>
            <a:spLocks noGrp="1"/>
          </p:cNvSpPr>
          <p:nvPr>
            <p:ph type="dt" sz="half" idx="10"/>
          </p:nvPr>
        </p:nvSpPr>
        <p:spPr/>
        <p:txBody>
          <a:bodyPr/>
          <a:lstStyle/>
          <a:p>
            <a:fld id="{26C75AD8-6727-4031-AB70-90E6355DAEBF}" type="datetimeFigureOut">
              <a:rPr lang="en-US" smtClean="0"/>
              <a:t>4/23/2026</a:t>
            </a:fld>
            <a:endParaRPr lang="en-US"/>
          </a:p>
        </p:txBody>
      </p:sp>
      <p:sp>
        <p:nvSpPr>
          <p:cNvPr id="6" name="Footer Placeholder 5">
            <a:extLst>
              <a:ext uri="{FF2B5EF4-FFF2-40B4-BE49-F238E27FC236}">
                <a16:creationId xmlns:a16="http://schemas.microsoft.com/office/drawing/2014/main" id="{E7A2903F-F711-F7FC-F01D-8A4675E3DDF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4683C8B-BC4A-059A-1B5E-FF9EB1F99B6B}"/>
              </a:ext>
            </a:extLst>
          </p:cNvPr>
          <p:cNvSpPr>
            <a:spLocks noGrp="1"/>
          </p:cNvSpPr>
          <p:nvPr>
            <p:ph type="sldNum" sz="quarter" idx="12"/>
          </p:nvPr>
        </p:nvSpPr>
        <p:spPr/>
        <p:txBody>
          <a:bodyPr/>
          <a:lstStyle/>
          <a:p>
            <a:fld id="{9222EBA9-F5D8-4B2D-AD8E-964F40FFF1DD}" type="slidenum">
              <a:rPr lang="en-US" smtClean="0"/>
              <a:t>‹#›</a:t>
            </a:fld>
            <a:endParaRPr lang="en-US"/>
          </a:p>
        </p:txBody>
      </p:sp>
    </p:spTree>
    <p:extLst>
      <p:ext uri="{BB962C8B-B14F-4D97-AF65-F5344CB8AC3E}">
        <p14:creationId xmlns:p14="http://schemas.microsoft.com/office/powerpoint/2010/main" val="25529535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FC62A8-46E6-27A3-37F3-237FB7B930C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D04F02E-5074-7FEC-E1B9-F4B2E324935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E4666A9-AD1B-D42A-C4C0-676F40089DFE}"/>
              </a:ext>
            </a:extLst>
          </p:cNvPr>
          <p:cNvSpPr>
            <a:spLocks noGrp="1"/>
          </p:cNvSpPr>
          <p:nvPr>
            <p:ph type="dt" sz="half" idx="10"/>
          </p:nvPr>
        </p:nvSpPr>
        <p:spPr/>
        <p:txBody>
          <a:bodyPr/>
          <a:lstStyle/>
          <a:p>
            <a:fld id="{26C75AD8-6727-4031-AB70-90E6355DAEBF}" type="datetimeFigureOut">
              <a:rPr lang="en-US" smtClean="0"/>
              <a:t>4/23/2026</a:t>
            </a:fld>
            <a:endParaRPr lang="en-US"/>
          </a:p>
        </p:txBody>
      </p:sp>
      <p:sp>
        <p:nvSpPr>
          <p:cNvPr id="5" name="Footer Placeholder 4">
            <a:extLst>
              <a:ext uri="{FF2B5EF4-FFF2-40B4-BE49-F238E27FC236}">
                <a16:creationId xmlns:a16="http://schemas.microsoft.com/office/drawing/2014/main" id="{000DA104-5DED-DF4E-392A-C03E4B65138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F128105-952B-B1DC-CD82-38EBC3A06A12}"/>
              </a:ext>
            </a:extLst>
          </p:cNvPr>
          <p:cNvSpPr>
            <a:spLocks noGrp="1"/>
          </p:cNvSpPr>
          <p:nvPr>
            <p:ph type="sldNum" sz="quarter" idx="12"/>
          </p:nvPr>
        </p:nvSpPr>
        <p:spPr/>
        <p:txBody>
          <a:bodyPr/>
          <a:lstStyle/>
          <a:p>
            <a:fld id="{9222EBA9-F5D8-4B2D-AD8E-964F40FFF1DD}" type="slidenum">
              <a:rPr lang="en-US" smtClean="0"/>
              <a:t>‹#›</a:t>
            </a:fld>
            <a:endParaRPr lang="en-US"/>
          </a:p>
        </p:txBody>
      </p:sp>
    </p:spTree>
    <p:extLst>
      <p:ext uri="{BB962C8B-B14F-4D97-AF65-F5344CB8AC3E}">
        <p14:creationId xmlns:p14="http://schemas.microsoft.com/office/powerpoint/2010/main" val="12310223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4FD01F3-4BEC-41B7-2BDE-7E06C9873EF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70D4BC3B-3D9C-977F-788E-ACC7E9CE96E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B1A111A-89BC-DF66-0463-F43333A7866A}"/>
              </a:ext>
            </a:extLst>
          </p:cNvPr>
          <p:cNvSpPr>
            <a:spLocks noGrp="1"/>
          </p:cNvSpPr>
          <p:nvPr>
            <p:ph type="dt" sz="half" idx="10"/>
          </p:nvPr>
        </p:nvSpPr>
        <p:spPr/>
        <p:txBody>
          <a:bodyPr/>
          <a:lstStyle/>
          <a:p>
            <a:fld id="{26C75AD8-6727-4031-AB70-90E6355DAEBF}" type="datetimeFigureOut">
              <a:rPr lang="en-US" smtClean="0"/>
              <a:t>4/23/2026</a:t>
            </a:fld>
            <a:endParaRPr lang="en-US"/>
          </a:p>
        </p:txBody>
      </p:sp>
      <p:sp>
        <p:nvSpPr>
          <p:cNvPr id="5" name="Footer Placeholder 4">
            <a:extLst>
              <a:ext uri="{FF2B5EF4-FFF2-40B4-BE49-F238E27FC236}">
                <a16:creationId xmlns:a16="http://schemas.microsoft.com/office/drawing/2014/main" id="{47A8A549-0BFE-FAB8-9B87-43E0207B6E5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C7CB065-A3F6-F2FF-4F8F-7C9EFA2036A0}"/>
              </a:ext>
            </a:extLst>
          </p:cNvPr>
          <p:cNvSpPr>
            <a:spLocks noGrp="1"/>
          </p:cNvSpPr>
          <p:nvPr>
            <p:ph type="sldNum" sz="quarter" idx="12"/>
          </p:nvPr>
        </p:nvSpPr>
        <p:spPr/>
        <p:txBody>
          <a:bodyPr/>
          <a:lstStyle/>
          <a:p>
            <a:fld id="{9222EBA9-F5D8-4B2D-AD8E-964F40FFF1DD}" type="slidenum">
              <a:rPr lang="en-US" smtClean="0"/>
              <a:t>‹#›</a:t>
            </a:fld>
            <a:endParaRPr lang="en-US"/>
          </a:p>
        </p:txBody>
      </p:sp>
    </p:spTree>
    <p:extLst>
      <p:ext uri="{BB962C8B-B14F-4D97-AF65-F5344CB8AC3E}">
        <p14:creationId xmlns:p14="http://schemas.microsoft.com/office/powerpoint/2010/main" val="19145620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66AAF0B-97C5-A7E9-99FB-069DFA85229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FE799F4-0586-FCF1-7796-FFBE5F944C3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94A3930-F78A-5717-2B13-9C168BAE5E5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6C75AD8-6727-4031-AB70-90E6355DAEBF}" type="datetimeFigureOut">
              <a:rPr lang="en-US" smtClean="0"/>
              <a:t>4/23/2026</a:t>
            </a:fld>
            <a:endParaRPr lang="en-US"/>
          </a:p>
        </p:txBody>
      </p:sp>
      <p:sp>
        <p:nvSpPr>
          <p:cNvPr id="5" name="Footer Placeholder 4">
            <a:extLst>
              <a:ext uri="{FF2B5EF4-FFF2-40B4-BE49-F238E27FC236}">
                <a16:creationId xmlns:a16="http://schemas.microsoft.com/office/drawing/2014/main" id="{6905B497-83F6-BD21-E492-D78C7AD337D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205A1A65-CA88-36B2-EBE7-D29EF1CC438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222EBA9-F5D8-4B2D-AD8E-964F40FFF1DD}" type="slidenum">
              <a:rPr lang="en-US" smtClean="0"/>
              <a:t>‹#›</a:t>
            </a:fld>
            <a:endParaRPr lang="en-US"/>
          </a:p>
        </p:txBody>
      </p:sp>
    </p:spTree>
    <p:extLst>
      <p:ext uri="{BB962C8B-B14F-4D97-AF65-F5344CB8AC3E}">
        <p14:creationId xmlns:p14="http://schemas.microsoft.com/office/powerpoint/2010/main" val="254250396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8" Type="http://schemas.openxmlformats.org/officeDocument/2006/relationships/hyperlink" Target="https://www.ibm.com/products/api-connect/api-gateway" TargetMode="External"/><Relationship Id="rId13" Type="http://schemas.openxmlformats.org/officeDocument/2006/relationships/hyperlink" Target="https://code.kx.com/q/wp/solace/" TargetMode="External"/><Relationship Id="rId3" Type="http://schemas.openxmlformats.org/officeDocument/2006/relationships/hyperlink" Target="https://www.ibm.com/think/topics/containers" TargetMode="External"/><Relationship Id="rId7" Type="http://schemas.openxmlformats.org/officeDocument/2006/relationships/hyperlink" Target="https://www.digitalocean.com/community/tutorials/webinar-series-kubernetes-package-management-with-helm-and-ci-cd-with-jenkins-x" TargetMode="External"/><Relationship Id="rId12"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4.wmf"/><Relationship Id="rId11" Type="http://schemas.openxmlformats.org/officeDocument/2006/relationships/hyperlink" Target="https://www.ibm.com/think/topics/event-driven-architecture" TargetMode="External"/><Relationship Id="rId5" Type="http://schemas.openxmlformats.org/officeDocument/2006/relationships/hyperlink" Target="https://www.ibm.com/think/topics/container-orchestration" TargetMode="External"/><Relationship Id="rId10" Type="http://schemas.openxmlformats.org/officeDocument/2006/relationships/hyperlink" Target="https://www.letterstream.com/blog/how-using-letterstreams-api-saves-companies-time-money-and-sanity/" TargetMode="External"/><Relationship Id="rId4" Type="http://schemas.openxmlformats.org/officeDocument/2006/relationships/hyperlink" Target="https://www.ibm.com/think/topics/kubernetes" TargetMode="External"/><Relationship Id="rId9"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8.svg"/></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3D5B660-5CF1-7004-8575-67B0D31DBE97}"/>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657F69E0-C4B0-4BEC-A689-4F8D877F05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8096E6D0-4E13-D250-4177-9B0712E675F5}"/>
              </a:ext>
            </a:extLst>
          </p:cNvPr>
          <p:cNvPicPr>
            <a:picLocks noChangeAspect="1"/>
          </p:cNvPicPr>
          <p:nvPr/>
        </p:nvPicPr>
        <p:blipFill>
          <a:blip r:embed="rId3">
            <a:alphaModFix amt="50000"/>
            <a:extLst>
              <a:ext uri="{28A0092B-C50C-407E-A947-70E740481C1C}">
                <a14:useLocalDpi xmlns:a14="http://schemas.microsoft.com/office/drawing/2010/main" val="0"/>
              </a:ext>
            </a:extLst>
          </a:blip>
          <a:srcRect l="5567" r="5567"/>
          <a:stretch/>
        </p:blipFill>
        <p:spPr>
          <a:xfrm>
            <a:off x="20" y="10"/>
            <a:ext cx="12188930" cy="6857990"/>
          </a:xfrm>
          <a:prstGeom prst="rect">
            <a:avLst/>
          </a:prstGeom>
        </p:spPr>
      </p:pic>
      <p:sp>
        <p:nvSpPr>
          <p:cNvPr id="4" name="TextBox 3">
            <a:extLst>
              <a:ext uri="{FF2B5EF4-FFF2-40B4-BE49-F238E27FC236}">
                <a16:creationId xmlns:a16="http://schemas.microsoft.com/office/drawing/2014/main" id="{A1AEF84B-FCE9-809F-2941-DF76330E671F}"/>
              </a:ext>
            </a:extLst>
          </p:cNvPr>
          <p:cNvSpPr txBox="1"/>
          <p:nvPr/>
        </p:nvSpPr>
        <p:spPr>
          <a:xfrm>
            <a:off x="1524000" y="1122363"/>
            <a:ext cx="9144000" cy="3063240"/>
          </a:xfrm>
          <a:prstGeom prst="rect">
            <a:avLst/>
          </a:prstGeom>
        </p:spPr>
        <p:txBody>
          <a:bodyPr vert="horz" lIns="91440" tIns="45720" rIns="91440" bIns="45720" rtlCol="0" anchor="b">
            <a:normAutofit/>
          </a:bodyPr>
          <a:lstStyle/>
          <a:p>
            <a:pPr marL="0" marR="0" lvl="0" indent="0" algn="ctr" fontAlgn="auto">
              <a:lnSpc>
                <a:spcPct val="90000"/>
              </a:lnSpc>
              <a:spcBef>
                <a:spcPct val="0"/>
              </a:spcBef>
              <a:spcAft>
                <a:spcPts val="600"/>
              </a:spcAft>
              <a:buClrTx/>
              <a:buSzTx/>
              <a:tabLst/>
              <a:defRPr/>
            </a:pPr>
            <a:r>
              <a:rPr kumimoji="0" lang="en-US" sz="6600" b="1" i="0" u="none" strike="noStrike" cap="none" spc="0" normalizeH="0" baseline="0" noProof="0" dirty="0">
                <a:ln>
                  <a:noFill/>
                </a:ln>
                <a:solidFill>
                  <a:schemeClr val="bg1"/>
                </a:solidFill>
                <a:effectLst/>
                <a:uLnTx/>
                <a:uFillTx/>
                <a:latin typeface="+mj-lt"/>
                <a:ea typeface="+mj-ea"/>
                <a:cs typeface="+mj-cs"/>
              </a:rPr>
              <a:t>MICROSERVICES</a:t>
            </a:r>
          </a:p>
        </p:txBody>
      </p:sp>
      <p:sp>
        <p:nvSpPr>
          <p:cNvPr id="11" name="sketchy line">
            <a:extLst>
              <a:ext uri="{FF2B5EF4-FFF2-40B4-BE49-F238E27FC236}">
                <a16:creationId xmlns:a16="http://schemas.microsoft.com/office/drawing/2014/main" id="{9F6380B4-6A1C-481E-8408-B4E6C75B9B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74206" y="4368623"/>
            <a:ext cx="4243589" cy="18288"/>
          </a:xfrm>
          <a:custGeom>
            <a:avLst/>
            <a:gdLst>
              <a:gd name="csX0" fmla="*/ 0 w 4243589"/>
              <a:gd name="csY0" fmla="*/ 0 h 18288"/>
              <a:gd name="csX1" fmla="*/ 478919 w 4243589"/>
              <a:gd name="csY1" fmla="*/ 0 h 18288"/>
              <a:gd name="csX2" fmla="*/ 957839 w 4243589"/>
              <a:gd name="csY2" fmla="*/ 0 h 18288"/>
              <a:gd name="csX3" fmla="*/ 1521630 w 4243589"/>
              <a:gd name="csY3" fmla="*/ 0 h 18288"/>
              <a:gd name="csX4" fmla="*/ 2212729 w 4243589"/>
              <a:gd name="csY4" fmla="*/ 0 h 18288"/>
              <a:gd name="csX5" fmla="*/ 2734084 w 4243589"/>
              <a:gd name="csY5" fmla="*/ 0 h 18288"/>
              <a:gd name="csX6" fmla="*/ 3255439 w 4243589"/>
              <a:gd name="csY6" fmla="*/ 0 h 18288"/>
              <a:gd name="csX7" fmla="*/ 4243589 w 4243589"/>
              <a:gd name="csY7" fmla="*/ 0 h 18288"/>
              <a:gd name="csX8" fmla="*/ 4243589 w 4243589"/>
              <a:gd name="csY8" fmla="*/ 18288 h 18288"/>
              <a:gd name="csX9" fmla="*/ 3594926 w 4243589"/>
              <a:gd name="csY9" fmla="*/ 18288 h 18288"/>
              <a:gd name="csX10" fmla="*/ 3073571 w 4243589"/>
              <a:gd name="csY10" fmla="*/ 18288 h 18288"/>
              <a:gd name="csX11" fmla="*/ 2552216 w 4243589"/>
              <a:gd name="csY11" fmla="*/ 18288 h 18288"/>
              <a:gd name="csX12" fmla="*/ 1903553 w 4243589"/>
              <a:gd name="csY12" fmla="*/ 18288 h 18288"/>
              <a:gd name="csX13" fmla="*/ 1212454 w 4243589"/>
              <a:gd name="csY13" fmla="*/ 18288 h 18288"/>
              <a:gd name="csX14" fmla="*/ 733535 w 4243589"/>
              <a:gd name="csY14" fmla="*/ 18288 h 18288"/>
              <a:gd name="csX15" fmla="*/ 0 w 4243589"/>
              <a:gd name="csY15" fmla="*/ 18288 h 18288"/>
              <a:gd name="csX16" fmla="*/ 0 w 4243589"/>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243589" h="18288" fill="none" extrusionOk="0">
                <a:moveTo>
                  <a:pt x="0" y="0"/>
                </a:moveTo>
                <a:cubicBezTo>
                  <a:pt x="213395" y="-21006"/>
                  <a:pt x="307421" y="-18116"/>
                  <a:pt x="478919" y="0"/>
                </a:cubicBezTo>
                <a:cubicBezTo>
                  <a:pt x="650417" y="18116"/>
                  <a:pt x="831092" y="-21237"/>
                  <a:pt x="957839" y="0"/>
                </a:cubicBezTo>
                <a:cubicBezTo>
                  <a:pt x="1084586" y="21237"/>
                  <a:pt x="1301682" y="25124"/>
                  <a:pt x="1521630" y="0"/>
                </a:cubicBezTo>
                <a:cubicBezTo>
                  <a:pt x="1741578" y="-25124"/>
                  <a:pt x="1970269" y="-29139"/>
                  <a:pt x="2212729" y="0"/>
                </a:cubicBezTo>
                <a:cubicBezTo>
                  <a:pt x="2455189" y="29139"/>
                  <a:pt x="2558847" y="-4796"/>
                  <a:pt x="2734084" y="0"/>
                </a:cubicBezTo>
                <a:cubicBezTo>
                  <a:pt x="2909321" y="4796"/>
                  <a:pt x="3097217" y="-13409"/>
                  <a:pt x="3255439" y="0"/>
                </a:cubicBezTo>
                <a:cubicBezTo>
                  <a:pt x="3413662" y="13409"/>
                  <a:pt x="3979999" y="-10121"/>
                  <a:pt x="4243589" y="0"/>
                </a:cubicBezTo>
                <a:cubicBezTo>
                  <a:pt x="4244484" y="8974"/>
                  <a:pt x="4243043" y="9359"/>
                  <a:pt x="4243589" y="18288"/>
                </a:cubicBezTo>
                <a:cubicBezTo>
                  <a:pt x="4058777" y="31246"/>
                  <a:pt x="3910348" y="3158"/>
                  <a:pt x="3594926" y="18288"/>
                </a:cubicBezTo>
                <a:cubicBezTo>
                  <a:pt x="3279504" y="33418"/>
                  <a:pt x="3319955" y="-3977"/>
                  <a:pt x="3073571" y="18288"/>
                </a:cubicBezTo>
                <a:cubicBezTo>
                  <a:pt x="2827187" y="40553"/>
                  <a:pt x="2767387" y="1863"/>
                  <a:pt x="2552216" y="18288"/>
                </a:cubicBezTo>
                <a:cubicBezTo>
                  <a:pt x="2337046" y="34713"/>
                  <a:pt x="2181871" y="19527"/>
                  <a:pt x="1903553" y="18288"/>
                </a:cubicBezTo>
                <a:cubicBezTo>
                  <a:pt x="1625235" y="17049"/>
                  <a:pt x="1557672" y="24174"/>
                  <a:pt x="1212454" y="18288"/>
                </a:cubicBezTo>
                <a:cubicBezTo>
                  <a:pt x="867236" y="12402"/>
                  <a:pt x="874382" y="15627"/>
                  <a:pt x="733535" y="18288"/>
                </a:cubicBezTo>
                <a:cubicBezTo>
                  <a:pt x="592688" y="20949"/>
                  <a:pt x="183477" y="14753"/>
                  <a:pt x="0" y="18288"/>
                </a:cubicBezTo>
                <a:cubicBezTo>
                  <a:pt x="-229" y="14222"/>
                  <a:pt x="509" y="5816"/>
                  <a:pt x="0" y="0"/>
                </a:cubicBezTo>
                <a:close/>
              </a:path>
              <a:path w="4243589" h="18288" stroke="0" extrusionOk="0">
                <a:moveTo>
                  <a:pt x="0" y="0"/>
                </a:moveTo>
                <a:cubicBezTo>
                  <a:pt x="143690" y="16630"/>
                  <a:pt x="266667" y="14847"/>
                  <a:pt x="521355" y="0"/>
                </a:cubicBezTo>
                <a:cubicBezTo>
                  <a:pt x="776043" y="-14847"/>
                  <a:pt x="814491" y="-17363"/>
                  <a:pt x="1000275" y="0"/>
                </a:cubicBezTo>
                <a:cubicBezTo>
                  <a:pt x="1186059" y="17363"/>
                  <a:pt x="1352504" y="-23507"/>
                  <a:pt x="1521630" y="0"/>
                </a:cubicBezTo>
                <a:cubicBezTo>
                  <a:pt x="1690756" y="23507"/>
                  <a:pt x="1889525" y="5871"/>
                  <a:pt x="2127857" y="0"/>
                </a:cubicBezTo>
                <a:cubicBezTo>
                  <a:pt x="2366189" y="-5871"/>
                  <a:pt x="2620628" y="-27997"/>
                  <a:pt x="2776520" y="0"/>
                </a:cubicBezTo>
                <a:cubicBezTo>
                  <a:pt x="2932412" y="27997"/>
                  <a:pt x="3131683" y="-25073"/>
                  <a:pt x="3467618" y="0"/>
                </a:cubicBezTo>
                <a:cubicBezTo>
                  <a:pt x="3803553" y="25073"/>
                  <a:pt x="4017371" y="3071"/>
                  <a:pt x="4243589" y="0"/>
                </a:cubicBezTo>
                <a:cubicBezTo>
                  <a:pt x="4243134" y="6162"/>
                  <a:pt x="4243492" y="11775"/>
                  <a:pt x="4243589" y="18288"/>
                </a:cubicBezTo>
                <a:cubicBezTo>
                  <a:pt x="4017834" y="-5779"/>
                  <a:pt x="3834586" y="13376"/>
                  <a:pt x="3594926" y="18288"/>
                </a:cubicBezTo>
                <a:cubicBezTo>
                  <a:pt x="3355266" y="23200"/>
                  <a:pt x="3204179" y="2869"/>
                  <a:pt x="2903827" y="18288"/>
                </a:cubicBezTo>
                <a:cubicBezTo>
                  <a:pt x="2603475" y="33707"/>
                  <a:pt x="2526187" y="46187"/>
                  <a:pt x="2212729" y="18288"/>
                </a:cubicBezTo>
                <a:cubicBezTo>
                  <a:pt x="1899271" y="-9611"/>
                  <a:pt x="1966289" y="29692"/>
                  <a:pt x="1733809" y="18288"/>
                </a:cubicBezTo>
                <a:cubicBezTo>
                  <a:pt x="1501329" y="6884"/>
                  <a:pt x="1343612" y="12492"/>
                  <a:pt x="1085146" y="18288"/>
                </a:cubicBezTo>
                <a:cubicBezTo>
                  <a:pt x="826680" y="24084"/>
                  <a:pt x="778184" y="35607"/>
                  <a:pt x="521355" y="18288"/>
                </a:cubicBezTo>
                <a:cubicBezTo>
                  <a:pt x="264526" y="969"/>
                  <a:pt x="120277" y="4268"/>
                  <a:pt x="0" y="18288"/>
                </a:cubicBezTo>
                <a:cubicBezTo>
                  <a:pt x="766" y="10800"/>
                  <a:pt x="-457" y="8180"/>
                  <a:pt x="0" y="0"/>
                </a:cubicBezTo>
                <a:close/>
              </a:path>
            </a:pathLst>
          </a:custGeom>
          <a:solidFill>
            <a:srgbClr val="FFFFFF">
              <a:alpha val="75000"/>
            </a:srgbClr>
          </a:solidFill>
          <a:ln w="44450" cap="rnd">
            <a:solidFill>
              <a:schemeClr val="bg1">
                <a:alpha val="75000"/>
              </a:schemeClr>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9711354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gradFill flip="none" rotWithShape="1">
          <a:gsLst>
            <a:gs pos="57000">
              <a:srgbClr val="DDE8EA"/>
            </a:gs>
            <a:gs pos="100000">
              <a:schemeClr val="accent1">
                <a:lumMod val="45000"/>
                <a:lumOff val="55000"/>
              </a:schemeClr>
            </a:gs>
            <a:gs pos="93000">
              <a:schemeClr val="accent1">
                <a:lumMod val="30000"/>
                <a:lumOff val="70000"/>
                <a:alpha val="6000"/>
              </a:schemeClr>
            </a:gs>
          </a:gsLst>
          <a:path path="circle">
            <a:fillToRect l="100000" t="100000"/>
          </a:path>
          <a:tileRect r="-100000" b="-100000"/>
        </a:gradFill>
        <a:effectLst/>
      </p:bgPr>
    </p:bg>
    <p:spTree>
      <p:nvGrpSpPr>
        <p:cNvPr id="1" name="">
          <a:extLst>
            <a:ext uri="{FF2B5EF4-FFF2-40B4-BE49-F238E27FC236}">
              <a16:creationId xmlns:a16="http://schemas.microsoft.com/office/drawing/2014/main" id="{F0365D02-19FA-AAE3-E3B0-7D472B3DCBD2}"/>
            </a:ext>
          </a:extLst>
        </p:cNvPr>
        <p:cNvGrpSpPr/>
        <p:nvPr/>
      </p:nvGrpSpPr>
      <p:grpSpPr>
        <a:xfrm>
          <a:off x="0" y="0"/>
          <a:ext cx="0" cy="0"/>
          <a:chOff x="0" y="0"/>
          <a:chExt cx="0" cy="0"/>
        </a:xfrm>
      </p:grpSpPr>
      <p:sp>
        <p:nvSpPr>
          <p:cNvPr id="8" name="Title 1">
            <a:extLst>
              <a:ext uri="{FF2B5EF4-FFF2-40B4-BE49-F238E27FC236}">
                <a16:creationId xmlns:a16="http://schemas.microsoft.com/office/drawing/2014/main" id="{E406634F-7FF3-76FF-7C23-54738EB18ADE}"/>
              </a:ext>
            </a:extLst>
          </p:cNvPr>
          <p:cNvSpPr>
            <a:spLocks noGrp="1"/>
          </p:cNvSpPr>
          <p:nvPr>
            <p:ph type="title"/>
          </p:nvPr>
        </p:nvSpPr>
        <p:spPr>
          <a:xfrm>
            <a:off x="0" y="117984"/>
            <a:ext cx="10515600" cy="1325563"/>
          </a:xfrm>
        </p:spPr>
        <p:txBody>
          <a:bodyPr/>
          <a:lstStyle/>
          <a:p>
            <a:r>
              <a:rPr lang="en-US" b="1" dirty="0"/>
              <a:t>What is Microservices Architecture?</a:t>
            </a:r>
          </a:p>
        </p:txBody>
      </p:sp>
      <p:sp>
        <p:nvSpPr>
          <p:cNvPr id="13" name="Rectangle 12">
            <a:extLst>
              <a:ext uri="{FF2B5EF4-FFF2-40B4-BE49-F238E27FC236}">
                <a16:creationId xmlns:a16="http://schemas.microsoft.com/office/drawing/2014/main" id="{925C7941-223A-A5E3-F34E-F4DA878D7826}"/>
              </a:ext>
            </a:extLst>
          </p:cNvPr>
          <p:cNvSpPr/>
          <p:nvPr/>
        </p:nvSpPr>
        <p:spPr>
          <a:xfrm>
            <a:off x="148223" y="1443546"/>
            <a:ext cx="111760" cy="972275"/>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4" name="Rectangle 13">
            <a:extLst>
              <a:ext uri="{FF2B5EF4-FFF2-40B4-BE49-F238E27FC236}">
                <a16:creationId xmlns:a16="http://schemas.microsoft.com/office/drawing/2014/main" id="{F80E1A10-5920-7329-C852-46E1D64105E5}"/>
              </a:ext>
            </a:extLst>
          </p:cNvPr>
          <p:cNvSpPr/>
          <p:nvPr/>
        </p:nvSpPr>
        <p:spPr>
          <a:xfrm>
            <a:off x="224422" y="1443546"/>
            <a:ext cx="11743155" cy="972275"/>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defRPr/>
            </a:pPr>
            <a:r>
              <a:rPr lang="en-US" b="1" dirty="0">
                <a:solidFill>
                  <a:prstClr val="white"/>
                </a:solidFill>
                <a:latin typeface="Arial" panose="020B0604020202020204" pitchFamily="34" charset="0"/>
                <a:cs typeface="Arial" panose="020B0604020202020204" pitchFamily="34" charset="0"/>
              </a:rPr>
              <a:t>Microservices, or microservices architecture, is a cloud-native architectural approach in which a single application is composed of many loosely coupled and independently deployable smaller components or services.</a:t>
            </a:r>
            <a:endParaRPr kumimoji="0" lang="en-US"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2" name="Rectangle 1">
            <a:extLst>
              <a:ext uri="{FF2B5EF4-FFF2-40B4-BE49-F238E27FC236}">
                <a16:creationId xmlns:a16="http://schemas.microsoft.com/office/drawing/2014/main" id="{F0639289-0AC0-F278-118C-FD48DC4902D0}"/>
              </a:ext>
            </a:extLst>
          </p:cNvPr>
          <p:cNvSpPr/>
          <p:nvPr/>
        </p:nvSpPr>
        <p:spPr>
          <a:xfrm>
            <a:off x="148223" y="2572435"/>
            <a:ext cx="111760" cy="1378676"/>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 name="Rectangle 2">
            <a:extLst>
              <a:ext uri="{FF2B5EF4-FFF2-40B4-BE49-F238E27FC236}">
                <a16:creationId xmlns:a16="http://schemas.microsoft.com/office/drawing/2014/main" id="{045C3973-9541-D3C9-2608-E782B36F1A8D}"/>
              </a:ext>
            </a:extLst>
          </p:cNvPr>
          <p:cNvSpPr/>
          <p:nvPr/>
        </p:nvSpPr>
        <p:spPr>
          <a:xfrm>
            <a:off x="224422" y="2572435"/>
            <a:ext cx="11743155" cy="1378676"/>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defRPr/>
            </a:pPr>
            <a:r>
              <a:rPr lang="en-US" b="1" dirty="0">
                <a:solidFill>
                  <a:prstClr val="white"/>
                </a:solidFill>
                <a:latin typeface="Arial" panose="020B0604020202020204" pitchFamily="34" charset="0"/>
                <a:cs typeface="Arial" panose="020B0604020202020204" pitchFamily="34" charset="0"/>
              </a:rPr>
              <a:t>Microservices are a popular architectural style for building applications that are resilient, highly scalable, independently deployable, and able to evolve quickly. Building a successful microservices architecture requires a fundamental shift in mindset. It goes beyond decomposing an application into smaller services. You must also rethink how systems are designed, deployed, and operated.</a:t>
            </a:r>
            <a:endParaRPr kumimoji="0" lang="en-US"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4" name="Rectangle 3">
            <a:extLst>
              <a:ext uri="{FF2B5EF4-FFF2-40B4-BE49-F238E27FC236}">
                <a16:creationId xmlns:a16="http://schemas.microsoft.com/office/drawing/2014/main" id="{62C505E1-F4BA-D27F-32F9-731A1E5D0DBB}"/>
              </a:ext>
            </a:extLst>
          </p:cNvPr>
          <p:cNvSpPr/>
          <p:nvPr/>
        </p:nvSpPr>
        <p:spPr>
          <a:xfrm>
            <a:off x="148223" y="4107725"/>
            <a:ext cx="111760" cy="1378676"/>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5" name="Rectangle 4">
            <a:extLst>
              <a:ext uri="{FF2B5EF4-FFF2-40B4-BE49-F238E27FC236}">
                <a16:creationId xmlns:a16="http://schemas.microsoft.com/office/drawing/2014/main" id="{150B6951-4D1B-F192-CD52-37F5BBD182F7}"/>
              </a:ext>
            </a:extLst>
          </p:cNvPr>
          <p:cNvSpPr/>
          <p:nvPr/>
        </p:nvSpPr>
        <p:spPr>
          <a:xfrm>
            <a:off x="224422" y="4107725"/>
            <a:ext cx="11743155" cy="1378676"/>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defRPr/>
            </a:pPr>
            <a:r>
              <a:rPr lang="en-US" b="1" dirty="0">
                <a:solidFill>
                  <a:prstClr val="white"/>
                </a:solidFill>
                <a:latin typeface="Arial" panose="020B0604020202020204" pitchFamily="34" charset="0"/>
                <a:cs typeface="Arial" panose="020B0604020202020204" pitchFamily="34" charset="0"/>
              </a:rPr>
              <a:t>Microservices architecture (often shortened to microservices) refers to an architectural style for developing applications. Microservices allow a large application to be separated into smaller independent parts, with each part having its own realm of responsibility. To serve a single user request, a microservices-based application can call on many internal microservices to compose its response.</a:t>
            </a:r>
            <a:endParaRPr kumimoji="0" lang="en-US"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6" name="Rectangle 5">
            <a:extLst>
              <a:ext uri="{FF2B5EF4-FFF2-40B4-BE49-F238E27FC236}">
                <a16:creationId xmlns:a16="http://schemas.microsoft.com/office/drawing/2014/main" id="{BC6FA38B-4375-1F47-2C33-A8460CBD9D28}"/>
              </a:ext>
            </a:extLst>
          </p:cNvPr>
          <p:cNvSpPr/>
          <p:nvPr/>
        </p:nvSpPr>
        <p:spPr>
          <a:xfrm>
            <a:off x="148223" y="5643015"/>
            <a:ext cx="111760" cy="904544"/>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7" name="Rectangle 6">
            <a:extLst>
              <a:ext uri="{FF2B5EF4-FFF2-40B4-BE49-F238E27FC236}">
                <a16:creationId xmlns:a16="http://schemas.microsoft.com/office/drawing/2014/main" id="{028E5B8E-6ECF-0283-50BA-49B354B32C77}"/>
              </a:ext>
            </a:extLst>
          </p:cNvPr>
          <p:cNvSpPr/>
          <p:nvPr/>
        </p:nvSpPr>
        <p:spPr>
          <a:xfrm>
            <a:off x="224422" y="5643015"/>
            <a:ext cx="11743155" cy="904544"/>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defRPr/>
            </a:pPr>
            <a:r>
              <a:rPr lang="en-US" b="1" dirty="0">
                <a:solidFill>
                  <a:prstClr val="white"/>
                </a:solidFill>
                <a:latin typeface="Arial" panose="020B0604020202020204" pitchFamily="34" charset="0"/>
                <a:cs typeface="Arial" panose="020B0604020202020204" pitchFamily="34" charset="0"/>
              </a:rPr>
              <a:t>A microservices architecture is a type of application architecture where the application is developed as a collection of services. It provides the framework to develop, deploy, and maintain microservices architecture diagrams and services independently.</a:t>
            </a:r>
            <a:endParaRPr kumimoji="0" lang="en-US"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316679743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gradFill flip="none" rotWithShape="1">
          <a:gsLst>
            <a:gs pos="57000">
              <a:srgbClr val="DDE8EA"/>
            </a:gs>
            <a:gs pos="100000">
              <a:schemeClr val="accent1">
                <a:lumMod val="45000"/>
                <a:lumOff val="55000"/>
              </a:schemeClr>
            </a:gs>
            <a:gs pos="93000">
              <a:schemeClr val="accent1">
                <a:lumMod val="30000"/>
                <a:lumOff val="70000"/>
                <a:alpha val="6000"/>
              </a:schemeClr>
            </a:gs>
          </a:gsLst>
          <a:path path="circle">
            <a:fillToRect l="100000" t="100000"/>
          </a:path>
          <a:tileRect r="-100000" b="-100000"/>
        </a:gradFill>
        <a:effectLst/>
      </p:bgPr>
    </p:bg>
    <p:spTree>
      <p:nvGrpSpPr>
        <p:cNvPr id="1" name="">
          <a:extLst>
            <a:ext uri="{FF2B5EF4-FFF2-40B4-BE49-F238E27FC236}">
              <a16:creationId xmlns:a16="http://schemas.microsoft.com/office/drawing/2014/main" id="{E9A150DD-0938-1177-F34B-FC2005B1CCAC}"/>
            </a:ext>
          </a:extLst>
        </p:cNvPr>
        <p:cNvGrpSpPr/>
        <p:nvPr/>
      </p:nvGrpSpPr>
      <p:grpSpPr>
        <a:xfrm>
          <a:off x="0" y="0"/>
          <a:ext cx="0" cy="0"/>
          <a:chOff x="0" y="0"/>
          <a:chExt cx="0" cy="0"/>
        </a:xfrm>
      </p:grpSpPr>
      <p:sp>
        <p:nvSpPr>
          <p:cNvPr id="8" name="Title 1">
            <a:extLst>
              <a:ext uri="{FF2B5EF4-FFF2-40B4-BE49-F238E27FC236}">
                <a16:creationId xmlns:a16="http://schemas.microsoft.com/office/drawing/2014/main" id="{660F593D-6F46-B008-11F8-D9CE0E473470}"/>
              </a:ext>
            </a:extLst>
          </p:cNvPr>
          <p:cNvSpPr>
            <a:spLocks noGrp="1"/>
          </p:cNvSpPr>
          <p:nvPr>
            <p:ph type="title"/>
          </p:nvPr>
        </p:nvSpPr>
        <p:spPr>
          <a:xfrm>
            <a:off x="0" y="117984"/>
            <a:ext cx="10515600" cy="1325563"/>
          </a:xfrm>
        </p:spPr>
        <p:txBody>
          <a:bodyPr/>
          <a:lstStyle/>
          <a:p>
            <a:r>
              <a:rPr lang="en-US" b="1" dirty="0"/>
              <a:t>What is Microservices Architecture?</a:t>
            </a:r>
          </a:p>
        </p:txBody>
      </p:sp>
      <p:sp>
        <p:nvSpPr>
          <p:cNvPr id="13" name="Rectangle 12">
            <a:extLst>
              <a:ext uri="{FF2B5EF4-FFF2-40B4-BE49-F238E27FC236}">
                <a16:creationId xmlns:a16="http://schemas.microsoft.com/office/drawing/2014/main" id="{BF9BF1B8-8240-19C4-46CD-63827657CF7D}"/>
              </a:ext>
            </a:extLst>
          </p:cNvPr>
          <p:cNvSpPr/>
          <p:nvPr/>
        </p:nvSpPr>
        <p:spPr>
          <a:xfrm>
            <a:off x="125645" y="1229057"/>
            <a:ext cx="111760" cy="1446410"/>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4" name="Rectangle 13">
            <a:extLst>
              <a:ext uri="{FF2B5EF4-FFF2-40B4-BE49-F238E27FC236}">
                <a16:creationId xmlns:a16="http://schemas.microsoft.com/office/drawing/2014/main" id="{7C2CAA9C-EE19-4278-06C2-FFBF1201FF6C}"/>
              </a:ext>
            </a:extLst>
          </p:cNvPr>
          <p:cNvSpPr/>
          <p:nvPr/>
        </p:nvSpPr>
        <p:spPr>
          <a:xfrm>
            <a:off x="201844" y="1229057"/>
            <a:ext cx="11743155" cy="1446410"/>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defRPr/>
            </a:pPr>
            <a:r>
              <a:rPr lang="en-US" b="1" dirty="0">
                <a:solidFill>
                  <a:prstClr val="white"/>
                </a:solidFill>
                <a:latin typeface="Arial" panose="020B0604020202020204" pitchFamily="34" charset="0"/>
                <a:cs typeface="Arial" panose="020B0604020202020204" pitchFamily="34" charset="0"/>
              </a:rPr>
              <a:t>Microservices typically:</a:t>
            </a:r>
          </a:p>
          <a:p>
            <a:pPr marL="285750" lvl="0" indent="-285750">
              <a:buFont typeface="Arial" panose="020B0604020202020204" pitchFamily="34" charset="0"/>
              <a:buChar char="•"/>
              <a:defRPr/>
            </a:pPr>
            <a:r>
              <a:rPr lang="en-US" sz="1600" b="1" dirty="0">
                <a:solidFill>
                  <a:prstClr val="white"/>
                </a:solidFill>
                <a:latin typeface="Arial" panose="020B0604020202020204" pitchFamily="34" charset="0"/>
                <a:cs typeface="Arial" panose="020B0604020202020204" pitchFamily="34" charset="0"/>
              </a:rPr>
              <a:t>Have their own technology stack, inclusive of the database and data management model.</a:t>
            </a:r>
          </a:p>
          <a:p>
            <a:pPr marL="285750" lvl="0" indent="-285750">
              <a:buFont typeface="Arial" panose="020B0604020202020204" pitchFamily="34" charset="0"/>
              <a:buChar char="•"/>
              <a:defRPr/>
            </a:pPr>
            <a:r>
              <a:rPr lang="en-US" sz="1600" b="1" dirty="0">
                <a:solidFill>
                  <a:prstClr val="white"/>
                </a:solidFill>
                <a:latin typeface="Arial" panose="020B0604020202020204" pitchFamily="34" charset="0"/>
                <a:cs typeface="Arial" panose="020B0604020202020204" pitchFamily="34" charset="0"/>
              </a:rPr>
              <a:t>Communicate with one another over a combination of representational state transfer (REST) APIs, event streaming and message brokers.</a:t>
            </a:r>
          </a:p>
          <a:p>
            <a:pPr marL="285750" lvl="0" indent="-285750">
              <a:buFont typeface="Arial" panose="020B0604020202020204" pitchFamily="34" charset="0"/>
              <a:buChar char="•"/>
              <a:defRPr/>
            </a:pPr>
            <a:r>
              <a:rPr lang="en-US" sz="1600" b="1" dirty="0">
                <a:solidFill>
                  <a:prstClr val="white"/>
                </a:solidFill>
                <a:latin typeface="Arial" panose="020B0604020202020204" pitchFamily="34" charset="0"/>
                <a:cs typeface="Arial" panose="020B0604020202020204" pitchFamily="34" charset="0"/>
              </a:rPr>
              <a:t>Are organized by business capability, with the line separating services often referred to as a bounded context.</a:t>
            </a:r>
            <a:endParaRPr kumimoji="0" lang="en-US" sz="1600" b="1" i="0" u="none" strike="noStrike" kern="1200" cap="none" spc="0" normalizeH="0" baseline="0" noProof="0" dirty="0">
              <a:ln>
                <a:noFill/>
              </a:ln>
              <a:solidFill>
                <a:prstClr val="white"/>
              </a:solidFill>
              <a:effectLst/>
              <a:uLnTx/>
              <a:uFillTx/>
              <a:latin typeface="Arial" panose="020B0604020202020204" pitchFamily="34" charset="0"/>
              <a:cs typeface="Arial" panose="020B0604020202020204" pitchFamily="34" charset="0"/>
            </a:endParaRPr>
          </a:p>
        </p:txBody>
      </p:sp>
      <p:pic>
        <p:nvPicPr>
          <p:cNvPr id="12" name="Graphic 11">
            <a:extLst>
              <a:ext uri="{FF2B5EF4-FFF2-40B4-BE49-F238E27FC236}">
                <a16:creationId xmlns:a16="http://schemas.microsoft.com/office/drawing/2014/main" id="{AB4AB23E-612E-B035-2FBB-7723C1A5523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12800" y="2765778"/>
            <a:ext cx="10566400" cy="3974238"/>
          </a:xfrm>
          <a:prstGeom prst="rect">
            <a:avLst/>
          </a:prstGeom>
        </p:spPr>
      </p:pic>
    </p:spTree>
    <p:extLst>
      <p:ext uri="{BB962C8B-B14F-4D97-AF65-F5344CB8AC3E}">
        <p14:creationId xmlns:p14="http://schemas.microsoft.com/office/powerpoint/2010/main" val="128752222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gradFill flip="none" rotWithShape="1">
          <a:gsLst>
            <a:gs pos="57000">
              <a:srgbClr val="DDE8EA"/>
            </a:gs>
            <a:gs pos="100000">
              <a:schemeClr val="accent1">
                <a:lumMod val="45000"/>
                <a:lumOff val="55000"/>
              </a:schemeClr>
            </a:gs>
            <a:gs pos="93000">
              <a:schemeClr val="accent1">
                <a:lumMod val="30000"/>
                <a:lumOff val="70000"/>
                <a:alpha val="6000"/>
              </a:schemeClr>
            </a:gs>
          </a:gsLst>
          <a:path path="circle">
            <a:fillToRect l="100000" t="100000"/>
          </a:path>
          <a:tileRect r="-100000" b="-100000"/>
        </a:gradFill>
        <a:effectLst/>
      </p:bgPr>
    </p:bg>
    <p:spTree>
      <p:nvGrpSpPr>
        <p:cNvPr id="1" name="">
          <a:extLst>
            <a:ext uri="{FF2B5EF4-FFF2-40B4-BE49-F238E27FC236}">
              <a16:creationId xmlns:a16="http://schemas.microsoft.com/office/drawing/2014/main" id="{B124DA05-9A25-518E-4981-5D8F360B603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7CCE44D-2C28-DA1A-BED0-7E649C1DF64A}"/>
              </a:ext>
            </a:extLst>
          </p:cNvPr>
          <p:cNvSpPr>
            <a:spLocks noGrp="1"/>
          </p:cNvSpPr>
          <p:nvPr>
            <p:ph type="title"/>
          </p:nvPr>
        </p:nvSpPr>
        <p:spPr>
          <a:xfrm>
            <a:off x="572729" y="349697"/>
            <a:ext cx="10515600" cy="1325563"/>
          </a:xfrm>
        </p:spPr>
        <p:txBody>
          <a:bodyPr/>
          <a:lstStyle/>
          <a:p>
            <a:pPr algn="ctr"/>
            <a:r>
              <a:rPr lang="en-US" b="1" dirty="0">
                <a:latin typeface="Times New Roman" panose="02020603050405020304" pitchFamily="18" charset="0"/>
                <a:cs typeface="Times New Roman" panose="02020603050405020304" pitchFamily="18" charset="0"/>
              </a:rPr>
              <a:t>How do microservices benefit the organization?</a:t>
            </a:r>
          </a:p>
        </p:txBody>
      </p:sp>
      <p:sp>
        <p:nvSpPr>
          <p:cNvPr id="3" name="Rectangle 2">
            <a:extLst>
              <a:ext uri="{FF2B5EF4-FFF2-40B4-BE49-F238E27FC236}">
                <a16:creationId xmlns:a16="http://schemas.microsoft.com/office/drawing/2014/main" id="{6FEF7F51-DBA8-B8DB-6756-46984DF39373}"/>
              </a:ext>
            </a:extLst>
          </p:cNvPr>
          <p:cNvSpPr/>
          <p:nvPr/>
        </p:nvSpPr>
        <p:spPr>
          <a:xfrm>
            <a:off x="0" y="2290915"/>
            <a:ext cx="12192000" cy="648929"/>
          </a:xfrm>
          <a:prstGeom prst="rect">
            <a:avLst/>
          </a:prstGeom>
          <a:solidFill>
            <a:srgbClr val="42268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4" name="Oval 3">
            <a:extLst>
              <a:ext uri="{FF2B5EF4-FFF2-40B4-BE49-F238E27FC236}">
                <a16:creationId xmlns:a16="http://schemas.microsoft.com/office/drawing/2014/main" id="{4260A239-9807-D7EA-440C-239FD1451135}"/>
              </a:ext>
            </a:extLst>
          </p:cNvPr>
          <p:cNvSpPr/>
          <p:nvPr/>
        </p:nvSpPr>
        <p:spPr>
          <a:xfrm>
            <a:off x="967108" y="2089779"/>
            <a:ext cx="1052052" cy="1051200"/>
          </a:xfrm>
          <a:prstGeom prst="ellipse">
            <a:avLst/>
          </a:prstGeom>
          <a:solidFill>
            <a:schemeClr val="bg1"/>
          </a:solidFill>
          <a:ln>
            <a:noFill/>
          </a:ln>
          <a:effectLst>
            <a:outerShdw blurRad="50800" dist="38100" dir="16200000"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01</a:t>
            </a:r>
            <a:endParaRPr kumimoji="0" lang="en-US" sz="18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5" name="Oval 4">
            <a:extLst>
              <a:ext uri="{FF2B5EF4-FFF2-40B4-BE49-F238E27FC236}">
                <a16:creationId xmlns:a16="http://schemas.microsoft.com/office/drawing/2014/main" id="{90E83FCC-6916-3BAF-6291-477B265AC5A1}"/>
              </a:ext>
            </a:extLst>
          </p:cNvPr>
          <p:cNvSpPr/>
          <p:nvPr/>
        </p:nvSpPr>
        <p:spPr>
          <a:xfrm>
            <a:off x="4703367" y="2087947"/>
            <a:ext cx="1052052" cy="1051200"/>
          </a:xfrm>
          <a:prstGeom prst="ellipse">
            <a:avLst/>
          </a:prstGeom>
          <a:solidFill>
            <a:schemeClr val="bg1"/>
          </a:solidFill>
          <a:ln>
            <a:noFill/>
          </a:ln>
          <a:effectLst>
            <a:outerShdw blurRad="50800" dist="38100" dir="16200000"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02</a:t>
            </a: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6" name="Oval 5">
            <a:extLst>
              <a:ext uri="{FF2B5EF4-FFF2-40B4-BE49-F238E27FC236}">
                <a16:creationId xmlns:a16="http://schemas.microsoft.com/office/drawing/2014/main" id="{F3D0E014-3631-93FA-CC8A-C7B7199A5A62}"/>
              </a:ext>
            </a:extLst>
          </p:cNvPr>
          <p:cNvSpPr/>
          <p:nvPr/>
        </p:nvSpPr>
        <p:spPr>
          <a:xfrm>
            <a:off x="8632721" y="2089779"/>
            <a:ext cx="1052052" cy="1051200"/>
          </a:xfrm>
          <a:prstGeom prst="ellipse">
            <a:avLst/>
          </a:prstGeom>
          <a:solidFill>
            <a:schemeClr val="bg1"/>
          </a:solidFill>
          <a:ln>
            <a:noFill/>
          </a:ln>
          <a:effectLst>
            <a:outerShdw blurRad="50800" dist="38100" dir="16200000"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03</a:t>
            </a: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7" name="TextBox 6">
            <a:extLst>
              <a:ext uri="{FF2B5EF4-FFF2-40B4-BE49-F238E27FC236}">
                <a16:creationId xmlns:a16="http://schemas.microsoft.com/office/drawing/2014/main" id="{84BA446E-B8EC-71E9-F77D-7F38E5C5F1B2}"/>
              </a:ext>
            </a:extLst>
          </p:cNvPr>
          <p:cNvSpPr txBox="1"/>
          <p:nvPr/>
        </p:nvSpPr>
        <p:spPr>
          <a:xfrm>
            <a:off x="265471" y="3352531"/>
            <a:ext cx="2986268" cy="332398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341671"/>
                </a:solidFill>
                <a:effectLst/>
                <a:uLnTx/>
                <a:uFillTx/>
                <a:latin typeface="Arial" panose="020B0604020202020204" pitchFamily="34" charset="0"/>
                <a:ea typeface="+mn-ea"/>
                <a:cs typeface="Arial" panose="020B0604020202020204" pitchFamily="34" charset="0"/>
              </a:rPr>
              <a:t>Independently deployable</a:t>
            </a:r>
            <a:br>
              <a:rPr kumimoji="0" lang="en-US" sz="2400" b="1" i="0" u="none" strike="noStrike" kern="1200" cap="none" spc="0" normalizeH="0" baseline="0" noProof="0" dirty="0">
                <a:ln>
                  <a:noFill/>
                </a:ln>
                <a:solidFill>
                  <a:srgbClr val="FF0000"/>
                </a:solidFill>
                <a:effectLst/>
                <a:uLnTx/>
                <a:uFillTx/>
                <a:latin typeface="Arial" panose="020B0604020202020204" pitchFamily="34" charset="0"/>
                <a:ea typeface="+mn-ea"/>
                <a:cs typeface="Arial" panose="020B0604020202020204" pitchFamily="34" charset="0"/>
              </a:rPr>
            </a:br>
            <a:endParaRPr kumimoji="0" lang="en-US" sz="1800" b="1" i="0" u="none" strike="noStrike" kern="1200" cap="none" spc="0" normalizeH="0" baseline="0" noProof="0" dirty="0">
              <a:ln>
                <a:noFill/>
              </a:ln>
              <a:solidFill>
                <a:prstClr val="black"/>
              </a:solidFill>
              <a:effectLst/>
              <a:uLnTx/>
              <a:uFillTx/>
              <a:latin typeface="Aptos" panose="0211000402020202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b="1" i="0" u="none" strike="noStrike" kern="1200" cap="none" spc="0" normalizeH="0" baseline="0" noProof="0" dirty="0">
                <a:ln>
                  <a:noFill/>
                </a:ln>
                <a:solidFill>
                  <a:prstClr val="black"/>
                </a:solidFill>
                <a:effectLst/>
                <a:uLnTx/>
                <a:uFillTx/>
                <a:latin typeface="Aptos" panose="02110004020202020204"/>
                <a:ea typeface="+mn-ea"/>
                <a:cs typeface="+mn-cs"/>
              </a:rPr>
              <a:t>Speed isn’t the only value of designing services this way. A common emerging organizational model is to bring together cross-functional teams around a business problem, service, or product. </a:t>
            </a:r>
          </a:p>
        </p:txBody>
      </p:sp>
      <p:sp>
        <p:nvSpPr>
          <p:cNvPr id="8" name="TextBox 7">
            <a:extLst>
              <a:ext uri="{FF2B5EF4-FFF2-40B4-BE49-F238E27FC236}">
                <a16:creationId xmlns:a16="http://schemas.microsoft.com/office/drawing/2014/main" id="{6EE78EC2-F387-0F34-4215-6D5A573764AC}"/>
              </a:ext>
            </a:extLst>
          </p:cNvPr>
          <p:cNvSpPr txBox="1"/>
          <p:nvPr/>
        </p:nvSpPr>
        <p:spPr>
          <a:xfrm>
            <a:off x="3736258" y="3352531"/>
            <a:ext cx="3185651" cy="295465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b="1" dirty="0">
                <a:solidFill>
                  <a:srgbClr val="341671"/>
                </a:solidFill>
                <a:latin typeface="Arial" panose="020B0604020202020204" pitchFamily="34" charset="0"/>
                <a:cs typeface="Arial" panose="020B0604020202020204" pitchFamily="34" charset="0"/>
              </a:rPr>
              <a:t>Right tool for the job</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prstClr val="black"/>
              </a:solidFill>
              <a:effectLst/>
              <a:uLnTx/>
              <a:uFillTx/>
              <a:latin typeface="Aptos" panose="0211000402020202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Aptos" panose="02110004020202020204"/>
                <a:ea typeface="+mn-ea"/>
                <a:cs typeface="+mn-cs"/>
              </a:rPr>
              <a:t>Technology changes constantly, and an application composed of multiple, smaller services is much easier and less expensive to evolve with more desirable technology as it becomes available.</a:t>
            </a:r>
          </a:p>
        </p:txBody>
      </p:sp>
      <p:sp>
        <p:nvSpPr>
          <p:cNvPr id="9" name="TextBox 8">
            <a:extLst>
              <a:ext uri="{FF2B5EF4-FFF2-40B4-BE49-F238E27FC236}">
                <a16:creationId xmlns:a16="http://schemas.microsoft.com/office/drawing/2014/main" id="{C40F91A3-8348-64E4-C795-09CB224D6BF7}"/>
              </a:ext>
            </a:extLst>
          </p:cNvPr>
          <p:cNvSpPr txBox="1"/>
          <p:nvPr/>
        </p:nvSpPr>
        <p:spPr>
          <a:xfrm>
            <a:off x="7565921" y="3352531"/>
            <a:ext cx="3741176" cy="3046988"/>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b="1" dirty="0">
                <a:solidFill>
                  <a:srgbClr val="341671"/>
                </a:solidFill>
                <a:latin typeface="Arial" panose="020B0604020202020204" pitchFamily="34" charset="0"/>
                <a:cs typeface="Arial" panose="020B0604020202020204" pitchFamily="34" charset="0"/>
              </a:rPr>
              <a:t>Precise scaling</a:t>
            </a:r>
            <a:br>
              <a:rPr lang="en-US" sz="2400" b="1" dirty="0">
                <a:solidFill>
                  <a:srgbClr val="341671"/>
                </a:solidFill>
                <a:latin typeface="Arial" panose="020B0604020202020204" pitchFamily="34" charset="0"/>
                <a:cs typeface="Arial" panose="020B0604020202020204" pitchFamily="34" charset="0"/>
              </a:rPr>
            </a:br>
            <a:endParaRPr lang="en-US" sz="2400" b="1" dirty="0">
              <a:solidFill>
                <a:srgbClr val="341671"/>
              </a:solidFill>
              <a:latin typeface="Arial" panose="020B0604020202020204" pitchFamily="34" charset="0"/>
              <a:cs typeface="Arial" panose="020B0604020202020204" pitchFamily="34" charset="0"/>
            </a:endParaRPr>
          </a:p>
          <a:p>
            <a:pPr lvl="0" algn="ctr"/>
            <a:r>
              <a:rPr kumimoji="0" lang="en-US" sz="1800" b="1" i="0" u="none" strike="noStrike" kern="1200" cap="none" spc="0" normalizeH="0" baseline="0" noProof="0" dirty="0">
                <a:ln>
                  <a:noFill/>
                </a:ln>
                <a:solidFill>
                  <a:prstClr val="black"/>
                </a:solidFill>
                <a:effectLst/>
                <a:uLnTx/>
                <a:uFillTx/>
                <a:latin typeface="Aptos" panose="02110004020202020204"/>
                <a:ea typeface="+mn-ea"/>
                <a:cs typeface="+mn-cs"/>
              </a:rPr>
              <a:t>Done correctly, microservices require less infrastructure than monolithic applications because they </a:t>
            </a:r>
            <a:r>
              <a:rPr lang="en-US" b="1" dirty="0">
                <a:solidFill>
                  <a:prstClr val="black"/>
                </a:solidFill>
              </a:rPr>
              <a:t>enable the precise scaling of only the components that require it, rather than the entire application, as is the case with </a:t>
            </a:r>
            <a:r>
              <a:rPr kumimoji="0" lang="en-US" sz="1800" b="1" i="0" u="none" strike="noStrike" kern="1200" cap="none" spc="0" normalizeH="0" baseline="0" noProof="0" dirty="0">
                <a:ln>
                  <a:noFill/>
                </a:ln>
                <a:solidFill>
                  <a:prstClr val="black"/>
                </a:solidFill>
                <a:effectLst/>
                <a:uLnTx/>
                <a:uFillTx/>
                <a:latin typeface="Aptos" panose="02110004020202020204"/>
                <a:ea typeface="+mn-ea"/>
                <a:cs typeface="+mn-cs"/>
              </a:rPr>
              <a:t>monolithic applications.</a:t>
            </a:r>
          </a:p>
        </p:txBody>
      </p:sp>
    </p:spTree>
    <p:extLst>
      <p:ext uri="{BB962C8B-B14F-4D97-AF65-F5344CB8AC3E}">
        <p14:creationId xmlns:p14="http://schemas.microsoft.com/office/powerpoint/2010/main" val="215531721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gradFill flip="none" rotWithShape="1">
          <a:gsLst>
            <a:gs pos="57000">
              <a:srgbClr val="DDE8EA"/>
            </a:gs>
            <a:gs pos="100000">
              <a:schemeClr val="accent1">
                <a:lumMod val="45000"/>
                <a:lumOff val="55000"/>
              </a:schemeClr>
            </a:gs>
            <a:gs pos="93000">
              <a:schemeClr val="accent1">
                <a:lumMod val="30000"/>
                <a:lumOff val="70000"/>
                <a:alpha val="6000"/>
              </a:schemeClr>
            </a:gs>
          </a:gsLst>
          <a:path path="circle">
            <a:fillToRect l="100000" t="100000"/>
          </a:path>
          <a:tileRect r="-100000" b="-100000"/>
        </a:gradFill>
        <a:effectLst/>
      </p:bgPr>
    </p:bg>
    <p:spTree>
      <p:nvGrpSpPr>
        <p:cNvPr id="1" name="">
          <a:extLst>
            <a:ext uri="{FF2B5EF4-FFF2-40B4-BE49-F238E27FC236}">
              <a16:creationId xmlns:a16="http://schemas.microsoft.com/office/drawing/2014/main" id="{45AEB4CA-8206-E887-490F-B193EF4BB412}"/>
            </a:ext>
          </a:extLst>
        </p:cNvPr>
        <p:cNvGrpSpPr/>
        <p:nvPr/>
      </p:nvGrpSpPr>
      <p:grpSpPr>
        <a:xfrm>
          <a:off x="0" y="0"/>
          <a:ext cx="0" cy="0"/>
          <a:chOff x="0" y="0"/>
          <a:chExt cx="0" cy="0"/>
        </a:xfrm>
      </p:grpSpPr>
      <p:sp>
        <p:nvSpPr>
          <p:cNvPr id="8" name="Title 1">
            <a:extLst>
              <a:ext uri="{FF2B5EF4-FFF2-40B4-BE49-F238E27FC236}">
                <a16:creationId xmlns:a16="http://schemas.microsoft.com/office/drawing/2014/main" id="{CDC78F0D-F0A0-41AF-2CB1-21169D6FD958}"/>
              </a:ext>
            </a:extLst>
          </p:cNvPr>
          <p:cNvSpPr>
            <a:spLocks noGrp="1"/>
          </p:cNvSpPr>
          <p:nvPr>
            <p:ph type="title"/>
          </p:nvPr>
        </p:nvSpPr>
        <p:spPr>
          <a:xfrm>
            <a:off x="0" y="117984"/>
            <a:ext cx="11434916" cy="1325563"/>
          </a:xfrm>
        </p:spPr>
        <p:txBody>
          <a:bodyPr/>
          <a:lstStyle/>
          <a:p>
            <a:r>
              <a:rPr lang="en-US" b="1" dirty="0"/>
              <a:t>Microservices both enable and require DevOps</a:t>
            </a:r>
          </a:p>
        </p:txBody>
      </p:sp>
      <p:sp>
        <p:nvSpPr>
          <p:cNvPr id="13" name="Rectangle 12">
            <a:extLst>
              <a:ext uri="{FF2B5EF4-FFF2-40B4-BE49-F238E27FC236}">
                <a16:creationId xmlns:a16="http://schemas.microsoft.com/office/drawing/2014/main" id="{07282C34-0E76-60C5-FD4A-370FC95C561F}"/>
              </a:ext>
            </a:extLst>
          </p:cNvPr>
          <p:cNvSpPr/>
          <p:nvPr/>
        </p:nvSpPr>
        <p:spPr>
          <a:xfrm>
            <a:off x="148223" y="1197740"/>
            <a:ext cx="111760" cy="972275"/>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4" name="Rectangle 13">
            <a:extLst>
              <a:ext uri="{FF2B5EF4-FFF2-40B4-BE49-F238E27FC236}">
                <a16:creationId xmlns:a16="http://schemas.microsoft.com/office/drawing/2014/main" id="{067581AB-557D-E58B-47C3-0131BC23EBE2}"/>
              </a:ext>
            </a:extLst>
          </p:cNvPr>
          <p:cNvSpPr/>
          <p:nvPr/>
        </p:nvSpPr>
        <p:spPr>
          <a:xfrm>
            <a:off x="224422" y="1197740"/>
            <a:ext cx="11743155" cy="972275"/>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defRPr/>
            </a:pPr>
            <a:r>
              <a:rPr lang="en-US" b="1" dirty="0">
                <a:solidFill>
                  <a:prstClr val="white"/>
                </a:solidFill>
                <a:latin typeface="Arial" panose="020B0604020202020204" pitchFamily="34" charset="0"/>
                <a:cs typeface="Arial" panose="020B0604020202020204" pitchFamily="34" charset="0"/>
              </a:rPr>
              <a:t>Microservices architecture is often described as optimized for DevOps and continuous integration or continuous delivery, and in the context of small services that can be deployed frequently, it’s easy to understand why.</a:t>
            </a:r>
            <a:endParaRPr kumimoji="0" lang="en-US"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4" name="Rectangle 3">
            <a:extLst>
              <a:ext uri="{FF2B5EF4-FFF2-40B4-BE49-F238E27FC236}">
                <a16:creationId xmlns:a16="http://schemas.microsoft.com/office/drawing/2014/main" id="{B21E9407-98D0-3076-D328-9DAF8ABC9D2B}"/>
              </a:ext>
            </a:extLst>
          </p:cNvPr>
          <p:cNvSpPr/>
          <p:nvPr/>
        </p:nvSpPr>
        <p:spPr>
          <a:xfrm>
            <a:off x="148223" y="2344472"/>
            <a:ext cx="111760" cy="4351296"/>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5" name="Rectangle 4">
            <a:extLst>
              <a:ext uri="{FF2B5EF4-FFF2-40B4-BE49-F238E27FC236}">
                <a16:creationId xmlns:a16="http://schemas.microsoft.com/office/drawing/2014/main" id="{51ACD7C9-A7B7-A22A-4557-AB11F94F4527}"/>
              </a:ext>
            </a:extLst>
          </p:cNvPr>
          <p:cNvSpPr/>
          <p:nvPr/>
        </p:nvSpPr>
        <p:spPr>
          <a:xfrm>
            <a:off x="224422" y="2344472"/>
            <a:ext cx="11743155" cy="4351296"/>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fontAlgn="base"/>
            <a:r>
              <a:rPr lang="en-US" b="1" dirty="0">
                <a:solidFill>
                  <a:prstClr val="white"/>
                </a:solidFill>
                <a:latin typeface="Arial" panose="020B0604020202020204" pitchFamily="34" charset="0"/>
                <a:cs typeface="Arial" panose="020B0604020202020204" pitchFamily="34" charset="0"/>
              </a:rPr>
              <a:t>DevOps complements microservices architecture by providing practices and tools that facilitate effective development, deployment, and management of microservices. Here’s how:</a:t>
            </a:r>
            <a:br>
              <a:rPr lang="en-US" b="1" dirty="0">
                <a:solidFill>
                  <a:prstClr val="white"/>
                </a:solidFill>
                <a:latin typeface="Arial" panose="020B0604020202020204" pitchFamily="34" charset="0"/>
                <a:cs typeface="Arial" panose="020B0604020202020204" pitchFamily="34" charset="0"/>
              </a:rPr>
            </a:br>
            <a:endParaRPr lang="en-US" sz="1000" b="1" dirty="0">
              <a:solidFill>
                <a:prstClr val="white"/>
              </a:solidFill>
              <a:latin typeface="Arial" panose="020B0604020202020204" pitchFamily="34" charset="0"/>
              <a:cs typeface="Arial" panose="020B0604020202020204" pitchFamily="34" charset="0"/>
            </a:endParaRPr>
          </a:p>
          <a:p>
            <a:pPr marL="285750" indent="-285750" fontAlgn="base">
              <a:buFont typeface="Arial" panose="020B0604020202020204" pitchFamily="34" charset="0"/>
              <a:buChar char="•"/>
            </a:pPr>
            <a:r>
              <a:rPr lang="en-US" sz="2000" b="1" dirty="0">
                <a:solidFill>
                  <a:schemeClr val="accent2"/>
                </a:solidFill>
                <a:latin typeface="Arial" panose="020B0604020202020204" pitchFamily="34" charset="0"/>
                <a:cs typeface="Arial" panose="020B0604020202020204" pitchFamily="34" charset="0"/>
              </a:rPr>
              <a:t>Faster Delivery: </a:t>
            </a:r>
            <a:r>
              <a:rPr lang="en-US" b="1" dirty="0">
                <a:solidFill>
                  <a:prstClr val="white"/>
                </a:solidFill>
                <a:latin typeface="Arial" panose="020B0604020202020204" pitchFamily="34" charset="0"/>
                <a:cs typeface="Arial" panose="020B0604020202020204" pitchFamily="34" charset="0"/>
              </a:rPr>
              <a:t>DevOps practices like CI/CD streamline the deployment process, allowing microservices to be updated and released faster. This aligns with the independent deployment model of microservices.</a:t>
            </a:r>
          </a:p>
          <a:p>
            <a:pPr marL="285750" indent="-285750" fontAlgn="base">
              <a:buFont typeface="Arial" panose="020B0604020202020204" pitchFamily="34" charset="0"/>
              <a:buChar char="•"/>
            </a:pPr>
            <a:r>
              <a:rPr lang="en-US" sz="2000" b="1" dirty="0">
                <a:solidFill>
                  <a:schemeClr val="accent2"/>
                </a:solidFill>
                <a:latin typeface="Arial" panose="020B0604020202020204" pitchFamily="34" charset="0"/>
                <a:cs typeface="Arial" panose="020B0604020202020204" pitchFamily="34" charset="0"/>
              </a:rPr>
              <a:t>Enhanced Collaboration: </a:t>
            </a:r>
            <a:r>
              <a:rPr lang="en-US" b="1" dirty="0">
                <a:solidFill>
                  <a:prstClr val="white"/>
                </a:solidFill>
                <a:latin typeface="Arial" panose="020B0604020202020204" pitchFamily="34" charset="0"/>
                <a:cs typeface="Arial" panose="020B0604020202020204" pitchFamily="34" charset="0"/>
              </a:rPr>
              <a:t>DevOps promotes a culture of collaboration, making it easier for cross-functional teams to work on different microservices simultaneously, speeding up development cycles.</a:t>
            </a:r>
          </a:p>
          <a:p>
            <a:pPr marL="285750" indent="-285750" fontAlgn="base">
              <a:buFont typeface="Arial" panose="020B0604020202020204" pitchFamily="34" charset="0"/>
              <a:buChar char="•"/>
            </a:pPr>
            <a:r>
              <a:rPr lang="en-US" sz="2000" b="1" dirty="0">
                <a:solidFill>
                  <a:schemeClr val="accent2"/>
                </a:solidFill>
                <a:latin typeface="Arial" panose="020B0604020202020204" pitchFamily="34" charset="0"/>
                <a:cs typeface="Arial" panose="020B0604020202020204" pitchFamily="34" charset="0"/>
              </a:rPr>
              <a:t>Automation of Processes:</a:t>
            </a:r>
            <a:r>
              <a:rPr lang="en-US" b="1" dirty="0">
                <a:solidFill>
                  <a:prstClr val="white"/>
                </a:solidFill>
                <a:latin typeface="Arial" panose="020B0604020202020204" pitchFamily="34" charset="0"/>
                <a:cs typeface="Arial" panose="020B0604020202020204" pitchFamily="34" charset="0"/>
              </a:rPr>
              <a:t> Automation in DevOps enables continuous testing and integration of microservices, ensuring that new features are thoroughly vetted before deployment.</a:t>
            </a:r>
          </a:p>
          <a:p>
            <a:pPr marL="285750" indent="-285750" fontAlgn="base">
              <a:buFont typeface="Arial" panose="020B0604020202020204" pitchFamily="34" charset="0"/>
              <a:buChar char="•"/>
            </a:pPr>
            <a:r>
              <a:rPr lang="en-US" sz="2000" b="1" dirty="0">
                <a:solidFill>
                  <a:schemeClr val="accent2"/>
                </a:solidFill>
                <a:latin typeface="Arial" panose="020B0604020202020204" pitchFamily="34" charset="0"/>
                <a:cs typeface="Arial" panose="020B0604020202020204" pitchFamily="34" charset="0"/>
              </a:rPr>
              <a:t>Feedback Loops: </a:t>
            </a:r>
            <a:r>
              <a:rPr lang="en-US" b="1" dirty="0">
                <a:solidFill>
                  <a:prstClr val="white"/>
                </a:solidFill>
                <a:latin typeface="Arial" panose="020B0604020202020204" pitchFamily="34" charset="0"/>
                <a:cs typeface="Arial" panose="020B0604020202020204" pitchFamily="34" charset="0"/>
              </a:rPr>
              <a:t>DevOps encourages real-time monitoring and feedback, which is critical for microservices. Teams can quickly address issues with individual services, improving overall application reliability.</a:t>
            </a:r>
          </a:p>
          <a:p>
            <a:pPr marL="285750" indent="-285750" fontAlgn="base">
              <a:buFont typeface="Arial" panose="020B0604020202020204" pitchFamily="34" charset="0"/>
              <a:buChar char="•"/>
            </a:pPr>
            <a:r>
              <a:rPr lang="en-US" sz="2000" b="1" dirty="0">
                <a:solidFill>
                  <a:schemeClr val="accent2"/>
                </a:solidFill>
                <a:latin typeface="Arial" panose="020B0604020202020204" pitchFamily="34" charset="0"/>
                <a:cs typeface="Arial" panose="020B0604020202020204" pitchFamily="34" charset="0"/>
              </a:rPr>
              <a:t>Infrastructure as Code (</a:t>
            </a:r>
            <a:r>
              <a:rPr lang="en-US" sz="2000" b="1" dirty="0" err="1">
                <a:solidFill>
                  <a:schemeClr val="accent2"/>
                </a:solidFill>
                <a:latin typeface="Arial" panose="020B0604020202020204" pitchFamily="34" charset="0"/>
                <a:cs typeface="Arial" panose="020B0604020202020204" pitchFamily="34" charset="0"/>
              </a:rPr>
              <a:t>IaC</a:t>
            </a:r>
            <a:r>
              <a:rPr lang="en-US" sz="2000" b="1" dirty="0">
                <a:solidFill>
                  <a:schemeClr val="accent2"/>
                </a:solidFill>
                <a:latin typeface="Arial" panose="020B0604020202020204" pitchFamily="34" charset="0"/>
                <a:cs typeface="Arial" panose="020B0604020202020204" pitchFamily="34" charset="0"/>
              </a:rPr>
              <a:t>): </a:t>
            </a:r>
            <a:r>
              <a:rPr lang="en-US" b="1" dirty="0" err="1">
                <a:solidFill>
                  <a:prstClr val="white"/>
                </a:solidFill>
                <a:latin typeface="Arial" panose="020B0604020202020204" pitchFamily="34" charset="0"/>
                <a:cs typeface="Arial" panose="020B0604020202020204" pitchFamily="34" charset="0"/>
              </a:rPr>
              <a:t>IaC</a:t>
            </a:r>
            <a:r>
              <a:rPr lang="en-US" b="1" dirty="0">
                <a:solidFill>
                  <a:prstClr val="white"/>
                </a:solidFill>
                <a:latin typeface="Arial" panose="020B0604020202020204" pitchFamily="34" charset="0"/>
                <a:cs typeface="Arial" panose="020B0604020202020204" pitchFamily="34" charset="0"/>
              </a:rPr>
              <a:t> practices allow teams to manage infrastructure through code, making it easier to deploy and manage microservices across various environments consistently.</a:t>
            </a:r>
          </a:p>
        </p:txBody>
      </p:sp>
    </p:spTree>
    <p:extLst>
      <p:ext uri="{BB962C8B-B14F-4D97-AF65-F5344CB8AC3E}">
        <p14:creationId xmlns:p14="http://schemas.microsoft.com/office/powerpoint/2010/main" val="119035480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9F6E56D-8EBF-214E-D2C2-519B830EDA1B}"/>
            </a:ext>
          </a:extLst>
        </p:cNvPr>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0671A8AE-40A1-4631-A6B8-581AFF0654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8" name="Picture 17" descr="Key on a blueprint for a house">
            <a:extLst>
              <a:ext uri="{FF2B5EF4-FFF2-40B4-BE49-F238E27FC236}">
                <a16:creationId xmlns:a16="http://schemas.microsoft.com/office/drawing/2014/main" id="{8811C4AB-1C47-3ADD-4A52-1182C9EB70C9}"/>
              </a:ext>
            </a:extLst>
          </p:cNvPr>
          <p:cNvPicPr>
            <a:picLocks noChangeAspect="1"/>
          </p:cNvPicPr>
          <p:nvPr/>
        </p:nvPicPr>
        <p:blipFill>
          <a:blip r:embed="rId3"/>
          <a:srcRect l="199" r="5001"/>
          <a:stretch>
            <a:fillRect/>
          </a:stretch>
        </p:blipFill>
        <p:spPr>
          <a:xfrm>
            <a:off x="3523488" y="10"/>
            <a:ext cx="8668512" cy="6857990"/>
          </a:xfrm>
          <a:prstGeom prst="rect">
            <a:avLst/>
          </a:prstGeom>
        </p:spPr>
      </p:pic>
      <p:sp>
        <p:nvSpPr>
          <p:cNvPr id="23" name="Rectangle 22">
            <a:extLst>
              <a:ext uri="{FF2B5EF4-FFF2-40B4-BE49-F238E27FC236}">
                <a16:creationId xmlns:a16="http://schemas.microsoft.com/office/drawing/2014/main" id="{AB58EF07-17C2-48CF-ABB0-EEF1F17CB8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 y="0"/>
            <a:ext cx="9339206" cy="6858000"/>
          </a:xfrm>
          <a:prstGeom prst="rect">
            <a:avLst/>
          </a:prstGeom>
          <a:gradFill>
            <a:gsLst>
              <a:gs pos="58000">
                <a:schemeClr val="tx1"/>
              </a:gs>
              <a:gs pos="33000">
                <a:schemeClr val="tx1">
                  <a:alpha val="64000"/>
                </a:schemeClr>
              </a:gs>
              <a:gs pos="0">
                <a:schemeClr val="tx1">
                  <a:alpha val="0"/>
                </a:schemeClr>
              </a:gs>
              <a:gs pos="100000">
                <a:schemeClr val="tx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Title 1">
            <a:extLst>
              <a:ext uri="{FF2B5EF4-FFF2-40B4-BE49-F238E27FC236}">
                <a16:creationId xmlns:a16="http://schemas.microsoft.com/office/drawing/2014/main" id="{3B70EE52-A313-F0CD-8563-DC801E3B18E4}"/>
              </a:ext>
            </a:extLst>
          </p:cNvPr>
          <p:cNvSpPr txBox="1">
            <a:spLocks/>
          </p:cNvSpPr>
          <p:nvPr/>
        </p:nvSpPr>
        <p:spPr>
          <a:xfrm>
            <a:off x="477981" y="1122363"/>
            <a:ext cx="4023360" cy="3204134"/>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fontAlgn="auto">
              <a:spcAft>
                <a:spcPts val="600"/>
              </a:spcAft>
              <a:buClrTx/>
              <a:buSzTx/>
              <a:tabLst/>
              <a:defRPr/>
            </a:pPr>
            <a:r>
              <a:rPr kumimoji="0" lang="en-US" sz="4800" b="1" i="0" u="none" strike="noStrike" cap="none" spc="0" normalizeH="0" baseline="0" noProof="0">
                <a:ln>
                  <a:noFill/>
                </a:ln>
                <a:solidFill>
                  <a:schemeClr val="bg1"/>
                </a:solidFill>
                <a:effectLst/>
                <a:uLnTx/>
                <a:uFillTx/>
              </a:rPr>
              <a:t>Key enabling tools and technologies</a:t>
            </a:r>
          </a:p>
        </p:txBody>
      </p:sp>
      <p:sp>
        <p:nvSpPr>
          <p:cNvPr id="25" name="Rectangle 24">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27" name="Rectangle 26">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3977640" cy="18288"/>
          </a:xfrm>
          <a:prstGeom prst="rect">
            <a:avLst/>
          </a:prstGeom>
          <a:solidFill>
            <a:schemeClr val="tx1"/>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187698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gradFill flip="none" rotWithShape="1">
          <a:gsLst>
            <a:gs pos="57000">
              <a:srgbClr val="DDE8EA"/>
            </a:gs>
            <a:gs pos="100000">
              <a:schemeClr val="accent1">
                <a:lumMod val="45000"/>
                <a:lumOff val="55000"/>
              </a:schemeClr>
            </a:gs>
            <a:gs pos="93000">
              <a:schemeClr val="accent1">
                <a:lumMod val="30000"/>
                <a:lumOff val="70000"/>
                <a:alpha val="6000"/>
              </a:schemeClr>
            </a:gs>
          </a:gsLst>
          <a:path path="circle">
            <a:fillToRect l="100000" t="100000"/>
          </a:path>
          <a:tileRect r="-100000" b="-100000"/>
        </a:gradFill>
        <a:effectLst/>
      </p:bgPr>
    </p:bg>
    <p:spTree>
      <p:nvGrpSpPr>
        <p:cNvPr id="1" name="">
          <a:extLst>
            <a:ext uri="{FF2B5EF4-FFF2-40B4-BE49-F238E27FC236}">
              <a16:creationId xmlns:a16="http://schemas.microsoft.com/office/drawing/2014/main" id="{20837F6C-06C6-755F-B4D7-CAFC7A284458}"/>
            </a:ext>
          </a:extLst>
        </p:cNvPr>
        <p:cNvGrpSpPr/>
        <p:nvPr/>
      </p:nvGrpSpPr>
      <p:grpSpPr>
        <a:xfrm>
          <a:off x="0" y="0"/>
          <a:ext cx="0" cy="0"/>
          <a:chOff x="0" y="0"/>
          <a:chExt cx="0" cy="0"/>
        </a:xfrm>
      </p:grpSpPr>
      <p:grpSp>
        <p:nvGrpSpPr>
          <p:cNvPr id="3" name="Group 2">
            <a:extLst>
              <a:ext uri="{FF2B5EF4-FFF2-40B4-BE49-F238E27FC236}">
                <a16:creationId xmlns:a16="http://schemas.microsoft.com/office/drawing/2014/main" id="{C3A253D0-7A34-D69C-E430-A7B302633BE5}"/>
              </a:ext>
            </a:extLst>
          </p:cNvPr>
          <p:cNvGrpSpPr/>
          <p:nvPr/>
        </p:nvGrpSpPr>
        <p:grpSpPr>
          <a:xfrm>
            <a:off x="72102" y="392539"/>
            <a:ext cx="10940027" cy="6072921"/>
            <a:chOff x="72102" y="392539"/>
            <a:chExt cx="12047794" cy="6072921"/>
          </a:xfrm>
        </p:grpSpPr>
        <p:sp>
          <p:nvSpPr>
            <p:cNvPr id="4" name="Freeform: Shape 3">
              <a:extLst>
                <a:ext uri="{FF2B5EF4-FFF2-40B4-BE49-F238E27FC236}">
                  <a16:creationId xmlns:a16="http://schemas.microsoft.com/office/drawing/2014/main" id="{BC953E76-FF70-CC5C-48F5-7BC9334B938C}"/>
                </a:ext>
              </a:extLst>
            </p:cNvPr>
            <p:cNvSpPr/>
            <p:nvPr/>
          </p:nvSpPr>
          <p:spPr>
            <a:xfrm>
              <a:off x="72102" y="392539"/>
              <a:ext cx="12047794" cy="1897788"/>
            </a:xfrm>
            <a:custGeom>
              <a:avLst/>
              <a:gdLst>
                <a:gd name="csX0" fmla="*/ 0 w 12047794"/>
                <a:gd name="csY0" fmla="*/ 189779 h 1897788"/>
                <a:gd name="csX1" fmla="*/ 189779 w 12047794"/>
                <a:gd name="csY1" fmla="*/ 0 h 1897788"/>
                <a:gd name="csX2" fmla="*/ 11858015 w 12047794"/>
                <a:gd name="csY2" fmla="*/ 0 h 1897788"/>
                <a:gd name="csX3" fmla="*/ 12047794 w 12047794"/>
                <a:gd name="csY3" fmla="*/ 189779 h 1897788"/>
                <a:gd name="csX4" fmla="*/ 12047794 w 12047794"/>
                <a:gd name="csY4" fmla="*/ 1708009 h 1897788"/>
                <a:gd name="csX5" fmla="*/ 11858015 w 12047794"/>
                <a:gd name="csY5" fmla="*/ 1897788 h 1897788"/>
                <a:gd name="csX6" fmla="*/ 189779 w 12047794"/>
                <a:gd name="csY6" fmla="*/ 1897788 h 1897788"/>
                <a:gd name="csX7" fmla="*/ 0 w 12047794"/>
                <a:gd name="csY7" fmla="*/ 1708009 h 1897788"/>
                <a:gd name="csX8" fmla="*/ 0 w 12047794"/>
                <a:gd name="csY8" fmla="*/ 189779 h 18977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2047794" h="1897788">
                  <a:moveTo>
                    <a:pt x="0" y="189779"/>
                  </a:moveTo>
                  <a:cubicBezTo>
                    <a:pt x="0" y="84967"/>
                    <a:pt x="84967" y="0"/>
                    <a:pt x="189779" y="0"/>
                  </a:cubicBezTo>
                  <a:lnTo>
                    <a:pt x="11858015" y="0"/>
                  </a:lnTo>
                  <a:cubicBezTo>
                    <a:pt x="11962827" y="0"/>
                    <a:pt x="12047794" y="84967"/>
                    <a:pt x="12047794" y="189779"/>
                  </a:cubicBezTo>
                  <a:lnTo>
                    <a:pt x="12047794" y="1708009"/>
                  </a:lnTo>
                  <a:cubicBezTo>
                    <a:pt x="12047794" y="1812821"/>
                    <a:pt x="11962827" y="1897788"/>
                    <a:pt x="11858015" y="1897788"/>
                  </a:cubicBezTo>
                  <a:lnTo>
                    <a:pt x="189779" y="1897788"/>
                  </a:lnTo>
                  <a:cubicBezTo>
                    <a:pt x="84967" y="1897788"/>
                    <a:pt x="0" y="1812821"/>
                    <a:pt x="0" y="1708009"/>
                  </a:cubicBezTo>
                  <a:lnTo>
                    <a:pt x="0" y="189779"/>
                  </a:lnTo>
                  <a:close/>
                </a:path>
              </a:pathLst>
            </a:custGeom>
            <a:solidFill>
              <a:srgbClr val="660F56"/>
            </a:solidFill>
          </p:spPr>
          <p:style>
            <a:lnRef idx="3">
              <a:schemeClr val="lt1">
                <a:hueOff val="0"/>
                <a:satOff val="0"/>
                <a:lumOff val="0"/>
                <a:alphaOff val="0"/>
              </a:schemeClr>
            </a:lnRef>
            <a:fillRef idx="1">
              <a:schemeClr val="accent1">
                <a:hueOff val="0"/>
                <a:satOff val="0"/>
                <a:lumOff val="0"/>
                <a:alphaOff val="0"/>
              </a:schemeClr>
            </a:fillRef>
            <a:effectRef idx="1">
              <a:schemeClr val="accent1">
                <a:hueOff val="0"/>
                <a:satOff val="0"/>
                <a:lumOff val="0"/>
                <a:alphaOff val="0"/>
              </a:schemeClr>
            </a:effectRef>
            <a:fontRef idx="minor">
              <a:schemeClr val="lt1"/>
            </a:fontRef>
          </p:style>
          <p:txBody>
            <a:bodyPr spcFirstLastPara="0" vert="horz" wrap="square" lIns="2660297" tIns="60960" rIns="60960" bIns="60960" numCol="1" spcCol="1270" anchor="t" anchorCtr="0">
              <a:noAutofit/>
            </a:bodyPr>
            <a:lstStyle/>
            <a:p>
              <a:pPr marL="0" lvl="0" indent="0" algn="l" defTabSz="844550">
                <a:lnSpc>
                  <a:spcPct val="90000"/>
                </a:lnSpc>
                <a:spcBef>
                  <a:spcPct val="0"/>
                </a:spcBef>
                <a:spcAft>
                  <a:spcPct val="35000"/>
                </a:spcAft>
                <a:buNone/>
              </a:pPr>
              <a:r>
                <a:rPr lang="en-US" sz="2800" b="1" dirty="0">
                  <a:latin typeface="Arial" panose="020B0604020202020204" pitchFamily="34" charset="0"/>
                  <a:cs typeface="Arial" panose="020B0604020202020204" pitchFamily="34" charset="0"/>
                </a:rPr>
                <a:t>Containers, Docker, and Kubernetes</a:t>
              </a:r>
            </a:p>
            <a:p>
              <a:pPr marL="171450" lvl="1" indent="-171450" algn="l" defTabSz="711200">
                <a:lnSpc>
                  <a:spcPct val="90000"/>
                </a:lnSpc>
                <a:spcBef>
                  <a:spcPct val="0"/>
                </a:spcBef>
                <a:spcAft>
                  <a:spcPct val="15000"/>
                </a:spcAft>
                <a:buFont typeface="Arial" panose="020B0604020202020204" pitchFamily="34" charset="0"/>
                <a:buChar char="•"/>
              </a:pPr>
              <a:r>
                <a:rPr lang="en-US" sz="1600" b="1" i="0" kern="1200" dirty="0">
                  <a:latin typeface="Arial" panose="020B0604020202020204" pitchFamily="34" charset="0"/>
                  <a:cs typeface="Arial" panose="020B0604020202020204" pitchFamily="34" charset="0"/>
                </a:rPr>
                <a:t>Individual</a:t>
              </a:r>
              <a:r>
                <a:rPr lang="en-US" sz="1600" b="1" i="0" u="none" kern="1200" dirty="0">
                  <a:latin typeface="Arial" panose="020B0604020202020204" pitchFamily="34" charset="0"/>
                  <a:cs typeface="Arial" panose="020B0604020202020204" pitchFamily="34" charset="0"/>
                </a:rPr>
                <a:t> </a:t>
              </a:r>
              <a:r>
                <a:rPr lang="en-US" sz="1600" b="1" i="0" u="none" kern="1200" dirty="0">
                  <a:latin typeface="Arial" panose="020B0604020202020204" pitchFamily="34" charset="0"/>
                  <a:cs typeface="Arial" panose="020B0604020202020204" pitchFamily="34" charset="0"/>
                  <a:hlinkClick r:id="rId3">
                    <a:extLst>
                      <a:ext uri="{A12FA001-AC4F-418D-AE19-62706E023703}">
                        <ahyp:hlinkClr xmlns:ahyp="http://schemas.microsoft.com/office/drawing/2018/hyperlinkcolor" val="tx"/>
                      </a:ext>
                    </a:extLst>
                  </a:hlinkClick>
                </a:rPr>
                <a:t>containers</a:t>
              </a:r>
              <a:r>
                <a:rPr lang="en-US" sz="1600" b="1" i="0" u="none" kern="1200" dirty="0">
                  <a:latin typeface="Arial" panose="020B0604020202020204" pitchFamily="34" charset="0"/>
                  <a:cs typeface="Arial" panose="020B0604020202020204" pitchFamily="34" charset="0"/>
                </a:rPr>
                <a:t> </a:t>
              </a:r>
              <a:r>
                <a:rPr lang="en-US" sz="1600" b="1" i="0" kern="1200" dirty="0">
                  <a:latin typeface="Arial" panose="020B0604020202020204" pitchFamily="34" charset="0"/>
                  <a:cs typeface="Arial" panose="020B0604020202020204" pitchFamily="34" charset="0"/>
                </a:rPr>
                <a:t>don’t have the overhead of their own operating system, making them a perfect match for the smaller and lighter-weight services found within microservices architectures.</a:t>
              </a:r>
              <a:endParaRPr lang="en-US" sz="1600" b="1" kern="1200" dirty="0">
                <a:latin typeface="Arial" panose="020B0604020202020204" pitchFamily="34" charset="0"/>
                <a:cs typeface="Arial" panose="020B0604020202020204" pitchFamily="34" charset="0"/>
              </a:endParaRPr>
            </a:p>
            <a:p>
              <a:pPr marL="171450" lvl="1" indent="-171450" defTabSz="711200">
                <a:lnSpc>
                  <a:spcPct val="90000"/>
                </a:lnSpc>
                <a:spcBef>
                  <a:spcPct val="0"/>
                </a:spcBef>
                <a:spcAft>
                  <a:spcPct val="15000"/>
                </a:spcAft>
                <a:buFont typeface="Arial" panose="020B0604020202020204" pitchFamily="34" charset="0"/>
                <a:buChar char="•"/>
              </a:pPr>
              <a:r>
                <a:rPr lang="en-US" sz="1600" b="1" dirty="0">
                  <a:latin typeface="Arial" panose="020B0604020202020204" pitchFamily="34" charset="0"/>
                  <a:cs typeface="Arial" panose="020B0604020202020204" pitchFamily="34" charset="0"/>
                  <a:hlinkClick r:id="rId4">
                    <a:extLst>
                      <a:ext uri="{A12FA001-AC4F-418D-AE19-62706E023703}">
                        <ahyp:hlinkClr xmlns:ahyp="http://schemas.microsoft.com/office/drawing/2018/hyperlinkcolor" val="tx"/>
                      </a:ext>
                    </a:extLst>
                  </a:hlinkClick>
                </a:rPr>
                <a:t>Kubernetes</a:t>
              </a:r>
              <a:r>
                <a:rPr lang="en-US" sz="1600" b="1" dirty="0">
                  <a:latin typeface="Arial" panose="020B0604020202020204" pitchFamily="34" charset="0"/>
                  <a:cs typeface="Arial" panose="020B0604020202020204" pitchFamily="34" charset="0"/>
                </a:rPr>
                <a:t>, an open-source </a:t>
              </a:r>
              <a:r>
                <a:rPr lang="en-US" sz="1600" b="1" dirty="0">
                  <a:latin typeface="Arial" panose="020B0604020202020204" pitchFamily="34" charset="0"/>
                  <a:cs typeface="Arial" panose="020B0604020202020204" pitchFamily="34" charset="0"/>
                  <a:hlinkClick r:id="rId5">
                    <a:extLst>
                      <a:ext uri="{A12FA001-AC4F-418D-AE19-62706E023703}">
                        <ahyp:hlinkClr xmlns:ahyp="http://schemas.microsoft.com/office/drawing/2018/hyperlinkcolor" val="tx"/>
                      </a:ext>
                    </a:extLst>
                  </a:hlinkClick>
                </a:rPr>
                <a:t>container orchestration</a:t>
              </a:r>
              <a:r>
                <a:rPr lang="en-US" sz="1600" b="1" dirty="0">
                  <a:latin typeface="Arial" panose="020B0604020202020204" pitchFamily="34" charset="0"/>
                  <a:cs typeface="Arial" panose="020B0604020202020204" pitchFamily="34" charset="0"/>
                </a:rPr>
                <a:t> platform, has emerged as one of the most popular orchestration solutions because it does that job so well.</a:t>
              </a:r>
            </a:p>
          </p:txBody>
        </p:sp>
        <p:sp>
          <p:nvSpPr>
            <p:cNvPr id="5" name="Rectangle: Rounded Corners 4">
              <a:extLst>
                <a:ext uri="{FF2B5EF4-FFF2-40B4-BE49-F238E27FC236}">
                  <a16:creationId xmlns:a16="http://schemas.microsoft.com/office/drawing/2014/main" id="{6B9AA7C9-3945-36A0-942F-67994B7446A0}"/>
                </a:ext>
              </a:extLst>
            </p:cNvPr>
            <p:cNvSpPr/>
            <p:nvPr/>
          </p:nvSpPr>
          <p:spPr>
            <a:xfrm>
              <a:off x="261880" y="582316"/>
              <a:ext cx="2409559" cy="1620109"/>
            </a:xfrm>
            <a:prstGeom prst="roundRect">
              <a:avLst>
                <a:gd name="adj" fmla="val 10000"/>
              </a:avLst>
            </a:prstGeom>
            <a:blipFill>
              <a:blip r:embed="rId6">
                <a:extLst>
                  <a:ext uri="{837473B0-CC2E-450A-ABE3-18F120FF3D39}">
                    <a1611:picAttrSrcUrl xmlns:a1611="http://schemas.microsoft.com/office/drawing/2016/11/main" r:id="rId7"/>
                  </a:ext>
                </a:extLst>
              </a:blip>
              <a:stretch>
                <a:fillRect/>
              </a:stretch>
            </a:blipFill>
          </p:spPr>
          <p:style>
            <a:lnRef idx="3">
              <a:schemeClr val="lt1">
                <a:hueOff val="0"/>
                <a:satOff val="0"/>
                <a:lumOff val="0"/>
                <a:alphaOff val="0"/>
              </a:schemeClr>
            </a:lnRef>
            <a:fillRef idx="1">
              <a:scrgbClr r="0" g="0" b="0"/>
            </a:fillRef>
            <a:effectRef idx="1">
              <a:schemeClr val="accent1">
                <a:tint val="50000"/>
                <a:hueOff val="0"/>
                <a:satOff val="0"/>
                <a:lumOff val="0"/>
                <a:alphaOff val="0"/>
              </a:schemeClr>
            </a:effectRef>
            <a:fontRef idx="minor">
              <a:schemeClr val="lt1">
                <a:hueOff val="0"/>
                <a:satOff val="0"/>
                <a:lumOff val="0"/>
                <a:alphaOff val="0"/>
              </a:schemeClr>
            </a:fontRef>
          </p:style>
          <p:txBody>
            <a:bodyPr/>
            <a:lstStyle/>
            <a:p>
              <a:endParaRPr lang="en-US"/>
            </a:p>
          </p:txBody>
        </p:sp>
        <p:sp>
          <p:nvSpPr>
            <p:cNvPr id="6" name="Freeform: Shape 5">
              <a:extLst>
                <a:ext uri="{FF2B5EF4-FFF2-40B4-BE49-F238E27FC236}">
                  <a16:creationId xmlns:a16="http://schemas.microsoft.com/office/drawing/2014/main" id="{C5C64150-D377-CA1D-7A79-B04FC1CB6A09}"/>
                </a:ext>
              </a:extLst>
            </p:cNvPr>
            <p:cNvSpPr/>
            <p:nvPr/>
          </p:nvSpPr>
          <p:spPr>
            <a:xfrm>
              <a:off x="72102" y="2480105"/>
              <a:ext cx="12047794" cy="1897788"/>
            </a:xfrm>
            <a:custGeom>
              <a:avLst/>
              <a:gdLst>
                <a:gd name="csX0" fmla="*/ 0 w 12047794"/>
                <a:gd name="csY0" fmla="*/ 189779 h 1897788"/>
                <a:gd name="csX1" fmla="*/ 189779 w 12047794"/>
                <a:gd name="csY1" fmla="*/ 0 h 1897788"/>
                <a:gd name="csX2" fmla="*/ 11858015 w 12047794"/>
                <a:gd name="csY2" fmla="*/ 0 h 1897788"/>
                <a:gd name="csX3" fmla="*/ 12047794 w 12047794"/>
                <a:gd name="csY3" fmla="*/ 189779 h 1897788"/>
                <a:gd name="csX4" fmla="*/ 12047794 w 12047794"/>
                <a:gd name="csY4" fmla="*/ 1708009 h 1897788"/>
                <a:gd name="csX5" fmla="*/ 11858015 w 12047794"/>
                <a:gd name="csY5" fmla="*/ 1897788 h 1897788"/>
                <a:gd name="csX6" fmla="*/ 189779 w 12047794"/>
                <a:gd name="csY6" fmla="*/ 1897788 h 1897788"/>
                <a:gd name="csX7" fmla="*/ 0 w 12047794"/>
                <a:gd name="csY7" fmla="*/ 1708009 h 1897788"/>
                <a:gd name="csX8" fmla="*/ 0 w 12047794"/>
                <a:gd name="csY8" fmla="*/ 189779 h 18977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2047794" h="1897788">
                  <a:moveTo>
                    <a:pt x="0" y="189779"/>
                  </a:moveTo>
                  <a:cubicBezTo>
                    <a:pt x="0" y="84967"/>
                    <a:pt x="84967" y="0"/>
                    <a:pt x="189779" y="0"/>
                  </a:cubicBezTo>
                  <a:lnTo>
                    <a:pt x="11858015" y="0"/>
                  </a:lnTo>
                  <a:cubicBezTo>
                    <a:pt x="11962827" y="0"/>
                    <a:pt x="12047794" y="84967"/>
                    <a:pt x="12047794" y="189779"/>
                  </a:cubicBezTo>
                  <a:lnTo>
                    <a:pt x="12047794" y="1708009"/>
                  </a:lnTo>
                  <a:cubicBezTo>
                    <a:pt x="12047794" y="1812821"/>
                    <a:pt x="11962827" y="1897788"/>
                    <a:pt x="11858015" y="1897788"/>
                  </a:cubicBezTo>
                  <a:lnTo>
                    <a:pt x="189779" y="1897788"/>
                  </a:lnTo>
                  <a:cubicBezTo>
                    <a:pt x="84967" y="1897788"/>
                    <a:pt x="0" y="1812821"/>
                    <a:pt x="0" y="1708009"/>
                  </a:cubicBezTo>
                  <a:lnTo>
                    <a:pt x="0" y="189779"/>
                  </a:lnTo>
                  <a:close/>
                </a:path>
              </a:pathLst>
            </a:custGeom>
            <a:solidFill>
              <a:srgbClr val="AE2D68"/>
            </a:solidFill>
          </p:spPr>
          <p:style>
            <a:lnRef idx="3">
              <a:schemeClr val="lt1">
                <a:hueOff val="0"/>
                <a:satOff val="0"/>
                <a:lumOff val="0"/>
                <a:alphaOff val="0"/>
              </a:schemeClr>
            </a:lnRef>
            <a:fillRef idx="1">
              <a:schemeClr val="accent1">
                <a:hueOff val="0"/>
                <a:satOff val="0"/>
                <a:lumOff val="0"/>
                <a:alphaOff val="0"/>
              </a:schemeClr>
            </a:fillRef>
            <a:effectRef idx="1">
              <a:schemeClr val="accent1">
                <a:hueOff val="0"/>
                <a:satOff val="0"/>
                <a:lumOff val="0"/>
                <a:alphaOff val="0"/>
              </a:schemeClr>
            </a:effectRef>
            <a:fontRef idx="minor">
              <a:schemeClr val="lt1"/>
            </a:fontRef>
          </p:style>
          <p:txBody>
            <a:bodyPr spcFirstLastPara="0" vert="horz" wrap="square" lIns="2717447" tIns="118110" rIns="118110" bIns="118110" numCol="1" spcCol="1270" anchor="t" anchorCtr="0">
              <a:noAutofit/>
            </a:bodyPr>
            <a:lstStyle/>
            <a:p>
              <a:pPr defTabSz="844550">
                <a:lnSpc>
                  <a:spcPct val="90000"/>
                </a:lnSpc>
                <a:spcBef>
                  <a:spcPct val="0"/>
                </a:spcBef>
                <a:spcAft>
                  <a:spcPct val="35000"/>
                </a:spcAft>
              </a:pPr>
              <a:r>
                <a:rPr lang="en-US" sz="2800" b="1" dirty="0">
                  <a:latin typeface="Arial" panose="020B0604020202020204" pitchFamily="34" charset="0"/>
                  <a:cs typeface="Arial" panose="020B0604020202020204" pitchFamily="34" charset="0"/>
                </a:rPr>
                <a:t>API gateways</a:t>
              </a:r>
            </a:p>
            <a:p>
              <a:pPr marL="171450" lvl="1" indent="-171450" defTabSz="711200">
                <a:lnSpc>
                  <a:spcPct val="90000"/>
                </a:lnSpc>
                <a:spcBef>
                  <a:spcPct val="0"/>
                </a:spcBef>
                <a:spcAft>
                  <a:spcPct val="15000"/>
                </a:spcAft>
                <a:buFont typeface="Arial" panose="020B0604020202020204" pitchFamily="34" charset="0"/>
                <a:buChar char="•"/>
              </a:pPr>
              <a:r>
                <a:rPr lang="en-US" sz="1600" b="1" dirty="0">
                  <a:latin typeface="Arial" panose="020B0604020202020204" pitchFamily="34" charset="0"/>
                  <a:cs typeface="Arial" panose="020B0604020202020204" pitchFamily="34" charset="0"/>
                </a:rPr>
                <a:t>An </a:t>
              </a:r>
              <a:r>
                <a:rPr lang="en-US" sz="1600" b="1" dirty="0">
                  <a:latin typeface="Arial" panose="020B0604020202020204" pitchFamily="34" charset="0"/>
                  <a:cs typeface="Arial" panose="020B0604020202020204" pitchFamily="34" charset="0"/>
                  <a:hlinkClick r:id="rId8">
                    <a:extLst>
                      <a:ext uri="{A12FA001-AC4F-418D-AE19-62706E023703}">
                        <ahyp:hlinkClr xmlns:ahyp="http://schemas.microsoft.com/office/drawing/2018/hyperlinkcolor" val="tx"/>
                      </a:ext>
                    </a:extLst>
                  </a:hlinkClick>
                </a:rPr>
                <a:t>API gateway</a:t>
              </a:r>
              <a:r>
                <a:rPr lang="en-US" sz="1600" b="1" dirty="0">
                  <a:latin typeface="Arial" panose="020B0604020202020204" pitchFamily="34" charset="0"/>
                  <a:cs typeface="Arial" panose="020B0604020202020204" pitchFamily="34" charset="0"/>
                </a:rPr>
                <a:t> acts as a reverse proxy for clients by routing requests, fanning out requests across multiple services, and providing additional security and authentication.</a:t>
              </a:r>
            </a:p>
          </p:txBody>
        </p:sp>
        <p:sp>
          <p:nvSpPr>
            <p:cNvPr id="7" name="Rectangle: Rounded Corners 6">
              <a:extLst>
                <a:ext uri="{FF2B5EF4-FFF2-40B4-BE49-F238E27FC236}">
                  <a16:creationId xmlns:a16="http://schemas.microsoft.com/office/drawing/2014/main" id="{66771C9F-CDE1-8A71-6243-4252E3494CA8}"/>
                </a:ext>
              </a:extLst>
            </p:cNvPr>
            <p:cNvSpPr/>
            <p:nvPr/>
          </p:nvSpPr>
          <p:spPr>
            <a:xfrm>
              <a:off x="261880" y="2669884"/>
              <a:ext cx="2409559" cy="1518230"/>
            </a:xfrm>
            <a:prstGeom prst="roundRect">
              <a:avLst>
                <a:gd name="adj" fmla="val 10000"/>
              </a:avLst>
            </a:prstGeom>
            <a:blipFill>
              <a:blip r:embed="rId9">
                <a:extLst>
                  <a:ext uri="{837473B0-CC2E-450A-ABE3-18F120FF3D39}">
                    <a1611:picAttrSrcUrl xmlns:a1611="http://schemas.microsoft.com/office/drawing/2016/11/main" r:id="rId10"/>
                  </a:ext>
                </a:extLst>
              </a:blip>
              <a:srcRect/>
              <a:stretch>
                <a:fillRect t="-41000" b="-41000"/>
              </a:stretch>
            </a:blipFill>
          </p:spPr>
          <p:style>
            <a:lnRef idx="3">
              <a:schemeClr val="lt1">
                <a:hueOff val="0"/>
                <a:satOff val="0"/>
                <a:lumOff val="0"/>
                <a:alphaOff val="0"/>
              </a:schemeClr>
            </a:lnRef>
            <a:fillRef idx="1">
              <a:scrgbClr r="0" g="0" b="0"/>
            </a:fillRef>
            <a:effectRef idx="1">
              <a:schemeClr val="accent1">
                <a:tint val="50000"/>
                <a:hueOff val="0"/>
                <a:satOff val="0"/>
                <a:lumOff val="0"/>
                <a:alphaOff val="0"/>
              </a:schemeClr>
            </a:effectRef>
            <a:fontRef idx="minor">
              <a:schemeClr val="lt1">
                <a:hueOff val="0"/>
                <a:satOff val="0"/>
                <a:lumOff val="0"/>
                <a:alphaOff val="0"/>
              </a:schemeClr>
            </a:fontRef>
          </p:style>
          <p:txBody>
            <a:bodyPr/>
            <a:lstStyle/>
            <a:p>
              <a:endParaRPr lang="en-US"/>
            </a:p>
          </p:txBody>
        </p:sp>
        <p:sp>
          <p:nvSpPr>
            <p:cNvPr id="8" name="Freeform: Shape 7">
              <a:extLst>
                <a:ext uri="{FF2B5EF4-FFF2-40B4-BE49-F238E27FC236}">
                  <a16:creationId xmlns:a16="http://schemas.microsoft.com/office/drawing/2014/main" id="{CDB8A28C-07DD-E641-4640-46DE28C6B663}"/>
                </a:ext>
              </a:extLst>
            </p:cNvPr>
            <p:cNvSpPr/>
            <p:nvPr/>
          </p:nvSpPr>
          <p:spPr>
            <a:xfrm>
              <a:off x="72102" y="4567672"/>
              <a:ext cx="12047794" cy="1897788"/>
            </a:xfrm>
            <a:custGeom>
              <a:avLst/>
              <a:gdLst>
                <a:gd name="csX0" fmla="*/ 0 w 12047794"/>
                <a:gd name="csY0" fmla="*/ 189779 h 1897788"/>
                <a:gd name="csX1" fmla="*/ 189779 w 12047794"/>
                <a:gd name="csY1" fmla="*/ 0 h 1897788"/>
                <a:gd name="csX2" fmla="*/ 11858015 w 12047794"/>
                <a:gd name="csY2" fmla="*/ 0 h 1897788"/>
                <a:gd name="csX3" fmla="*/ 12047794 w 12047794"/>
                <a:gd name="csY3" fmla="*/ 189779 h 1897788"/>
                <a:gd name="csX4" fmla="*/ 12047794 w 12047794"/>
                <a:gd name="csY4" fmla="*/ 1708009 h 1897788"/>
                <a:gd name="csX5" fmla="*/ 11858015 w 12047794"/>
                <a:gd name="csY5" fmla="*/ 1897788 h 1897788"/>
                <a:gd name="csX6" fmla="*/ 189779 w 12047794"/>
                <a:gd name="csY6" fmla="*/ 1897788 h 1897788"/>
                <a:gd name="csX7" fmla="*/ 0 w 12047794"/>
                <a:gd name="csY7" fmla="*/ 1708009 h 1897788"/>
                <a:gd name="csX8" fmla="*/ 0 w 12047794"/>
                <a:gd name="csY8" fmla="*/ 189779 h 18977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2047794" h="1897788">
                  <a:moveTo>
                    <a:pt x="0" y="189779"/>
                  </a:moveTo>
                  <a:cubicBezTo>
                    <a:pt x="0" y="84967"/>
                    <a:pt x="84967" y="0"/>
                    <a:pt x="189779" y="0"/>
                  </a:cubicBezTo>
                  <a:lnTo>
                    <a:pt x="11858015" y="0"/>
                  </a:lnTo>
                  <a:cubicBezTo>
                    <a:pt x="11962827" y="0"/>
                    <a:pt x="12047794" y="84967"/>
                    <a:pt x="12047794" y="189779"/>
                  </a:cubicBezTo>
                  <a:lnTo>
                    <a:pt x="12047794" y="1708009"/>
                  </a:lnTo>
                  <a:cubicBezTo>
                    <a:pt x="12047794" y="1812821"/>
                    <a:pt x="11962827" y="1897788"/>
                    <a:pt x="11858015" y="1897788"/>
                  </a:cubicBezTo>
                  <a:lnTo>
                    <a:pt x="189779" y="1897788"/>
                  </a:lnTo>
                  <a:cubicBezTo>
                    <a:pt x="84967" y="1897788"/>
                    <a:pt x="0" y="1812821"/>
                    <a:pt x="0" y="1708009"/>
                  </a:cubicBezTo>
                  <a:lnTo>
                    <a:pt x="0" y="189779"/>
                  </a:lnTo>
                  <a:close/>
                </a:path>
              </a:pathLst>
            </a:custGeom>
            <a:solidFill>
              <a:srgbClr val="F54952"/>
            </a:solidFill>
          </p:spPr>
          <p:style>
            <a:lnRef idx="3">
              <a:schemeClr val="lt1">
                <a:hueOff val="0"/>
                <a:satOff val="0"/>
                <a:lumOff val="0"/>
                <a:alphaOff val="0"/>
              </a:schemeClr>
            </a:lnRef>
            <a:fillRef idx="1">
              <a:schemeClr val="accent1">
                <a:hueOff val="0"/>
                <a:satOff val="0"/>
                <a:lumOff val="0"/>
                <a:alphaOff val="0"/>
              </a:schemeClr>
            </a:fillRef>
            <a:effectRef idx="1">
              <a:schemeClr val="accent1">
                <a:hueOff val="0"/>
                <a:satOff val="0"/>
                <a:lumOff val="0"/>
                <a:alphaOff val="0"/>
              </a:schemeClr>
            </a:effectRef>
            <a:fontRef idx="minor">
              <a:schemeClr val="lt1"/>
            </a:fontRef>
          </p:style>
          <p:txBody>
            <a:bodyPr spcFirstLastPara="0" vert="horz" wrap="square" lIns="2667917" tIns="68580" rIns="68580" bIns="68580" numCol="1" spcCol="1270" anchor="t" anchorCtr="0">
              <a:noAutofit/>
            </a:bodyPr>
            <a:lstStyle/>
            <a:p>
              <a:pPr defTabSz="844550">
                <a:lnSpc>
                  <a:spcPct val="90000"/>
                </a:lnSpc>
                <a:spcBef>
                  <a:spcPct val="0"/>
                </a:spcBef>
                <a:spcAft>
                  <a:spcPct val="35000"/>
                </a:spcAft>
              </a:pPr>
              <a:r>
                <a:rPr lang="en-US" sz="2800" b="1" dirty="0">
                  <a:latin typeface="Arial" panose="020B0604020202020204" pitchFamily="34" charset="0"/>
                  <a:cs typeface="Arial" panose="020B0604020202020204" pitchFamily="34" charset="0"/>
                </a:rPr>
                <a:t>Messaging and event streaming</a:t>
              </a:r>
            </a:p>
            <a:p>
              <a:pPr marL="171450" lvl="1" indent="-171450" defTabSz="711200">
                <a:lnSpc>
                  <a:spcPct val="90000"/>
                </a:lnSpc>
                <a:spcBef>
                  <a:spcPct val="0"/>
                </a:spcBef>
                <a:spcAft>
                  <a:spcPct val="15000"/>
                </a:spcAft>
                <a:buFont typeface="Arial" panose="020B0604020202020204" pitchFamily="34" charset="0"/>
                <a:buChar char="•"/>
              </a:pPr>
              <a:r>
                <a:rPr lang="en-US" sz="1600" b="1" dirty="0">
                  <a:latin typeface="Arial" panose="020B0604020202020204" pitchFamily="34" charset="0"/>
                  <a:cs typeface="Arial" panose="020B0604020202020204" pitchFamily="34" charset="0"/>
                </a:rPr>
                <a:t>It is necessary to couple state-establishing API calls with messaging or event streaming so that services can broadcast state changes.</a:t>
              </a:r>
            </a:p>
            <a:p>
              <a:pPr marL="171450" lvl="1" indent="-171450" defTabSz="711200">
                <a:lnSpc>
                  <a:spcPct val="90000"/>
                </a:lnSpc>
                <a:spcBef>
                  <a:spcPct val="0"/>
                </a:spcBef>
                <a:spcAft>
                  <a:spcPct val="15000"/>
                </a:spcAft>
                <a:buFont typeface="Arial" panose="020B0604020202020204" pitchFamily="34" charset="0"/>
                <a:buChar char="•"/>
              </a:pPr>
              <a:r>
                <a:rPr lang="en-US" sz="1600" b="1" dirty="0">
                  <a:latin typeface="Arial" panose="020B0604020202020204" pitchFamily="34" charset="0"/>
                  <a:cs typeface="Arial" panose="020B0604020202020204" pitchFamily="34" charset="0"/>
                </a:rPr>
                <a:t>By combining microservices with </a:t>
              </a:r>
              <a:r>
                <a:rPr lang="en-US" sz="1600" b="1" dirty="0">
                  <a:latin typeface="Arial" panose="020B0604020202020204" pitchFamily="34" charset="0"/>
                  <a:cs typeface="Arial" panose="020B0604020202020204" pitchFamily="34" charset="0"/>
                  <a:hlinkClick r:id="rId11">
                    <a:extLst>
                      <a:ext uri="{A12FA001-AC4F-418D-AE19-62706E023703}">
                        <ahyp:hlinkClr xmlns:ahyp="http://schemas.microsoft.com/office/drawing/2018/hyperlinkcolor" val="tx"/>
                      </a:ext>
                    </a:extLst>
                  </a:hlinkClick>
                </a:rPr>
                <a:t>event-driven architecture</a:t>
              </a:r>
              <a:r>
                <a:rPr lang="en-US" sz="1600" b="1" dirty="0">
                  <a:latin typeface="Arial" panose="020B0604020202020204" pitchFamily="34" charset="0"/>
                  <a:cs typeface="Arial" panose="020B0604020202020204" pitchFamily="34" charset="0"/>
                </a:rPr>
                <a:t>, developers can build distributed, highly scalable, fault-tolerant, and extensible systems that can consume and process large amounts of events or information in real time.</a:t>
              </a:r>
            </a:p>
          </p:txBody>
        </p:sp>
        <p:sp>
          <p:nvSpPr>
            <p:cNvPr id="9" name="Rectangle: Rounded Corners 8">
              <a:extLst>
                <a:ext uri="{FF2B5EF4-FFF2-40B4-BE49-F238E27FC236}">
                  <a16:creationId xmlns:a16="http://schemas.microsoft.com/office/drawing/2014/main" id="{5482612E-7F44-1A28-58C5-9F9BF73BFACA}"/>
                </a:ext>
              </a:extLst>
            </p:cNvPr>
            <p:cNvSpPr/>
            <p:nvPr/>
          </p:nvSpPr>
          <p:spPr>
            <a:xfrm>
              <a:off x="261880" y="4757451"/>
              <a:ext cx="2409559" cy="1518230"/>
            </a:xfrm>
            <a:prstGeom prst="roundRect">
              <a:avLst>
                <a:gd name="adj" fmla="val 10000"/>
              </a:avLst>
            </a:prstGeom>
            <a:blipFill>
              <a:blip r:embed="rId12">
                <a:extLst>
                  <a:ext uri="{837473B0-CC2E-450A-ABE3-18F120FF3D39}">
                    <a1611:picAttrSrcUrl xmlns:a1611="http://schemas.microsoft.com/office/drawing/2016/11/main" r:id="rId13"/>
                  </a:ext>
                </a:extLst>
              </a:blip>
              <a:srcRect/>
              <a:stretch>
                <a:fillRect t="-14000" b="-14000"/>
              </a:stretch>
            </a:blipFill>
          </p:spPr>
          <p:style>
            <a:lnRef idx="3">
              <a:schemeClr val="lt1">
                <a:hueOff val="0"/>
                <a:satOff val="0"/>
                <a:lumOff val="0"/>
                <a:alphaOff val="0"/>
              </a:schemeClr>
            </a:lnRef>
            <a:fillRef idx="1">
              <a:scrgbClr r="0" g="0" b="0"/>
            </a:fillRef>
            <a:effectRef idx="1">
              <a:schemeClr val="accent1">
                <a:tint val="50000"/>
                <a:hueOff val="0"/>
                <a:satOff val="0"/>
                <a:lumOff val="0"/>
                <a:alphaOff val="0"/>
              </a:schemeClr>
            </a:effectRef>
            <a:fontRef idx="minor">
              <a:schemeClr val="lt1">
                <a:hueOff val="0"/>
                <a:satOff val="0"/>
                <a:lumOff val="0"/>
                <a:alphaOff val="0"/>
              </a:schemeClr>
            </a:fontRef>
          </p:style>
          <p:txBody>
            <a:bodyPr/>
            <a:lstStyle/>
            <a:p>
              <a:endParaRPr lang="en-US"/>
            </a:p>
          </p:txBody>
        </p:sp>
      </p:grpSp>
    </p:spTree>
    <p:extLst>
      <p:ext uri="{BB962C8B-B14F-4D97-AF65-F5344CB8AC3E}">
        <p14:creationId xmlns:p14="http://schemas.microsoft.com/office/powerpoint/2010/main" val="339933194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gradFill flip="none" rotWithShape="1">
          <a:gsLst>
            <a:gs pos="57000">
              <a:srgbClr val="DDE8EA"/>
            </a:gs>
            <a:gs pos="100000">
              <a:schemeClr val="accent1">
                <a:lumMod val="45000"/>
                <a:lumOff val="55000"/>
              </a:schemeClr>
            </a:gs>
            <a:gs pos="93000">
              <a:schemeClr val="accent1">
                <a:lumMod val="30000"/>
                <a:lumOff val="70000"/>
                <a:alpha val="6000"/>
              </a:schemeClr>
            </a:gs>
          </a:gsLst>
          <a:path path="circle">
            <a:fillToRect l="100000" t="100000"/>
          </a:path>
          <a:tileRect r="-100000" b="-100000"/>
        </a:gradFill>
        <a:effectLst/>
      </p:bgPr>
    </p:bg>
    <p:spTree>
      <p:nvGrpSpPr>
        <p:cNvPr id="1" name="">
          <a:extLst>
            <a:ext uri="{FF2B5EF4-FFF2-40B4-BE49-F238E27FC236}">
              <a16:creationId xmlns:a16="http://schemas.microsoft.com/office/drawing/2014/main" id="{B30A9E6D-AA83-3B6A-92CB-16C80EBFA16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EEA2D5-D18E-66E8-8420-5CF0087792B9}"/>
              </a:ext>
            </a:extLst>
          </p:cNvPr>
          <p:cNvSpPr>
            <a:spLocks noGrp="1"/>
          </p:cNvSpPr>
          <p:nvPr>
            <p:ph type="title"/>
          </p:nvPr>
        </p:nvSpPr>
        <p:spPr>
          <a:xfrm>
            <a:off x="9345" y="-112262"/>
            <a:ext cx="11996331" cy="1325563"/>
          </a:xfrm>
        </p:spPr>
        <p:txBody>
          <a:bodyPr>
            <a:normAutofit/>
          </a:bodyPr>
          <a:lstStyle/>
          <a:p>
            <a:r>
              <a:rPr lang="en-US" b="1" dirty="0">
                <a:latin typeface="Times New Roman" panose="02020603050405020304" pitchFamily="18" charset="0"/>
                <a:cs typeface="Times New Roman" panose="02020603050405020304" pitchFamily="18" charset="0"/>
              </a:rPr>
              <a:t>The idea of API Gateway:</a:t>
            </a:r>
            <a:endParaRPr lang="en-US" sz="4200" b="1" dirty="0">
              <a:latin typeface="Times New Roman" panose="02020603050405020304" pitchFamily="18" charset="0"/>
              <a:cs typeface="Times New Roman" panose="02020603050405020304" pitchFamily="18" charset="0"/>
            </a:endParaRPr>
          </a:p>
        </p:txBody>
      </p:sp>
      <p:pic>
        <p:nvPicPr>
          <p:cNvPr id="10" name="Picture 9">
            <a:extLst>
              <a:ext uri="{FF2B5EF4-FFF2-40B4-BE49-F238E27FC236}">
                <a16:creationId xmlns:a16="http://schemas.microsoft.com/office/drawing/2014/main" id="{8BFBDBA2-559E-0952-68CC-D4B163292ED5}"/>
              </a:ext>
            </a:extLst>
          </p:cNvPr>
          <p:cNvPicPr>
            <a:picLocks noChangeAspect="1"/>
          </p:cNvPicPr>
          <p:nvPr/>
        </p:nvPicPr>
        <p:blipFill>
          <a:blip r:embed="rId3"/>
          <a:stretch>
            <a:fillRect/>
          </a:stretch>
        </p:blipFill>
        <p:spPr>
          <a:xfrm>
            <a:off x="159160" y="1515217"/>
            <a:ext cx="2364965" cy="1619248"/>
          </a:xfrm>
          <a:prstGeom prst="rect">
            <a:avLst/>
          </a:prstGeom>
        </p:spPr>
      </p:pic>
      <p:pic>
        <p:nvPicPr>
          <p:cNvPr id="11" name="Picture 10">
            <a:extLst>
              <a:ext uri="{FF2B5EF4-FFF2-40B4-BE49-F238E27FC236}">
                <a16:creationId xmlns:a16="http://schemas.microsoft.com/office/drawing/2014/main" id="{25503DC6-8B79-2F0D-BE25-85EB8694B95D}"/>
              </a:ext>
            </a:extLst>
          </p:cNvPr>
          <p:cNvPicPr>
            <a:picLocks noChangeAspect="1"/>
          </p:cNvPicPr>
          <p:nvPr/>
        </p:nvPicPr>
        <p:blipFill>
          <a:blip r:embed="rId3"/>
          <a:stretch>
            <a:fillRect/>
          </a:stretch>
        </p:blipFill>
        <p:spPr>
          <a:xfrm>
            <a:off x="3731035" y="1515217"/>
            <a:ext cx="2364965" cy="1619248"/>
          </a:xfrm>
          <a:prstGeom prst="rect">
            <a:avLst/>
          </a:prstGeom>
        </p:spPr>
      </p:pic>
      <p:pic>
        <p:nvPicPr>
          <p:cNvPr id="12" name="Picture 11">
            <a:extLst>
              <a:ext uri="{FF2B5EF4-FFF2-40B4-BE49-F238E27FC236}">
                <a16:creationId xmlns:a16="http://schemas.microsoft.com/office/drawing/2014/main" id="{D79124AB-2A16-AA63-A1CB-EAFDE4D3D3A5}"/>
              </a:ext>
            </a:extLst>
          </p:cNvPr>
          <p:cNvPicPr>
            <a:picLocks noChangeAspect="1"/>
          </p:cNvPicPr>
          <p:nvPr/>
        </p:nvPicPr>
        <p:blipFill>
          <a:blip r:embed="rId3"/>
          <a:stretch>
            <a:fillRect/>
          </a:stretch>
        </p:blipFill>
        <p:spPr>
          <a:xfrm>
            <a:off x="3731035" y="4161685"/>
            <a:ext cx="2364965" cy="1619248"/>
          </a:xfrm>
          <a:prstGeom prst="rect">
            <a:avLst/>
          </a:prstGeom>
        </p:spPr>
      </p:pic>
      <p:pic>
        <p:nvPicPr>
          <p:cNvPr id="13" name="Picture 12">
            <a:extLst>
              <a:ext uri="{FF2B5EF4-FFF2-40B4-BE49-F238E27FC236}">
                <a16:creationId xmlns:a16="http://schemas.microsoft.com/office/drawing/2014/main" id="{295DD487-72AA-A476-F5CD-3EF6E07E8733}"/>
              </a:ext>
            </a:extLst>
          </p:cNvPr>
          <p:cNvPicPr>
            <a:picLocks noChangeAspect="1"/>
          </p:cNvPicPr>
          <p:nvPr/>
        </p:nvPicPr>
        <p:blipFill>
          <a:blip r:embed="rId3"/>
          <a:stretch>
            <a:fillRect/>
          </a:stretch>
        </p:blipFill>
        <p:spPr>
          <a:xfrm>
            <a:off x="159160" y="4161685"/>
            <a:ext cx="2364965" cy="1619248"/>
          </a:xfrm>
          <a:prstGeom prst="rect">
            <a:avLst/>
          </a:prstGeom>
        </p:spPr>
      </p:pic>
      <p:cxnSp>
        <p:nvCxnSpPr>
          <p:cNvPr id="14" name="Straight Arrow Connector 13">
            <a:extLst>
              <a:ext uri="{FF2B5EF4-FFF2-40B4-BE49-F238E27FC236}">
                <a16:creationId xmlns:a16="http://schemas.microsoft.com/office/drawing/2014/main" id="{31F086BB-BA4B-1183-8467-0ACD0D9627CB}"/>
              </a:ext>
            </a:extLst>
          </p:cNvPr>
          <p:cNvCxnSpPr>
            <a:stCxn id="10" idx="3"/>
            <a:endCxn id="11" idx="1"/>
          </p:cNvCxnSpPr>
          <p:nvPr/>
        </p:nvCxnSpPr>
        <p:spPr>
          <a:xfrm>
            <a:off x="2524125" y="2324841"/>
            <a:ext cx="1206910" cy="0"/>
          </a:xfrm>
          <a:prstGeom prst="straightConnector1">
            <a:avLst/>
          </a:prstGeom>
          <a:ln w="28575">
            <a:headEnd type="triangle"/>
            <a:tailEnd type="triangle"/>
          </a:ln>
        </p:spPr>
        <p:style>
          <a:lnRef idx="2">
            <a:schemeClr val="dk1"/>
          </a:lnRef>
          <a:fillRef idx="0">
            <a:schemeClr val="dk1"/>
          </a:fillRef>
          <a:effectRef idx="1">
            <a:schemeClr val="dk1"/>
          </a:effectRef>
          <a:fontRef idx="minor">
            <a:schemeClr val="tx1"/>
          </a:fontRef>
        </p:style>
      </p:cxnSp>
      <p:cxnSp>
        <p:nvCxnSpPr>
          <p:cNvPr id="15" name="Straight Arrow Connector 14">
            <a:extLst>
              <a:ext uri="{FF2B5EF4-FFF2-40B4-BE49-F238E27FC236}">
                <a16:creationId xmlns:a16="http://schemas.microsoft.com/office/drawing/2014/main" id="{F874CE88-2047-02E3-790B-6FE65DEC04DC}"/>
              </a:ext>
            </a:extLst>
          </p:cNvPr>
          <p:cNvCxnSpPr>
            <a:cxnSpLocks/>
            <a:stCxn id="10" idx="2"/>
            <a:endCxn id="13" idx="0"/>
          </p:cNvCxnSpPr>
          <p:nvPr/>
        </p:nvCxnSpPr>
        <p:spPr>
          <a:xfrm>
            <a:off x="1341643" y="3134465"/>
            <a:ext cx="0" cy="1027220"/>
          </a:xfrm>
          <a:prstGeom prst="straightConnector1">
            <a:avLst/>
          </a:prstGeom>
          <a:ln w="28575">
            <a:headEnd type="triangle"/>
            <a:tailEnd type="triangle"/>
          </a:ln>
        </p:spPr>
        <p:style>
          <a:lnRef idx="2">
            <a:schemeClr val="dk1"/>
          </a:lnRef>
          <a:fillRef idx="0">
            <a:schemeClr val="dk1"/>
          </a:fillRef>
          <a:effectRef idx="1">
            <a:schemeClr val="dk1"/>
          </a:effectRef>
          <a:fontRef idx="minor">
            <a:schemeClr val="tx1"/>
          </a:fontRef>
        </p:style>
      </p:cxnSp>
      <p:cxnSp>
        <p:nvCxnSpPr>
          <p:cNvPr id="16" name="Straight Arrow Connector 15">
            <a:extLst>
              <a:ext uri="{FF2B5EF4-FFF2-40B4-BE49-F238E27FC236}">
                <a16:creationId xmlns:a16="http://schemas.microsoft.com/office/drawing/2014/main" id="{BC70B0E5-07A4-5916-8E0F-632DA6DE3ADF}"/>
              </a:ext>
            </a:extLst>
          </p:cNvPr>
          <p:cNvCxnSpPr/>
          <p:nvPr/>
        </p:nvCxnSpPr>
        <p:spPr>
          <a:xfrm>
            <a:off x="2524125" y="4991100"/>
            <a:ext cx="1206910" cy="0"/>
          </a:xfrm>
          <a:prstGeom prst="straightConnector1">
            <a:avLst/>
          </a:prstGeom>
          <a:ln w="28575">
            <a:headEnd type="triangle"/>
            <a:tailEnd type="triangle"/>
          </a:ln>
        </p:spPr>
        <p:style>
          <a:lnRef idx="2">
            <a:schemeClr val="dk1"/>
          </a:lnRef>
          <a:fillRef idx="0">
            <a:schemeClr val="dk1"/>
          </a:fillRef>
          <a:effectRef idx="1">
            <a:schemeClr val="dk1"/>
          </a:effectRef>
          <a:fontRef idx="minor">
            <a:schemeClr val="tx1"/>
          </a:fontRef>
        </p:style>
      </p:cxnSp>
      <p:cxnSp>
        <p:nvCxnSpPr>
          <p:cNvPr id="17" name="Straight Arrow Connector 16">
            <a:extLst>
              <a:ext uri="{FF2B5EF4-FFF2-40B4-BE49-F238E27FC236}">
                <a16:creationId xmlns:a16="http://schemas.microsoft.com/office/drawing/2014/main" id="{321DD327-116C-DEBD-34DC-4E79B2842021}"/>
              </a:ext>
            </a:extLst>
          </p:cNvPr>
          <p:cNvCxnSpPr>
            <a:cxnSpLocks/>
          </p:cNvCxnSpPr>
          <p:nvPr/>
        </p:nvCxnSpPr>
        <p:spPr>
          <a:xfrm>
            <a:off x="4913517" y="3134465"/>
            <a:ext cx="0" cy="1027220"/>
          </a:xfrm>
          <a:prstGeom prst="straightConnector1">
            <a:avLst/>
          </a:prstGeom>
          <a:ln w="28575">
            <a:headEnd type="triangle"/>
            <a:tailEnd type="triangle"/>
          </a:ln>
        </p:spPr>
        <p:style>
          <a:lnRef idx="2">
            <a:schemeClr val="dk1"/>
          </a:lnRef>
          <a:fillRef idx="0">
            <a:schemeClr val="dk1"/>
          </a:fillRef>
          <a:effectRef idx="1">
            <a:schemeClr val="dk1"/>
          </a:effectRef>
          <a:fontRef idx="minor">
            <a:schemeClr val="tx1"/>
          </a:fontRef>
        </p:style>
      </p:cxnSp>
      <p:cxnSp>
        <p:nvCxnSpPr>
          <p:cNvPr id="18" name="Straight Arrow Connector 17">
            <a:extLst>
              <a:ext uri="{FF2B5EF4-FFF2-40B4-BE49-F238E27FC236}">
                <a16:creationId xmlns:a16="http://schemas.microsoft.com/office/drawing/2014/main" id="{4A316A62-F651-0F69-B497-011DD3522959}"/>
              </a:ext>
            </a:extLst>
          </p:cNvPr>
          <p:cNvCxnSpPr>
            <a:cxnSpLocks/>
            <a:stCxn id="10" idx="2"/>
            <a:endCxn id="12" idx="0"/>
          </p:cNvCxnSpPr>
          <p:nvPr/>
        </p:nvCxnSpPr>
        <p:spPr>
          <a:xfrm>
            <a:off x="1341643" y="3134465"/>
            <a:ext cx="3571875" cy="1027220"/>
          </a:xfrm>
          <a:prstGeom prst="straightConnector1">
            <a:avLst/>
          </a:prstGeom>
          <a:ln w="28575">
            <a:headEnd type="triangle"/>
            <a:tailEnd type="triangle"/>
          </a:ln>
        </p:spPr>
        <p:style>
          <a:lnRef idx="2">
            <a:schemeClr val="dk1"/>
          </a:lnRef>
          <a:fillRef idx="0">
            <a:schemeClr val="dk1"/>
          </a:fillRef>
          <a:effectRef idx="1">
            <a:schemeClr val="dk1"/>
          </a:effectRef>
          <a:fontRef idx="minor">
            <a:schemeClr val="tx1"/>
          </a:fontRef>
        </p:style>
      </p:cxnSp>
      <p:cxnSp>
        <p:nvCxnSpPr>
          <p:cNvPr id="19" name="Straight Arrow Connector 18">
            <a:extLst>
              <a:ext uri="{FF2B5EF4-FFF2-40B4-BE49-F238E27FC236}">
                <a16:creationId xmlns:a16="http://schemas.microsoft.com/office/drawing/2014/main" id="{163990C7-C46B-710D-FB6F-15FFBA2446A7}"/>
              </a:ext>
            </a:extLst>
          </p:cNvPr>
          <p:cNvCxnSpPr>
            <a:cxnSpLocks/>
            <a:stCxn id="11" idx="2"/>
            <a:endCxn id="13" idx="0"/>
          </p:cNvCxnSpPr>
          <p:nvPr/>
        </p:nvCxnSpPr>
        <p:spPr>
          <a:xfrm flipH="1">
            <a:off x="1341643" y="3134465"/>
            <a:ext cx="3571875" cy="1027220"/>
          </a:xfrm>
          <a:prstGeom prst="straightConnector1">
            <a:avLst/>
          </a:prstGeom>
          <a:ln w="28575">
            <a:headEnd type="triangle"/>
            <a:tailEnd type="triangle"/>
          </a:ln>
        </p:spPr>
        <p:style>
          <a:lnRef idx="2">
            <a:schemeClr val="dk1"/>
          </a:lnRef>
          <a:fillRef idx="0">
            <a:schemeClr val="dk1"/>
          </a:fillRef>
          <a:effectRef idx="1">
            <a:schemeClr val="dk1"/>
          </a:effectRef>
          <a:fontRef idx="minor">
            <a:schemeClr val="tx1"/>
          </a:fontRef>
        </p:style>
      </p:cxnSp>
      <p:sp>
        <p:nvSpPr>
          <p:cNvPr id="20" name="Rectangle 19">
            <a:extLst>
              <a:ext uri="{FF2B5EF4-FFF2-40B4-BE49-F238E27FC236}">
                <a16:creationId xmlns:a16="http://schemas.microsoft.com/office/drawing/2014/main" id="{A5974CE6-0868-5AAB-2EEE-77B82D4C7290}"/>
              </a:ext>
            </a:extLst>
          </p:cNvPr>
          <p:cNvSpPr/>
          <p:nvPr/>
        </p:nvSpPr>
        <p:spPr>
          <a:xfrm>
            <a:off x="6153150" y="1128658"/>
            <a:ext cx="6000930" cy="888492"/>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bg1"/>
                </a:solidFill>
                <a:latin typeface="Arial" panose="020B0604020202020204" pitchFamily="34" charset="0"/>
                <a:cs typeface="Arial" panose="020B0604020202020204" pitchFamily="34" charset="0"/>
              </a:rPr>
              <a:t>Now we have these processes running simultaneously; in other words, the processes are parallel</a:t>
            </a:r>
          </a:p>
        </p:txBody>
      </p:sp>
      <p:sp>
        <p:nvSpPr>
          <p:cNvPr id="21" name="Rectangle 20">
            <a:extLst>
              <a:ext uri="{FF2B5EF4-FFF2-40B4-BE49-F238E27FC236}">
                <a16:creationId xmlns:a16="http://schemas.microsoft.com/office/drawing/2014/main" id="{3BC762AE-4BAB-BEB9-7E1E-98C5A7DA1C25}"/>
              </a:ext>
            </a:extLst>
          </p:cNvPr>
          <p:cNvSpPr/>
          <p:nvPr/>
        </p:nvSpPr>
        <p:spPr>
          <a:xfrm>
            <a:off x="6153150" y="2177148"/>
            <a:ext cx="6000930" cy="888492"/>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bg1"/>
                </a:solidFill>
                <a:latin typeface="Arial" panose="020B0604020202020204" pitchFamily="34" charset="0"/>
                <a:cs typeface="Arial" panose="020B0604020202020204" pitchFamily="34" charset="0"/>
              </a:rPr>
              <a:t>Since we have running instances, we need communication, so we need something shared at this time; it will be the network, not RAM</a:t>
            </a:r>
          </a:p>
        </p:txBody>
      </p:sp>
      <p:sp>
        <p:nvSpPr>
          <p:cNvPr id="23" name="Rectangle 22">
            <a:extLst>
              <a:ext uri="{FF2B5EF4-FFF2-40B4-BE49-F238E27FC236}">
                <a16:creationId xmlns:a16="http://schemas.microsoft.com/office/drawing/2014/main" id="{31F651F9-AA49-652F-4CC5-5ADEA29025EF}"/>
              </a:ext>
            </a:extLst>
          </p:cNvPr>
          <p:cNvSpPr/>
          <p:nvPr/>
        </p:nvSpPr>
        <p:spPr>
          <a:xfrm>
            <a:off x="6153150" y="3212243"/>
            <a:ext cx="6000930" cy="888492"/>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bg1"/>
                </a:solidFill>
                <a:latin typeface="Arial" panose="020B0604020202020204" pitchFamily="34" charset="0"/>
                <a:cs typeface="Arial" panose="020B0604020202020204" pitchFamily="34" charset="0"/>
              </a:rPr>
              <a:t>Two main parts will guide our design: the HTTP request and how the data transfers through the network (JSON)</a:t>
            </a:r>
          </a:p>
        </p:txBody>
      </p:sp>
      <p:sp>
        <p:nvSpPr>
          <p:cNvPr id="24" name="Rectangle 23">
            <a:extLst>
              <a:ext uri="{FF2B5EF4-FFF2-40B4-BE49-F238E27FC236}">
                <a16:creationId xmlns:a16="http://schemas.microsoft.com/office/drawing/2014/main" id="{6B330039-8C66-81DE-5DC2-9285B1E9137F}"/>
              </a:ext>
            </a:extLst>
          </p:cNvPr>
          <p:cNvSpPr/>
          <p:nvPr/>
        </p:nvSpPr>
        <p:spPr>
          <a:xfrm>
            <a:off x="6153150" y="4260733"/>
            <a:ext cx="6000930" cy="888492"/>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bg1"/>
                </a:solidFill>
                <a:latin typeface="Arial" panose="020B0604020202020204" pitchFamily="34" charset="0"/>
                <a:cs typeface="Arial" panose="020B0604020202020204" pitchFamily="34" charset="0"/>
              </a:rPr>
              <a:t>Since our apps communicate through the network, we are doing network/web programming.</a:t>
            </a:r>
          </a:p>
        </p:txBody>
      </p:sp>
      <p:sp>
        <p:nvSpPr>
          <p:cNvPr id="25" name="TextBox 24">
            <a:extLst>
              <a:ext uri="{FF2B5EF4-FFF2-40B4-BE49-F238E27FC236}">
                <a16:creationId xmlns:a16="http://schemas.microsoft.com/office/drawing/2014/main" id="{C1C873ED-1C1F-5704-9DA8-BE6E07FA65B2}"/>
              </a:ext>
            </a:extLst>
          </p:cNvPr>
          <p:cNvSpPr txBox="1"/>
          <p:nvPr/>
        </p:nvSpPr>
        <p:spPr>
          <a:xfrm>
            <a:off x="786118" y="5876226"/>
            <a:ext cx="1278656" cy="461665"/>
          </a:xfrm>
          <a:prstGeom prst="rect">
            <a:avLst/>
          </a:prstGeom>
          <a:noFill/>
        </p:spPr>
        <p:txBody>
          <a:bodyPr wrap="square" rtlCol="0">
            <a:spAutoFit/>
          </a:bodyPr>
          <a:lstStyle/>
          <a:p>
            <a:r>
              <a:rPr lang="en-US" sz="2400" b="1" dirty="0">
                <a:solidFill>
                  <a:srgbClr val="FF0000"/>
                </a:solidFill>
                <a:latin typeface="Arial" panose="020B0604020202020204" pitchFamily="34" charset="0"/>
                <a:cs typeface="Arial" panose="020B0604020202020204" pitchFamily="34" charset="0"/>
              </a:rPr>
              <a:t>Service</a:t>
            </a:r>
            <a:r>
              <a:rPr lang="en-US" dirty="0"/>
              <a:t> </a:t>
            </a:r>
          </a:p>
        </p:txBody>
      </p:sp>
      <p:sp>
        <p:nvSpPr>
          <p:cNvPr id="26" name="TextBox 25">
            <a:extLst>
              <a:ext uri="{FF2B5EF4-FFF2-40B4-BE49-F238E27FC236}">
                <a16:creationId xmlns:a16="http://schemas.microsoft.com/office/drawing/2014/main" id="{54DD3CE5-C670-89CB-FB1D-5A73C1F45FBA}"/>
              </a:ext>
            </a:extLst>
          </p:cNvPr>
          <p:cNvSpPr txBox="1"/>
          <p:nvPr/>
        </p:nvSpPr>
        <p:spPr>
          <a:xfrm>
            <a:off x="786118" y="946765"/>
            <a:ext cx="1278656" cy="461665"/>
          </a:xfrm>
          <a:prstGeom prst="rect">
            <a:avLst/>
          </a:prstGeom>
          <a:noFill/>
        </p:spPr>
        <p:txBody>
          <a:bodyPr wrap="square" rtlCol="0">
            <a:spAutoFit/>
          </a:bodyPr>
          <a:lstStyle/>
          <a:p>
            <a:r>
              <a:rPr lang="en-US" sz="2400" b="1" dirty="0">
                <a:solidFill>
                  <a:srgbClr val="FF0000"/>
                </a:solidFill>
                <a:latin typeface="Arial" panose="020B0604020202020204" pitchFamily="34" charset="0"/>
                <a:cs typeface="Arial" panose="020B0604020202020204" pitchFamily="34" charset="0"/>
              </a:rPr>
              <a:t>Service</a:t>
            </a:r>
            <a:r>
              <a:rPr lang="en-US" dirty="0"/>
              <a:t> </a:t>
            </a:r>
          </a:p>
        </p:txBody>
      </p:sp>
      <p:sp>
        <p:nvSpPr>
          <p:cNvPr id="27" name="TextBox 26">
            <a:extLst>
              <a:ext uri="{FF2B5EF4-FFF2-40B4-BE49-F238E27FC236}">
                <a16:creationId xmlns:a16="http://schemas.microsoft.com/office/drawing/2014/main" id="{9F575093-CF4F-1894-6A55-534B2AF6B0E8}"/>
              </a:ext>
            </a:extLst>
          </p:cNvPr>
          <p:cNvSpPr txBox="1"/>
          <p:nvPr/>
        </p:nvSpPr>
        <p:spPr>
          <a:xfrm>
            <a:off x="4206591" y="5876226"/>
            <a:ext cx="1278656" cy="461665"/>
          </a:xfrm>
          <a:prstGeom prst="rect">
            <a:avLst/>
          </a:prstGeom>
          <a:noFill/>
        </p:spPr>
        <p:txBody>
          <a:bodyPr wrap="square" rtlCol="0">
            <a:spAutoFit/>
          </a:bodyPr>
          <a:lstStyle/>
          <a:p>
            <a:r>
              <a:rPr lang="en-US" sz="2400" b="1" dirty="0">
                <a:solidFill>
                  <a:srgbClr val="FF0000"/>
                </a:solidFill>
                <a:latin typeface="Arial" panose="020B0604020202020204" pitchFamily="34" charset="0"/>
                <a:cs typeface="Arial" panose="020B0604020202020204" pitchFamily="34" charset="0"/>
              </a:rPr>
              <a:t>Service</a:t>
            </a:r>
            <a:r>
              <a:rPr lang="en-US" dirty="0"/>
              <a:t> </a:t>
            </a:r>
          </a:p>
        </p:txBody>
      </p:sp>
      <p:sp>
        <p:nvSpPr>
          <p:cNvPr id="28" name="TextBox 27">
            <a:extLst>
              <a:ext uri="{FF2B5EF4-FFF2-40B4-BE49-F238E27FC236}">
                <a16:creationId xmlns:a16="http://schemas.microsoft.com/office/drawing/2014/main" id="{9F9E24CC-F8D2-9D89-0688-74969072F462}"/>
              </a:ext>
            </a:extLst>
          </p:cNvPr>
          <p:cNvSpPr txBox="1"/>
          <p:nvPr/>
        </p:nvSpPr>
        <p:spPr>
          <a:xfrm>
            <a:off x="4206591" y="946765"/>
            <a:ext cx="1278656" cy="461665"/>
          </a:xfrm>
          <a:prstGeom prst="rect">
            <a:avLst/>
          </a:prstGeom>
          <a:noFill/>
        </p:spPr>
        <p:txBody>
          <a:bodyPr wrap="square" rtlCol="0">
            <a:spAutoFit/>
          </a:bodyPr>
          <a:lstStyle/>
          <a:p>
            <a:r>
              <a:rPr lang="en-US" sz="2400" b="1" dirty="0">
                <a:solidFill>
                  <a:srgbClr val="FF0000"/>
                </a:solidFill>
                <a:latin typeface="Arial" panose="020B0604020202020204" pitchFamily="34" charset="0"/>
                <a:cs typeface="Arial" panose="020B0604020202020204" pitchFamily="34" charset="0"/>
              </a:rPr>
              <a:t>Service</a:t>
            </a:r>
            <a:r>
              <a:rPr lang="en-US" dirty="0"/>
              <a:t> </a:t>
            </a:r>
          </a:p>
        </p:txBody>
      </p:sp>
      <p:sp>
        <p:nvSpPr>
          <p:cNvPr id="29" name="Rectangle 28">
            <a:extLst>
              <a:ext uri="{FF2B5EF4-FFF2-40B4-BE49-F238E27FC236}">
                <a16:creationId xmlns:a16="http://schemas.microsoft.com/office/drawing/2014/main" id="{44627E41-41FF-2096-4721-EED0802AD82B}"/>
              </a:ext>
            </a:extLst>
          </p:cNvPr>
          <p:cNvSpPr/>
          <p:nvPr/>
        </p:nvSpPr>
        <p:spPr>
          <a:xfrm>
            <a:off x="6153150" y="5267862"/>
            <a:ext cx="6000930" cy="1486092"/>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bg1"/>
                </a:solidFill>
                <a:latin typeface="Arial" panose="020B0604020202020204" pitchFamily="34" charset="0"/>
                <a:cs typeface="Arial" panose="020B0604020202020204" pitchFamily="34" charset="0"/>
              </a:rPr>
              <a:t>Now we need an API Gateway, which is a software layer that presents a single entry point for clients (such as web or mobile applications) to access multiple backend services, while simultaneously managing client/server interactions.</a:t>
            </a:r>
          </a:p>
        </p:txBody>
      </p:sp>
    </p:spTree>
    <p:extLst>
      <p:ext uri="{BB962C8B-B14F-4D97-AF65-F5344CB8AC3E}">
        <p14:creationId xmlns:p14="http://schemas.microsoft.com/office/powerpoint/2010/main" val="92901600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500"/>
                                        <p:tgtEl>
                                          <p:spTgt spid="2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1"/>
                                        </p:tgtEl>
                                        <p:attrNameLst>
                                          <p:attrName>style.visibility</p:attrName>
                                        </p:attrNameLst>
                                      </p:cBhvr>
                                      <p:to>
                                        <p:strVal val="visible"/>
                                      </p:to>
                                    </p:set>
                                    <p:animEffect transition="in" filter="fade">
                                      <p:cBhvr>
                                        <p:cTn id="12" dur="500"/>
                                        <p:tgtEl>
                                          <p:spTgt spid="21"/>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3"/>
                                        </p:tgtEl>
                                        <p:attrNameLst>
                                          <p:attrName>style.visibility</p:attrName>
                                        </p:attrNameLst>
                                      </p:cBhvr>
                                      <p:to>
                                        <p:strVal val="visible"/>
                                      </p:to>
                                    </p:set>
                                    <p:animEffect transition="in" filter="fade">
                                      <p:cBhvr>
                                        <p:cTn id="17" dur="500"/>
                                        <p:tgtEl>
                                          <p:spTgt spid="23"/>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24"/>
                                        </p:tgtEl>
                                        <p:attrNameLst>
                                          <p:attrName>style.visibility</p:attrName>
                                        </p:attrNameLst>
                                      </p:cBhvr>
                                      <p:to>
                                        <p:strVal val="visible"/>
                                      </p:to>
                                    </p:set>
                                    <p:animEffect transition="in" filter="fade">
                                      <p:cBhvr>
                                        <p:cTn id="22" dur="500"/>
                                        <p:tgtEl>
                                          <p:spTgt spid="24"/>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29"/>
                                        </p:tgtEl>
                                        <p:attrNameLst>
                                          <p:attrName>style.visibility</p:attrName>
                                        </p:attrNameLst>
                                      </p:cBhvr>
                                      <p:to>
                                        <p:strVal val="visible"/>
                                      </p:to>
                                    </p:set>
                                    <p:animEffect transition="in" filter="fade">
                                      <p:cBhvr>
                                        <p:cTn id="27" dur="500"/>
                                        <p:tgtEl>
                                          <p:spTgt spid="29"/>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25"/>
                                        </p:tgtEl>
                                        <p:attrNameLst>
                                          <p:attrName>style.visibility</p:attrName>
                                        </p:attrNameLst>
                                      </p:cBhvr>
                                      <p:to>
                                        <p:strVal val="visible"/>
                                      </p:to>
                                    </p:set>
                                    <p:animEffect transition="in" filter="wipe(down)">
                                      <p:cBhvr>
                                        <p:cTn id="32" dur="500"/>
                                        <p:tgtEl>
                                          <p:spTgt spid="25"/>
                                        </p:tgtEl>
                                      </p:cBhvr>
                                    </p:animEffect>
                                  </p:childTnLst>
                                </p:cTn>
                              </p:par>
                              <p:par>
                                <p:cTn id="33" presetID="22" presetClass="entr" presetSubtype="4" fill="hold" grpId="0" nodeType="withEffect">
                                  <p:stCondLst>
                                    <p:cond delay="0"/>
                                  </p:stCondLst>
                                  <p:childTnLst>
                                    <p:set>
                                      <p:cBhvr>
                                        <p:cTn id="34" dur="1" fill="hold">
                                          <p:stCondLst>
                                            <p:cond delay="0"/>
                                          </p:stCondLst>
                                        </p:cTn>
                                        <p:tgtEl>
                                          <p:spTgt spid="26"/>
                                        </p:tgtEl>
                                        <p:attrNameLst>
                                          <p:attrName>style.visibility</p:attrName>
                                        </p:attrNameLst>
                                      </p:cBhvr>
                                      <p:to>
                                        <p:strVal val="visible"/>
                                      </p:to>
                                    </p:set>
                                    <p:animEffect transition="in" filter="wipe(down)">
                                      <p:cBhvr>
                                        <p:cTn id="35" dur="500"/>
                                        <p:tgtEl>
                                          <p:spTgt spid="26"/>
                                        </p:tgtEl>
                                      </p:cBhvr>
                                    </p:animEffect>
                                  </p:childTnLst>
                                </p:cTn>
                              </p:par>
                              <p:par>
                                <p:cTn id="36" presetID="22" presetClass="entr" presetSubtype="4" fill="hold" grpId="0" nodeType="withEffect">
                                  <p:stCondLst>
                                    <p:cond delay="0"/>
                                  </p:stCondLst>
                                  <p:childTnLst>
                                    <p:set>
                                      <p:cBhvr>
                                        <p:cTn id="37" dur="1" fill="hold">
                                          <p:stCondLst>
                                            <p:cond delay="0"/>
                                          </p:stCondLst>
                                        </p:cTn>
                                        <p:tgtEl>
                                          <p:spTgt spid="27"/>
                                        </p:tgtEl>
                                        <p:attrNameLst>
                                          <p:attrName>style.visibility</p:attrName>
                                        </p:attrNameLst>
                                      </p:cBhvr>
                                      <p:to>
                                        <p:strVal val="visible"/>
                                      </p:to>
                                    </p:set>
                                    <p:animEffect transition="in" filter="wipe(down)">
                                      <p:cBhvr>
                                        <p:cTn id="38" dur="500"/>
                                        <p:tgtEl>
                                          <p:spTgt spid="27"/>
                                        </p:tgtEl>
                                      </p:cBhvr>
                                    </p:animEffect>
                                  </p:childTnLst>
                                </p:cTn>
                              </p:par>
                              <p:par>
                                <p:cTn id="39" presetID="22" presetClass="entr" presetSubtype="4" fill="hold" grpId="0" nodeType="withEffect">
                                  <p:stCondLst>
                                    <p:cond delay="0"/>
                                  </p:stCondLst>
                                  <p:childTnLst>
                                    <p:set>
                                      <p:cBhvr>
                                        <p:cTn id="40" dur="1" fill="hold">
                                          <p:stCondLst>
                                            <p:cond delay="0"/>
                                          </p:stCondLst>
                                        </p:cTn>
                                        <p:tgtEl>
                                          <p:spTgt spid="28"/>
                                        </p:tgtEl>
                                        <p:attrNameLst>
                                          <p:attrName>style.visibility</p:attrName>
                                        </p:attrNameLst>
                                      </p:cBhvr>
                                      <p:to>
                                        <p:strVal val="visible"/>
                                      </p:to>
                                    </p:set>
                                    <p:animEffect transition="in" filter="wipe(down)">
                                      <p:cBhvr>
                                        <p:cTn id="41"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1" grpId="0" animBg="1"/>
      <p:bldP spid="23" grpId="0" animBg="1"/>
      <p:bldP spid="24" grpId="0" animBg="1"/>
      <p:bldP spid="25" grpId="0"/>
      <p:bldP spid="26" grpId="0"/>
      <p:bldP spid="27" grpId="0"/>
      <p:bldP spid="28" grpId="0"/>
      <p:bldP spid="29"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bg>
      <p:bgPr>
        <a:gradFill flip="none" rotWithShape="1">
          <a:gsLst>
            <a:gs pos="57000">
              <a:srgbClr val="DDE8EA"/>
            </a:gs>
            <a:gs pos="100000">
              <a:schemeClr val="accent1">
                <a:lumMod val="45000"/>
                <a:lumOff val="55000"/>
              </a:schemeClr>
            </a:gs>
            <a:gs pos="93000">
              <a:schemeClr val="accent1">
                <a:lumMod val="30000"/>
                <a:lumOff val="70000"/>
                <a:alpha val="6000"/>
              </a:schemeClr>
            </a:gs>
          </a:gsLst>
          <a:path path="circle">
            <a:fillToRect l="100000" t="100000"/>
          </a:path>
          <a:tileRect r="-100000" b="-100000"/>
        </a:gradFill>
        <a:effectLst/>
      </p:bgPr>
    </p:bg>
    <p:spTree>
      <p:nvGrpSpPr>
        <p:cNvPr id="1" name="">
          <a:extLst>
            <a:ext uri="{FF2B5EF4-FFF2-40B4-BE49-F238E27FC236}">
              <a16:creationId xmlns:a16="http://schemas.microsoft.com/office/drawing/2014/main" id="{57565CAA-3ADC-93E5-4723-DFDCF3AE0EF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BCC656A-E911-070A-B77B-C7B8142B817C}"/>
              </a:ext>
            </a:extLst>
          </p:cNvPr>
          <p:cNvSpPr>
            <a:spLocks noGrp="1"/>
          </p:cNvSpPr>
          <p:nvPr>
            <p:ph type="title"/>
          </p:nvPr>
        </p:nvSpPr>
        <p:spPr>
          <a:xfrm>
            <a:off x="9345" y="-112262"/>
            <a:ext cx="11996331" cy="1325563"/>
          </a:xfrm>
        </p:spPr>
        <p:txBody>
          <a:bodyPr>
            <a:normAutofit/>
          </a:bodyPr>
          <a:lstStyle/>
          <a:p>
            <a:r>
              <a:rPr lang="en-US" b="1" dirty="0">
                <a:latin typeface="Times New Roman" panose="02020603050405020304" pitchFamily="18" charset="0"/>
                <a:cs typeface="Times New Roman" panose="02020603050405020304" pitchFamily="18" charset="0"/>
              </a:rPr>
              <a:t>The idea of API Gateway:</a:t>
            </a:r>
            <a:endParaRPr lang="en-US" sz="4200" b="1" dirty="0">
              <a:latin typeface="Times New Roman" panose="02020603050405020304" pitchFamily="18" charset="0"/>
              <a:cs typeface="Times New Roman" panose="02020603050405020304" pitchFamily="18" charset="0"/>
            </a:endParaRPr>
          </a:p>
        </p:txBody>
      </p:sp>
      <p:grpSp>
        <p:nvGrpSpPr>
          <p:cNvPr id="4" name="Group 3">
            <a:extLst>
              <a:ext uri="{FF2B5EF4-FFF2-40B4-BE49-F238E27FC236}">
                <a16:creationId xmlns:a16="http://schemas.microsoft.com/office/drawing/2014/main" id="{FB78AAFB-5B5E-9E4D-743C-E8F7B4E03C90}"/>
              </a:ext>
            </a:extLst>
          </p:cNvPr>
          <p:cNvGrpSpPr/>
          <p:nvPr/>
        </p:nvGrpSpPr>
        <p:grpSpPr>
          <a:xfrm>
            <a:off x="6882852" y="1282126"/>
            <a:ext cx="4866479" cy="3103061"/>
            <a:chOff x="5299587" y="1213301"/>
            <a:chExt cx="6223819" cy="5459005"/>
          </a:xfrm>
        </p:grpSpPr>
        <p:sp>
          <p:nvSpPr>
            <p:cNvPr id="3" name="Rectangle 2">
              <a:extLst>
                <a:ext uri="{FF2B5EF4-FFF2-40B4-BE49-F238E27FC236}">
                  <a16:creationId xmlns:a16="http://schemas.microsoft.com/office/drawing/2014/main" id="{68EE5115-3607-48CA-1DCA-E28494A7E568}"/>
                </a:ext>
              </a:extLst>
            </p:cNvPr>
            <p:cNvSpPr/>
            <p:nvPr/>
          </p:nvSpPr>
          <p:spPr>
            <a:xfrm>
              <a:off x="5299587" y="1213302"/>
              <a:ext cx="6223819" cy="5391127"/>
            </a:xfrm>
            <a:prstGeom prst="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pic>
          <p:nvPicPr>
            <p:cNvPr id="10" name="Picture 9">
              <a:extLst>
                <a:ext uri="{FF2B5EF4-FFF2-40B4-BE49-F238E27FC236}">
                  <a16:creationId xmlns:a16="http://schemas.microsoft.com/office/drawing/2014/main" id="{AA0AEDDC-B248-E2C2-DF7F-ED41FB2FCE07}"/>
                </a:ext>
              </a:extLst>
            </p:cNvPr>
            <p:cNvPicPr>
              <a:picLocks noChangeAspect="1"/>
            </p:cNvPicPr>
            <p:nvPr/>
          </p:nvPicPr>
          <p:blipFill>
            <a:blip r:embed="rId3"/>
            <a:stretch>
              <a:fillRect/>
            </a:stretch>
          </p:blipFill>
          <p:spPr>
            <a:xfrm>
              <a:off x="5429251" y="1781753"/>
              <a:ext cx="2364965" cy="1619248"/>
            </a:xfrm>
            <a:prstGeom prst="rect">
              <a:avLst/>
            </a:prstGeom>
          </p:spPr>
        </p:pic>
        <p:pic>
          <p:nvPicPr>
            <p:cNvPr id="11" name="Picture 10">
              <a:extLst>
                <a:ext uri="{FF2B5EF4-FFF2-40B4-BE49-F238E27FC236}">
                  <a16:creationId xmlns:a16="http://schemas.microsoft.com/office/drawing/2014/main" id="{F81CABEB-2DA8-E303-EA11-6FF2614B6F81}"/>
                </a:ext>
              </a:extLst>
            </p:cNvPr>
            <p:cNvPicPr>
              <a:picLocks noChangeAspect="1"/>
            </p:cNvPicPr>
            <p:nvPr/>
          </p:nvPicPr>
          <p:blipFill>
            <a:blip r:embed="rId3"/>
            <a:stretch>
              <a:fillRect/>
            </a:stretch>
          </p:blipFill>
          <p:spPr>
            <a:xfrm>
              <a:off x="9001126" y="1781753"/>
              <a:ext cx="2364965" cy="1619248"/>
            </a:xfrm>
            <a:prstGeom prst="rect">
              <a:avLst/>
            </a:prstGeom>
          </p:spPr>
        </p:pic>
        <p:pic>
          <p:nvPicPr>
            <p:cNvPr id="12" name="Picture 11">
              <a:extLst>
                <a:ext uri="{FF2B5EF4-FFF2-40B4-BE49-F238E27FC236}">
                  <a16:creationId xmlns:a16="http://schemas.microsoft.com/office/drawing/2014/main" id="{0B694B47-201C-D8BD-D9D5-20346911552D}"/>
                </a:ext>
              </a:extLst>
            </p:cNvPr>
            <p:cNvPicPr>
              <a:picLocks noChangeAspect="1"/>
            </p:cNvPicPr>
            <p:nvPr/>
          </p:nvPicPr>
          <p:blipFill>
            <a:blip r:embed="rId3"/>
            <a:stretch>
              <a:fillRect/>
            </a:stretch>
          </p:blipFill>
          <p:spPr>
            <a:xfrm>
              <a:off x="9001126" y="4428221"/>
              <a:ext cx="2364965" cy="1619248"/>
            </a:xfrm>
            <a:prstGeom prst="rect">
              <a:avLst/>
            </a:prstGeom>
          </p:spPr>
        </p:pic>
        <p:pic>
          <p:nvPicPr>
            <p:cNvPr id="13" name="Picture 12">
              <a:extLst>
                <a:ext uri="{FF2B5EF4-FFF2-40B4-BE49-F238E27FC236}">
                  <a16:creationId xmlns:a16="http://schemas.microsoft.com/office/drawing/2014/main" id="{6C87B28F-F0EE-4958-8E98-DEB520A388EC}"/>
                </a:ext>
              </a:extLst>
            </p:cNvPr>
            <p:cNvPicPr>
              <a:picLocks noChangeAspect="1"/>
            </p:cNvPicPr>
            <p:nvPr/>
          </p:nvPicPr>
          <p:blipFill>
            <a:blip r:embed="rId3"/>
            <a:stretch>
              <a:fillRect/>
            </a:stretch>
          </p:blipFill>
          <p:spPr>
            <a:xfrm>
              <a:off x="5429251" y="4428221"/>
              <a:ext cx="2364965" cy="1619248"/>
            </a:xfrm>
            <a:prstGeom prst="rect">
              <a:avLst/>
            </a:prstGeom>
          </p:spPr>
        </p:pic>
        <p:cxnSp>
          <p:nvCxnSpPr>
            <p:cNvPr id="14" name="Straight Arrow Connector 13">
              <a:extLst>
                <a:ext uri="{FF2B5EF4-FFF2-40B4-BE49-F238E27FC236}">
                  <a16:creationId xmlns:a16="http://schemas.microsoft.com/office/drawing/2014/main" id="{A3C82E82-937B-EFFF-D115-FB14EC0E56A0}"/>
                </a:ext>
              </a:extLst>
            </p:cNvPr>
            <p:cNvCxnSpPr>
              <a:stCxn id="10" idx="3"/>
              <a:endCxn id="11" idx="1"/>
            </p:cNvCxnSpPr>
            <p:nvPr/>
          </p:nvCxnSpPr>
          <p:spPr>
            <a:xfrm>
              <a:off x="7794216" y="2591377"/>
              <a:ext cx="1206910" cy="0"/>
            </a:xfrm>
            <a:prstGeom prst="straightConnector1">
              <a:avLst/>
            </a:prstGeom>
            <a:ln w="28575">
              <a:headEnd type="triangle"/>
              <a:tailEnd type="triangle"/>
            </a:ln>
          </p:spPr>
          <p:style>
            <a:lnRef idx="2">
              <a:schemeClr val="dk1"/>
            </a:lnRef>
            <a:fillRef idx="0">
              <a:schemeClr val="dk1"/>
            </a:fillRef>
            <a:effectRef idx="1">
              <a:schemeClr val="dk1"/>
            </a:effectRef>
            <a:fontRef idx="minor">
              <a:schemeClr val="tx1"/>
            </a:fontRef>
          </p:style>
        </p:cxnSp>
        <p:cxnSp>
          <p:nvCxnSpPr>
            <p:cNvPr id="15" name="Straight Arrow Connector 14">
              <a:extLst>
                <a:ext uri="{FF2B5EF4-FFF2-40B4-BE49-F238E27FC236}">
                  <a16:creationId xmlns:a16="http://schemas.microsoft.com/office/drawing/2014/main" id="{64F379F5-09E1-58B1-A2B7-BDEA88837FC2}"/>
                </a:ext>
              </a:extLst>
            </p:cNvPr>
            <p:cNvCxnSpPr>
              <a:cxnSpLocks/>
              <a:stCxn id="10" idx="2"/>
              <a:endCxn id="13" idx="0"/>
            </p:cNvCxnSpPr>
            <p:nvPr/>
          </p:nvCxnSpPr>
          <p:spPr>
            <a:xfrm>
              <a:off x="6611734" y="3401001"/>
              <a:ext cx="0" cy="1027220"/>
            </a:xfrm>
            <a:prstGeom prst="straightConnector1">
              <a:avLst/>
            </a:prstGeom>
            <a:ln w="28575">
              <a:headEnd type="triangle"/>
              <a:tailEnd type="triangle"/>
            </a:ln>
          </p:spPr>
          <p:style>
            <a:lnRef idx="2">
              <a:schemeClr val="dk1"/>
            </a:lnRef>
            <a:fillRef idx="0">
              <a:schemeClr val="dk1"/>
            </a:fillRef>
            <a:effectRef idx="1">
              <a:schemeClr val="dk1"/>
            </a:effectRef>
            <a:fontRef idx="minor">
              <a:schemeClr val="tx1"/>
            </a:fontRef>
          </p:style>
        </p:cxnSp>
        <p:cxnSp>
          <p:nvCxnSpPr>
            <p:cNvPr id="16" name="Straight Arrow Connector 15">
              <a:extLst>
                <a:ext uri="{FF2B5EF4-FFF2-40B4-BE49-F238E27FC236}">
                  <a16:creationId xmlns:a16="http://schemas.microsoft.com/office/drawing/2014/main" id="{6F95ED1B-8AB5-A999-50B5-9DBD59483A00}"/>
                </a:ext>
              </a:extLst>
            </p:cNvPr>
            <p:cNvCxnSpPr/>
            <p:nvPr/>
          </p:nvCxnSpPr>
          <p:spPr>
            <a:xfrm>
              <a:off x="7794216" y="5257636"/>
              <a:ext cx="1206910" cy="0"/>
            </a:xfrm>
            <a:prstGeom prst="straightConnector1">
              <a:avLst/>
            </a:prstGeom>
            <a:ln w="28575">
              <a:headEnd type="triangle"/>
              <a:tailEnd type="triangle"/>
            </a:ln>
          </p:spPr>
          <p:style>
            <a:lnRef idx="2">
              <a:schemeClr val="dk1"/>
            </a:lnRef>
            <a:fillRef idx="0">
              <a:schemeClr val="dk1"/>
            </a:fillRef>
            <a:effectRef idx="1">
              <a:schemeClr val="dk1"/>
            </a:effectRef>
            <a:fontRef idx="minor">
              <a:schemeClr val="tx1"/>
            </a:fontRef>
          </p:style>
        </p:cxnSp>
        <p:cxnSp>
          <p:nvCxnSpPr>
            <p:cNvPr id="17" name="Straight Arrow Connector 16">
              <a:extLst>
                <a:ext uri="{FF2B5EF4-FFF2-40B4-BE49-F238E27FC236}">
                  <a16:creationId xmlns:a16="http://schemas.microsoft.com/office/drawing/2014/main" id="{7566187C-A3D8-C48B-BA03-2F5737AFDDB4}"/>
                </a:ext>
              </a:extLst>
            </p:cNvPr>
            <p:cNvCxnSpPr>
              <a:cxnSpLocks/>
            </p:cNvCxnSpPr>
            <p:nvPr/>
          </p:nvCxnSpPr>
          <p:spPr>
            <a:xfrm>
              <a:off x="10183608" y="3401001"/>
              <a:ext cx="0" cy="1027220"/>
            </a:xfrm>
            <a:prstGeom prst="straightConnector1">
              <a:avLst/>
            </a:prstGeom>
            <a:ln w="28575">
              <a:headEnd type="triangle"/>
              <a:tailEnd type="triangle"/>
            </a:ln>
          </p:spPr>
          <p:style>
            <a:lnRef idx="2">
              <a:schemeClr val="dk1"/>
            </a:lnRef>
            <a:fillRef idx="0">
              <a:schemeClr val="dk1"/>
            </a:fillRef>
            <a:effectRef idx="1">
              <a:schemeClr val="dk1"/>
            </a:effectRef>
            <a:fontRef idx="minor">
              <a:schemeClr val="tx1"/>
            </a:fontRef>
          </p:style>
        </p:cxnSp>
        <p:cxnSp>
          <p:nvCxnSpPr>
            <p:cNvPr id="18" name="Straight Arrow Connector 17">
              <a:extLst>
                <a:ext uri="{FF2B5EF4-FFF2-40B4-BE49-F238E27FC236}">
                  <a16:creationId xmlns:a16="http://schemas.microsoft.com/office/drawing/2014/main" id="{82E801B9-C72A-0BBB-5B25-C1EDCDE87686}"/>
                </a:ext>
              </a:extLst>
            </p:cNvPr>
            <p:cNvCxnSpPr>
              <a:cxnSpLocks/>
              <a:stCxn id="10" idx="2"/>
              <a:endCxn id="12" idx="0"/>
            </p:cNvCxnSpPr>
            <p:nvPr/>
          </p:nvCxnSpPr>
          <p:spPr>
            <a:xfrm>
              <a:off x="6611734" y="3401001"/>
              <a:ext cx="3571875" cy="1027220"/>
            </a:xfrm>
            <a:prstGeom prst="straightConnector1">
              <a:avLst/>
            </a:prstGeom>
            <a:ln w="28575">
              <a:headEnd type="triangle"/>
              <a:tailEnd type="triangle"/>
            </a:ln>
          </p:spPr>
          <p:style>
            <a:lnRef idx="2">
              <a:schemeClr val="dk1"/>
            </a:lnRef>
            <a:fillRef idx="0">
              <a:schemeClr val="dk1"/>
            </a:fillRef>
            <a:effectRef idx="1">
              <a:schemeClr val="dk1"/>
            </a:effectRef>
            <a:fontRef idx="minor">
              <a:schemeClr val="tx1"/>
            </a:fontRef>
          </p:style>
        </p:cxnSp>
        <p:cxnSp>
          <p:nvCxnSpPr>
            <p:cNvPr id="19" name="Straight Arrow Connector 18">
              <a:extLst>
                <a:ext uri="{FF2B5EF4-FFF2-40B4-BE49-F238E27FC236}">
                  <a16:creationId xmlns:a16="http://schemas.microsoft.com/office/drawing/2014/main" id="{0025535B-9E28-B6DB-8B42-8225AF2AE19A}"/>
                </a:ext>
              </a:extLst>
            </p:cNvPr>
            <p:cNvCxnSpPr>
              <a:cxnSpLocks/>
              <a:stCxn id="11" idx="2"/>
              <a:endCxn id="13" idx="0"/>
            </p:cNvCxnSpPr>
            <p:nvPr/>
          </p:nvCxnSpPr>
          <p:spPr>
            <a:xfrm flipH="1">
              <a:off x="6611734" y="3401001"/>
              <a:ext cx="3571875" cy="1027220"/>
            </a:xfrm>
            <a:prstGeom prst="straightConnector1">
              <a:avLst/>
            </a:prstGeom>
            <a:ln w="28575">
              <a:headEnd type="triangle"/>
              <a:tailEnd type="triangle"/>
            </a:ln>
          </p:spPr>
          <p:style>
            <a:lnRef idx="2">
              <a:schemeClr val="dk1"/>
            </a:lnRef>
            <a:fillRef idx="0">
              <a:schemeClr val="dk1"/>
            </a:fillRef>
            <a:effectRef idx="1">
              <a:schemeClr val="dk1"/>
            </a:effectRef>
            <a:fontRef idx="minor">
              <a:schemeClr val="tx1"/>
            </a:fontRef>
          </p:style>
        </p:cxnSp>
        <p:sp>
          <p:nvSpPr>
            <p:cNvPr id="25" name="TextBox 24">
              <a:extLst>
                <a:ext uri="{FF2B5EF4-FFF2-40B4-BE49-F238E27FC236}">
                  <a16:creationId xmlns:a16="http://schemas.microsoft.com/office/drawing/2014/main" id="{DC5120A6-D604-3D0E-525A-87B1EA4DF1EF}"/>
                </a:ext>
              </a:extLst>
            </p:cNvPr>
            <p:cNvSpPr txBox="1"/>
            <p:nvPr/>
          </p:nvSpPr>
          <p:spPr>
            <a:xfrm>
              <a:off x="6056209" y="6142762"/>
              <a:ext cx="1278657" cy="5295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F0000"/>
                  </a:solidFill>
                  <a:effectLst/>
                  <a:uLnTx/>
                  <a:uFillTx/>
                  <a:latin typeface="Arial" panose="020B0604020202020204" pitchFamily="34" charset="0"/>
                  <a:ea typeface="+mn-ea"/>
                  <a:cs typeface="Arial" panose="020B0604020202020204" pitchFamily="34" charset="0"/>
                </a:rPr>
                <a:t>Service</a:t>
              </a: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 </a:t>
              </a:r>
            </a:p>
          </p:txBody>
        </p:sp>
        <p:sp>
          <p:nvSpPr>
            <p:cNvPr id="26" name="TextBox 25">
              <a:extLst>
                <a:ext uri="{FF2B5EF4-FFF2-40B4-BE49-F238E27FC236}">
                  <a16:creationId xmlns:a16="http://schemas.microsoft.com/office/drawing/2014/main" id="{12D81EEA-957A-D63F-0D0F-FC2DF2124F33}"/>
                </a:ext>
              </a:extLst>
            </p:cNvPr>
            <p:cNvSpPr txBox="1"/>
            <p:nvPr/>
          </p:nvSpPr>
          <p:spPr>
            <a:xfrm>
              <a:off x="6056209" y="1213301"/>
              <a:ext cx="1278657" cy="5295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F0000"/>
                  </a:solidFill>
                  <a:effectLst/>
                  <a:uLnTx/>
                  <a:uFillTx/>
                  <a:latin typeface="Arial" panose="020B0604020202020204" pitchFamily="34" charset="0"/>
                  <a:ea typeface="+mn-ea"/>
                  <a:cs typeface="Arial" panose="020B0604020202020204" pitchFamily="34" charset="0"/>
                </a:rPr>
                <a:t>Service</a:t>
              </a: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 </a:t>
              </a:r>
            </a:p>
          </p:txBody>
        </p:sp>
        <p:sp>
          <p:nvSpPr>
            <p:cNvPr id="27" name="TextBox 26">
              <a:extLst>
                <a:ext uri="{FF2B5EF4-FFF2-40B4-BE49-F238E27FC236}">
                  <a16:creationId xmlns:a16="http://schemas.microsoft.com/office/drawing/2014/main" id="{569850C6-CEBF-337A-16E5-6741C87DB8DB}"/>
                </a:ext>
              </a:extLst>
            </p:cNvPr>
            <p:cNvSpPr txBox="1"/>
            <p:nvPr/>
          </p:nvSpPr>
          <p:spPr>
            <a:xfrm>
              <a:off x="9476682" y="6142762"/>
              <a:ext cx="1278657" cy="5295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F0000"/>
                  </a:solidFill>
                  <a:effectLst/>
                  <a:uLnTx/>
                  <a:uFillTx/>
                  <a:latin typeface="Arial" panose="020B0604020202020204" pitchFamily="34" charset="0"/>
                  <a:ea typeface="+mn-ea"/>
                  <a:cs typeface="Arial" panose="020B0604020202020204" pitchFamily="34" charset="0"/>
                </a:rPr>
                <a:t>Service</a:t>
              </a: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 </a:t>
              </a:r>
            </a:p>
          </p:txBody>
        </p:sp>
        <p:sp>
          <p:nvSpPr>
            <p:cNvPr id="28" name="TextBox 27">
              <a:extLst>
                <a:ext uri="{FF2B5EF4-FFF2-40B4-BE49-F238E27FC236}">
                  <a16:creationId xmlns:a16="http://schemas.microsoft.com/office/drawing/2014/main" id="{308182F5-6BB5-D9C6-E543-AC31FCE68E41}"/>
                </a:ext>
              </a:extLst>
            </p:cNvPr>
            <p:cNvSpPr txBox="1"/>
            <p:nvPr/>
          </p:nvSpPr>
          <p:spPr>
            <a:xfrm>
              <a:off x="9476682" y="1213301"/>
              <a:ext cx="1278657" cy="5295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F0000"/>
                  </a:solidFill>
                  <a:effectLst/>
                  <a:uLnTx/>
                  <a:uFillTx/>
                  <a:latin typeface="Arial" panose="020B0604020202020204" pitchFamily="34" charset="0"/>
                  <a:ea typeface="+mn-ea"/>
                  <a:cs typeface="Arial" panose="020B0604020202020204" pitchFamily="34" charset="0"/>
                </a:rPr>
                <a:t>Service</a:t>
              </a:r>
              <a:r>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t> </a:t>
              </a:r>
              <a:endPar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grpSp>
      <p:grpSp>
        <p:nvGrpSpPr>
          <p:cNvPr id="40" name="Group 39">
            <a:extLst>
              <a:ext uri="{FF2B5EF4-FFF2-40B4-BE49-F238E27FC236}">
                <a16:creationId xmlns:a16="http://schemas.microsoft.com/office/drawing/2014/main" id="{AD2AEA00-4D28-670B-DD2D-43C1AA73D686}"/>
              </a:ext>
            </a:extLst>
          </p:cNvPr>
          <p:cNvGrpSpPr/>
          <p:nvPr/>
        </p:nvGrpSpPr>
        <p:grpSpPr>
          <a:xfrm>
            <a:off x="464667" y="1282126"/>
            <a:ext cx="4866479" cy="3103061"/>
            <a:chOff x="5299587" y="1213301"/>
            <a:chExt cx="6223819" cy="5459005"/>
          </a:xfrm>
        </p:grpSpPr>
        <p:sp>
          <p:nvSpPr>
            <p:cNvPr id="41" name="Rectangle 40">
              <a:extLst>
                <a:ext uri="{FF2B5EF4-FFF2-40B4-BE49-F238E27FC236}">
                  <a16:creationId xmlns:a16="http://schemas.microsoft.com/office/drawing/2014/main" id="{3D64C8B3-CD24-F4D8-9103-F35D3A9C9C8E}"/>
                </a:ext>
              </a:extLst>
            </p:cNvPr>
            <p:cNvSpPr/>
            <p:nvPr/>
          </p:nvSpPr>
          <p:spPr>
            <a:xfrm>
              <a:off x="5299587" y="1213302"/>
              <a:ext cx="6223819" cy="5391126"/>
            </a:xfrm>
            <a:prstGeom prst="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pic>
          <p:nvPicPr>
            <p:cNvPr id="42" name="Picture 41">
              <a:extLst>
                <a:ext uri="{FF2B5EF4-FFF2-40B4-BE49-F238E27FC236}">
                  <a16:creationId xmlns:a16="http://schemas.microsoft.com/office/drawing/2014/main" id="{61568EC8-BCE7-31E7-5E8C-E34E56690C75}"/>
                </a:ext>
              </a:extLst>
            </p:cNvPr>
            <p:cNvPicPr>
              <a:picLocks noChangeAspect="1"/>
            </p:cNvPicPr>
            <p:nvPr/>
          </p:nvPicPr>
          <p:blipFill>
            <a:blip r:embed="rId3"/>
            <a:stretch>
              <a:fillRect/>
            </a:stretch>
          </p:blipFill>
          <p:spPr>
            <a:xfrm>
              <a:off x="5429251" y="1781753"/>
              <a:ext cx="2364965" cy="1619248"/>
            </a:xfrm>
            <a:prstGeom prst="rect">
              <a:avLst/>
            </a:prstGeom>
          </p:spPr>
        </p:pic>
        <p:pic>
          <p:nvPicPr>
            <p:cNvPr id="43" name="Picture 42">
              <a:extLst>
                <a:ext uri="{FF2B5EF4-FFF2-40B4-BE49-F238E27FC236}">
                  <a16:creationId xmlns:a16="http://schemas.microsoft.com/office/drawing/2014/main" id="{5F74F7F8-17EE-7F89-C420-30A0D5BF3D17}"/>
                </a:ext>
              </a:extLst>
            </p:cNvPr>
            <p:cNvPicPr>
              <a:picLocks noChangeAspect="1"/>
            </p:cNvPicPr>
            <p:nvPr/>
          </p:nvPicPr>
          <p:blipFill>
            <a:blip r:embed="rId3"/>
            <a:stretch>
              <a:fillRect/>
            </a:stretch>
          </p:blipFill>
          <p:spPr>
            <a:xfrm>
              <a:off x="9001126" y="1781753"/>
              <a:ext cx="2364965" cy="1619248"/>
            </a:xfrm>
            <a:prstGeom prst="rect">
              <a:avLst/>
            </a:prstGeom>
          </p:spPr>
        </p:pic>
        <p:pic>
          <p:nvPicPr>
            <p:cNvPr id="44" name="Picture 43">
              <a:extLst>
                <a:ext uri="{FF2B5EF4-FFF2-40B4-BE49-F238E27FC236}">
                  <a16:creationId xmlns:a16="http://schemas.microsoft.com/office/drawing/2014/main" id="{D896F404-29BC-9628-614D-DC24707221F0}"/>
                </a:ext>
              </a:extLst>
            </p:cNvPr>
            <p:cNvPicPr>
              <a:picLocks noChangeAspect="1"/>
            </p:cNvPicPr>
            <p:nvPr/>
          </p:nvPicPr>
          <p:blipFill>
            <a:blip r:embed="rId3"/>
            <a:stretch>
              <a:fillRect/>
            </a:stretch>
          </p:blipFill>
          <p:spPr>
            <a:xfrm>
              <a:off x="9001126" y="4428221"/>
              <a:ext cx="2364965" cy="1619248"/>
            </a:xfrm>
            <a:prstGeom prst="rect">
              <a:avLst/>
            </a:prstGeom>
          </p:spPr>
        </p:pic>
        <p:pic>
          <p:nvPicPr>
            <p:cNvPr id="45" name="Picture 44">
              <a:extLst>
                <a:ext uri="{FF2B5EF4-FFF2-40B4-BE49-F238E27FC236}">
                  <a16:creationId xmlns:a16="http://schemas.microsoft.com/office/drawing/2014/main" id="{EFA50A23-DE19-2E07-39A9-74388E9CFB8E}"/>
                </a:ext>
              </a:extLst>
            </p:cNvPr>
            <p:cNvPicPr>
              <a:picLocks noChangeAspect="1"/>
            </p:cNvPicPr>
            <p:nvPr/>
          </p:nvPicPr>
          <p:blipFill>
            <a:blip r:embed="rId3"/>
            <a:stretch>
              <a:fillRect/>
            </a:stretch>
          </p:blipFill>
          <p:spPr>
            <a:xfrm>
              <a:off x="5429251" y="4428221"/>
              <a:ext cx="2364965" cy="1619248"/>
            </a:xfrm>
            <a:prstGeom prst="rect">
              <a:avLst/>
            </a:prstGeom>
          </p:spPr>
        </p:pic>
        <p:cxnSp>
          <p:nvCxnSpPr>
            <p:cNvPr id="46" name="Straight Arrow Connector 45">
              <a:extLst>
                <a:ext uri="{FF2B5EF4-FFF2-40B4-BE49-F238E27FC236}">
                  <a16:creationId xmlns:a16="http://schemas.microsoft.com/office/drawing/2014/main" id="{9005C78D-4DEF-3BB4-14D5-A5EF548ACD5F}"/>
                </a:ext>
              </a:extLst>
            </p:cNvPr>
            <p:cNvCxnSpPr>
              <a:stCxn id="42" idx="3"/>
              <a:endCxn id="43" idx="1"/>
            </p:cNvCxnSpPr>
            <p:nvPr/>
          </p:nvCxnSpPr>
          <p:spPr>
            <a:xfrm>
              <a:off x="7794216" y="2591377"/>
              <a:ext cx="1206910" cy="0"/>
            </a:xfrm>
            <a:prstGeom prst="straightConnector1">
              <a:avLst/>
            </a:prstGeom>
            <a:ln w="28575">
              <a:headEnd type="triangle"/>
              <a:tailEnd type="triangle"/>
            </a:ln>
          </p:spPr>
          <p:style>
            <a:lnRef idx="2">
              <a:schemeClr val="dk1"/>
            </a:lnRef>
            <a:fillRef idx="0">
              <a:schemeClr val="dk1"/>
            </a:fillRef>
            <a:effectRef idx="1">
              <a:schemeClr val="dk1"/>
            </a:effectRef>
            <a:fontRef idx="minor">
              <a:schemeClr val="tx1"/>
            </a:fontRef>
          </p:style>
        </p:cxnSp>
        <p:cxnSp>
          <p:nvCxnSpPr>
            <p:cNvPr id="47" name="Straight Arrow Connector 46">
              <a:extLst>
                <a:ext uri="{FF2B5EF4-FFF2-40B4-BE49-F238E27FC236}">
                  <a16:creationId xmlns:a16="http://schemas.microsoft.com/office/drawing/2014/main" id="{CF57D8BE-24BD-9DB5-1100-5AD128FA7E22}"/>
                </a:ext>
              </a:extLst>
            </p:cNvPr>
            <p:cNvCxnSpPr>
              <a:cxnSpLocks/>
              <a:stCxn id="42" idx="2"/>
              <a:endCxn id="45" idx="0"/>
            </p:cNvCxnSpPr>
            <p:nvPr/>
          </p:nvCxnSpPr>
          <p:spPr>
            <a:xfrm>
              <a:off x="6611734" y="3401001"/>
              <a:ext cx="0" cy="1027220"/>
            </a:xfrm>
            <a:prstGeom prst="straightConnector1">
              <a:avLst/>
            </a:prstGeom>
            <a:ln w="28575">
              <a:headEnd type="triangle"/>
              <a:tailEnd type="triangle"/>
            </a:ln>
          </p:spPr>
          <p:style>
            <a:lnRef idx="2">
              <a:schemeClr val="dk1"/>
            </a:lnRef>
            <a:fillRef idx="0">
              <a:schemeClr val="dk1"/>
            </a:fillRef>
            <a:effectRef idx="1">
              <a:schemeClr val="dk1"/>
            </a:effectRef>
            <a:fontRef idx="minor">
              <a:schemeClr val="tx1"/>
            </a:fontRef>
          </p:style>
        </p:cxnSp>
        <p:cxnSp>
          <p:nvCxnSpPr>
            <p:cNvPr id="48" name="Straight Arrow Connector 47">
              <a:extLst>
                <a:ext uri="{FF2B5EF4-FFF2-40B4-BE49-F238E27FC236}">
                  <a16:creationId xmlns:a16="http://schemas.microsoft.com/office/drawing/2014/main" id="{2685B383-72A2-575A-A9A9-4BB2BD31876B}"/>
                </a:ext>
              </a:extLst>
            </p:cNvPr>
            <p:cNvCxnSpPr/>
            <p:nvPr/>
          </p:nvCxnSpPr>
          <p:spPr>
            <a:xfrm>
              <a:off x="7794216" y="5257636"/>
              <a:ext cx="1206910" cy="0"/>
            </a:xfrm>
            <a:prstGeom prst="straightConnector1">
              <a:avLst/>
            </a:prstGeom>
            <a:ln w="28575">
              <a:headEnd type="triangle"/>
              <a:tailEnd type="triangle"/>
            </a:ln>
          </p:spPr>
          <p:style>
            <a:lnRef idx="2">
              <a:schemeClr val="dk1"/>
            </a:lnRef>
            <a:fillRef idx="0">
              <a:schemeClr val="dk1"/>
            </a:fillRef>
            <a:effectRef idx="1">
              <a:schemeClr val="dk1"/>
            </a:effectRef>
            <a:fontRef idx="minor">
              <a:schemeClr val="tx1"/>
            </a:fontRef>
          </p:style>
        </p:cxnSp>
        <p:cxnSp>
          <p:nvCxnSpPr>
            <p:cNvPr id="49" name="Straight Arrow Connector 48">
              <a:extLst>
                <a:ext uri="{FF2B5EF4-FFF2-40B4-BE49-F238E27FC236}">
                  <a16:creationId xmlns:a16="http://schemas.microsoft.com/office/drawing/2014/main" id="{71CAEF6D-9FDF-67EB-04AD-1C7441A2CE93}"/>
                </a:ext>
              </a:extLst>
            </p:cNvPr>
            <p:cNvCxnSpPr>
              <a:cxnSpLocks/>
            </p:cNvCxnSpPr>
            <p:nvPr/>
          </p:nvCxnSpPr>
          <p:spPr>
            <a:xfrm>
              <a:off x="10183608" y="3401001"/>
              <a:ext cx="0" cy="1027220"/>
            </a:xfrm>
            <a:prstGeom prst="straightConnector1">
              <a:avLst/>
            </a:prstGeom>
            <a:ln w="28575">
              <a:headEnd type="triangle"/>
              <a:tailEnd type="triangle"/>
            </a:ln>
          </p:spPr>
          <p:style>
            <a:lnRef idx="2">
              <a:schemeClr val="dk1"/>
            </a:lnRef>
            <a:fillRef idx="0">
              <a:schemeClr val="dk1"/>
            </a:fillRef>
            <a:effectRef idx="1">
              <a:schemeClr val="dk1"/>
            </a:effectRef>
            <a:fontRef idx="minor">
              <a:schemeClr val="tx1"/>
            </a:fontRef>
          </p:style>
        </p:cxnSp>
        <p:cxnSp>
          <p:nvCxnSpPr>
            <p:cNvPr id="50" name="Straight Arrow Connector 49">
              <a:extLst>
                <a:ext uri="{FF2B5EF4-FFF2-40B4-BE49-F238E27FC236}">
                  <a16:creationId xmlns:a16="http://schemas.microsoft.com/office/drawing/2014/main" id="{A7BB533A-8092-8775-4C4A-16C2C5DBDA78}"/>
                </a:ext>
              </a:extLst>
            </p:cNvPr>
            <p:cNvCxnSpPr>
              <a:cxnSpLocks/>
              <a:stCxn id="42" idx="2"/>
              <a:endCxn id="44" idx="0"/>
            </p:cNvCxnSpPr>
            <p:nvPr/>
          </p:nvCxnSpPr>
          <p:spPr>
            <a:xfrm>
              <a:off x="6611734" y="3401001"/>
              <a:ext cx="3571875" cy="1027220"/>
            </a:xfrm>
            <a:prstGeom prst="straightConnector1">
              <a:avLst/>
            </a:prstGeom>
            <a:ln w="28575">
              <a:headEnd type="triangle"/>
              <a:tailEnd type="triangle"/>
            </a:ln>
          </p:spPr>
          <p:style>
            <a:lnRef idx="2">
              <a:schemeClr val="dk1"/>
            </a:lnRef>
            <a:fillRef idx="0">
              <a:schemeClr val="dk1"/>
            </a:fillRef>
            <a:effectRef idx="1">
              <a:schemeClr val="dk1"/>
            </a:effectRef>
            <a:fontRef idx="minor">
              <a:schemeClr val="tx1"/>
            </a:fontRef>
          </p:style>
        </p:cxnSp>
        <p:cxnSp>
          <p:nvCxnSpPr>
            <p:cNvPr id="51" name="Straight Arrow Connector 50">
              <a:extLst>
                <a:ext uri="{FF2B5EF4-FFF2-40B4-BE49-F238E27FC236}">
                  <a16:creationId xmlns:a16="http://schemas.microsoft.com/office/drawing/2014/main" id="{DA288FD2-C1EB-9EF2-F182-259E04408DEC}"/>
                </a:ext>
              </a:extLst>
            </p:cNvPr>
            <p:cNvCxnSpPr>
              <a:cxnSpLocks/>
              <a:stCxn id="43" idx="2"/>
              <a:endCxn id="45" idx="0"/>
            </p:cNvCxnSpPr>
            <p:nvPr/>
          </p:nvCxnSpPr>
          <p:spPr>
            <a:xfrm flipH="1">
              <a:off x="6611734" y="3401001"/>
              <a:ext cx="3571875" cy="1027220"/>
            </a:xfrm>
            <a:prstGeom prst="straightConnector1">
              <a:avLst/>
            </a:prstGeom>
            <a:ln w="28575">
              <a:headEnd type="triangle"/>
              <a:tailEnd type="triangle"/>
            </a:ln>
          </p:spPr>
          <p:style>
            <a:lnRef idx="2">
              <a:schemeClr val="dk1"/>
            </a:lnRef>
            <a:fillRef idx="0">
              <a:schemeClr val="dk1"/>
            </a:fillRef>
            <a:effectRef idx="1">
              <a:schemeClr val="dk1"/>
            </a:effectRef>
            <a:fontRef idx="minor">
              <a:schemeClr val="tx1"/>
            </a:fontRef>
          </p:style>
        </p:cxnSp>
        <p:sp>
          <p:nvSpPr>
            <p:cNvPr id="52" name="TextBox 51">
              <a:extLst>
                <a:ext uri="{FF2B5EF4-FFF2-40B4-BE49-F238E27FC236}">
                  <a16:creationId xmlns:a16="http://schemas.microsoft.com/office/drawing/2014/main" id="{765E61B2-ADDE-B72B-714E-3651AE936900}"/>
                </a:ext>
              </a:extLst>
            </p:cNvPr>
            <p:cNvSpPr txBox="1"/>
            <p:nvPr/>
          </p:nvSpPr>
          <p:spPr>
            <a:xfrm>
              <a:off x="6056209" y="6142762"/>
              <a:ext cx="1278657" cy="5295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F0000"/>
                  </a:solidFill>
                  <a:effectLst/>
                  <a:uLnTx/>
                  <a:uFillTx/>
                  <a:latin typeface="Arial" panose="020B0604020202020204" pitchFamily="34" charset="0"/>
                  <a:ea typeface="+mn-ea"/>
                  <a:cs typeface="Arial" panose="020B0604020202020204" pitchFamily="34" charset="0"/>
                </a:rPr>
                <a:t>Service</a:t>
              </a: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 </a:t>
              </a:r>
            </a:p>
          </p:txBody>
        </p:sp>
        <p:sp>
          <p:nvSpPr>
            <p:cNvPr id="53" name="TextBox 52">
              <a:extLst>
                <a:ext uri="{FF2B5EF4-FFF2-40B4-BE49-F238E27FC236}">
                  <a16:creationId xmlns:a16="http://schemas.microsoft.com/office/drawing/2014/main" id="{96C6D2EB-E7D3-C647-1A46-3FC7AC7E5120}"/>
                </a:ext>
              </a:extLst>
            </p:cNvPr>
            <p:cNvSpPr txBox="1"/>
            <p:nvPr/>
          </p:nvSpPr>
          <p:spPr>
            <a:xfrm>
              <a:off x="6056209" y="1213301"/>
              <a:ext cx="1278657" cy="5295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F0000"/>
                  </a:solidFill>
                  <a:effectLst/>
                  <a:uLnTx/>
                  <a:uFillTx/>
                  <a:latin typeface="Arial" panose="020B0604020202020204" pitchFamily="34" charset="0"/>
                  <a:ea typeface="+mn-ea"/>
                  <a:cs typeface="Arial" panose="020B0604020202020204" pitchFamily="34" charset="0"/>
                </a:rPr>
                <a:t>Service</a:t>
              </a: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 </a:t>
              </a:r>
            </a:p>
          </p:txBody>
        </p:sp>
        <p:sp>
          <p:nvSpPr>
            <p:cNvPr id="54" name="TextBox 53">
              <a:extLst>
                <a:ext uri="{FF2B5EF4-FFF2-40B4-BE49-F238E27FC236}">
                  <a16:creationId xmlns:a16="http://schemas.microsoft.com/office/drawing/2014/main" id="{04499F54-984F-3EEF-282C-2C1A77267C8D}"/>
                </a:ext>
              </a:extLst>
            </p:cNvPr>
            <p:cNvSpPr txBox="1"/>
            <p:nvPr/>
          </p:nvSpPr>
          <p:spPr>
            <a:xfrm>
              <a:off x="9476682" y="6142762"/>
              <a:ext cx="1278657" cy="5295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F0000"/>
                  </a:solidFill>
                  <a:effectLst/>
                  <a:uLnTx/>
                  <a:uFillTx/>
                  <a:latin typeface="Arial" panose="020B0604020202020204" pitchFamily="34" charset="0"/>
                  <a:ea typeface="+mn-ea"/>
                  <a:cs typeface="Arial" panose="020B0604020202020204" pitchFamily="34" charset="0"/>
                </a:rPr>
                <a:t>Service</a:t>
              </a: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 </a:t>
              </a:r>
            </a:p>
          </p:txBody>
        </p:sp>
        <p:sp>
          <p:nvSpPr>
            <p:cNvPr id="55" name="TextBox 54">
              <a:extLst>
                <a:ext uri="{FF2B5EF4-FFF2-40B4-BE49-F238E27FC236}">
                  <a16:creationId xmlns:a16="http://schemas.microsoft.com/office/drawing/2014/main" id="{24521F72-57AD-90A2-92D9-B1FCA7F918B7}"/>
                </a:ext>
              </a:extLst>
            </p:cNvPr>
            <p:cNvSpPr txBox="1"/>
            <p:nvPr/>
          </p:nvSpPr>
          <p:spPr>
            <a:xfrm>
              <a:off x="9476682" y="1213301"/>
              <a:ext cx="1278657" cy="5295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F0000"/>
                  </a:solidFill>
                  <a:effectLst/>
                  <a:uLnTx/>
                  <a:uFillTx/>
                  <a:latin typeface="Arial" panose="020B0604020202020204" pitchFamily="34" charset="0"/>
                  <a:ea typeface="+mn-ea"/>
                  <a:cs typeface="Arial" panose="020B0604020202020204" pitchFamily="34" charset="0"/>
                </a:rPr>
                <a:t>Service</a:t>
              </a: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 </a:t>
              </a:r>
            </a:p>
          </p:txBody>
        </p:sp>
      </p:grpSp>
      <p:sp>
        <p:nvSpPr>
          <p:cNvPr id="56" name="TextBox 55">
            <a:extLst>
              <a:ext uri="{FF2B5EF4-FFF2-40B4-BE49-F238E27FC236}">
                <a16:creationId xmlns:a16="http://schemas.microsoft.com/office/drawing/2014/main" id="{0F45F23A-3C7A-7FA1-AC04-4F9D8EFA7FAD}"/>
              </a:ext>
            </a:extLst>
          </p:cNvPr>
          <p:cNvSpPr txBox="1"/>
          <p:nvPr/>
        </p:nvSpPr>
        <p:spPr>
          <a:xfrm>
            <a:off x="2415247" y="836862"/>
            <a:ext cx="1259083"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0000"/>
                </a:solidFill>
                <a:effectLst/>
                <a:uLnTx/>
                <a:uFillTx/>
                <a:latin typeface="Arial" panose="020B0604020202020204" pitchFamily="34" charset="0"/>
                <a:ea typeface="+mn-ea"/>
                <a:cs typeface="Arial" panose="020B0604020202020204" pitchFamily="34" charset="0"/>
              </a:rPr>
              <a:t>Service</a:t>
            </a: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 </a:t>
            </a:r>
          </a:p>
        </p:txBody>
      </p:sp>
      <p:sp>
        <p:nvSpPr>
          <p:cNvPr id="57" name="TextBox 56">
            <a:extLst>
              <a:ext uri="{FF2B5EF4-FFF2-40B4-BE49-F238E27FC236}">
                <a16:creationId xmlns:a16="http://schemas.microsoft.com/office/drawing/2014/main" id="{03A353E9-179C-289C-3775-F51FD0EFCAC8}"/>
              </a:ext>
            </a:extLst>
          </p:cNvPr>
          <p:cNvSpPr txBox="1"/>
          <p:nvPr/>
        </p:nvSpPr>
        <p:spPr>
          <a:xfrm>
            <a:off x="8675738" y="836862"/>
            <a:ext cx="1259083"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0000"/>
                </a:solidFill>
                <a:effectLst/>
                <a:uLnTx/>
                <a:uFillTx/>
                <a:latin typeface="Arial" panose="020B0604020202020204" pitchFamily="34" charset="0"/>
                <a:ea typeface="+mn-ea"/>
                <a:cs typeface="Arial" panose="020B0604020202020204" pitchFamily="34" charset="0"/>
              </a:rPr>
              <a:t>Service</a:t>
            </a: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 </a:t>
            </a:r>
          </a:p>
        </p:txBody>
      </p:sp>
      <p:pic>
        <p:nvPicPr>
          <p:cNvPr id="59" name="Graphic 58" descr="User with solid fill">
            <a:extLst>
              <a:ext uri="{FF2B5EF4-FFF2-40B4-BE49-F238E27FC236}">
                <a16:creationId xmlns:a16="http://schemas.microsoft.com/office/drawing/2014/main" id="{F0CB9019-E606-9BE4-C6D6-E25917E879F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130388" y="5790148"/>
            <a:ext cx="914400" cy="914400"/>
          </a:xfrm>
          <a:prstGeom prst="rect">
            <a:avLst/>
          </a:prstGeom>
        </p:spPr>
      </p:pic>
      <p:sp>
        <p:nvSpPr>
          <p:cNvPr id="60" name="Cloud 59">
            <a:extLst>
              <a:ext uri="{FF2B5EF4-FFF2-40B4-BE49-F238E27FC236}">
                <a16:creationId xmlns:a16="http://schemas.microsoft.com/office/drawing/2014/main" id="{6E4BD71D-8B39-E849-6DCC-139F317C70E5}"/>
              </a:ext>
            </a:extLst>
          </p:cNvPr>
          <p:cNvSpPr/>
          <p:nvPr/>
        </p:nvSpPr>
        <p:spPr>
          <a:xfrm>
            <a:off x="4857134" y="5674193"/>
            <a:ext cx="2290917" cy="1146310"/>
          </a:xfrm>
          <a:prstGeom prst="cloud">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API Gateway</a:t>
            </a:r>
          </a:p>
        </p:txBody>
      </p:sp>
      <p:cxnSp>
        <p:nvCxnSpPr>
          <p:cNvPr id="62" name="Straight Arrow Connector 61">
            <a:extLst>
              <a:ext uri="{FF2B5EF4-FFF2-40B4-BE49-F238E27FC236}">
                <a16:creationId xmlns:a16="http://schemas.microsoft.com/office/drawing/2014/main" id="{C637D712-5C39-AEB1-DC64-15F1ED33CB84}"/>
              </a:ext>
            </a:extLst>
          </p:cNvPr>
          <p:cNvCxnSpPr/>
          <p:nvPr/>
        </p:nvCxnSpPr>
        <p:spPr>
          <a:xfrm>
            <a:off x="3044788" y="6247348"/>
            <a:ext cx="1685797" cy="0"/>
          </a:xfrm>
          <a:prstGeom prst="straightConnector1">
            <a:avLst/>
          </a:prstGeom>
          <a:ln w="38100">
            <a:tailEnd type="triangle"/>
          </a:ln>
        </p:spPr>
        <p:style>
          <a:lnRef idx="2">
            <a:schemeClr val="accent1"/>
          </a:lnRef>
          <a:fillRef idx="0">
            <a:schemeClr val="accent1"/>
          </a:fillRef>
          <a:effectRef idx="1">
            <a:schemeClr val="accent1"/>
          </a:effectRef>
          <a:fontRef idx="minor">
            <a:schemeClr val="tx1"/>
          </a:fontRef>
        </p:style>
      </p:cxnSp>
      <p:cxnSp>
        <p:nvCxnSpPr>
          <p:cNvPr id="64" name="Straight Arrow Connector 63">
            <a:extLst>
              <a:ext uri="{FF2B5EF4-FFF2-40B4-BE49-F238E27FC236}">
                <a16:creationId xmlns:a16="http://schemas.microsoft.com/office/drawing/2014/main" id="{00EA2F3D-7CB2-95B2-697C-92D7DE8A1CEC}"/>
              </a:ext>
            </a:extLst>
          </p:cNvPr>
          <p:cNvCxnSpPr>
            <a:cxnSpLocks/>
            <a:stCxn id="60" idx="3"/>
            <a:endCxn id="3" idx="2"/>
          </p:cNvCxnSpPr>
          <p:nvPr/>
        </p:nvCxnSpPr>
        <p:spPr>
          <a:xfrm flipV="1">
            <a:off x="6002593" y="4346604"/>
            <a:ext cx="3313499" cy="139313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66" name="Straight Arrow Connector 65">
            <a:extLst>
              <a:ext uri="{FF2B5EF4-FFF2-40B4-BE49-F238E27FC236}">
                <a16:creationId xmlns:a16="http://schemas.microsoft.com/office/drawing/2014/main" id="{AD08A1F4-6DDF-A040-5BEB-1C96101F7E7A}"/>
              </a:ext>
            </a:extLst>
          </p:cNvPr>
          <p:cNvCxnSpPr>
            <a:cxnSpLocks/>
            <a:stCxn id="60" idx="3"/>
            <a:endCxn id="41" idx="2"/>
          </p:cNvCxnSpPr>
          <p:nvPr/>
        </p:nvCxnSpPr>
        <p:spPr>
          <a:xfrm flipH="1" flipV="1">
            <a:off x="2897907" y="4346604"/>
            <a:ext cx="3104686" cy="139313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70" name="Straight Arrow Connector 69">
            <a:extLst>
              <a:ext uri="{FF2B5EF4-FFF2-40B4-BE49-F238E27FC236}">
                <a16:creationId xmlns:a16="http://schemas.microsoft.com/office/drawing/2014/main" id="{53668A69-E30B-14AD-2268-717FD68E64A9}"/>
              </a:ext>
            </a:extLst>
          </p:cNvPr>
          <p:cNvCxnSpPr>
            <a:stCxn id="41" idx="3"/>
            <a:endCxn id="3" idx="1"/>
          </p:cNvCxnSpPr>
          <p:nvPr/>
        </p:nvCxnSpPr>
        <p:spPr>
          <a:xfrm>
            <a:off x="5331146" y="2814366"/>
            <a:ext cx="1551706" cy="0"/>
          </a:xfrm>
          <a:prstGeom prst="straightConnector1">
            <a:avLst/>
          </a:prstGeom>
          <a:ln w="38100">
            <a:solidFill>
              <a:srgbClr val="FF0000"/>
            </a:solidFill>
            <a:headEnd type="triangle"/>
            <a:tailEnd type="triangle"/>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297651036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gradFill flip="none" rotWithShape="1">
          <a:gsLst>
            <a:gs pos="57000">
              <a:srgbClr val="DDE8EA"/>
            </a:gs>
            <a:gs pos="100000">
              <a:schemeClr val="accent1">
                <a:lumMod val="45000"/>
                <a:lumOff val="55000"/>
              </a:schemeClr>
            </a:gs>
            <a:gs pos="93000">
              <a:schemeClr val="accent1">
                <a:lumMod val="30000"/>
                <a:lumOff val="70000"/>
                <a:alpha val="6000"/>
              </a:schemeClr>
            </a:gs>
          </a:gsLst>
          <a:path path="circle">
            <a:fillToRect l="100000" t="100000"/>
          </a:path>
          <a:tileRect r="-100000" b="-100000"/>
        </a:gradFill>
        <a:effectLst/>
      </p:bgPr>
    </p:bg>
    <p:spTree>
      <p:nvGrpSpPr>
        <p:cNvPr id="1" name="">
          <a:extLst>
            <a:ext uri="{FF2B5EF4-FFF2-40B4-BE49-F238E27FC236}">
              <a16:creationId xmlns:a16="http://schemas.microsoft.com/office/drawing/2014/main" id="{B580BA08-33E9-8A00-29CD-9EEED97C062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109807D-5FF6-1677-024D-D56DFED3C729}"/>
              </a:ext>
            </a:extLst>
          </p:cNvPr>
          <p:cNvSpPr>
            <a:spLocks noGrp="1"/>
          </p:cNvSpPr>
          <p:nvPr>
            <p:ph type="title"/>
          </p:nvPr>
        </p:nvSpPr>
        <p:spPr>
          <a:xfrm>
            <a:off x="9345" y="-112262"/>
            <a:ext cx="11996331" cy="1325563"/>
          </a:xfrm>
        </p:spPr>
        <p:txBody>
          <a:bodyPr>
            <a:normAutofit/>
          </a:bodyPr>
          <a:lstStyle/>
          <a:p>
            <a:r>
              <a:rPr lang="en-US" b="1" dirty="0">
                <a:latin typeface="Times New Roman" panose="02020603050405020304" pitchFamily="18" charset="0"/>
                <a:cs typeface="Times New Roman" panose="02020603050405020304" pitchFamily="18" charset="0"/>
              </a:rPr>
              <a:t>The REST API:</a:t>
            </a:r>
            <a:endParaRPr lang="en-US" sz="4200" b="1"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A71E34DC-39FE-3C12-1DEF-184851B9CE9A}"/>
              </a:ext>
            </a:extLst>
          </p:cNvPr>
          <p:cNvPicPr>
            <a:picLocks noChangeAspect="1"/>
          </p:cNvPicPr>
          <p:nvPr/>
        </p:nvPicPr>
        <p:blipFill>
          <a:blip r:embed="rId3"/>
          <a:stretch>
            <a:fillRect/>
          </a:stretch>
        </p:blipFill>
        <p:spPr>
          <a:xfrm>
            <a:off x="560439" y="1047143"/>
            <a:ext cx="10550013" cy="5609295"/>
          </a:xfrm>
          <a:prstGeom prst="rect">
            <a:avLst/>
          </a:prstGeom>
        </p:spPr>
      </p:pic>
    </p:spTree>
    <p:extLst>
      <p:ext uri="{BB962C8B-B14F-4D97-AF65-F5344CB8AC3E}">
        <p14:creationId xmlns:p14="http://schemas.microsoft.com/office/powerpoint/2010/main" val="128383656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CC5B8C61-3FF6-18E0-74EF-8BD636081916}"/>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71B2258F-86CA-4D4D-8270-BC05FCDEBF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7999"/>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611DFC12-A45D-2642-03AD-BE08FCBB9213}"/>
              </a:ext>
            </a:extLst>
          </p:cNvPr>
          <p:cNvPicPr>
            <a:picLocks noChangeAspect="1"/>
          </p:cNvPicPr>
          <p:nvPr/>
        </p:nvPicPr>
        <p:blipFill>
          <a:blip r:embed="rId3">
            <a:alphaModFix amt="50000"/>
            <a:extLst>
              <a:ext uri="{28A0092B-C50C-407E-A947-70E740481C1C}">
                <a14:useLocalDpi xmlns:a14="http://schemas.microsoft.com/office/drawing/2010/main" val="0"/>
              </a:ext>
            </a:extLst>
          </a:blip>
          <a:srcRect/>
          <a:stretch>
            <a:fillRect/>
          </a:stretch>
        </p:blipFill>
        <p:spPr>
          <a:xfrm>
            <a:off x="20" y="1"/>
            <a:ext cx="12191980" cy="6857999"/>
          </a:xfrm>
          <a:prstGeom prst="rect">
            <a:avLst/>
          </a:prstGeom>
        </p:spPr>
      </p:pic>
      <p:sp>
        <p:nvSpPr>
          <p:cNvPr id="4" name="TextBox 3">
            <a:extLst>
              <a:ext uri="{FF2B5EF4-FFF2-40B4-BE49-F238E27FC236}">
                <a16:creationId xmlns:a16="http://schemas.microsoft.com/office/drawing/2014/main" id="{BC2287A2-5F11-6AA7-FCDC-D7C41CE4078B}"/>
              </a:ext>
            </a:extLst>
          </p:cNvPr>
          <p:cNvSpPr txBox="1"/>
          <p:nvPr/>
        </p:nvSpPr>
        <p:spPr>
          <a:xfrm>
            <a:off x="1524000" y="1122362"/>
            <a:ext cx="9144000" cy="2900518"/>
          </a:xfrm>
          <a:prstGeom prst="rect">
            <a:avLst/>
          </a:prstGeom>
        </p:spPr>
        <p:txBody>
          <a:bodyPr vert="horz" lIns="91440" tIns="45720" rIns="91440" bIns="45720" rtlCol="0" anchor="b">
            <a:normAutofit/>
          </a:bodyPr>
          <a:lstStyle/>
          <a:p>
            <a:pPr marL="0" marR="0" lvl="0" indent="0" algn="ctr" fontAlgn="auto">
              <a:lnSpc>
                <a:spcPct val="90000"/>
              </a:lnSpc>
              <a:spcBef>
                <a:spcPct val="0"/>
              </a:spcBef>
              <a:spcAft>
                <a:spcPts val="600"/>
              </a:spcAft>
              <a:buClrTx/>
              <a:buSzTx/>
              <a:tabLst/>
              <a:defRPr/>
            </a:pPr>
            <a:r>
              <a:rPr kumimoji="0" lang="en-US" sz="7200" b="1" i="0" u="none" strike="noStrike" cap="none" spc="0" normalizeH="0" baseline="0" noProof="0" dirty="0">
                <a:ln>
                  <a:noFill/>
                </a:ln>
                <a:solidFill>
                  <a:srgbClr val="FFFFFF"/>
                </a:solidFill>
                <a:effectLst/>
                <a:uLnTx/>
                <a:uFillTx/>
                <a:latin typeface="+mj-lt"/>
                <a:ea typeface="+mj-ea"/>
                <a:cs typeface="+mj-cs"/>
              </a:rPr>
              <a:t>Kubernetes</a:t>
            </a:r>
            <a:endParaRPr kumimoji="0" lang="en-US" sz="6000" b="1" i="0" u="none" strike="noStrike" cap="none" spc="0" normalizeH="0" baseline="0" noProof="0" dirty="0">
              <a:ln>
                <a:noFill/>
              </a:ln>
              <a:solidFill>
                <a:srgbClr val="FFFFFF"/>
              </a:solidFill>
              <a:effectLst/>
              <a:uLnTx/>
              <a:uFillTx/>
              <a:latin typeface="+mj-lt"/>
              <a:ea typeface="+mj-ea"/>
              <a:cs typeface="+mj-cs"/>
            </a:endParaRPr>
          </a:p>
        </p:txBody>
      </p:sp>
    </p:spTree>
    <p:extLst>
      <p:ext uri="{BB962C8B-B14F-4D97-AF65-F5344CB8AC3E}">
        <p14:creationId xmlns:p14="http://schemas.microsoft.com/office/powerpoint/2010/main" val="42385790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gradFill flip="none" rotWithShape="1">
          <a:gsLst>
            <a:gs pos="57000">
              <a:srgbClr val="DDE8EA"/>
            </a:gs>
            <a:gs pos="100000">
              <a:schemeClr val="accent1">
                <a:lumMod val="45000"/>
                <a:lumOff val="55000"/>
              </a:schemeClr>
            </a:gs>
            <a:gs pos="93000">
              <a:schemeClr val="accent1">
                <a:lumMod val="30000"/>
                <a:lumOff val="70000"/>
                <a:alpha val="6000"/>
              </a:schemeClr>
            </a:gs>
          </a:gsLst>
          <a:path path="circle">
            <a:fillToRect l="100000" t="100000"/>
          </a:path>
          <a:tileRect r="-100000" b="-100000"/>
        </a:gradFill>
        <a:effectLst/>
      </p:bgPr>
    </p:bg>
    <p:spTree>
      <p:nvGrpSpPr>
        <p:cNvPr id="1" name="">
          <a:extLst>
            <a:ext uri="{FF2B5EF4-FFF2-40B4-BE49-F238E27FC236}">
              <a16:creationId xmlns:a16="http://schemas.microsoft.com/office/drawing/2014/main" id="{F974535F-4BE6-A1F7-8738-F5CF0E999277}"/>
            </a:ext>
          </a:extLst>
        </p:cNvPr>
        <p:cNvGrpSpPr/>
        <p:nvPr/>
      </p:nvGrpSpPr>
      <p:grpSpPr>
        <a:xfrm>
          <a:off x="0" y="0"/>
          <a:ext cx="0" cy="0"/>
          <a:chOff x="0" y="0"/>
          <a:chExt cx="0" cy="0"/>
        </a:xfrm>
      </p:grpSpPr>
      <p:sp>
        <p:nvSpPr>
          <p:cNvPr id="8" name="Title 1">
            <a:extLst>
              <a:ext uri="{FF2B5EF4-FFF2-40B4-BE49-F238E27FC236}">
                <a16:creationId xmlns:a16="http://schemas.microsoft.com/office/drawing/2014/main" id="{3EAEF33C-6AAE-550A-0777-92EA78CFACDF}"/>
              </a:ext>
            </a:extLst>
          </p:cNvPr>
          <p:cNvSpPr>
            <a:spLocks noGrp="1"/>
          </p:cNvSpPr>
          <p:nvPr>
            <p:ph type="title"/>
          </p:nvPr>
        </p:nvSpPr>
        <p:spPr>
          <a:xfrm>
            <a:off x="0" y="117984"/>
            <a:ext cx="11434916" cy="1325563"/>
          </a:xfrm>
        </p:spPr>
        <p:txBody>
          <a:bodyPr/>
          <a:lstStyle/>
          <a:p>
            <a:r>
              <a:rPr lang="en-US" b="1" dirty="0"/>
              <a:t>Kubernetes defined (Since 2014, by Google):</a:t>
            </a:r>
          </a:p>
        </p:txBody>
      </p:sp>
      <p:sp>
        <p:nvSpPr>
          <p:cNvPr id="13" name="Rectangle 12">
            <a:extLst>
              <a:ext uri="{FF2B5EF4-FFF2-40B4-BE49-F238E27FC236}">
                <a16:creationId xmlns:a16="http://schemas.microsoft.com/office/drawing/2014/main" id="{63B4157F-988C-DDC3-6350-DCE39A634F95}"/>
              </a:ext>
            </a:extLst>
          </p:cNvPr>
          <p:cNvSpPr/>
          <p:nvPr/>
        </p:nvSpPr>
        <p:spPr>
          <a:xfrm>
            <a:off x="148223" y="1345220"/>
            <a:ext cx="111760" cy="972275"/>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4" name="Rectangle 13">
            <a:extLst>
              <a:ext uri="{FF2B5EF4-FFF2-40B4-BE49-F238E27FC236}">
                <a16:creationId xmlns:a16="http://schemas.microsoft.com/office/drawing/2014/main" id="{E00D5A9B-ED6C-13EA-0036-7ECB72091C4A}"/>
              </a:ext>
            </a:extLst>
          </p:cNvPr>
          <p:cNvSpPr/>
          <p:nvPr/>
        </p:nvSpPr>
        <p:spPr>
          <a:xfrm>
            <a:off x="224422" y="1345220"/>
            <a:ext cx="11743155" cy="972275"/>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defRPr/>
            </a:pPr>
            <a:r>
              <a:rPr lang="en-US" b="1" dirty="0">
                <a:solidFill>
                  <a:prstClr val="white"/>
                </a:solidFill>
                <a:latin typeface="Arial" panose="020B0604020202020204" pitchFamily="34" charset="0"/>
                <a:cs typeface="Arial" panose="020B0604020202020204" pitchFamily="34" charset="0"/>
              </a:rPr>
              <a:t>Kubernetes, also known as k8s or </a:t>
            </a:r>
            <a:r>
              <a:rPr lang="en-US" b="1" dirty="0" err="1">
                <a:solidFill>
                  <a:prstClr val="white"/>
                </a:solidFill>
                <a:latin typeface="Arial" panose="020B0604020202020204" pitchFamily="34" charset="0"/>
                <a:cs typeface="Arial" panose="020B0604020202020204" pitchFamily="34" charset="0"/>
              </a:rPr>
              <a:t>kube</a:t>
            </a:r>
            <a:r>
              <a:rPr lang="en-US" b="1" dirty="0">
                <a:solidFill>
                  <a:prstClr val="white"/>
                </a:solidFill>
                <a:latin typeface="Arial" panose="020B0604020202020204" pitchFamily="34" charset="0"/>
                <a:cs typeface="Arial" panose="020B0604020202020204" pitchFamily="34" charset="0"/>
              </a:rPr>
              <a:t>, is an open-source container orchestration platform for scheduling and automating the deployment, management and scaling of containerized applications.</a:t>
            </a:r>
            <a:endParaRPr kumimoji="0" lang="en-US"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2" name="Rectangle 1">
            <a:extLst>
              <a:ext uri="{FF2B5EF4-FFF2-40B4-BE49-F238E27FC236}">
                <a16:creationId xmlns:a16="http://schemas.microsoft.com/office/drawing/2014/main" id="{C4A41BE0-CBFA-3A59-0A41-D47266337D38}"/>
              </a:ext>
            </a:extLst>
          </p:cNvPr>
          <p:cNvSpPr/>
          <p:nvPr/>
        </p:nvSpPr>
        <p:spPr>
          <a:xfrm>
            <a:off x="148223" y="2424976"/>
            <a:ext cx="111760" cy="972275"/>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 name="Rectangle 2">
            <a:extLst>
              <a:ext uri="{FF2B5EF4-FFF2-40B4-BE49-F238E27FC236}">
                <a16:creationId xmlns:a16="http://schemas.microsoft.com/office/drawing/2014/main" id="{C474AFAC-2DF7-6365-64C0-6B5233F4F892}"/>
              </a:ext>
            </a:extLst>
          </p:cNvPr>
          <p:cNvSpPr/>
          <p:nvPr/>
        </p:nvSpPr>
        <p:spPr>
          <a:xfrm>
            <a:off x="224422" y="2424976"/>
            <a:ext cx="11743155" cy="972275"/>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defRPr/>
            </a:pPr>
            <a:r>
              <a:rPr lang="en-US" b="1" dirty="0">
                <a:solidFill>
                  <a:prstClr val="white"/>
                </a:solidFill>
                <a:latin typeface="Arial" panose="020B0604020202020204" pitchFamily="34" charset="0"/>
                <a:cs typeface="Arial" panose="020B0604020202020204" pitchFamily="34" charset="0"/>
              </a:rPr>
              <a:t>As containers proliferated, today, an organization might have hundreds or thousands of them. Operations teams are needed to schedule and automate container deployment, networking, scalability, and availability. Enter container orchestration.</a:t>
            </a:r>
            <a:endParaRPr kumimoji="0" lang="en-US"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6" name="Rectangle 5">
            <a:extLst>
              <a:ext uri="{FF2B5EF4-FFF2-40B4-BE49-F238E27FC236}">
                <a16:creationId xmlns:a16="http://schemas.microsoft.com/office/drawing/2014/main" id="{29F12AA1-3004-97A7-5822-462F4AC37FA9}"/>
              </a:ext>
            </a:extLst>
          </p:cNvPr>
          <p:cNvSpPr/>
          <p:nvPr/>
        </p:nvSpPr>
        <p:spPr>
          <a:xfrm>
            <a:off x="148223" y="3504732"/>
            <a:ext cx="111760" cy="972275"/>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7" name="Rectangle 6">
            <a:extLst>
              <a:ext uri="{FF2B5EF4-FFF2-40B4-BE49-F238E27FC236}">
                <a16:creationId xmlns:a16="http://schemas.microsoft.com/office/drawing/2014/main" id="{EB07C104-E67A-0132-5091-4A7C55E24AD6}"/>
              </a:ext>
            </a:extLst>
          </p:cNvPr>
          <p:cNvSpPr/>
          <p:nvPr/>
        </p:nvSpPr>
        <p:spPr>
          <a:xfrm>
            <a:off x="224422" y="3504732"/>
            <a:ext cx="11743155" cy="972275"/>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defRPr/>
            </a:pPr>
            <a:r>
              <a:rPr lang="en-US" b="1" dirty="0">
                <a:solidFill>
                  <a:prstClr val="white"/>
                </a:solidFill>
                <a:latin typeface="Arial" panose="020B0604020202020204" pitchFamily="34" charset="0"/>
                <a:cs typeface="Arial" panose="020B0604020202020204" pitchFamily="34" charset="0"/>
              </a:rPr>
              <a:t>In a CNCF report, Kubernetes is the second largest open-source project in the world (after Linux) and the primary container orchestration tool for 71% of Fortune 100 companies.</a:t>
            </a:r>
            <a:endParaRPr kumimoji="0" lang="en-US"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9" name="Rectangle 8">
            <a:extLst>
              <a:ext uri="{FF2B5EF4-FFF2-40B4-BE49-F238E27FC236}">
                <a16:creationId xmlns:a16="http://schemas.microsoft.com/office/drawing/2014/main" id="{6F0CD67D-95F3-813B-8DA0-749EA6FEC0D7}"/>
              </a:ext>
            </a:extLst>
          </p:cNvPr>
          <p:cNvSpPr/>
          <p:nvPr/>
        </p:nvSpPr>
        <p:spPr>
          <a:xfrm>
            <a:off x="148223" y="4584488"/>
            <a:ext cx="111760" cy="972275"/>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0" name="Rectangle 9">
            <a:extLst>
              <a:ext uri="{FF2B5EF4-FFF2-40B4-BE49-F238E27FC236}">
                <a16:creationId xmlns:a16="http://schemas.microsoft.com/office/drawing/2014/main" id="{F2AB9B2E-85B5-EEC3-6974-39731333EF23}"/>
              </a:ext>
            </a:extLst>
          </p:cNvPr>
          <p:cNvSpPr/>
          <p:nvPr/>
        </p:nvSpPr>
        <p:spPr>
          <a:xfrm>
            <a:off x="224422" y="4584488"/>
            <a:ext cx="11743155" cy="972275"/>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defRPr/>
            </a:pPr>
            <a:r>
              <a:rPr lang="en-US" b="1" dirty="0">
                <a:solidFill>
                  <a:prstClr val="white"/>
                </a:solidFill>
                <a:latin typeface="Arial" panose="020B0604020202020204" pitchFamily="34" charset="0"/>
                <a:cs typeface="Arial" panose="020B0604020202020204" pitchFamily="34" charset="0"/>
              </a:rPr>
              <a:t>In 2018, Kubernetes was the CNCF’s first graduate project, becoming one of the fastest-growing open-source projects in history. While other container orchestration options, most notably Docker Swarm and Apache Mesos, gained some traction early on, Kubernetes quickly became the most widely adopted.</a:t>
            </a:r>
            <a:endParaRPr kumimoji="0" lang="en-US"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276637249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gradFill flip="none" rotWithShape="1">
          <a:gsLst>
            <a:gs pos="57000">
              <a:srgbClr val="DDE8EA"/>
            </a:gs>
            <a:gs pos="100000">
              <a:schemeClr val="accent1">
                <a:lumMod val="45000"/>
                <a:lumOff val="55000"/>
              </a:schemeClr>
            </a:gs>
            <a:gs pos="93000">
              <a:schemeClr val="accent1">
                <a:lumMod val="30000"/>
                <a:lumOff val="70000"/>
                <a:alpha val="6000"/>
              </a:schemeClr>
            </a:gs>
          </a:gsLst>
          <a:path path="circle">
            <a:fillToRect l="100000" t="100000"/>
          </a:path>
          <a:tileRect r="-100000" b="-100000"/>
        </a:gradFill>
        <a:effectLst/>
      </p:bgPr>
    </p:bg>
    <p:spTree>
      <p:nvGrpSpPr>
        <p:cNvPr id="1" name="">
          <a:extLst>
            <a:ext uri="{FF2B5EF4-FFF2-40B4-BE49-F238E27FC236}">
              <a16:creationId xmlns:a16="http://schemas.microsoft.com/office/drawing/2014/main" id="{60BB4FC5-E7E3-E979-8555-C36D77177D97}"/>
            </a:ext>
          </a:extLst>
        </p:cNvPr>
        <p:cNvGrpSpPr/>
        <p:nvPr/>
      </p:nvGrpSpPr>
      <p:grpSpPr>
        <a:xfrm>
          <a:off x="0" y="0"/>
          <a:ext cx="0" cy="0"/>
          <a:chOff x="0" y="0"/>
          <a:chExt cx="0" cy="0"/>
        </a:xfrm>
      </p:grpSpPr>
      <p:sp>
        <p:nvSpPr>
          <p:cNvPr id="13" name="Rectangle 12">
            <a:extLst>
              <a:ext uri="{FF2B5EF4-FFF2-40B4-BE49-F238E27FC236}">
                <a16:creationId xmlns:a16="http://schemas.microsoft.com/office/drawing/2014/main" id="{C007C997-84B0-A4F6-D818-FED584349D60}"/>
              </a:ext>
            </a:extLst>
          </p:cNvPr>
          <p:cNvSpPr/>
          <p:nvPr/>
        </p:nvSpPr>
        <p:spPr>
          <a:xfrm>
            <a:off x="148223" y="224350"/>
            <a:ext cx="111760" cy="6461585"/>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4" name="Rectangle 13">
            <a:extLst>
              <a:ext uri="{FF2B5EF4-FFF2-40B4-BE49-F238E27FC236}">
                <a16:creationId xmlns:a16="http://schemas.microsoft.com/office/drawing/2014/main" id="{D3698569-4314-8149-7D03-7F7214A8A144}"/>
              </a:ext>
            </a:extLst>
          </p:cNvPr>
          <p:cNvSpPr/>
          <p:nvPr/>
        </p:nvSpPr>
        <p:spPr>
          <a:xfrm>
            <a:off x="224422" y="224350"/>
            <a:ext cx="11743155" cy="6461585"/>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defRPr/>
            </a:pPr>
            <a:r>
              <a:rPr lang="en-US" sz="2000" b="1" dirty="0">
                <a:solidFill>
                  <a:prstClr val="white"/>
                </a:solidFill>
                <a:latin typeface="Arial" panose="020B0604020202020204" pitchFamily="34" charset="0"/>
                <a:cs typeface="Arial" panose="020B0604020202020204" pitchFamily="34" charset="0"/>
              </a:rPr>
              <a:t>Kubernetes schedules and automates container-related tasks throughout the application lifecycle:</a:t>
            </a:r>
            <a:br>
              <a:rPr lang="en-US" sz="2000" b="1" dirty="0">
                <a:solidFill>
                  <a:prstClr val="white"/>
                </a:solidFill>
                <a:latin typeface="Arial" panose="020B0604020202020204" pitchFamily="34" charset="0"/>
                <a:cs typeface="Arial" panose="020B0604020202020204" pitchFamily="34" charset="0"/>
              </a:rPr>
            </a:br>
            <a:br>
              <a:rPr lang="en-US" sz="600" b="1" dirty="0">
                <a:solidFill>
                  <a:prstClr val="white"/>
                </a:solidFill>
                <a:latin typeface="Arial" panose="020B0604020202020204" pitchFamily="34" charset="0"/>
                <a:cs typeface="Arial" panose="020B0604020202020204" pitchFamily="34" charset="0"/>
              </a:rPr>
            </a:br>
            <a:endParaRPr lang="en-US" sz="100" b="1" dirty="0">
              <a:solidFill>
                <a:prstClr val="white"/>
              </a:solidFill>
              <a:latin typeface="Arial" panose="020B0604020202020204" pitchFamily="34" charset="0"/>
              <a:cs typeface="Arial" panose="020B0604020202020204" pitchFamily="34" charset="0"/>
            </a:endParaRPr>
          </a:p>
          <a:p>
            <a:pPr marL="342900" lvl="0" indent="-342900">
              <a:buFont typeface="Arial" panose="020B0604020202020204" pitchFamily="34" charset="0"/>
              <a:buChar char="•"/>
              <a:defRPr/>
            </a:pPr>
            <a:r>
              <a:rPr lang="en-US" sz="2000" b="1" dirty="0">
                <a:solidFill>
                  <a:schemeClr val="accent2"/>
                </a:solidFill>
                <a:latin typeface="Arial" panose="020B0604020202020204" pitchFamily="34" charset="0"/>
                <a:cs typeface="Arial" panose="020B0604020202020204" pitchFamily="34" charset="0"/>
              </a:rPr>
              <a:t>Deployment: </a:t>
            </a:r>
            <a:r>
              <a:rPr lang="en-US" b="1" dirty="0">
                <a:latin typeface="Arial" panose="020B0604020202020204" pitchFamily="34" charset="0"/>
                <a:cs typeface="Arial" panose="020B0604020202020204" pitchFamily="34" charset="0"/>
              </a:rPr>
              <a:t>Deploy a specified number of containers to a specified host and keep them running in a desired state.</a:t>
            </a:r>
            <a:br>
              <a:rPr lang="en-US" b="1" dirty="0">
                <a:latin typeface="Arial" panose="020B0604020202020204" pitchFamily="34" charset="0"/>
                <a:cs typeface="Arial" panose="020B0604020202020204" pitchFamily="34" charset="0"/>
              </a:rPr>
            </a:br>
            <a:endParaRPr lang="en-US" sz="1050" b="1" dirty="0">
              <a:latin typeface="Arial" panose="020B0604020202020204" pitchFamily="34" charset="0"/>
              <a:cs typeface="Arial" panose="020B0604020202020204" pitchFamily="34" charset="0"/>
            </a:endParaRPr>
          </a:p>
          <a:p>
            <a:pPr marL="342900" lvl="0" indent="-342900">
              <a:buFont typeface="Arial" panose="020B0604020202020204" pitchFamily="34" charset="0"/>
              <a:buChar char="•"/>
              <a:defRPr/>
            </a:pPr>
            <a:r>
              <a:rPr lang="en-US" sz="2000" b="1" dirty="0">
                <a:solidFill>
                  <a:schemeClr val="accent2"/>
                </a:solidFill>
                <a:latin typeface="Arial" panose="020B0604020202020204" pitchFamily="34" charset="0"/>
                <a:cs typeface="Arial" panose="020B0604020202020204" pitchFamily="34" charset="0"/>
              </a:rPr>
              <a:t>Rollouts:</a:t>
            </a:r>
            <a:r>
              <a:rPr lang="en-US" b="1" dirty="0"/>
              <a:t> </a:t>
            </a:r>
            <a:r>
              <a:rPr lang="en-US" b="1" dirty="0">
                <a:latin typeface="Arial" panose="020B0604020202020204" pitchFamily="34" charset="0"/>
                <a:cs typeface="Arial" panose="020B0604020202020204" pitchFamily="34" charset="0"/>
              </a:rPr>
              <a:t>A rollout is a change to a deployment. Kubernetes lets you initiate, pause, resume, or roll back rollouts.</a:t>
            </a:r>
            <a:br>
              <a:rPr lang="en-US" sz="1200" b="1" dirty="0">
                <a:latin typeface="Arial" panose="020B0604020202020204" pitchFamily="34" charset="0"/>
                <a:cs typeface="Arial" panose="020B0604020202020204" pitchFamily="34" charset="0"/>
              </a:rPr>
            </a:br>
            <a:endParaRPr lang="en-US" sz="1100" b="1" dirty="0">
              <a:latin typeface="Arial" panose="020B0604020202020204" pitchFamily="34" charset="0"/>
              <a:cs typeface="Arial" panose="020B0604020202020204" pitchFamily="34" charset="0"/>
            </a:endParaRPr>
          </a:p>
          <a:p>
            <a:pPr marL="342900" lvl="0" indent="-342900">
              <a:buFont typeface="Arial" panose="020B0604020202020204" pitchFamily="34" charset="0"/>
              <a:buChar char="•"/>
              <a:defRPr/>
            </a:pPr>
            <a:r>
              <a:rPr lang="en-US" sz="2000" b="1" dirty="0">
                <a:solidFill>
                  <a:schemeClr val="accent2"/>
                </a:solidFill>
                <a:latin typeface="Arial" panose="020B0604020202020204" pitchFamily="34" charset="0"/>
                <a:cs typeface="Arial" panose="020B0604020202020204" pitchFamily="34" charset="0"/>
              </a:rPr>
              <a:t>Service discovery: </a:t>
            </a:r>
            <a:r>
              <a:rPr lang="en-US" b="1" dirty="0">
                <a:latin typeface="Arial" panose="020B0604020202020204" pitchFamily="34" charset="0"/>
                <a:cs typeface="Arial" panose="020B0604020202020204" pitchFamily="34" charset="0"/>
              </a:rPr>
              <a:t>Kubernetes can automatically expose a container to the internet or to other containers by using a domain name system (DNS) name or IP address.</a:t>
            </a:r>
            <a:br>
              <a:rPr lang="en-US" b="1" dirty="0">
                <a:latin typeface="Arial" panose="020B0604020202020204" pitchFamily="34" charset="0"/>
                <a:cs typeface="Arial" panose="020B0604020202020204" pitchFamily="34" charset="0"/>
              </a:rPr>
            </a:br>
            <a:endParaRPr lang="en-US" sz="1050" b="1" dirty="0">
              <a:latin typeface="Arial" panose="020B0604020202020204" pitchFamily="34" charset="0"/>
              <a:cs typeface="Arial" panose="020B0604020202020204" pitchFamily="34" charset="0"/>
            </a:endParaRPr>
          </a:p>
          <a:p>
            <a:pPr marL="342900" lvl="0" indent="-342900">
              <a:buFont typeface="Arial" panose="020B0604020202020204" pitchFamily="34" charset="0"/>
              <a:buChar char="•"/>
              <a:defRPr/>
            </a:pPr>
            <a:r>
              <a:rPr lang="en-US" sz="2000" b="1" dirty="0">
                <a:solidFill>
                  <a:schemeClr val="accent2"/>
                </a:solidFill>
                <a:latin typeface="Arial" panose="020B0604020202020204" pitchFamily="34" charset="0"/>
                <a:cs typeface="Arial" panose="020B0604020202020204" pitchFamily="34" charset="0"/>
              </a:rPr>
              <a:t>Storage provisioning: </a:t>
            </a:r>
            <a:r>
              <a:rPr lang="en-US" b="1" dirty="0">
                <a:latin typeface="Arial" panose="020B0604020202020204" pitchFamily="34" charset="0"/>
                <a:cs typeface="Arial" panose="020B0604020202020204" pitchFamily="34" charset="0"/>
              </a:rPr>
              <a:t>Set Kubernetes to mount persistent local or cloud storage for your containers as needed.</a:t>
            </a:r>
            <a:br>
              <a:rPr lang="en-US" b="1" dirty="0">
                <a:latin typeface="Arial" panose="020B0604020202020204" pitchFamily="34" charset="0"/>
                <a:cs typeface="Arial" panose="020B0604020202020204" pitchFamily="34" charset="0"/>
              </a:rPr>
            </a:br>
            <a:endParaRPr lang="en-US" sz="1100" b="1" dirty="0">
              <a:latin typeface="Arial" panose="020B0604020202020204" pitchFamily="34" charset="0"/>
              <a:cs typeface="Arial" panose="020B0604020202020204" pitchFamily="34" charset="0"/>
            </a:endParaRPr>
          </a:p>
          <a:p>
            <a:pPr marL="342900" lvl="0" indent="-342900">
              <a:buFont typeface="Arial" panose="020B0604020202020204" pitchFamily="34" charset="0"/>
              <a:buChar char="•"/>
              <a:defRPr/>
            </a:pPr>
            <a:r>
              <a:rPr lang="en-US" sz="2000" b="1" dirty="0">
                <a:solidFill>
                  <a:schemeClr val="accent2"/>
                </a:solidFill>
                <a:latin typeface="Arial" panose="020B0604020202020204" pitchFamily="34" charset="0"/>
                <a:cs typeface="Arial" panose="020B0604020202020204" pitchFamily="34" charset="0"/>
              </a:rPr>
              <a:t>Load balancing: </a:t>
            </a:r>
            <a:r>
              <a:rPr lang="en-US" b="1" dirty="0">
                <a:latin typeface="Arial" panose="020B0604020202020204" pitchFamily="34" charset="0"/>
                <a:cs typeface="Arial" panose="020B0604020202020204" pitchFamily="34" charset="0"/>
              </a:rPr>
              <a:t>Based on CPU usage or custom metrics, Kubernetes load balancing can distribute the workload across the network to maintain performance and stability.</a:t>
            </a:r>
            <a:br>
              <a:rPr lang="en-US" b="1" dirty="0">
                <a:latin typeface="Arial" panose="020B0604020202020204" pitchFamily="34" charset="0"/>
                <a:cs typeface="Arial" panose="020B0604020202020204" pitchFamily="34" charset="0"/>
              </a:rPr>
            </a:br>
            <a:endParaRPr lang="en-US" sz="1050" b="1" dirty="0">
              <a:latin typeface="Arial" panose="020B0604020202020204" pitchFamily="34" charset="0"/>
              <a:cs typeface="Arial" panose="020B0604020202020204" pitchFamily="34" charset="0"/>
            </a:endParaRPr>
          </a:p>
          <a:p>
            <a:pPr marL="342900" lvl="0" indent="-342900">
              <a:buFont typeface="Arial" panose="020B0604020202020204" pitchFamily="34" charset="0"/>
              <a:buChar char="•"/>
              <a:defRPr/>
            </a:pPr>
            <a:r>
              <a:rPr lang="en-US" sz="2000" b="1" dirty="0">
                <a:solidFill>
                  <a:schemeClr val="accent2"/>
                </a:solidFill>
                <a:latin typeface="Arial" panose="020B0604020202020204" pitchFamily="34" charset="0"/>
                <a:cs typeface="Arial" panose="020B0604020202020204" pitchFamily="34" charset="0"/>
              </a:rPr>
              <a:t>Autoscaling:</a:t>
            </a:r>
            <a:r>
              <a:rPr lang="en-US" b="1" dirty="0"/>
              <a:t> </a:t>
            </a:r>
            <a:r>
              <a:rPr lang="en-US" b="1" dirty="0">
                <a:latin typeface="Arial" panose="020B0604020202020204" pitchFamily="34" charset="0"/>
                <a:cs typeface="Arial" panose="020B0604020202020204" pitchFamily="34" charset="0"/>
              </a:rPr>
              <a:t>When traffic spikes, Kubernetes autoscaling can spin up new clusters as needed to handle the additional workload.</a:t>
            </a:r>
            <a:br>
              <a:rPr lang="en-US" b="1" dirty="0">
                <a:latin typeface="Arial" panose="020B0604020202020204" pitchFamily="34" charset="0"/>
                <a:cs typeface="Arial" panose="020B0604020202020204" pitchFamily="34" charset="0"/>
              </a:rPr>
            </a:br>
            <a:endParaRPr lang="en-US" sz="1100" b="1" dirty="0">
              <a:latin typeface="Arial" panose="020B0604020202020204" pitchFamily="34" charset="0"/>
              <a:cs typeface="Arial" panose="020B0604020202020204" pitchFamily="34" charset="0"/>
            </a:endParaRPr>
          </a:p>
          <a:p>
            <a:pPr marL="342900" lvl="0" indent="-342900">
              <a:buFont typeface="Arial" panose="020B0604020202020204" pitchFamily="34" charset="0"/>
              <a:buChar char="•"/>
              <a:defRPr/>
            </a:pPr>
            <a:r>
              <a:rPr lang="en-US" sz="2000" b="1" dirty="0">
                <a:solidFill>
                  <a:schemeClr val="accent2"/>
                </a:solidFill>
                <a:latin typeface="Arial" panose="020B0604020202020204" pitchFamily="34" charset="0"/>
                <a:cs typeface="Arial" panose="020B0604020202020204" pitchFamily="34" charset="0"/>
              </a:rPr>
              <a:t>Self-healing</a:t>
            </a:r>
            <a:r>
              <a:rPr lang="en-US" b="1" dirty="0"/>
              <a:t> </a:t>
            </a:r>
            <a:r>
              <a:rPr lang="en-US" sz="2000" b="1" dirty="0">
                <a:solidFill>
                  <a:schemeClr val="accent2"/>
                </a:solidFill>
                <a:latin typeface="Arial" panose="020B0604020202020204" pitchFamily="34" charset="0"/>
                <a:cs typeface="Arial" panose="020B0604020202020204" pitchFamily="34" charset="0"/>
              </a:rPr>
              <a:t>for high availability:  </a:t>
            </a:r>
            <a:r>
              <a:rPr lang="en-US" b="1" dirty="0">
                <a:latin typeface="Arial" panose="020B0604020202020204" pitchFamily="34" charset="0"/>
                <a:cs typeface="Arial" panose="020B0604020202020204" pitchFamily="34" charset="0"/>
              </a:rPr>
              <a:t>When a container fails, Kubernetes can restart or replace it automatically to prevent downtime. It can also take down containers that don’t meet your health check requirements.</a:t>
            </a:r>
          </a:p>
          <a:p>
            <a:pPr marL="342900" lvl="0" indent="-342900">
              <a:buFont typeface="Arial" panose="020B0604020202020204" pitchFamily="34" charset="0"/>
              <a:buChar char="•"/>
              <a:defRPr/>
            </a:pPr>
            <a:endParaRPr kumimoji="0" lang="en-US" sz="2000"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153958339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gradFill flip="none" rotWithShape="1">
          <a:gsLst>
            <a:gs pos="57000">
              <a:srgbClr val="DDE8EA"/>
            </a:gs>
            <a:gs pos="100000">
              <a:schemeClr val="accent1">
                <a:lumMod val="45000"/>
                <a:lumOff val="55000"/>
              </a:schemeClr>
            </a:gs>
            <a:gs pos="93000">
              <a:schemeClr val="accent1">
                <a:lumMod val="30000"/>
                <a:lumOff val="70000"/>
                <a:alpha val="6000"/>
              </a:schemeClr>
            </a:gs>
          </a:gsLst>
          <a:path path="circle">
            <a:fillToRect l="100000" t="100000"/>
          </a:path>
          <a:tileRect r="-100000" b="-100000"/>
        </a:gradFill>
        <a:effectLst/>
      </p:bgPr>
    </p:bg>
    <p:spTree>
      <p:nvGrpSpPr>
        <p:cNvPr id="1" name="">
          <a:extLst>
            <a:ext uri="{FF2B5EF4-FFF2-40B4-BE49-F238E27FC236}">
              <a16:creationId xmlns:a16="http://schemas.microsoft.com/office/drawing/2014/main" id="{DAC2D104-8EB9-9575-99F7-C4079F475967}"/>
            </a:ext>
          </a:extLst>
        </p:cNvPr>
        <p:cNvGrpSpPr/>
        <p:nvPr/>
      </p:nvGrpSpPr>
      <p:grpSpPr>
        <a:xfrm>
          <a:off x="0" y="0"/>
          <a:ext cx="0" cy="0"/>
          <a:chOff x="0" y="0"/>
          <a:chExt cx="0" cy="0"/>
        </a:xfrm>
      </p:grpSpPr>
      <p:sp>
        <p:nvSpPr>
          <p:cNvPr id="8" name="Title 1">
            <a:extLst>
              <a:ext uri="{FF2B5EF4-FFF2-40B4-BE49-F238E27FC236}">
                <a16:creationId xmlns:a16="http://schemas.microsoft.com/office/drawing/2014/main" id="{F4E47856-D7F9-A0C5-42BD-5F2202AC93E0}"/>
              </a:ext>
            </a:extLst>
          </p:cNvPr>
          <p:cNvSpPr>
            <a:spLocks noGrp="1"/>
          </p:cNvSpPr>
          <p:nvPr>
            <p:ph type="title"/>
          </p:nvPr>
        </p:nvSpPr>
        <p:spPr>
          <a:xfrm>
            <a:off x="0" y="-157319"/>
            <a:ext cx="11434916" cy="1325563"/>
          </a:xfrm>
        </p:spPr>
        <p:txBody>
          <a:bodyPr/>
          <a:lstStyle/>
          <a:p>
            <a:r>
              <a:rPr lang="en-US" b="1" dirty="0"/>
              <a:t>Kubernetes architecture and components:</a:t>
            </a:r>
          </a:p>
        </p:txBody>
      </p:sp>
      <p:sp>
        <p:nvSpPr>
          <p:cNvPr id="4" name="Rectangle 3">
            <a:extLst>
              <a:ext uri="{FF2B5EF4-FFF2-40B4-BE49-F238E27FC236}">
                <a16:creationId xmlns:a16="http://schemas.microsoft.com/office/drawing/2014/main" id="{FCE0131D-B935-CBA3-3461-A5215AC53B85}"/>
              </a:ext>
            </a:extLst>
          </p:cNvPr>
          <p:cNvSpPr/>
          <p:nvPr/>
        </p:nvSpPr>
        <p:spPr>
          <a:xfrm>
            <a:off x="3549446" y="2278622"/>
            <a:ext cx="3785420" cy="378787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F5A6A7B5-E8CD-D405-20FD-2A3D446C1E6C}"/>
              </a:ext>
            </a:extLst>
          </p:cNvPr>
          <p:cNvSpPr/>
          <p:nvPr/>
        </p:nvSpPr>
        <p:spPr>
          <a:xfrm>
            <a:off x="4581832" y="3320838"/>
            <a:ext cx="2271252" cy="710381"/>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atin typeface="Arial" panose="020B0604020202020204" pitchFamily="34" charset="0"/>
                <a:cs typeface="Arial" panose="020B0604020202020204" pitchFamily="34" charset="0"/>
              </a:rPr>
              <a:t>My APP [Container]</a:t>
            </a:r>
          </a:p>
        </p:txBody>
      </p:sp>
      <p:sp>
        <p:nvSpPr>
          <p:cNvPr id="11" name="Oval 10">
            <a:extLst>
              <a:ext uri="{FF2B5EF4-FFF2-40B4-BE49-F238E27FC236}">
                <a16:creationId xmlns:a16="http://schemas.microsoft.com/office/drawing/2014/main" id="{EFA65B9A-4BA0-CB3C-1A3F-A6657D6E2D3F}"/>
              </a:ext>
            </a:extLst>
          </p:cNvPr>
          <p:cNvSpPr/>
          <p:nvPr/>
        </p:nvSpPr>
        <p:spPr>
          <a:xfrm>
            <a:off x="4581832" y="4785846"/>
            <a:ext cx="2138517" cy="1054512"/>
          </a:xfrm>
          <a:prstGeom prst="ellipse">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latin typeface="Arial" panose="020B0604020202020204" pitchFamily="34" charset="0"/>
                <a:cs typeface="Arial" panose="020B0604020202020204" pitchFamily="34" charset="0"/>
              </a:rPr>
              <a:t>DB [container]</a:t>
            </a:r>
            <a:endParaRPr lang="en-US" sz="1600" b="1" dirty="0">
              <a:latin typeface="Arial" panose="020B0604020202020204" pitchFamily="34" charset="0"/>
              <a:cs typeface="Arial" panose="020B0604020202020204" pitchFamily="34" charset="0"/>
            </a:endParaRPr>
          </a:p>
        </p:txBody>
      </p:sp>
      <p:sp>
        <p:nvSpPr>
          <p:cNvPr id="12" name="TextBox 11">
            <a:extLst>
              <a:ext uri="{FF2B5EF4-FFF2-40B4-BE49-F238E27FC236}">
                <a16:creationId xmlns:a16="http://schemas.microsoft.com/office/drawing/2014/main" id="{FD0FAA8A-844A-E305-EA4B-A69631CA1127}"/>
              </a:ext>
            </a:extLst>
          </p:cNvPr>
          <p:cNvSpPr txBox="1"/>
          <p:nvPr/>
        </p:nvSpPr>
        <p:spPr>
          <a:xfrm>
            <a:off x="4886632" y="6102368"/>
            <a:ext cx="1111047" cy="461665"/>
          </a:xfrm>
          <a:prstGeom prst="rect">
            <a:avLst/>
          </a:prstGeom>
          <a:noFill/>
        </p:spPr>
        <p:txBody>
          <a:bodyPr wrap="square" rtlCol="0">
            <a:spAutoFit/>
          </a:bodyPr>
          <a:lstStyle/>
          <a:p>
            <a:r>
              <a:rPr lang="en-US" sz="2400" b="1" dirty="0">
                <a:solidFill>
                  <a:srgbClr val="FF0000"/>
                </a:solidFill>
                <a:latin typeface="Arial" panose="020B0604020202020204" pitchFamily="34" charset="0"/>
                <a:cs typeface="Arial" panose="020B0604020202020204" pitchFamily="34" charset="0"/>
              </a:rPr>
              <a:t>NODE</a:t>
            </a:r>
            <a:r>
              <a:rPr lang="en-US" dirty="0"/>
              <a:t> </a:t>
            </a:r>
          </a:p>
        </p:txBody>
      </p:sp>
      <p:cxnSp>
        <p:nvCxnSpPr>
          <p:cNvPr id="16" name="Straight Arrow Connector 15">
            <a:extLst>
              <a:ext uri="{FF2B5EF4-FFF2-40B4-BE49-F238E27FC236}">
                <a16:creationId xmlns:a16="http://schemas.microsoft.com/office/drawing/2014/main" id="{5713710C-B653-04DA-B9EE-22790052197B}"/>
              </a:ext>
            </a:extLst>
          </p:cNvPr>
          <p:cNvCxnSpPr>
            <a:cxnSpLocks/>
          </p:cNvCxnSpPr>
          <p:nvPr/>
        </p:nvCxnSpPr>
        <p:spPr>
          <a:xfrm flipV="1">
            <a:off x="6853084" y="3062631"/>
            <a:ext cx="727587" cy="613397"/>
          </a:xfrm>
          <a:prstGeom prst="straightConnector1">
            <a:avLst/>
          </a:prstGeom>
          <a:ln w="38100">
            <a:solidFill>
              <a:srgbClr val="FF0000"/>
            </a:solidFill>
            <a:tailEnd type="triangle"/>
          </a:ln>
        </p:spPr>
        <p:style>
          <a:lnRef idx="2">
            <a:schemeClr val="dk1"/>
          </a:lnRef>
          <a:fillRef idx="0">
            <a:schemeClr val="dk1"/>
          </a:fillRef>
          <a:effectRef idx="1">
            <a:schemeClr val="dk1"/>
          </a:effectRef>
          <a:fontRef idx="minor">
            <a:schemeClr val="tx1"/>
          </a:fontRef>
        </p:style>
      </p:cxnSp>
      <p:sp>
        <p:nvSpPr>
          <p:cNvPr id="18" name="TextBox 17">
            <a:extLst>
              <a:ext uri="{FF2B5EF4-FFF2-40B4-BE49-F238E27FC236}">
                <a16:creationId xmlns:a16="http://schemas.microsoft.com/office/drawing/2014/main" id="{31481F93-5143-B2F3-EBBA-1046D03B0C0E}"/>
              </a:ext>
            </a:extLst>
          </p:cNvPr>
          <p:cNvSpPr txBox="1"/>
          <p:nvPr/>
        </p:nvSpPr>
        <p:spPr>
          <a:xfrm>
            <a:off x="7757652" y="2484097"/>
            <a:ext cx="4316361" cy="1077218"/>
          </a:xfrm>
          <a:prstGeom prst="rect">
            <a:avLst/>
          </a:prstGeom>
          <a:noFill/>
        </p:spPr>
        <p:txBody>
          <a:bodyPr wrap="square" rtlCol="0">
            <a:spAutoFit/>
          </a:bodyPr>
          <a:lstStyle/>
          <a:p>
            <a:r>
              <a:rPr lang="en-US" sz="2400" b="1" dirty="0">
                <a:solidFill>
                  <a:srgbClr val="FF0000"/>
                </a:solidFill>
                <a:latin typeface="Arial" panose="020B0604020202020204" pitchFamily="34" charset="0"/>
                <a:cs typeface="Arial" panose="020B0604020202020204" pitchFamily="34" charset="0"/>
              </a:rPr>
              <a:t>Pod: </a:t>
            </a:r>
            <a:r>
              <a:rPr lang="en-US" sz="2000" b="1" dirty="0">
                <a:latin typeface="Arial" panose="020B0604020202020204" pitchFamily="34" charset="0"/>
                <a:cs typeface="Arial" panose="020B0604020202020204" pitchFamily="34" charset="0"/>
              </a:rPr>
              <a:t>the</a:t>
            </a:r>
            <a:r>
              <a:rPr lang="en-US" sz="2400" b="1" dirty="0">
                <a:solidFill>
                  <a:srgbClr val="FF0000"/>
                </a:solidFill>
                <a:latin typeface="Arial" panose="020B0604020202020204" pitchFamily="34" charset="0"/>
                <a:cs typeface="Arial" panose="020B0604020202020204" pitchFamily="34" charset="0"/>
              </a:rPr>
              <a:t> </a:t>
            </a:r>
            <a:r>
              <a:rPr lang="en-US" sz="2000" b="1" dirty="0">
                <a:latin typeface="Arial" panose="020B0604020202020204" pitchFamily="34" charset="0"/>
                <a:cs typeface="Arial" panose="020B0604020202020204" pitchFamily="34" charset="0"/>
              </a:rPr>
              <a:t>smallest unit of K8S and is ephemeral</a:t>
            </a:r>
            <a:r>
              <a:rPr lang="en-US" sz="1600" b="1" dirty="0">
                <a:latin typeface="Arial" panose="020B0604020202020204" pitchFamily="34" charset="0"/>
                <a:cs typeface="Arial" panose="020B0604020202020204" pitchFamily="34" charset="0"/>
              </a:rPr>
              <a:t>. </a:t>
            </a:r>
            <a:r>
              <a:rPr lang="en-US" sz="2000" b="1" dirty="0">
                <a:latin typeface="Arial" panose="020B0604020202020204" pitchFamily="34" charset="0"/>
                <a:cs typeface="Arial" panose="020B0604020202020204" pitchFamily="34" charset="0"/>
              </a:rPr>
              <a:t>Usually meant to run one app container.</a:t>
            </a:r>
          </a:p>
        </p:txBody>
      </p:sp>
      <p:cxnSp>
        <p:nvCxnSpPr>
          <p:cNvPr id="19" name="Straight Arrow Connector 18">
            <a:extLst>
              <a:ext uri="{FF2B5EF4-FFF2-40B4-BE49-F238E27FC236}">
                <a16:creationId xmlns:a16="http://schemas.microsoft.com/office/drawing/2014/main" id="{C4641870-089F-0335-9CDF-A864B8A4FCEA}"/>
              </a:ext>
            </a:extLst>
          </p:cNvPr>
          <p:cNvCxnSpPr>
            <a:cxnSpLocks/>
          </p:cNvCxnSpPr>
          <p:nvPr/>
        </p:nvCxnSpPr>
        <p:spPr>
          <a:xfrm flipV="1">
            <a:off x="6395884" y="3284970"/>
            <a:ext cx="1361768" cy="1616620"/>
          </a:xfrm>
          <a:prstGeom prst="straightConnector1">
            <a:avLst/>
          </a:prstGeom>
          <a:ln w="38100">
            <a:solidFill>
              <a:srgbClr val="FF0000"/>
            </a:solidFill>
            <a:tailEnd type="triangle"/>
          </a:ln>
        </p:spPr>
        <p:style>
          <a:lnRef idx="2">
            <a:schemeClr val="dk1"/>
          </a:lnRef>
          <a:fillRef idx="0">
            <a:schemeClr val="dk1"/>
          </a:fillRef>
          <a:effectRef idx="1">
            <a:schemeClr val="dk1"/>
          </a:effectRef>
          <a:fontRef idx="minor">
            <a:schemeClr val="tx1"/>
          </a:fontRef>
        </p:style>
      </p:cxnSp>
      <p:sp>
        <p:nvSpPr>
          <p:cNvPr id="21" name="TextBox 20">
            <a:extLst>
              <a:ext uri="{FF2B5EF4-FFF2-40B4-BE49-F238E27FC236}">
                <a16:creationId xmlns:a16="http://schemas.microsoft.com/office/drawing/2014/main" id="{DE494404-E2B0-AA0B-FBD7-3A5073835F81}"/>
              </a:ext>
            </a:extLst>
          </p:cNvPr>
          <p:cNvSpPr txBox="1"/>
          <p:nvPr/>
        </p:nvSpPr>
        <p:spPr>
          <a:xfrm>
            <a:off x="7757652" y="3640472"/>
            <a:ext cx="4316361" cy="1323439"/>
          </a:xfrm>
          <a:prstGeom prst="rect">
            <a:avLst/>
          </a:prstGeom>
          <a:noFill/>
        </p:spPr>
        <p:txBody>
          <a:bodyPr wrap="square" rtlCol="0">
            <a:spAutoFit/>
          </a:bodyPr>
          <a:lstStyle/>
          <a:p>
            <a:r>
              <a:rPr lang="en-US" sz="2000" b="1" dirty="0">
                <a:latin typeface="Arial" panose="020B0604020202020204" pitchFamily="34" charset="0"/>
                <a:cs typeface="Arial" panose="020B0604020202020204" pitchFamily="34" charset="0"/>
              </a:rPr>
              <a:t>K8S offers out of the box a virtual network which means that each pod gets its own IP address not the container.</a:t>
            </a:r>
          </a:p>
        </p:txBody>
      </p:sp>
      <p:sp>
        <p:nvSpPr>
          <p:cNvPr id="22" name="Rectangle 21">
            <a:extLst>
              <a:ext uri="{FF2B5EF4-FFF2-40B4-BE49-F238E27FC236}">
                <a16:creationId xmlns:a16="http://schemas.microsoft.com/office/drawing/2014/main" id="{D43BF830-9985-2C03-FF9E-E736FDB6ED1F}"/>
              </a:ext>
            </a:extLst>
          </p:cNvPr>
          <p:cNvSpPr/>
          <p:nvPr/>
        </p:nvSpPr>
        <p:spPr>
          <a:xfrm>
            <a:off x="4218039" y="5574887"/>
            <a:ext cx="363793" cy="400665"/>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latin typeface="Arial" panose="020B0604020202020204" pitchFamily="34" charset="0"/>
                <a:cs typeface="Arial" panose="020B0604020202020204" pitchFamily="34" charset="0"/>
              </a:rPr>
              <a:t>IP</a:t>
            </a:r>
          </a:p>
        </p:txBody>
      </p:sp>
      <p:sp>
        <p:nvSpPr>
          <p:cNvPr id="25" name="Rectangle 24">
            <a:extLst>
              <a:ext uri="{FF2B5EF4-FFF2-40B4-BE49-F238E27FC236}">
                <a16:creationId xmlns:a16="http://schemas.microsoft.com/office/drawing/2014/main" id="{3B4EA8AF-14D0-2279-3AFA-C28929FD36C9}"/>
              </a:ext>
            </a:extLst>
          </p:cNvPr>
          <p:cNvSpPr/>
          <p:nvPr/>
        </p:nvSpPr>
        <p:spPr>
          <a:xfrm>
            <a:off x="4218039" y="3613347"/>
            <a:ext cx="363793" cy="400665"/>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latin typeface="Arial" panose="020B0604020202020204" pitchFamily="34" charset="0"/>
                <a:cs typeface="Arial" panose="020B0604020202020204" pitchFamily="34" charset="0"/>
              </a:rPr>
              <a:t>IP</a:t>
            </a:r>
          </a:p>
        </p:txBody>
      </p:sp>
      <p:sp>
        <p:nvSpPr>
          <p:cNvPr id="26" name="TextBox 25">
            <a:extLst>
              <a:ext uri="{FF2B5EF4-FFF2-40B4-BE49-F238E27FC236}">
                <a16:creationId xmlns:a16="http://schemas.microsoft.com/office/drawing/2014/main" id="{F61FF721-3656-C970-90DA-0FD8461CB378}"/>
              </a:ext>
            </a:extLst>
          </p:cNvPr>
          <p:cNvSpPr txBox="1"/>
          <p:nvPr/>
        </p:nvSpPr>
        <p:spPr>
          <a:xfrm>
            <a:off x="7757651" y="4963911"/>
            <a:ext cx="4316361" cy="461665"/>
          </a:xfrm>
          <a:prstGeom prst="rect">
            <a:avLst/>
          </a:prstGeom>
          <a:noFill/>
        </p:spPr>
        <p:txBody>
          <a:bodyPr wrap="square" rtlCol="0">
            <a:spAutoFit/>
          </a:bodyPr>
          <a:lstStyle/>
          <a:p>
            <a:r>
              <a:rPr lang="en-US" sz="2400" b="1" dirty="0">
                <a:solidFill>
                  <a:srgbClr val="FF0000"/>
                </a:solidFill>
                <a:latin typeface="Arial" panose="020B0604020202020204" pitchFamily="34" charset="0"/>
                <a:cs typeface="Arial" panose="020B0604020202020204" pitchFamily="34" charset="0"/>
              </a:rPr>
              <a:t>But the pod is ephemeral</a:t>
            </a:r>
          </a:p>
        </p:txBody>
      </p:sp>
      <p:sp>
        <p:nvSpPr>
          <p:cNvPr id="27" name="Rectangle 26">
            <a:extLst>
              <a:ext uri="{FF2B5EF4-FFF2-40B4-BE49-F238E27FC236}">
                <a16:creationId xmlns:a16="http://schemas.microsoft.com/office/drawing/2014/main" id="{61222090-D089-B216-7BF3-EAEC07D23E30}"/>
              </a:ext>
            </a:extLst>
          </p:cNvPr>
          <p:cNvSpPr/>
          <p:nvPr/>
        </p:nvSpPr>
        <p:spPr>
          <a:xfrm>
            <a:off x="3549447" y="3191224"/>
            <a:ext cx="1042218" cy="40066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solidFill>
                <a:latin typeface="Arial" panose="020B0604020202020204" pitchFamily="34" charset="0"/>
                <a:cs typeface="Arial" panose="020B0604020202020204" pitchFamily="34" charset="0"/>
              </a:rPr>
              <a:t>Service</a:t>
            </a:r>
          </a:p>
        </p:txBody>
      </p:sp>
      <p:sp>
        <p:nvSpPr>
          <p:cNvPr id="28" name="Rectangle 27">
            <a:extLst>
              <a:ext uri="{FF2B5EF4-FFF2-40B4-BE49-F238E27FC236}">
                <a16:creationId xmlns:a16="http://schemas.microsoft.com/office/drawing/2014/main" id="{F01AE78B-4F49-762F-B578-86447AFE5438}"/>
              </a:ext>
            </a:extLst>
          </p:cNvPr>
          <p:cNvSpPr/>
          <p:nvPr/>
        </p:nvSpPr>
        <p:spPr>
          <a:xfrm>
            <a:off x="3549447" y="5112769"/>
            <a:ext cx="1042218" cy="40066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solidFill>
                <a:latin typeface="Arial" panose="020B0604020202020204" pitchFamily="34" charset="0"/>
                <a:cs typeface="Arial" panose="020B0604020202020204" pitchFamily="34" charset="0"/>
              </a:rPr>
              <a:t>Service</a:t>
            </a:r>
          </a:p>
        </p:txBody>
      </p:sp>
      <p:sp>
        <p:nvSpPr>
          <p:cNvPr id="29" name="TextBox 28">
            <a:extLst>
              <a:ext uri="{FF2B5EF4-FFF2-40B4-BE49-F238E27FC236}">
                <a16:creationId xmlns:a16="http://schemas.microsoft.com/office/drawing/2014/main" id="{B4A7D759-67F9-DE1A-C56A-FCCEC96BE40C}"/>
              </a:ext>
            </a:extLst>
          </p:cNvPr>
          <p:cNvSpPr txBox="1"/>
          <p:nvPr/>
        </p:nvSpPr>
        <p:spPr>
          <a:xfrm>
            <a:off x="0" y="1969770"/>
            <a:ext cx="3303641" cy="1846659"/>
          </a:xfrm>
          <a:prstGeom prst="rect">
            <a:avLst/>
          </a:prstGeom>
          <a:noFill/>
        </p:spPr>
        <p:txBody>
          <a:bodyPr wrap="square" rtlCol="0">
            <a:spAutoFit/>
          </a:bodyPr>
          <a:lstStyle/>
          <a:p>
            <a:r>
              <a:rPr lang="en-US" sz="2400" b="1" dirty="0">
                <a:solidFill>
                  <a:srgbClr val="FF0000"/>
                </a:solidFill>
                <a:latin typeface="Arial" panose="020B0604020202020204" pitchFamily="34" charset="0"/>
                <a:cs typeface="Arial" panose="020B0604020202020204" pitchFamily="34" charset="0"/>
              </a:rPr>
              <a:t>Service: </a:t>
            </a:r>
            <a:r>
              <a:rPr lang="en-US" b="1" dirty="0">
                <a:latin typeface="Arial" panose="020B0604020202020204" pitchFamily="34" charset="0"/>
                <a:cs typeface="Arial" panose="020B0604020202020204" pitchFamily="34" charset="0"/>
              </a:rPr>
              <a:t>Permanent IP address. Lifecycle of pod and service not connected, so even if the pod dies, the service and its IP address will stay.</a:t>
            </a:r>
            <a:endParaRPr lang="en-US" sz="2000" b="1" dirty="0">
              <a:latin typeface="Arial" panose="020B0604020202020204" pitchFamily="34" charset="0"/>
              <a:cs typeface="Arial" panose="020B0604020202020204" pitchFamily="34" charset="0"/>
            </a:endParaRPr>
          </a:p>
        </p:txBody>
      </p:sp>
      <p:cxnSp>
        <p:nvCxnSpPr>
          <p:cNvPr id="32" name="Straight Arrow Connector 31">
            <a:extLst>
              <a:ext uri="{FF2B5EF4-FFF2-40B4-BE49-F238E27FC236}">
                <a16:creationId xmlns:a16="http://schemas.microsoft.com/office/drawing/2014/main" id="{535D0112-45F1-3EED-CC5B-070E8E10E2C1}"/>
              </a:ext>
            </a:extLst>
          </p:cNvPr>
          <p:cNvCxnSpPr>
            <a:cxnSpLocks/>
          </p:cNvCxnSpPr>
          <p:nvPr/>
        </p:nvCxnSpPr>
        <p:spPr>
          <a:xfrm flipH="1" flipV="1">
            <a:off x="3067664" y="3276567"/>
            <a:ext cx="476868" cy="135945"/>
          </a:xfrm>
          <a:prstGeom prst="straightConnector1">
            <a:avLst/>
          </a:prstGeom>
          <a:ln w="38100">
            <a:solidFill>
              <a:srgbClr val="FF0000"/>
            </a:solidFill>
            <a:tailEnd type="triangle"/>
          </a:ln>
        </p:spPr>
        <p:style>
          <a:lnRef idx="2">
            <a:schemeClr val="dk1"/>
          </a:lnRef>
          <a:fillRef idx="0">
            <a:schemeClr val="dk1"/>
          </a:fillRef>
          <a:effectRef idx="1">
            <a:schemeClr val="dk1"/>
          </a:effectRef>
          <a:fontRef idx="minor">
            <a:schemeClr val="tx1"/>
          </a:fontRef>
        </p:style>
      </p:cxnSp>
      <p:cxnSp>
        <p:nvCxnSpPr>
          <p:cNvPr id="35" name="Straight Arrow Connector 34">
            <a:extLst>
              <a:ext uri="{FF2B5EF4-FFF2-40B4-BE49-F238E27FC236}">
                <a16:creationId xmlns:a16="http://schemas.microsoft.com/office/drawing/2014/main" id="{99926B15-CD9A-45D7-38DF-C100284EC976}"/>
              </a:ext>
            </a:extLst>
          </p:cNvPr>
          <p:cNvCxnSpPr>
            <a:cxnSpLocks/>
          </p:cNvCxnSpPr>
          <p:nvPr/>
        </p:nvCxnSpPr>
        <p:spPr>
          <a:xfrm flipH="1" flipV="1">
            <a:off x="2580970" y="3561315"/>
            <a:ext cx="963562" cy="1751786"/>
          </a:xfrm>
          <a:prstGeom prst="straightConnector1">
            <a:avLst/>
          </a:prstGeom>
          <a:ln w="38100">
            <a:solidFill>
              <a:srgbClr val="FF0000"/>
            </a:solidFill>
            <a:tailEnd type="triangle"/>
          </a:ln>
        </p:spPr>
        <p:style>
          <a:lnRef idx="2">
            <a:schemeClr val="dk1"/>
          </a:lnRef>
          <a:fillRef idx="0">
            <a:schemeClr val="dk1"/>
          </a:fillRef>
          <a:effectRef idx="1">
            <a:schemeClr val="dk1"/>
          </a:effectRef>
          <a:fontRef idx="minor">
            <a:schemeClr val="tx1"/>
          </a:fontRef>
        </p:style>
      </p:cxnSp>
      <p:grpSp>
        <p:nvGrpSpPr>
          <p:cNvPr id="46" name="Group 45">
            <a:extLst>
              <a:ext uri="{FF2B5EF4-FFF2-40B4-BE49-F238E27FC236}">
                <a16:creationId xmlns:a16="http://schemas.microsoft.com/office/drawing/2014/main" id="{DA4E4802-CC22-4BC3-B010-9544DD01263F}"/>
              </a:ext>
            </a:extLst>
          </p:cNvPr>
          <p:cNvGrpSpPr/>
          <p:nvPr/>
        </p:nvGrpSpPr>
        <p:grpSpPr>
          <a:xfrm>
            <a:off x="3303641" y="1573157"/>
            <a:ext cx="4188538" cy="1453376"/>
            <a:chOff x="3303641" y="1927119"/>
            <a:chExt cx="4188538" cy="1453376"/>
          </a:xfrm>
        </p:grpSpPr>
        <p:sp>
          <p:nvSpPr>
            <p:cNvPr id="42" name="Left Bracket 41">
              <a:extLst>
                <a:ext uri="{FF2B5EF4-FFF2-40B4-BE49-F238E27FC236}">
                  <a16:creationId xmlns:a16="http://schemas.microsoft.com/office/drawing/2014/main" id="{F16883FF-DF49-CB84-59AB-2BE49394D9B4}"/>
                </a:ext>
              </a:extLst>
            </p:cNvPr>
            <p:cNvSpPr/>
            <p:nvPr/>
          </p:nvSpPr>
          <p:spPr>
            <a:xfrm rot="5400000">
              <a:off x="5083278" y="971594"/>
              <a:ext cx="629264" cy="4188538"/>
            </a:xfrm>
            <a:prstGeom prst="leftBracket">
              <a:avLst/>
            </a:prstGeom>
            <a:ln w="38100">
              <a:solidFill>
                <a:srgbClr val="FF000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cxnSp>
          <p:nvCxnSpPr>
            <p:cNvPr id="44" name="Straight Connector 43">
              <a:extLst>
                <a:ext uri="{FF2B5EF4-FFF2-40B4-BE49-F238E27FC236}">
                  <a16:creationId xmlns:a16="http://schemas.microsoft.com/office/drawing/2014/main" id="{A7032787-D935-AE9C-12C1-83E372BA1141}"/>
                </a:ext>
              </a:extLst>
            </p:cNvPr>
            <p:cNvCxnSpPr>
              <a:stCxn id="42" idx="1"/>
            </p:cNvCxnSpPr>
            <p:nvPr/>
          </p:nvCxnSpPr>
          <p:spPr>
            <a:xfrm flipV="1">
              <a:off x="5397910" y="1927119"/>
              <a:ext cx="0" cy="824112"/>
            </a:xfrm>
            <a:prstGeom prst="line">
              <a:avLst/>
            </a:prstGeom>
            <a:ln w="38100">
              <a:solidFill>
                <a:srgbClr val="FF0000"/>
              </a:solidFill>
            </a:ln>
          </p:spPr>
          <p:style>
            <a:lnRef idx="2">
              <a:schemeClr val="accent1"/>
            </a:lnRef>
            <a:fillRef idx="0">
              <a:schemeClr val="accent1"/>
            </a:fillRef>
            <a:effectRef idx="1">
              <a:schemeClr val="accent1"/>
            </a:effectRef>
            <a:fontRef idx="minor">
              <a:schemeClr val="tx1"/>
            </a:fontRef>
          </p:style>
        </p:cxnSp>
      </p:grpSp>
      <p:sp>
        <p:nvSpPr>
          <p:cNvPr id="45" name="TextBox 44">
            <a:extLst>
              <a:ext uri="{FF2B5EF4-FFF2-40B4-BE49-F238E27FC236}">
                <a16:creationId xmlns:a16="http://schemas.microsoft.com/office/drawing/2014/main" id="{66019FE2-3505-20F5-C38E-C3296768FE67}"/>
              </a:ext>
            </a:extLst>
          </p:cNvPr>
          <p:cNvSpPr txBox="1"/>
          <p:nvPr/>
        </p:nvSpPr>
        <p:spPr>
          <a:xfrm>
            <a:off x="3441290" y="832055"/>
            <a:ext cx="4316361" cy="769441"/>
          </a:xfrm>
          <a:prstGeom prst="rect">
            <a:avLst/>
          </a:prstGeom>
          <a:noFill/>
        </p:spPr>
        <p:txBody>
          <a:bodyPr wrap="square" rtlCol="0">
            <a:spAutoFit/>
          </a:bodyPr>
          <a:lstStyle/>
          <a:p>
            <a:r>
              <a:rPr lang="en-US" sz="2400" b="1" dirty="0">
                <a:solidFill>
                  <a:srgbClr val="FF0000"/>
                </a:solidFill>
                <a:latin typeface="Arial" panose="020B0604020202020204" pitchFamily="34" charset="0"/>
                <a:cs typeface="Arial" panose="020B0604020202020204" pitchFamily="34" charset="0"/>
              </a:rPr>
              <a:t>Ingress: </a:t>
            </a:r>
            <a:r>
              <a:rPr lang="en-US" sz="2000" b="1" dirty="0">
                <a:latin typeface="Arial" panose="020B0604020202020204" pitchFamily="34" charset="0"/>
                <a:cs typeface="Arial" panose="020B0604020202020204" pitchFamily="34" charset="0"/>
              </a:rPr>
              <a:t>Acts like the domain and the bundle of the services.</a:t>
            </a:r>
          </a:p>
        </p:txBody>
      </p:sp>
    </p:spTree>
    <p:extLst>
      <p:ext uri="{BB962C8B-B14F-4D97-AF65-F5344CB8AC3E}">
        <p14:creationId xmlns:p14="http://schemas.microsoft.com/office/powerpoint/2010/main" val="426557502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00"/>
                                        <p:tgtEl>
                                          <p:spTgt spid="4"/>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wipe(down)">
                                      <p:cBhvr>
                                        <p:cTn id="10" dur="500"/>
                                        <p:tgtEl>
                                          <p:spTgt spid="12"/>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4"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wipe(down)">
                                      <p:cBhvr>
                                        <p:cTn id="15" dur="500"/>
                                        <p:tgtEl>
                                          <p:spTgt spid="5"/>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4" fill="hold" grpId="0" nodeType="clickEffect">
                                  <p:stCondLst>
                                    <p:cond delay="0"/>
                                  </p:stCondLst>
                                  <p:childTnLst>
                                    <p:set>
                                      <p:cBhvr>
                                        <p:cTn id="19" dur="1" fill="hold">
                                          <p:stCondLst>
                                            <p:cond delay="0"/>
                                          </p:stCondLst>
                                        </p:cTn>
                                        <p:tgtEl>
                                          <p:spTgt spid="11"/>
                                        </p:tgtEl>
                                        <p:attrNameLst>
                                          <p:attrName>style.visibility</p:attrName>
                                        </p:attrNameLst>
                                      </p:cBhvr>
                                      <p:to>
                                        <p:strVal val="visible"/>
                                      </p:to>
                                    </p:set>
                                    <p:animEffect transition="in" filter="wipe(down)">
                                      <p:cBhvr>
                                        <p:cTn id="20" dur="500"/>
                                        <p:tgtEl>
                                          <p:spTgt spid="11"/>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5" dur="500"/>
                                        <p:tgtEl>
                                          <p:spTgt spid="16"/>
                                        </p:tgtEl>
                                      </p:cBhvr>
                                    </p:animEffect>
                                  </p:childTnLst>
                                </p:cTn>
                              </p:par>
                              <p:par>
                                <p:cTn id="26" presetID="10" presetClass="entr" presetSubtype="0" fill="hold" nodeType="withEffect">
                                  <p:stCondLst>
                                    <p:cond delay="0"/>
                                  </p:stCondLst>
                                  <p:childTnLst>
                                    <p:set>
                                      <p:cBhvr>
                                        <p:cTn id="27" dur="1" fill="hold">
                                          <p:stCondLst>
                                            <p:cond delay="0"/>
                                          </p:stCondLst>
                                        </p:cTn>
                                        <p:tgtEl>
                                          <p:spTgt spid="19"/>
                                        </p:tgtEl>
                                        <p:attrNameLst>
                                          <p:attrName>style.visibility</p:attrName>
                                        </p:attrNameLst>
                                      </p:cBhvr>
                                      <p:to>
                                        <p:strVal val="visible"/>
                                      </p:to>
                                    </p:set>
                                    <p:animEffect transition="in" filter="fade">
                                      <p:cBhvr>
                                        <p:cTn id="28" dur="500"/>
                                        <p:tgtEl>
                                          <p:spTgt spid="19"/>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8"/>
                                        </p:tgtEl>
                                        <p:attrNameLst>
                                          <p:attrName>style.visibility</p:attrName>
                                        </p:attrNameLst>
                                      </p:cBhvr>
                                      <p:to>
                                        <p:strVal val="visible"/>
                                      </p:to>
                                    </p:set>
                                    <p:animEffect transition="in" filter="fade">
                                      <p:cBhvr>
                                        <p:cTn id="31" dur="500"/>
                                        <p:tgtEl>
                                          <p:spTgt spid="18"/>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grpId="0" nodeType="clickEffect">
                                  <p:stCondLst>
                                    <p:cond delay="0"/>
                                  </p:stCondLst>
                                  <p:childTnLst>
                                    <p:set>
                                      <p:cBhvr>
                                        <p:cTn id="35" dur="1" fill="hold">
                                          <p:stCondLst>
                                            <p:cond delay="0"/>
                                          </p:stCondLst>
                                        </p:cTn>
                                        <p:tgtEl>
                                          <p:spTgt spid="21"/>
                                        </p:tgtEl>
                                        <p:attrNameLst>
                                          <p:attrName>style.visibility</p:attrName>
                                        </p:attrNameLst>
                                      </p:cBhvr>
                                      <p:to>
                                        <p:strVal val="visible"/>
                                      </p:to>
                                    </p:set>
                                    <p:animEffect transition="in" filter="fade">
                                      <p:cBhvr>
                                        <p:cTn id="36" dur="500"/>
                                        <p:tgtEl>
                                          <p:spTgt spid="21"/>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25"/>
                                        </p:tgtEl>
                                        <p:attrNameLst>
                                          <p:attrName>style.visibility</p:attrName>
                                        </p:attrNameLst>
                                      </p:cBhvr>
                                      <p:to>
                                        <p:strVal val="visible"/>
                                      </p:to>
                                    </p:set>
                                    <p:animEffect transition="in" filter="fade">
                                      <p:cBhvr>
                                        <p:cTn id="41" dur="500"/>
                                        <p:tgtEl>
                                          <p:spTgt spid="2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22"/>
                                        </p:tgtEl>
                                        <p:attrNameLst>
                                          <p:attrName>style.visibility</p:attrName>
                                        </p:attrNameLst>
                                      </p:cBhvr>
                                      <p:to>
                                        <p:strVal val="visible"/>
                                      </p:to>
                                    </p:set>
                                    <p:animEffect transition="in" filter="fade">
                                      <p:cBhvr>
                                        <p:cTn id="44" dur="500"/>
                                        <p:tgtEl>
                                          <p:spTgt spid="22"/>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26"/>
                                        </p:tgtEl>
                                        <p:attrNameLst>
                                          <p:attrName>style.visibility</p:attrName>
                                        </p:attrNameLst>
                                      </p:cBhvr>
                                      <p:to>
                                        <p:strVal val="visible"/>
                                      </p:to>
                                    </p:set>
                                    <p:animEffect transition="in" filter="fade">
                                      <p:cBhvr>
                                        <p:cTn id="49" dur="500"/>
                                        <p:tgtEl>
                                          <p:spTgt spid="26"/>
                                        </p:tgtEl>
                                      </p:cBhvr>
                                    </p:animEffect>
                                  </p:childTnLst>
                                </p:cTn>
                              </p:par>
                            </p:childTnLst>
                          </p:cTn>
                        </p:par>
                      </p:childTnLst>
                    </p:cTn>
                  </p:par>
                  <p:par>
                    <p:cTn id="50" fill="hold">
                      <p:stCondLst>
                        <p:cond delay="indefinite"/>
                      </p:stCondLst>
                      <p:childTnLst>
                        <p:par>
                          <p:cTn id="51" fill="hold">
                            <p:stCondLst>
                              <p:cond delay="0"/>
                            </p:stCondLst>
                            <p:childTnLst>
                              <p:par>
                                <p:cTn id="52" presetID="10" presetClass="entr" presetSubtype="0" fill="hold" grpId="0" nodeType="clickEffect">
                                  <p:stCondLst>
                                    <p:cond delay="0"/>
                                  </p:stCondLst>
                                  <p:childTnLst>
                                    <p:set>
                                      <p:cBhvr>
                                        <p:cTn id="53" dur="1" fill="hold">
                                          <p:stCondLst>
                                            <p:cond delay="0"/>
                                          </p:stCondLst>
                                        </p:cTn>
                                        <p:tgtEl>
                                          <p:spTgt spid="27"/>
                                        </p:tgtEl>
                                        <p:attrNameLst>
                                          <p:attrName>style.visibility</p:attrName>
                                        </p:attrNameLst>
                                      </p:cBhvr>
                                      <p:to>
                                        <p:strVal val="visible"/>
                                      </p:to>
                                    </p:set>
                                    <p:animEffect transition="in" filter="fade">
                                      <p:cBhvr>
                                        <p:cTn id="54" dur="500"/>
                                        <p:tgtEl>
                                          <p:spTgt spid="27"/>
                                        </p:tgtEl>
                                      </p:cBhvr>
                                    </p:animEffect>
                                  </p:childTnLst>
                                </p:cTn>
                              </p:par>
                            </p:childTnLst>
                          </p:cTn>
                        </p:par>
                      </p:childTnLst>
                    </p:cTn>
                  </p:par>
                  <p:par>
                    <p:cTn id="55" fill="hold">
                      <p:stCondLst>
                        <p:cond delay="indefinite"/>
                      </p:stCondLst>
                      <p:childTnLst>
                        <p:par>
                          <p:cTn id="56" fill="hold">
                            <p:stCondLst>
                              <p:cond delay="0"/>
                            </p:stCondLst>
                            <p:childTnLst>
                              <p:par>
                                <p:cTn id="57" presetID="10" presetClass="entr" presetSubtype="0" fill="hold" grpId="0" nodeType="clickEffect">
                                  <p:stCondLst>
                                    <p:cond delay="0"/>
                                  </p:stCondLst>
                                  <p:childTnLst>
                                    <p:set>
                                      <p:cBhvr>
                                        <p:cTn id="58" dur="1" fill="hold">
                                          <p:stCondLst>
                                            <p:cond delay="0"/>
                                          </p:stCondLst>
                                        </p:cTn>
                                        <p:tgtEl>
                                          <p:spTgt spid="28"/>
                                        </p:tgtEl>
                                        <p:attrNameLst>
                                          <p:attrName>style.visibility</p:attrName>
                                        </p:attrNameLst>
                                      </p:cBhvr>
                                      <p:to>
                                        <p:strVal val="visible"/>
                                      </p:to>
                                    </p:set>
                                    <p:animEffect transition="in" filter="fade">
                                      <p:cBhvr>
                                        <p:cTn id="59" dur="500"/>
                                        <p:tgtEl>
                                          <p:spTgt spid="28"/>
                                        </p:tgtEl>
                                      </p:cBhvr>
                                    </p:animEffect>
                                  </p:childTnLst>
                                </p:cTn>
                              </p:par>
                            </p:childTnLst>
                          </p:cTn>
                        </p:par>
                        <p:par>
                          <p:cTn id="60" fill="hold">
                            <p:stCondLst>
                              <p:cond delay="500"/>
                            </p:stCondLst>
                            <p:childTnLst>
                              <p:par>
                                <p:cTn id="61" presetID="10" presetClass="entr" presetSubtype="0" fill="hold" nodeType="afterEffect">
                                  <p:stCondLst>
                                    <p:cond delay="0"/>
                                  </p:stCondLst>
                                  <p:childTnLst>
                                    <p:set>
                                      <p:cBhvr>
                                        <p:cTn id="62" dur="1" fill="hold">
                                          <p:stCondLst>
                                            <p:cond delay="0"/>
                                          </p:stCondLst>
                                        </p:cTn>
                                        <p:tgtEl>
                                          <p:spTgt spid="32"/>
                                        </p:tgtEl>
                                        <p:attrNameLst>
                                          <p:attrName>style.visibility</p:attrName>
                                        </p:attrNameLst>
                                      </p:cBhvr>
                                      <p:to>
                                        <p:strVal val="visible"/>
                                      </p:to>
                                    </p:set>
                                    <p:animEffect transition="in" filter="fade">
                                      <p:cBhvr>
                                        <p:cTn id="63" dur="500"/>
                                        <p:tgtEl>
                                          <p:spTgt spid="32"/>
                                        </p:tgtEl>
                                      </p:cBhvr>
                                    </p:animEffect>
                                  </p:childTnLst>
                                </p:cTn>
                              </p:par>
                              <p:par>
                                <p:cTn id="64" presetID="10" presetClass="entr" presetSubtype="0" fill="hold" nodeType="withEffect">
                                  <p:stCondLst>
                                    <p:cond delay="0"/>
                                  </p:stCondLst>
                                  <p:childTnLst>
                                    <p:set>
                                      <p:cBhvr>
                                        <p:cTn id="65" dur="1" fill="hold">
                                          <p:stCondLst>
                                            <p:cond delay="0"/>
                                          </p:stCondLst>
                                        </p:cTn>
                                        <p:tgtEl>
                                          <p:spTgt spid="35"/>
                                        </p:tgtEl>
                                        <p:attrNameLst>
                                          <p:attrName>style.visibility</p:attrName>
                                        </p:attrNameLst>
                                      </p:cBhvr>
                                      <p:to>
                                        <p:strVal val="visible"/>
                                      </p:to>
                                    </p:set>
                                    <p:animEffect transition="in" filter="fade">
                                      <p:cBhvr>
                                        <p:cTn id="66" dur="500"/>
                                        <p:tgtEl>
                                          <p:spTgt spid="35"/>
                                        </p:tgtEl>
                                      </p:cBhvr>
                                    </p:animEffect>
                                  </p:childTnLst>
                                </p:cTn>
                              </p:par>
                            </p:childTnLst>
                          </p:cTn>
                        </p:par>
                        <p:par>
                          <p:cTn id="67" fill="hold">
                            <p:stCondLst>
                              <p:cond delay="1000"/>
                            </p:stCondLst>
                            <p:childTnLst>
                              <p:par>
                                <p:cTn id="68" presetID="10" presetClass="entr" presetSubtype="0" fill="hold" grpId="0" nodeType="afterEffect">
                                  <p:stCondLst>
                                    <p:cond delay="0"/>
                                  </p:stCondLst>
                                  <p:childTnLst>
                                    <p:set>
                                      <p:cBhvr>
                                        <p:cTn id="69" dur="1" fill="hold">
                                          <p:stCondLst>
                                            <p:cond delay="0"/>
                                          </p:stCondLst>
                                        </p:cTn>
                                        <p:tgtEl>
                                          <p:spTgt spid="29"/>
                                        </p:tgtEl>
                                        <p:attrNameLst>
                                          <p:attrName>style.visibility</p:attrName>
                                        </p:attrNameLst>
                                      </p:cBhvr>
                                      <p:to>
                                        <p:strVal val="visible"/>
                                      </p:to>
                                    </p:set>
                                    <p:animEffect transition="in" filter="fade">
                                      <p:cBhvr>
                                        <p:cTn id="70" dur="500"/>
                                        <p:tgtEl>
                                          <p:spTgt spid="29"/>
                                        </p:tgtEl>
                                      </p:cBhvr>
                                    </p:animEffect>
                                  </p:childTnLst>
                                </p:cTn>
                              </p:par>
                            </p:childTnLst>
                          </p:cTn>
                        </p:par>
                      </p:childTnLst>
                    </p:cTn>
                  </p:par>
                  <p:par>
                    <p:cTn id="71" fill="hold">
                      <p:stCondLst>
                        <p:cond delay="indefinite"/>
                      </p:stCondLst>
                      <p:childTnLst>
                        <p:par>
                          <p:cTn id="72" fill="hold">
                            <p:stCondLst>
                              <p:cond delay="0"/>
                            </p:stCondLst>
                            <p:childTnLst>
                              <p:par>
                                <p:cTn id="73" presetID="16" presetClass="entr" presetSubtype="21" fill="hold" nodeType="clickEffect">
                                  <p:stCondLst>
                                    <p:cond delay="0"/>
                                  </p:stCondLst>
                                  <p:childTnLst>
                                    <p:set>
                                      <p:cBhvr>
                                        <p:cTn id="74" dur="1" fill="hold">
                                          <p:stCondLst>
                                            <p:cond delay="0"/>
                                          </p:stCondLst>
                                        </p:cTn>
                                        <p:tgtEl>
                                          <p:spTgt spid="46"/>
                                        </p:tgtEl>
                                        <p:attrNameLst>
                                          <p:attrName>style.visibility</p:attrName>
                                        </p:attrNameLst>
                                      </p:cBhvr>
                                      <p:to>
                                        <p:strVal val="visible"/>
                                      </p:to>
                                    </p:set>
                                    <p:animEffect transition="in" filter="barn(inVertical)">
                                      <p:cBhvr>
                                        <p:cTn id="75" dur="500"/>
                                        <p:tgtEl>
                                          <p:spTgt spid="46"/>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45"/>
                                        </p:tgtEl>
                                        <p:attrNameLst>
                                          <p:attrName>style.visibility</p:attrName>
                                        </p:attrNameLst>
                                      </p:cBhvr>
                                      <p:to>
                                        <p:strVal val="visible"/>
                                      </p:to>
                                    </p:set>
                                    <p:animEffect transition="in" filter="fade">
                                      <p:cBhvr>
                                        <p:cTn id="78" dur="5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11" grpId="0" animBg="1"/>
      <p:bldP spid="12" grpId="0"/>
      <p:bldP spid="18" grpId="0"/>
      <p:bldP spid="21" grpId="0"/>
      <p:bldP spid="22" grpId="0" animBg="1"/>
      <p:bldP spid="25" grpId="0" animBg="1"/>
      <p:bldP spid="26" grpId="0"/>
      <p:bldP spid="27" grpId="0" animBg="1"/>
      <p:bldP spid="28" grpId="0" animBg="1"/>
      <p:bldP spid="29" grpId="0"/>
      <p:bldP spid="45" grpId="0"/>
    </p:bldLst>
  </p:timing>
</p:sld>
</file>

<file path=ppt/slides/slide15.xml><?xml version="1.0" encoding="utf-8"?>
<p:sld xmlns:a="http://schemas.openxmlformats.org/drawingml/2006/main" xmlns:r="http://schemas.openxmlformats.org/officeDocument/2006/relationships" xmlns:p="http://schemas.openxmlformats.org/presentationml/2006/main">
  <p:cSld>
    <p:bg>
      <p:bgPr>
        <a:gradFill flip="none" rotWithShape="1">
          <a:gsLst>
            <a:gs pos="57000">
              <a:srgbClr val="DDE8EA"/>
            </a:gs>
            <a:gs pos="100000">
              <a:schemeClr val="accent1">
                <a:lumMod val="45000"/>
                <a:lumOff val="55000"/>
              </a:schemeClr>
            </a:gs>
            <a:gs pos="93000">
              <a:schemeClr val="accent1">
                <a:lumMod val="30000"/>
                <a:lumOff val="70000"/>
                <a:alpha val="6000"/>
              </a:schemeClr>
            </a:gs>
          </a:gsLst>
          <a:path path="circle">
            <a:fillToRect l="100000" t="100000"/>
          </a:path>
          <a:tileRect r="-100000" b="-100000"/>
        </a:gradFill>
        <a:effectLst/>
      </p:bgPr>
    </p:bg>
    <p:spTree>
      <p:nvGrpSpPr>
        <p:cNvPr id="1" name="">
          <a:extLst>
            <a:ext uri="{FF2B5EF4-FFF2-40B4-BE49-F238E27FC236}">
              <a16:creationId xmlns:a16="http://schemas.microsoft.com/office/drawing/2014/main" id="{3D0F37D3-577F-0DA7-CF7C-0687111245C7}"/>
            </a:ext>
          </a:extLst>
        </p:cNvPr>
        <p:cNvGrpSpPr/>
        <p:nvPr/>
      </p:nvGrpSpPr>
      <p:grpSpPr>
        <a:xfrm>
          <a:off x="0" y="0"/>
          <a:ext cx="0" cy="0"/>
          <a:chOff x="0" y="0"/>
          <a:chExt cx="0" cy="0"/>
        </a:xfrm>
      </p:grpSpPr>
      <p:sp>
        <p:nvSpPr>
          <p:cNvPr id="15" name="Title 1">
            <a:extLst>
              <a:ext uri="{FF2B5EF4-FFF2-40B4-BE49-F238E27FC236}">
                <a16:creationId xmlns:a16="http://schemas.microsoft.com/office/drawing/2014/main" id="{9BCB5FE7-682D-7A09-9F6A-D2D927B555C9}"/>
              </a:ext>
            </a:extLst>
          </p:cNvPr>
          <p:cNvSpPr txBox="1">
            <a:spLocks/>
          </p:cNvSpPr>
          <p:nvPr/>
        </p:nvSpPr>
        <p:spPr>
          <a:xfrm>
            <a:off x="228599" y="0"/>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5400" b="1" i="0" u="none" strike="noStrike" kern="1200" cap="none" spc="0" normalizeH="0" baseline="0" noProof="0" dirty="0">
                <a:ln>
                  <a:noFill/>
                </a:ln>
                <a:solidFill>
                  <a:prstClr val="black"/>
                </a:solidFill>
                <a:effectLst/>
                <a:uLnTx/>
                <a:uFillTx/>
                <a:latin typeface="Times New Roman" panose="02020603050405020304" pitchFamily="18" charset="0"/>
                <a:ea typeface="+mj-ea"/>
                <a:cs typeface="Times New Roman" panose="02020603050405020304" pitchFamily="18" charset="0"/>
              </a:rPr>
              <a:t>References:</a:t>
            </a:r>
          </a:p>
        </p:txBody>
      </p:sp>
      <p:sp>
        <p:nvSpPr>
          <p:cNvPr id="16" name="TextBox 15">
            <a:extLst>
              <a:ext uri="{FF2B5EF4-FFF2-40B4-BE49-F238E27FC236}">
                <a16:creationId xmlns:a16="http://schemas.microsoft.com/office/drawing/2014/main" id="{ECF4AA3A-BAB0-6391-42CB-E84A66C01057}"/>
              </a:ext>
            </a:extLst>
          </p:cNvPr>
          <p:cNvSpPr txBox="1"/>
          <p:nvPr/>
        </p:nvSpPr>
        <p:spPr>
          <a:xfrm>
            <a:off x="228599" y="1535739"/>
            <a:ext cx="10774017" cy="400110"/>
          </a:xfrm>
          <a:prstGeom prst="rect">
            <a:avLst/>
          </a:prstGeom>
          <a:noFill/>
        </p:spPr>
        <p:txBody>
          <a:bodyPr wrap="square" rtlCol="0">
            <a:spAutoFit/>
          </a:bodyPr>
          <a:lstStyle/>
          <a:p>
            <a:pPr lvl="0"/>
            <a:r>
              <a:rPr lang="en-US" sz="2000" b="1" i="1" u="sng" dirty="0">
                <a:solidFill>
                  <a:srgbClr val="0E2841">
                    <a:lumMod val="75000"/>
                    <a:lumOff val="25000"/>
                  </a:srgbClr>
                </a:solidFill>
                <a:latin typeface="Calibri" panose="020F0502020204030204" pitchFamily="34" charset="0"/>
                <a:ea typeface="Calibri" panose="020F0502020204030204" pitchFamily="34" charset="0"/>
                <a:cs typeface="Calibri" panose="020F0502020204030204" pitchFamily="34" charset="0"/>
              </a:rPr>
              <a:t>https://learn.microsoft.com/en-us/azure/architecture/guide/architecture-styles/microservices</a:t>
            </a:r>
            <a:endParaRPr kumimoji="0" lang="en-US" sz="2000" b="1" i="1" u="sng" strike="noStrike" kern="1200" cap="none" spc="0" normalizeH="0" baseline="0" noProof="0" dirty="0">
              <a:ln>
                <a:noFill/>
              </a:ln>
              <a:solidFill>
                <a:srgbClr val="0E2841">
                  <a:lumMod val="75000"/>
                  <a:lumOff val="25000"/>
                </a:srgbClr>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
        <p:nvSpPr>
          <p:cNvPr id="17" name="TextBox 16">
            <a:extLst>
              <a:ext uri="{FF2B5EF4-FFF2-40B4-BE49-F238E27FC236}">
                <a16:creationId xmlns:a16="http://schemas.microsoft.com/office/drawing/2014/main" id="{04EFC203-0C78-240D-4A22-3B0F95623C42}"/>
              </a:ext>
            </a:extLst>
          </p:cNvPr>
          <p:cNvSpPr txBox="1"/>
          <p:nvPr/>
        </p:nvSpPr>
        <p:spPr>
          <a:xfrm>
            <a:off x="228599" y="2146025"/>
            <a:ext cx="11648768" cy="400110"/>
          </a:xfrm>
          <a:prstGeom prst="rect">
            <a:avLst/>
          </a:prstGeom>
          <a:noFill/>
        </p:spPr>
        <p:txBody>
          <a:bodyPr wrap="square" rtlCol="0">
            <a:spAutoFit/>
          </a:bodyPr>
          <a:lstStyle/>
          <a:p>
            <a:pPr lvl="0"/>
            <a:r>
              <a:rPr lang="en-US" sz="2000" b="1" i="1" u="sng" dirty="0">
                <a:solidFill>
                  <a:srgbClr val="0E2841">
                    <a:lumMod val="75000"/>
                    <a:lumOff val="25000"/>
                  </a:srgbClr>
                </a:solidFill>
                <a:latin typeface="Calibri" panose="020F0502020204030204" pitchFamily="34" charset="0"/>
                <a:ea typeface="Calibri" panose="020F0502020204030204" pitchFamily="34" charset="0"/>
                <a:cs typeface="Calibri" panose="020F0502020204030204" pitchFamily="34" charset="0"/>
              </a:rPr>
              <a:t>https://cloud.google.com/learn/what-is-microservices-architecture</a:t>
            </a:r>
            <a:endParaRPr kumimoji="0" lang="en-US" sz="2000" b="1" i="1" u="sng" strike="noStrike" kern="1200" cap="none" spc="0" normalizeH="0" baseline="0" noProof="0" dirty="0">
              <a:ln>
                <a:noFill/>
              </a:ln>
              <a:solidFill>
                <a:srgbClr val="0E2841">
                  <a:lumMod val="75000"/>
                  <a:lumOff val="25000"/>
                </a:srgbClr>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
        <p:nvSpPr>
          <p:cNvPr id="2" name="TextBox 1">
            <a:extLst>
              <a:ext uri="{FF2B5EF4-FFF2-40B4-BE49-F238E27FC236}">
                <a16:creationId xmlns:a16="http://schemas.microsoft.com/office/drawing/2014/main" id="{44C98DC9-9191-A8B9-CD69-424513FDDEEA}"/>
              </a:ext>
            </a:extLst>
          </p:cNvPr>
          <p:cNvSpPr txBox="1"/>
          <p:nvPr/>
        </p:nvSpPr>
        <p:spPr>
          <a:xfrm>
            <a:off x="228599" y="2756311"/>
            <a:ext cx="11648768" cy="400110"/>
          </a:xfrm>
          <a:prstGeom prst="rect">
            <a:avLst/>
          </a:prstGeom>
          <a:noFill/>
        </p:spPr>
        <p:txBody>
          <a:bodyPr wrap="square" rtlCol="0">
            <a:spAutoFit/>
          </a:bodyPr>
          <a:lstStyle/>
          <a:p>
            <a:pPr lvl="0"/>
            <a:r>
              <a:rPr lang="en-US" sz="2000" b="1" i="1" u="sng" dirty="0">
                <a:solidFill>
                  <a:srgbClr val="0E2841">
                    <a:lumMod val="75000"/>
                    <a:lumOff val="25000"/>
                  </a:srgbClr>
                </a:solidFill>
                <a:latin typeface="Calibri" panose="020F0502020204030204" pitchFamily="34" charset="0"/>
                <a:ea typeface="Calibri" panose="020F0502020204030204" pitchFamily="34" charset="0"/>
                <a:cs typeface="Calibri" panose="020F0502020204030204" pitchFamily="34" charset="0"/>
              </a:rPr>
              <a:t>https://www.ibm.com/think/topics/microservices</a:t>
            </a:r>
            <a:endParaRPr kumimoji="0" lang="en-US" sz="2000" b="1" i="1" u="sng" strike="noStrike" kern="1200" cap="none" spc="0" normalizeH="0" baseline="0" noProof="0" dirty="0">
              <a:ln>
                <a:noFill/>
              </a:ln>
              <a:solidFill>
                <a:srgbClr val="0E2841">
                  <a:lumMod val="75000"/>
                  <a:lumOff val="25000"/>
                </a:srgbClr>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
        <p:nvSpPr>
          <p:cNvPr id="3" name="TextBox 2">
            <a:extLst>
              <a:ext uri="{FF2B5EF4-FFF2-40B4-BE49-F238E27FC236}">
                <a16:creationId xmlns:a16="http://schemas.microsoft.com/office/drawing/2014/main" id="{8ABFC62B-2760-8A50-D424-7F81522A3D64}"/>
              </a:ext>
            </a:extLst>
          </p:cNvPr>
          <p:cNvSpPr txBox="1"/>
          <p:nvPr/>
        </p:nvSpPr>
        <p:spPr>
          <a:xfrm>
            <a:off x="228599" y="3366597"/>
            <a:ext cx="11648768" cy="400110"/>
          </a:xfrm>
          <a:prstGeom prst="rect">
            <a:avLst/>
          </a:prstGeom>
          <a:noFill/>
        </p:spPr>
        <p:txBody>
          <a:bodyPr wrap="square" rtlCol="0">
            <a:spAutoFit/>
          </a:bodyPr>
          <a:lstStyle/>
          <a:p>
            <a:pPr lvl="0"/>
            <a:r>
              <a:rPr lang="en-US" sz="2000" b="1" i="1" u="sng" dirty="0">
                <a:solidFill>
                  <a:srgbClr val="0E2841">
                    <a:lumMod val="75000"/>
                    <a:lumOff val="25000"/>
                  </a:srgbClr>
                </a:solidFill>
                <a:latin typeface="Calibri" panose="020F0502020204030204" pitchFamily="34" charset="0"/>
                <a:ea typeface="Calibri" panose="020F0502020204030204" pitchFamily="34" charset="0"/>
                <a:cs typeface="Calibri" panose="020F0502020204030204" pitchFamily="34" charset="0"/>
              </a:rPr>
              <a:t>https://www.ibm.com/think/topics/rest-apis</a:t>
            </a:r>
            <a:endParaRPr kumimoji="0" lang="en-US" sz="2000" b="1" i="1" u="sng" strike="noStrike" kern="1200" cap="none" spc="0" normalizeH="0" baseline="0" noProof="0" dirty="0">
              <a:ln>
                <a:noFill/>
              </a:ln>
              <a:solidFill>
                <a:srgbClr val="0E2841">
                  <a:lumMod val="75000"/>
                  <a:lumOff val="25000"/>
                </a:srgbClr>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
        <p:nvSpPr>
          <p:cNvPr id="5" name="TextBox 4">
            <a:extLst>
              <a:ext uri="{FF2B5EF4-FFF2-40B4-BE49-F238E27FC236}">
                <a16:creationId xmlns:a16="http://schemas.microsoft.com/office/drawing/2014/main" id="{0039FF81-FC4D-31D9-FCF8-FE53414B3295}"/>
              </a:ext>
            </a:extLst>
          </p:cNvPr>
          <p:cNvSpPr txBox="1"/>
          <p:nvPr/>
        </p:nvSpPr>
        <p:spPr>
          <a:xfrm>
            <a:off x="228599" y="3976883"/>
            <a:ext cx="11648768" cy="400110"/>
          </a:xfrm>
          <a:prstGeom prst="rect">
            <a:avLst/>
          </a:prstGeom>
          <a:noFill/>
        </p:spPr>
        <p:txBody>
          <a:bodyPr wrap="square" rtlCol="0">
            <a:spAutoFit/>
          </a:bodyPr>
          <a:lstStyle/>
          <a:p>
            <a:pPr lvl="0"/>
            <a:r>
              <a:rPr lang="en-US" sz="2000" b="1" i="1" u="sng" dirty="0">
                <a:solidFill>
                  <a:srgbClr val="0E2841">
                    <a:lumMod val="75000"/>
                    <a:lumOff val="25000"/>
                  </a:srgbClr>
                </a:solidFill>
                <a:latin typeface="Calibri" panose="020F0502020204030204" pitchFamily="34" charset="0"/>
                <a:ea typeface="Calibri" panose="020F0502020204030204" pitchFamily="34" charset="0"/>
                <a:cs typeface="Calibri" panose="020F0502020204030204" pitchFamily="34" charset="0"/>
              </a:rPr>
              <a:t>https://www.ibm.com/think/topics/api-gateway</a:t>
            </a:r>
            <a:endParaRPr kumimoji="0" lang="en-US" sz="2000" b="1" i="1" u="sng" strike="noStrike" kern="1200" cap="none" spc="0" normalizeH="0" baseline="0" noProof="0" dirty="0">
              <a:ln>
                <a:noFill/>
              </a:ln>
              <a:solidFill>
                <a:srgbClr val="0E2841">
                  <a:lumMod val="75000"/>
                  <a:lumOff val="25000"/>
                </a:srgbClr>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
        <p:nvSpPr>
          <p:cNvPr id="6" name="TextBox 5">
            <a:extLst>
              <a:ext uri="{FF2B5EF4-FFF2-40B4-BE49-F238E27FC236}">
                <a16:creationId xmlns:a16="http://schemas.microsoft.com/office/drawing/2014/main" id="{F9363982-3206-8B67-1C97-C1CDA91585BF}"/>
              </a:ext>
            </a:extLst>
          </p:cNvPr>
          <p:cNvSpPr txBox="1"/>
          <p:nvPr/>
        </p:nvSpPr>
        <p:spPr>
          <a:xfrm>
            <a:off x="228599" y="4587169"/>
            <a:ext cx="11648768" cy="400110"/>
          </a:xfrm>
          <a:prstGeom prst="rect">
            <a:avLst/>
          </a:prstGeom>
          <a:noFill/>
        </p:spPr>
        <p:txBody>
          <a:bodyPr wrap="square" rtlCol="0">
            <a:spAutoFit/>
          </a:bodyPr>
          <a:lstStyle/>
          <a:p>
            <a:pPr lvl="0"/>
            <a:r>
              <a:rPr lang="en-US" sz="2000" b="1" i="1" u="sng" dirty="0">
                <a:solidFill>
                  <a:srgbClr val="0E2841">
                    <a:lumMod val="75000"/>
                    <a:lumOff val="25000"/>
                  </a:srgbClr>
                </a:solidFill>
                <a:latin typeface="Calibri" panose="020F0502020204030204" pitchFamily="34" charset="0"/>
                <a:ea typeface="Calibri" panose="020F0502020204030204" pitchFamily="34" charset="0"/>
                <a:cs typeface="Calibri" panose="020F0502020204030204" pitchFamily="34" charset="0"/>
              </a:rPr>
              <a:t>https://www.ibm.com/think/topics/kubernetes</a:t>
            </a:r>
            <a:endParaRPr kumimoji="0" lang="en-US" sz="2000" b="1" i="1" u="sng" strike="noStrike" kern="1200" cap="none" spc="0" normalizeH="0" baseline="0" noProof="0" dirty="0">
              <a:ln>
                <a:noFill/>
              </a:ln>
              <a:solidFill>
                <a:srgbClr val="0E2841">
                  <a:lumMod val="75000"/>
                  <a:lumOff val="25000"/>
                </a:srgbClr>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
        <p:nvSpPr>
          <p:cNvPr id="7" name="TextBox 6">
            <a:extLst>
              <a:ext uri="{FF2B5EF4-FFF2-40B4-BE49-F238E27FC236}">
                <a16:creationId xmlns:a16="http://schemas.microsoft.com/office/drawing/2014/main" id="{AC07F6F6-E72E-3EF6-F5EE-445ADC632D82}"/>
              </a:ext>
            </a:extLst>
          </p:cNvPr>
          <p:cNvSpPr txBox="1"/>
          <p:nvPr/>
        </p:nvSpPr>
        <p:spPr>
          <a:xfrm>
            <a:off x="228599" y="5197455"/>
            <a:ext cx="11648768" cy="400110"/>
          </a:xfrm>
          <a:prstGeom prst="rect">
            <a:avLst/>
          </a:prstGeom>
          <a:noFill/>
        </p:spPr>
        <p:txBody>
          <a:bodyPr wrap="square" rtlCol="0">
            <a:spAutoFit/>
          </a:bodyPr>
          <a:lstStyle/>
          <a:p>
            <a:pPr lvl="0"/>
            <a:r>
              <a:rPr lang="en-US" sz="2000" b="1" i="1" u="sng" dirty="0">
                <a:solidFill>
                  <a:srgbClr val="0E2841">
                    <a:lumMod val="75000"/>
                    <a:lumOff val="25000"/>
                  </a:srgbClr>
                </a:solidFill>
                <a:latin typeface="Calibri" panose="020F0502020204030204" pitchFamily="34" charset="0"/>
                <a:ea typeface="Calibri" panose="020F0502020204030204" pitchFamily="34" charset="0"/>
                <a:cs typeface="Calibri" panose="020F0502020204030204" pitchFamily="34" charset="0"/>
              </a:rPr>
              <a:t>https://www.youtube.com/watch?v=X48VuDVv0do</a:t>
            </a:r>
            <a:endParaRPr kumimoji="0" lang="en-US" sz="2000" b="1" i="1" u="sng" strike="noStrike" kern="1200" cap="none" spc="0" normalizeH="0" baseline="0" noProof="0" dirty="0">
              <a:ln>
                <a:noFill/>
              </a:ln>
              <a:solidFill>
                <a:srgbClr val="0E2841">
                  <a:lumMod val="75000"/>
                  <a:lumOff val="25000"/>
                </a:srgbClr>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66281917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1BACFB3-8B18-F186-25D2-C0E0C1E7154A}"/>
            </a:ext>
          </a:extLst>
        </p:cNvPr>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4522B21E-B2B9-4C72-9A71-C87EFD1374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2" name="Rectangle 21">
            <a:extLst>
              <a:ext uri="{FF2B5EF4-FFF2-40B4-BE49-F238E27FC236}">
                <a16:creationId xmlns:a16="http://schemas.microsoft.com/office/drawing/2014/main" id="{5EB7D2A2-F448-44D4-938C-DC84CBCB3B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12192000" cy="4412583"/>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24" name="Rectangle 23">
            <a:extLst>
              <a:ext uri="{FF2B5EF4-FFF2-40B4-BE49-F238E27FC236}">
                <a16:creationId xmlns:a16="http://schemas.microsoft.com/office/drawing/2014/main" id="{871AEA07-1E14-44B4-8E55-64EF049CD6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96464" y="551962"/>
            <a:ext cx="10999072" cy="4618549"/>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5" name="Title 1">
            <a:extLst>
              <a:ext uri="{FF2B5EF4-FFF2-40B4-BE49-F238E27FC236}">
                <a16:creationId xmlns:a16="http://schemas.microsoft.com/office/drawing/2014/main" id="{8147A38C-CCA5-39B7-802B-57C179F5D6CE}"/>
              </a:ext>
            </a:extLst>
          </p:cNvPr>
          <p:cNvSpPr txBox="1">
            <a:spLocks/>
          </p:cNvSpPr>
          <p:nvPr/>
        </p:nvSpPr>
        <p:spPr>
          <a:xfrm>
            <a:off x="1524000" y="1293338"/>
            <a:ext cx="9144000" cy="327459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90000"/>
              </a:lnSpc>
              <a:spcBef>
                <a:spcPct val="0"/>
              </a:spcBef>
              <a:spcAft>
                <a:spcPts val="600"/>
              </a:spcAft>
              <a:buClrTx/>
              <a:buSzTx/>
              <a:buFontTx/>
              <a:buNone/>
              <a:tabLst/>
              <a:defRPr/>
            </a:pPr>
            <a:r>
              <a:rPr kumimoji="0" lang="en-US" sz="7200" b="1" i="0" u="none" strike="noStrike" kern="1200" cap="none" spc="0" normalizeH="0" baseline="0" noProof="0" dirty="0">
                <a:ln>
                  <a:noFill/>
                </a:ln>
                <a:solidFill>
                  <a:prstClr val="black"/>
                </a:solidFill>
                <a:effectLst/>
                <a:uLnTx/>
                <a:uFillTx/>
                <a:latin typeface="Aptos Display" panose="02110004020202020204"/>
                <a:ea typeface="+mj-ea"/>
                <a:cs typeface="+mj-cs"/>
              </a:rPr>
              <a:t>THANK YOU</a:t>
            </a:r>
          </a:p>
        </p:txBody>
      </p:sp>
      <p:cxnSp>
        <p:nvCxnSpPr>
          <p:cNvPr id="26" name="Straight Connector 25">
            <a:extLst>
              <a:ext uri="{FF2B5EF4-FFF2-40B4-BE49-F238E27FC236}">
                <a16:creationId xmlns:a16="http://schemas.microsoft.com/office/drawing/2014/main" id="{F7C8EA93-3210-4C62-99E9-153C275E3A8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596464" y="6354708"/>
            <a:ext cx="11000232" cy="0"/>
          </a:xfrm>
          <a:prstGeom prst="line">
            <a:avLst/>
          </a:prstGeom>
          <a:ln w="10160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4671484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2010</TotalTime>
  <Words>1481</Words>
  <Application>Microsoft Office PowerPoint</Application>
  <PresentationFormat>Widescreen</PresentationFormat>
  <Paragraphs>114</Paragraphs>
  <Slides>16</Slides>
  <Notes>16</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Aptos</vt:lpstr>
      <vt:lpstr>Aptos Display</vt:lpstr>
      <vt:lpstr>Arial</vt:lpstr>
      <vt:lpstr>Calibri</vt:lpstr>
      <vt:lpstr>Times New Roman</vt:lpstr>
      <vt:lpstr>Office Theme</vt:lpstr>
      <vt:lpstr>PowerPoint Presentation</vt:lpstr>
      <vt:lpstr>What is Microservices Architecture?</vt:lpstr>
      <vt:lpstr>What is Microservices Architecture?</vt:lpstr>
      <vt:lpstr>How do microservices benefit the organization?</vt:lpstr>
      <vt:lpstr>Microservices both enable and require DevOps</vt:lpstr>
      <vt:lpstr>PowerPoint Presentation</vt:lpstr>
      <vt:lpstr>PowerPoint Presentation</vt:lpstr>
      <vt:lpstr>The idea of API Gateway:</vt:lpstr>
      <vt:lpstr>The idea of API Gateway:</vt:lpstr>
      <vt:lpstr>The REST API:</vt:lpstr>
      <vt:lpstr>PowerPoint Presentation</vt:lpstr>
      <vt:lpstr>Kubernetes defined (Since 2014, by Google):</vt:lpstr>
      <vt:lpstr>PowerPoint Presentation</vt:lpstr>
      <vt:lpstr>Kubernetes architecture and components:</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alHasan 20367648</dc:creator>
  <cp:lastModifiedBy>alHasan 20367648</cp:lastModifiedBy>
  <cp:revision>802</cp:revision>
  <dcterms:created xsi:type="dcterms:W3CDTF">2026-03-07T15:17:43Z</dcterms:created>
  <dcterms:modified xsi:type="dcterms:W3CDTF">2026-04-23T07:02:49Z</dcterms:modified>
</cp:coreProperties>
</file>