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8.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9.xml" ContentType="application/vnd.openxmlformats-officedocument.presentationml.notesSlide+xml"/>
  <Override PartName="/ppt/ink/ink14.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75" r:id="rId3"/>
    <p:sldId id="291" r:id="rId4"/>
    <p:sldId id="276" r:id="rId5"/>
    <p:sldId id="277" r:id="rId6"/>
    <p:sldId id="278" r:id="rId7"/>
    <p:sldId id="279" r:id="rId8"/>
    <p:sldId id="281" r:id="rId9"/>
    <p:sldId id="280" r:id="rId10"/>
    <p:sldId id="282" r:id="rId11"/>
    <p:sldId id="283" r:id="rId12"/>
    <p:sldId id="290" r:id="rId13"/>
    <p:sldId id="294" r:id="rId14"/>
    <p:sldId id="284" r:id="rId15"/>
    <p:sldId id="295" r:id="rId16"/>
    <p:sldId id="285" r:id="rId17"/>
    <p:sldId id="292" r:id="rId18"/>
    <p:sldId id="286" r:id="rId19"/>
    <p:sldId id="287" r:id="rId20"/>
    <p:sldId id="293" r:id="rId21"/>
    <p:sldId id="288" r:id="rId22"/>
    <p:sldId id="289" r:id="rId23"/>
    <p:sldId id="296" r:id="rId24"/>
    <p:sldId id="274"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02" autoAdjust="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28:04.163"/>
    </inkml:context>
    <inkml:brush xml:id="br0">
      <inkml:brushProperty name="width" value="0.05" units="cm"/>
      <inkml:brushProperty name="height" value="0.05" units="cm"/>
      <inkml:brushProperty name="color" value="#E71224"/>
    </inkml:brush>
  </inkml:definitions>
  <inkml:trace contextRef="#ctx0" brushRef="#br0">0 27 24575,'27'0'0,"227"-13"0,-65 6 0,-17 0 0,102 7 0,-84 4 0,312 0 0,-391-2 0,25-2 0,136 7 0,-43 18 0,363 87 0,-421-59 0,-15-4 0,-40-12 0,-65-19 0,97 19 0,676 72 0,-201-27 0,-490-55 0,207 72 0,-160-42 0,1400 466 0,-1310-426 0,74 30 0,187 89 0,-255-97 0,-192-78 0,95 62 0,75 81 0,-203-141 0,-3 2 0,74 88 0,-26-9 0,-5 5 0,141 266 0,-171-256 0,63 209 0,-66-149 0,47 295 0,-90-399 0,50 281 0,-38-254 0,44 125 0,-27-124 0,85 168 0,-107-248 0,27 51 0,68 98 0,-93-163 0,1-2 0,1 0 0,1-2 0,30 22 0,11 10 0,-10-7 0,-18-16 0,-1 1 0,34 42 0,-57-61 0,-12-13 0,-1 0 0,0-1 0,0 1 0,0 0 0,0 1 0,-1-1 0,1 0 0,-1 1 0,0-1 0,3 8 0,-4-9 0,0 0 0,0 0 0,0 1 0,1-1 0,-1 0 0,1 0 0,-1 0 0,1-1 0,0 1 0,0 0 0,0 0 0,4 2 0,32 21 0,-28-19 0,11 7 0,-13-9 0,1 0 0,-1 1 0,0 1 0,-1-1 0,0 1 0,1 1 0,9 11 0,-16-11 0,0 0 0,-1 0 0,0 1 0,0-1 0,-2 8 0,7-9 1,2-11 32,3-2-1432,-2 2-5427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28:05.583"/>
    </inkml:context>
    <inkml:brush xml:id="br0">
      <inkml:brushProperty name="width" value="0.05" units="cm"/>
      <inkml:brushProperty name="height" value="0.05" units="cm"/>
      <inkml:brushProperty name="color" value="#E71224"/>
    </inkml:brush>
  </inkml:definitions>
  <inkml:trace contextRef="#ctx0" brushRef="#br0">167 1 24575,'0'0'0,"0"0"0,0 0 0,0 0 0,0 0 0,0 0 0,2 28 0,7-9 0,1 0 0,2-1 0,0 0 0,0 0 0,2-1 0,16 15 0,-9-8 0,33 47 0,-43-53 0,-5-11 0,0 1 0,-1 0 0,-1 1 0,1-1 0,-1 1 0,-1 0 0,1 0 0,-2 0 0,1 1 0,-1-1 0,1 17 0,-3-23 0,0-1 0,-1 1 0,1-1 0,-1 1 0,1-1 0,-1 1 0,0-1 0,0 1 0,0-1 0,-1 0 0,1 0 0,0 1 0,-1-1 0,1 0 0,-1 0 0,0 0 0,0-1 0,0 1 0,0 0 0,-2 1 0,-7 4 0,1-1 0,-1-1 0,-14 6 0,2 0 0,-78 41 0,-60 28 0,130-68 0,31-12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29:32.289"/>
    </inkml:context>
    <inkml:brush xml:id="br0">
      <inkml:brushProperty name="width" value="0.05" units="cm"/>
      <inkml:brushProperty name="height" value="0.05" units="cm"/>
      <inkml:brushProperty name="color" value="#E71224"/>
    </inkml:brush>
  </inkml:definitions>
  <inkml:trace contextRef="#ctx0" brushRef="#br0">0 1611 24575,'4'-1'0,"-1"1"0,1-1 0,0 0 0,-1 0 0,0-1 0,1 1 0,5-4 0,4-1 0,73-32 0,132-81 0,72-72 0,89-52 0,44-6 0,-263 152 0,211-109 0,-137 80 0,98-73 0,-281 171 0,-12 8 0,-1-2 0,43-32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1:28.947"/>
    </inkml:context>
    <inkml:brush xml:id="br0">
      <inkml:brushProperty name="width" value="0.05" units="cm"/>
      <inkml:brushProperty name="height" value="0.05" units="cm"/>
      <inkml:brushProperty name="color" value="#E71224"/>
    </inkml:brush>
  </inkml:definitions>
  <inkml:trace contextRef="#ctx0" brushRef="#br0">0 1 24575,'9'1'0,"0"1"0,-1 0 0,1 0 0,-1 1 0,0 0 0,0 1 0,0 0 0,13 8 0,13 6 0,10 4 0,-1 1 0,58 41 0,-82-52 0,-1-2 0,24 11 0,17 8 0,-58-28 0,1-1 0,-1 1 0,1 0 0,-1 0 0,1 0 0,-1 0 0,0 0 0,1 1 0,-1-1 0,0 0 0,0 0 0,0 1 0,0-1 0,0 1 0,1 2 0,-2-3 0,0 0 0,0 0 0,-1 0 0,1 0 0,0 0 0,-1 0 0,1 0 0,-1 0 0,1 0 0,-1-1 0,1 1 0,-1 0 0,0 0 0,1 0 0,-1-1 0,0 1 0,1 0 0,-1-1 0,0 1 0,0-1 0,0 1 0,0-1 0,0 1 0,0-1 0,0 0 0,-1 1 0,-20 10 0,1 0 0,1 1 0,-1 1 0,2 1 0,0 1 0,-29 31 0,41-36 0,0 0 0,1 0 0,1 1 0,0-1 0,0 1 0,1 1 0,-3 13 0,2-9 0,0-1 0,-1 0 0,-9 18 0,-8 25-1365,19-48-5461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1:42.506"/>
    </inkml:context>
    <inkml:brush xml:id="br0">
      <inkml:brushProperty name="width" value="0.05" units="cm"/>
      <inkml:brushProperty name="height" value="0.05" units="cm"/>
      <inkml:brushProperty name="color" value="#E71224"/>
    </inkml:brush>
  </inkml:definitions>
  <inkml:trace contextRef="#ctx0" brushRef="#br0">0 1 24575,'11411'2603'0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1:44.060"/>
    </inkml:context>
    <inkml:brush xml:id="br0">
      <inkml:brushProperty name="width" value="0.05" units="cm"/>
      <inkml:brushProperty name="height" value="0.05" units="cm"/>
      <inkml:brushProperty name="color" value="#E71224"/>
    </inkml:brush>
  </inkml:definitions>
  <inkml:trace contextRef="#ctx0" brushRef="#br0">0 0 24575,'0'0'0,"0"0"0,0 0 0,0 0 0,0 0 0,0 0 0,6 26 0,3-13 0,0-2 0,1 1 0,0-2 0,1 1 0,0-1 0,0-1 0,14 9 0,93 52 0,-104-63 0,232 114 0,33 18 0,-263-129 0,-11-7 0,0 1 0,0-1 0,0 0 0,0 0 0,1-1 0,-1 1 0,1-1 0,-1-1 0,1 1 0,8 1 0,-37 36 0,18-33 0,-292 392 0,295-395 0,-2 3 0,-1-1 0,1 1 0,0 0 0,1 0 0,-1 0 0,1 1 0,1-1 0,-1 1 0,1 0 0,0-1 0,1 1 0,-1 0 0,0 13 0,2-7-77,1-2 265,5-26-1664,-3 7-5350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2:10.486"/>
    </inkml:context>
    <inkml:brush xml:id="br0">
      <inkml:brushProperty name="width" value="0.05" units="cm"/>
      <inkml:brushProperty name="height" value="0.05" units="cm"/>
      <inkml:brushProperty name="color" value="#E71224"/>
    </inkml:brush>
  </inkml:definitions>
  <inkml:trace contextRef="#ctx0" brushRef="#br0">0 19 24012,'1639'0'0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2:15.787"/>
    </inkml:context>
    <inkml:brush xml:id="br0">
      <inkml:brushProperty name="width" value="0.05" units="cm"/>
      <inkml:brushProperty name="height" value="0.05" units="cm"/>
      <inkml:brushProperty name="color" value="#E71224"/>
    </inkml:brush>
  </inkml:definitions>
  <inkml:trace contextRef="#ctx0" brushRef="#br0">57 1 24575,'-28'331'0,"14"-222"0,0 126 0,14-208 0,0 0 0,2 0 0,1 0 0,1 0 0,1 0 0,10 28 0,-7-30 0,-1 0 0,-2 0 0,0 0 0,1 44 0,-7 105 0,-2-69 0,-10 73 0,7-134 0,3-1 0,0 1 0,3 0 0,8 62 0,0-35 0,-1 143 0,-4-44 0,10-28 66,1 55-1497,-13-151-5395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2:17.373"/>
    </inkml:context>
    <inkml:brush xml:id="br0">
      <inkml:brushProperty name="width" value="0.05" units="cm"/>
      <inkml:brushProperty name="height" value="0.05" units="cm"/>
      <inkml:brushProperty name="color" value="#E71224"/>
    </inkml:brush>
  </inkml:definitions>
  <inkml:trace contextRef="#ctx0" brushRef="#br0">1720 61 24575,'-81'-3'0,"-1"-3"0,-140-29 0,160 27 0,-1 2 0,1 3 0,-74 6 0,24-1 0,-762-1-1365,849-1-5461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4:50.784"/>
    </inkml:context>
    <inkml:brush xml:id="br0">
      <inkml:brushProperty name="width" value="0.05" units="cm"/>
      <inkml:brushProperty name="height" value="0.05" units="cm"/>
      <inkml:brushProperty name="color" value="#E71224"/>
    </inkml:brush>
  </inkml:definitions>
  <inkml:trace contextRef="#ctx0" brushRef="#br0">0 66 24575,'269'-17'0,"-77"1"0,-13 1 0,67-2 0,-86 16 0,165 3 0,-277 0 0,237 7 0,-284 25 0,4-2 0,-1-1 0,-2 1 0,-1 0 0,-1 0 0,-5 34 0,2-29 0,-19 171 0,-52 214 0,28-178 0,12 49 0,20-149 0,9-34 0,4-68 0,-9 63 0,4-53 0,2 0 0,4 72 0,-3 40 0,-1-102 0,1-8 0,-15 81 0,-7 28 0,11-55 0,8-52 0,3 0 0,5 75 0,0-30 0,9-12 0,-11 1 0,0-90 0,-20 6 0,-93 47 0,84-36 0,-2-3 0,1 0 0,-2-2 0,-45 11 0,73-22 0,-1 1 0,1 0 0,-1 0 0,1 1 0,0-1 0,0 1 0,0 0 0,-4 4 0,-25 15 0,25-20 0,0 0 0,1 0 0,-1-1 0,0 0 0,-11 0 0,-20 3 0,-97 11 0,91-11 0,-3-1 0,29-3 0,-1 2 0,-36 7 0,18-1 0,-1-2 0,-41 1 0,-3 0 0,42-1 0,21-2 0,1-1 0,-1-1 0,-35-2 0,55 15 0,0-12 0,0-15 0,2-10-1365,0 11-5461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4:54.891"/>
    </inkml:context>
    <inkml:brush xml:id="br0">
      <inkml:brushProperty name="width" value="0.05" units="cm"/>
      <inkml:brushProperty name="height" value="0.05" units="cm"/>
      <inkml:brushProperty name="color" value="#E71224"/>
    </inkml:brush>
  </inkml:definitions>
  <inkml:trace contextRef="#ctx0" brushRef="#br0">1 8014 24575,'0'0'0,"0"0"0,0 0 0,0 0 0,0 0 0,0 0 0,0 0 0,0 0 0,0 0 0,0 0 0,0 0 0,0 0 0,0 0 0,0 0 0,0 0 0,0 0 0,0 0 0,0 0 0,0 0 0,0 0 0,2-23 0,9-4 0,29-50 0,-4 9 0,338-744 0,-332 709 0,40-140 0,11-34 0,34-97 0,-23 58 0,186-545 0,-234 665 0,8 2 0,110-225 0,4-16 0,-115 266 0,98-188 0,133-208 0,-3 54 0,75-192 0,-350 669 0,37-79 0,-6-2 0,40-148 0,-16-46 0,-50 207 0,-1 18 0,-6 30 0,6-58 0,-21 97 0,-7 13 0,-16 20 0,15-10 0,-80 73 0,-30 23 0,-66 44 0,189-158 0,12-10 0,33-19 0,2 2 0,83-47 0,-76 50 0,-12 5 0,38-22 0,154-71 0,-237 121 0,29-9 0,-28 9 0,-1 1 0,0-1 0,1 1 0,-1 0 0,1 0 0,-1-1 0,1 1 0,-1 0 0,1 0 0,-1 0 0,1 0 0,-1 1 0,1-1 0,-1 0 0,0 1 0,1-1 0,-1 1 0,3 0 0,-5 22 0,-4 65 0,-4-1 0,-4 0 0,-3-1 0,-33 100 0,13-71 0,-41 156 0,75-256 0,0 0 0,1 0 0,1 28 0,0-25 0,2-24-1365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4:56.864"/>
    </inkml:context>
    <inkml:brush xml:id="br0">
      <inkml:brushProperty name="width" value="0.05" units="cm"/>
      <inkml:brushProperty name="height" value="0.05" units="cm"/>
      <inkml:brushProperty name="color" value="#E71224"/>
    </inkml:brush>
  </inkml:definitions>
  <inkml:trace contextRef="#ctx0" brushRef="#br0">0 1 24575,'0'0'0,"0"0"0,0 0 0,0 0 0,0 0 0,0 0 0,3 13 0,13 28 0,2-1 0,35 57 0,-18-35 0,214 394 0,121 340 0,-133-324 0,-126-264 0,48 169 0,-127-294 0,80 224 0,-31-54 0,-26-73 0,5 9 0,130 345 0,-85-297 0,-98-222 0,102 183 0,-29-78 0,127 143 0,-83-105 0,-118-147 0,-5-10 0,0 1 0,-1 0 0,1 0 0,0-1 0,0 1 0,0 0 0,0-1 0,1 1 0,-1-1 0,0 0 0,1 1 0,1 1 0,-1-24-1365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4:34:57.634"/>
    </inkml:context>
    <inkml:brush xml:id="br0">
      <inkml:brushProperty name="width" value="0.05" units="cm"/>
      <inkml:brushProperty name="height" value="0.05" units="cm"/>
      <inkml:brushProperty name="color" value="#E71224"/>
    </inkml:brush>
  </inkml:definitions>
  <inkml:trace contextRef="#ctx0" brushRef="#br0">303 147 24575,'0'0'0,"0"0"0,0 0 0,0 0 0,0 0 0,0 0 0,0 0 0,0 0 0,0 0 0,0 0 0,0 0 0,0 0 0,0 0 0,-14-13 0,-38-20 0,38 25 0,1 0 0,0 0 0,0-2 0,1 1 0,0-2 0,1 1 0,-12-16 0,21 16 0,4 18 0,-1 10 0,1 1 0,0 0 0,2-1 0,0 1 0,1-1 0,1 0 0,9 20 0,69 122 0,-41-82 0,-25-46 0,-2 2 0,-1 0 0,-1 1 0,-2 0 0,-2 1 0,9 53 0,-19-87 0,0 0 0,0 0 0,-1 0 0,1 0 0,0 0 0,-1-1 0,1 1 0,-1 0 0,1 0 0,-1-1 0,0 1 0,0 0 0,0-1 0,0 1 0,0-1 0,0 1 0,0-1 0,-1 1 0,1-1 0,0 0 0,-1 0 0,1 0 0,-1 0 0,0 0 0,1 0 0,-1 0 0,0 0 0,1-1 0,-4 2 0,-7 2 0,0-1 0,1 0 0,-19 1 0,18-2 0,-75 10 0,-111 0 0,198-19-1365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04:27.153"/>
    </inkml:context>
    <inkml:brush xml:id="br0">
      <inkml:brushProperty name="width" value="0.05" units="cm"/>
      <inkml:brushProperty name="height" value="0.05" units="cm"/>
      <inkml:brushProperty name="color" value="#E71224"/>
    </inkml:brush>
  </inkml:definitions>
  <inkml:trace contextRef="#ctx0" brushRef="#br0">291 3102 24575,'19'1'0,"0"1"0,36 9 0,12 1 0,430-1 0,-307-13 0,1112 2 0,-974-18 0,-200-7 0,-4 0 0,92 9-3007,248 12 0,-285 6 2237,3572 1 5870,-1944-5-3416,2249 2-1684,-4050 0 0,32 0 0,45-6 0,-71 5 0,0-1 0,0-1 0,0 0 0,-1-1 0,0 0 0,1-1 0,18-12 0,62-48 0,-61 41 0,0 2 0,51-28 0,26 0 0,-45 22 0,85-51 0,-88 41 0,-1 2 0,62-50 0,-25 14 0,-54 41 0,73-66 0,-104 85 0,1 0 0,-2-1 0,0 0 0,0-1 0,-1 0 0,-1 0 0,0-1 0,-1 0 0,-1-1 0,5-16 0,6-36 0,-3 0 0,-3 0 0,-3-1 0,0-91 0,-8 84 0,1 9 0,-9-78 0,6 125 0,-1-1 0,-2 0 0,0 1 0,-1 0 0,-1 0 0,-1 1 0,-1 0 0,-11-18 0,-12-15 0,-60-72 0,80 110 0,-2 2 0,1 0 0,-2 0 0,1 2 0,-2 0 0,1 0 0,-2 1 0,1 1 0,-18-6 0,-27-7 0,-77-15 0,123 32 0,-149-36 0,-414-95 0,521 123 0,-776-143 0,202 103-16,360 45-4165,-86 0 3702,-364-54 1,589 44 1656,-161-27 2798,234 30-3976,25 5 0,-41-4 0,-127-12 0,-53-5 0,12-11 0,-8 0 0,42 19 0,-121-6 0,121 11 0,-5 0 0,-649 14 0,437 6 0,89-3 0,-380-1 0,357-16 0,-62 0 0,335 14 0,-108-17 0,113 13 0,-84 3 0,87 4 0,-101-13 0,-122-10 0,-3 24 0,111 1 0,57-3 0,-192 5 0,278 3 0,1 2 0,1 2 0,0 2 0,-49 21 0,38-13 0,-113 24 0,86-32 0,30-6 0,-81 22 0,-158 43 0,-23 7 0,18-1 0,119-21 0,93-27 0,-158 64 0,155-57 0,58-21 0,1 2 0,1 1 0,1 1 0,-31 27 0,-15 9 0,41-32 0,1 2 0,1 2 0,2 1 0,0 1 0,-53 69 0,76-85 0,1 0 0,0 1 0,1 0 0,-9 30 0,-13 71 0,10-37 0,7-32 0,-5 7 0,4 2 0,1-1 0,-7 109 0,2 4 0,9-111 0,0 71 0,7-34 0,4 117 0,5-140 0,4-1 0,35 117 0,5 15 0,-49-191 0,0-1 0,1 0 0,1-1 0,0 1 0,0-1 0,1 0 0,0 0 0,0 0 0,1-1 0,0 0 0,14 12 0,26 31 0,-33-34-227,0-1-1,2-1 1,0 0-1,0-1 1,21 13-1,-17-14-6598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D4E11-9C44-4A69-B08E-8C90E25E9E99}"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DA465-4BEF-420A-80B9-168D75A79793}" type="slidenum">
              <a:rPr lang="en-US" smtClean="0"/>
              <a:t>‹#›</a:t>
            </a:fld>
            <a:endParaRPr lang="en-US"/>
          </a:p>
        </p:txBody>
      </p:sp>
    </p:spTree>
    <p:extLst>
      <p:ext uri="{BB962C8B-B14F-4D97-AF65-F5344CB8AC3E}">
        <p14:creationId xmlns:p14="http://schemas.microsoft.com/office/powerpoint/2010/main" val="107436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7DA465-4BEF-420A-80B9-168D75A79793}" type="slidenum">
              <a:rPr lang="en-US" smtClean="0"/>
              <a:t>1</a:t>
            </a:fld>
            <a:endParaRPr lang="en-US"/>
          </a:p>
        </p:txBody>
      </p:sp>
    </p:spTree>
    <p:extLst>
      <p:ext uri="{BB962C8B-B14F-4D97-AF65-F5344CB8AC3E}">
        <p14:creationId xmlns:p14="http://schemas.microsoft.com/office/powerpoint/2010/main" val="497204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7DA465-4BEF-420A-80B9-168D75A79793}" type="slidenum">
              <a:rPr lang="en-US" smtClean="0"/>
              <a:t>4</a:t>
            </a:fld>
            <a:endParaRPr lang="en-US"/>
          </a:p>
        </p:txBody>
      </p:sp>
    </p:spTree>
    <p:extLst>
      <p:ext uri="{BB962C8B-B14F-4D97-AF65-F5344CB8AC3E}">
        <p14:creationId xmlns:p14="http://schemas.microsoft.com/office/powerpoint/2010/main" val="2308879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22C87-42F5-519C-A05E-6C91B1E3F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A5997-B278-8592-1260-C247A5BCF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51C61-086B-209E-9B7D-623B9D554A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6C9DC6-EB65-D47B-5981-284FA4A1F5A6}"/>
              </a:ext>
            </a:extLst>
          </p:cNvPr>
          <p:cNvSpPr>
            <a:spLocks noGrp="1"/>
          </p:cNvSpPr>
          <p:nvPr>
            <p:ph type="sldNum" sz="quarter" idx="5"/>
          </p:nvPr>
        </p:nvSpPr>
        <p:spPr/>
        <p:txBody>
          <a:bodyPr/>
          <a:lstStyle/>
          <a:p>
            <a:fld id="{5D7DA465-4BEF-420A-80B9-168D75A79793}" type="slidenum">
              <a:rPr lang="en-US" smtClean="0"/>
              <a:t>5</a:t>
            </a:fld>
            <a:endParaRPr lang="en-US"/>
          </a:p>
        </p:txBody>
      </p:sp>
    </p:spTree>
    <p:extLst>
      <p:ext uri="{BB962C8B-B14F-4D97-AF65-F5344CB8AC3E}">
        <p14:creationId xmlns:p14="http://schemas.microsoft.com/office/powerpoint/2010/main" val="128125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1F4F-E2A6-04FE-7CB0-BBDA8D792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9DFF8-8060-6B8B-4DCE-E037E6859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54305-8C7B-DEB3-E40C-F91E9BE45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40F29C-A546-C1AE-2F7A-08AA91E24826}"/>
              </a:ext>
            </a:extLst>
          </p:cNvPr>
          <p:cNvSpPr>
            <a:spLocks noGrp="1"/>
          </p:cNvSpPr>
          <p:nvPr>
            <p:ph type="sldNum" sz="quarter" idx="5"/>
          </p:nvPr>
        </p:nvSpPr>
        <p:spPr/>
        <p:txBody>
          <a:bodyPr/>
          <a:lstStyle/>
          <a:p>
            <a:fld id="{5D7DA465-4BEF-420A-80B9-168D75A79793}" type="slidenum">
              <a:rPr lang="en-US" smtClean="0"/>
              <a:t>6</a:t>
            </a:fld>
            <a:endParaRPr lang="en-US"/>
          </a:p>
        </p:txBody>
      </p:sp>
    </p:spTree>
    <p:extLst>
      <p:ext uri="{BB962C8B-B14F-4D97-AF65-F5344CB8AC3E}">
        <p14:creationId xmlns:p14="http://schemas.microsoft.com/office/powerpoint/2010/main" val="3403576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67DF5-4025-776F-65D1-4D040E201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09D06-37AB-1400-D167-6BACBDA0A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8E2BD-F0D4-8EE2-0166-32124126C1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BA95A-86E8-206F-2203-1FF2B2090BAD}"/>
              </a:ext>
            </a:extLst>
          </p:cNvPr>
          <p:cNvSpPr>
            <a:spLocks noGrp="1"/>
          </p:cNvSpPr>
          <p:nvPr>
            <p:ph type="sldNum" sz="quarter" idx="5"/>
          </p:nvPr>
        </p:nvSpPr>
        <p:spPr/>
        <p:txBody>
          <a:bodyPr/>
          <a:lstStyle/>
          <a:p>
            <a:fld id="{5D7DA465-4BEF-420A-80B9-168D75A79793}" type="slidenum">
              <a:rPr lang="en-US" smtClean="0"/>
              <a:t>7</a:t>
            </a:fld>
            <a:endParaRPr lang="en-US"/>
          </a:p>
        </p:txBody>
      </p:sp>
    </p:spTree>
    <p:extLst>
      <p:ext uri="{BB962C8B-B14F-4D97-AF65-F5344CB8AC3E}">
        <p14:creationId xmlns:p14="http://schemas.microsoft.com/office/powerpoint/2010/main" val="345589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4B2B-2DD3-0C8D-04CF-F5EE1EF54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6C95C-0C33-C5F7-A081-7BA6B0119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B45DA-2C2E-C9DA-2E19-C5B45280D9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B64EF4-FF63-38BF-1093-0414B59E3375}"/>
              </a:ext>
            </a:extLst>
          </p:cNvPr>
          <p:cNvSpPr>
            <a:spLocks noGrp="1"/>
          </p:cNvSpPr>
          <p:nvPr>
            <p:ph type="sldNum" sz="quarter" idx="5"/>
          </p:nvPr>
        </p:nvSpPr>
        <p:spPr/>
        <p:txBody>
          <a:bodyPr/>
          <a:lstStyle/>
          <a:p>
            <a:fld id="{5D7DA465-4BEF-420A-80B9-168D75A79793}" type="slidenum">
              <a:rPr lang="en-US" smtClean="0"/>
              <a:t>8</a:t>
            </a:fld>
            <a:endParaRPr lang="en-US"/>
          </a:p>
        </p:txBody>
      </p:sp>
    </p:spTree>
    <p:extLst>
      <p:ext uri="{BB962C8B-B14F-4D97-AF65-F5344CB8AC3E}">
        <p14:creationId xmlns:p14="http://schemas.microsoft.com/office/powerpoint/2010/main" val="3053056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AF438-2EB6-3720-64B8-83612EBAA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A18D8-F8E6-FA84-437E-D366B0093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3300B-F881-61DB-FCC5-078F9CE9B4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761C3-CC7B-5021-BF89-2423943584B6}"/>
              </a:ext>
            </a:extLst>
          </p:cNvPr>
          <p:cNvSpPr>
            <a:spLocks noGrp="1"/>
          </p:cNvSpPr>
          <p:nvPr>
            <p:ph type="sldNum" sz="quarter" idx="5"/>
          </p:nvPr>
        </p:nvSpPr>
        <p:spPr/>
        <p:txBody>
          <a:bodyPr/>
          <a:lstStyle/>
          <a:p>
            <a:fld id="{5D7DA465-4BEF-420A-80B9-168D75A79793}" type="slidenum">
              <a:rPr lang="en-US" smtClean="0"/>
              <a:t>9</a:t>
            </a:fld>
            <a:endParaRPr lang="en-US"/>
          </a:p>
        </p:txBody>
      </p:sp>
    </p:spTree>
    <p:extLst>
      <p:ext uri="{BB962C8B-B14F-4D97-AF65-F5344CB8AC3E}">
        <p14:creationId xmlns:p14="http://schemas.microsoft.com/office/powerpoint/2010/main" val="267061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195EA-EF19-DA43-EA40-32C0A802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17246-FF5B-7801-00F1-A1775903A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BA328-6700-35FF-88FD-5BF0A8D9CF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74C930-2C8E-6F56-29F7-B5636ABA40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7721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9A5C-0B38-4F31-9658-8C316F5D7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B949C-36B4-8FA0-631B-A0C57943F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F7AD0-8C4B-DF8F-9FBA-9656B792D0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1C61AB-6BE0-B403-CDF0-30FFA8D216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09211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6D8D-B20B-BCA6-0A06-1160A362C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0614A-39EA-F4ED-4CC0-CC3D1C37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6942B-50F7-EBC9-6E97-56E548D3D3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ECEF0B-7B8F-34BF-49BE-6383F71F1D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728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3719-1E18-9A6A-1C54-C2253460E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AA8FD-A322-EED0-263A-A88D40B37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1BF42F-8FF2-56A9-107E-67170FA69D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FEE393-9771-0704-1C43-A19E3F4AC3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7405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C37E1-99B2-D97C-B72E-AAD974F7D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D1FC7-3AF8-2AB4-3567-0AF9ED719F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F8E2C-F572-6826-40A6-C16CD43580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DD98A-7613-8046-28A6-F27BB92E57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4871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CA7DF-FABA-278A-49E0-84B08D27B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0DF80-6E93-34BF-8C69-33BE85577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D26AE-040D-3DC2-8396-018692B847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F4F22D-FDC0-B161-EFCB-2D737B9CF7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1842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8CE94-5668-8730-AAF8-11F44CE8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8C984-326A-DD09-7AC6-3C60517B2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8A5B4-81A2-4F1F-1CF4-7D49E2A649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86263C-D761-F06E-08B9-FEEADE4BEE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2041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22382-3EC4-4BD8-5762-1D6636837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C04BB-1F6A-9827-65C4-64F622EE0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19B22-0CE6-7103-3689-08B3D85118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1CE02E-155A-4AF1-A2E2-B28A01A258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2015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8F74E-F789-D5C9-580D-F2C15B863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EA30A-865D-340A-7A70-FE2637136A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488187-10B9-007B-75E8-8C69C593F1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848DD-50D9-CE67-96A6-FC080834F0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54592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EE23-C370-2681-CED6-1CB3EF132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AC297-E14A-CFD1-F121-FC979ECA0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B2FB3-57EA-EE96-4FA6-5952FA0A8E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203EFA-9188-0E6E-6562-7975E91710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5100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F1D12-7C80-5D73-B3A5-79386E94B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28C17-2138-B0C4-AB15-15BFC7AB36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95231-DBE6-A9C4-8D96-56ABAF5DF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26684-7C93-FC6D-CB9D-BE6802124C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6453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FCE26-395A-9777-D315-21CF3A787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CA0CF-18B1-F1BD-7FCD-018AF9218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C02BB-BC46-B021-9F2E-1772D45D4B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F59355-E348-DA59-8BA2-C852F19B33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8381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3803A-4B18-0C6B-B773-C8CBEAB19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EFB80-15DE-23AB-A8A0-3C50F8576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947DE-9E5C-65F6-93CB-E40259516F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05CBCB-BE84-0A70-710D-82E998FDE5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28320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D82CF-8632-A258-9894-B64AAB04D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15D77-F1C2-635F-EE47-AB6A98A91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866E6-AE1A-C393-2908-857CF0F71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2C3CD3-3097-1BA5-F5E3-6B80A4C373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7953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41E-1CE8-1561-B13D-1BD6BCD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187A-759F-BF6B-E1AE-42DD7499C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F3D5-FA1B-49DF-0530-1B6738FA3C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1DF6A2-B53C-488B-B509-C05204B38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786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E3CA-8603-956C-FE73-7961D0B2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46B5-91CF-4276-E2CE-F7F9C245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40E9-E8A5-6367-59AC-BA157806A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79D7A-7931-B939-A2D4-E5BC257D41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85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D1C8-A001-3671-67CF-2C51F676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06ADB7-3594-8E87-3AC3-2D28C938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E6A22E-43AD-3FAF-B032-45E551E13188}"/>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0BBC8F42-3300-56C2-9C00-53BF0F0E3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F0A59-56B7-BB1A-9165-4BEE4A08108A}"/>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595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94C1-D301-D617-62A6-B5B215F6B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752BD-C41C-9957-4390-1752AB758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A4FB9-FBC8-8247-109F-FCD90198CD24}"/>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6B37133C-F31A-8484-CA70-C9E5DE128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77AC4-2595-519D-729F-7AAFDEC9E04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90534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F4A0-31B1-C2F4-E91B-0FD417FC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C96E0D-9544-C6F5-25D3-66053C1F2D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691AA-ECA0-DC27-6FA8-C5EF02D64C69}"/>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9AB9868D-E9E0-0F4D-E947-F2C22172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C8033-3552-934C-4037-60C0EFB5BE63}"/>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859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7608-5968-371C-3C82-5455182A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1BF24-E95D-63EB-26FE-0465E2C56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82935-2122-CBB1-0F37-A5EE2DFA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E2240-CDE3-B77F-97CF-45E873FB02BD}"/>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6" name="Footer Placeholder 5">
            <a:extLst>
              <a:ext uri="{FF2B5EF4-FFF2-40B4-BE49-F238E27FC236}">
                <a16:creationId xmlns:a16="http://schemas.microsoft.com/office/drawing/2014/main" id="{F6D94A1D-3E47-96F1-2345-515C08859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A3D5B-3399-9627-0440-B288CF47E434}"/>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75970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E29B-86DA-D02F-196C-283013B6F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0789D-FA88-CEBC-F410-CF39B79ED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D52B0-C28B-3777-C4D4-40BF0213CA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F9CC55-B453-1C2B-573F-6B6CB3B15D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68186-E574-08D3-B1C9-0944A1F53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16783-CACF-23C2-6B18-CBE2E7EC5B77}"/>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8" name="Footer Placeholder 7">
            <a:extLst>
              <a:ext uri="{FF2B5EF4-FFF2-40B4-BE49-F238E27FC236}">
                <a16:creationId xmlns:a16="http://schemas.microsoft.com/office/drawing/2014/main" id="{D2085B0D-F54E-AFCC-2A11-1E72F2E6D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00F25-0CF2-543D-A790-97EBF24FECC7}"/>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231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5F0B-55E3-79B5-0FA9-EBB6E0476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FFC90D-4E31-68F9-3649-43E5A1734B4A}"/>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4" name="Footer Placeholder 3">
            <a:extLst>
              <a:ext uri="{FF2B5EF4-FFF2-40B4-BE49-F238E27FC236}">
                <a16:creationId xmlns:a16="http://schemas.microsoft.com/office/drawing/2014/main" id="{700AE31B-8154-AFEA-99DC-23C1433AF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9E499-67B5-6818-9470-20D3245F9A36}"/>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368559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925F9-8836-2731-2415-E9048D534C4B}"/>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3" name="Footer Placeholder 2">
            <a:extLst>
              <a:ext uri="{FF2B5EF4-FFF2-40B4-BE49-F238E27FC236}">
                <a16:creationId xmlns:a16="http://schemas.microsoft.com/office/drawing/2014/main" id="{9BAA7D79-5525-8E0A-0872-9D9A4FEC20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29F34-711B-8DB9-3D9E-025C13C503CF}"/>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549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4517-18A4-4FA1-97C2-5B7271809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8E9F1-DBBE-1648-ACC4-3E85183E1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3CECB-5FCC-3498-F84D-6562D492B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0641B-8EC0-21D6-9666-AE48C289A1AD}"/>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6" name="Footer Placeholder 5">
            <a:extLst>
              <a:ext uri="{FF2B5EF4-FFF2-40B4-BE49-F238E27FC236}">
                <a16:creationId xmlns:a16="http://schemas.microsoft.com/office/drawing/2014/main" id="{62C6EC1D-46D6-41E6-7401-40A89E8C8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D9433-9223-BF6C-24AE-02969CC0B71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62384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3CE3-9F07-2E7E-069E-328F6972B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286A0-D003-72DE-EB76-122BE1FE4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8D15B-F664-F0A4-7CFF-958E87B2D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D774E-F9F3-66A9-0A07-35536838A1A0}"/>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6" name="Footer Placeholder 5">
            <a:extLst>
              <a:ext uri="{FF2B5EF4-FFF2-40B4-BE49-F238E27FC236}">
                <a16:creationId xmlns:a16="http://schemas.microsoft.com/office/drawing/2014/main" id="{E7A2903F-F711-F7FC-F01D-8A4675E3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83C8B-BC4A-059A-1B5E-FF9EB1F99B6B}"/>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55295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62A8-46E6-27A3-37F3-237FB7B930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4F02E-5074-7FEC-E1B9-F4B2E3249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66A9-AD1B-D42A-C4C0-676F40089DFE}"/>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000DA104-5DED-DF4E-392A-C03E4B6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8105-952B-B1DC-CD82-38EBC3A06A12}"/>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2310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01F3-4BEC-41B7-2BDE-7E06C9873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D4BC3B-3D9C-977F-788E-ACC7E9CE9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A111A-89BC-DF66-0463-F43333A7866A}"/>
              </a:ext>
            </a:extLst>
          </p:cNvPr>
          <p:cNvSpPr>
            <a:spLocks noGrp="1"/>
          </p:cNvSpPr>
          <p:nvPr>
            <p:ph type="dt" sz="half" idx="10"/>
          </p:nvPr>
        </p:nvSpPr>
        <p:spPr/>
        <p:txBody>
          <a:body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47A8A549-0BFE-FAB8-9B87-43E0207B6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CB065-A3F6-F2FF-4F8F-7C9EFA2036A0}"/>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914562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AF0B-97C5-A7E9-99FB-069DFA852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E799F4-0586-FCF1-7796-FFBE5F94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A3930-F78A-5717-2B13-9C168BAE5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75AD8-6727-4031-AB70-90E6355DAEBF}" type="datetimeFigureOut">
              <a:rPr lang="en-US" smtClean="0"/>
              <a:t>3/24/2026</a:t>
            </a:fld>
            <a:endParaRPr lang="en-US"/>
          </a:p>
        </p:txBody>
      </p:sp>
      <p:sp>
        <p:nvSpPr>
          <p:cNvPr id="5" name="Footer Placeholder 4">
            <a:extLst>
              <a:ext uri="{FF2B5EF4-FFF2-40B4-BE49-F238E27FC236}">
                <a16:creationId xmlns:a16="http://schemas.microsoft.com/office/drawing/2014/main" id="{6905B497-83F6-BD21-E492-D78C7AD33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5A1A65-CA88-36B2-EBE7-D29EF1CC4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2EBA9-F5D8-4B2D-AD8E-964F40FFF1DD}" type="slidenum">
              <a:rPr lang="en-US" smtClean="0"/>
              <a:t>‹#›</a:t>
            </a:fld>
            <a:endParaRPr lang="en-US"/>
          </a:p>
        </p:txBody>
      </p:sp>
    </p:spTree>
    <p:extLst>
      <p:ext uri="{BB962C8B-B14F-4D97-AF65-F5344CB8AC3E}">
        <p14:creationId xmlns:p14="http://schemas.microsoft.com/office/powerpoint/2010/main" val="25425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80.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customXml" Target="../ink/ink7.xml"/><Relationship Id="rId17" Type="http://schemas.openxmlformats.org/officeDocument/2006/relationships/image" Target="../media/image16.png"/><Relationship Id="rId2" Type="http://schemas.openxmlformats.org/officeDocument/2006/relationships/notesSlide" Target="../notesSlides/notesSlide7.xml"/><Relationship Id="rId16"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image" Target="../media/image13.png"/><Relationship Id="rId5" Type="http://schemas.openxmlformats.org/officeDocument/2006/relationships/image" Target="../media/image100.png"/><Relationship Id="rId15" Type="http://schemas.openxmlformats.org/officeDocument/2006/relationships/image" Target="../media/image15.png"/><Relationship Id="rId10" Type="http://schemas.openxmlformats.org/officeDocument/2006/relationships/customXml" Target="../ink/ink6.xml"/><Relationship Id="rId4" Type="http://schemas.openxmlformats.org/officeDocument/2006/relationships/customXml" Target="../ink/ink3.xml"/><Relationship Id="rId9" Type="http://schemas.openxmlformats.org/officeDocument/2006/relationships/image" Target="../media/image12.png"/><Relationship Id="rId14" Type="http://schemas.openxmlformats.org/officeDocument/2006/relationships/customXml" Target="../ink/ink8.xml"/></Relationships>
</file>

<file path=ppt/slides/_rels/slide10.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20.png"/><Relationship Id="rId5" Type="http://schemas.openxmlformats.org/officeDocument/2006/relationships/image" Target="../media/image17.png"/><Relationship Id="rId10" Type="http://schemas.openxmlformats.org/officeDocument/2006/relationships/customXml" Target="../ink/ink13.xml"/><Relationship Id="rId4" Type="http://schemas.openxmlformats.org/officeDocument/2006/relationships/customXml" Target="../ink/ink10.xml"/><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customXml" Target="../ink/ink14.xml"/><Relationship Id="rId3" Type="http://schemas.openxmlformats.org/officeDocument/2006/relationships/image" Target="../media/image21.png"/><Relationship Id="rId7" Type="http://schemas.openxmlformats.org/officeDocument/2006/relationships/hyperlink" Target="https://www.sysdig.com/learn-cloud-native/dockerfile-best-practice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oneuptime.com/blog/post/2026-01-16-docker-run-non-root-user/view" TargetMode="External"/><Relationship Id="rId5" Type="http://schemas.openxmlformats.org/officeDocument/2006/relationships/hyperlink" Target="https://docs.docker.com/get-started/docker-concepts/building-images/understanding-image-layers/" TargetMode="External"/><Relationship Id="rId4" Type="http://schemas.openxmlformats.org/officeDocument/2006/relationships/hyperlink" Target="https://docs.docker.com/build/building/best-practices/" TargetMode="External"/><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BC73A15-B3DA-284C-F8FF-F92DAA0060C0}"/>
              </a:ext>
            </a:extLst>
          </p:cNvPr>
          <p:cNvPicPr>
            <a:picLocks noChangeAspect="1"/>
          </p:cNvPicPr>
          <p:nvPr/>
        </p:nvPicPr>
        <p:blipFill>
          <a:blip r:embed="rId3">
            <a:extLst>
              <a:ext uri="{28A0092B-C50C-407E-A947-70E740481C1C}">
                <a14:useLocalDpi xmlns:a14="http://schemas.microsoft.com/office/drawing/2010/main" val="0"/>
              </a:ext>
            </a:extLst>
          </a:blip>
          <a:srcRect l="20506" r="-759"/>
          <a:stretch>
            <a:fillRect/>
          </a:stretch>
        </p:blipFill>
        <p:spPr>
          <a:xfrm>
            <a:off x="-150472" y="-2"/>
            <a:ext cx="9784465" cy="6858000"/>
          </a:xfrm>
          <a:prstGeom prst="rect">
            <a:avLst/>
          </a:prstGeom>
        </p:spPr>
      </p:pic>
      <p:sp>
        <p:nvSpPr>
          <p:cNvPr id="12" name="Freeform: Shape 11">
            <a:extLst>
              <a:ext uri="{FF2B5EF4-FFF2-40B4-BE49-F238E27FC236}">
                <a16:creationId xmlns:a16="http://schemas.microsoft.com/office/drawing/2014/main" id="{98C3DC4F-1360-A13C-86B1-D4CAA1B3F0FE}"/>
              </a:ext>
            </a:extLst>
          </p:cNvPr>
          <p:cNvSpPr/>
          <p:nvPr/>
        </p:nvSpPr>
        <p:spPr>
          <a:xfrm>
            <a:off x="-150472" y="-2"/>
            <a:ext cx="12191998" cy="6857999"/>
          </a:xfrm>
          <a:custGeom>
            <a:avLst/>
            <a:gdLst>
              <a:gd name="csX0" fmla="*/ 707924 w 12191998"/>
              <a:gd name="csY0" fmla="*/ 0 h 6857999"/>
              <a:gd name="csX1" fmla="*/ 812799 w 12191998"/>
              <a:gd name="csY1" fmla="*/ 0 h 6857999"/>
              <a:gd name="csX2" fmla="*/ 812799 w 12191998"/>
              <a:gd name="csY2" fmla="*/ 4913671 h 6857999"/>
              <a:gd name="csX3" fmla="*/ 1166761 w 12191998"/>
              <a:gd name="csY3" fmla="*/ 5267633 h 6857999"/>
              <a:gd name="csX4" fmla="*/ 1166760 w 12191998"/>
              <a:gd name="csY4" fmla="*/ 5267634 h 6857999"/>
              <a:gd name="csX5" fmla="*/ 1520722 w 12191998"/>
              <a:gd name="csY5" fmla="*/ 4913672 h 6857999"/>
              <a:gd name="csX6" fmla="*/ 1520723 w 12191998"/>
              <a:gd name="csY6" fmla="*/ 0 h 6857999"/>
              <a:gd name="csX7" fmla="*/ 1625599 w 12191998"/>
              <a:gd name="csY7" fmla="*/ 0 h 6857999"/>
              <a:gd name="csX8" fmla="*/ 1625599 w 12191998"/>
              <a:gd name="csY8" fmla="*/ 5480830 h 6857999"/>
              <a:gd name="csX9" fmla="*/ 1979561 w 12191998"/>
              <a:gd name="csY9" fmla="*/ 5834792 h 6857999"/>
              <a:gd name="csX10" fmla="*/ 1979560 w 12191998"/>
              <a:gd name="csY10" fmla="*/ 5834793 h 6857999"/>
              <a:gd name="csX11" fmla="*/ 2333523 w 12191998"/>
              <a:gd name="csY11" fmla="*/ 5480831 h 6857999"/>
              <a:gd name="csX12" fmla="*/ 2333523 w 12191998"/>
              <a:gd name="csY12" fmla="*/ 0 h 6857999"/>
              <a:gd name="csX13" fmla="*/ 2438399 w 12191998"/>
              <a:gd name="csY13" fmla="*/ 0 h 6857999"/>
              <a:gd name="csX14" fmla="*/ 2438399 w 12191998"/>
              <a:gd name="csY14" fmla="*/ 4913670 h 6857999"/>
              <a:gd name="csX15" fmla="*/ 2792361 w 12191998"/>
              <a:gd name="csY15" fmla="*/ 5267632 h 6857999"/>
              <a:gd name="csX16" fmla="*/ 2792360 w 12191998"/>
              <a:gd name="csY16" fmla="*/ 5267633 h 6857999"/>
              <a:gd name="csX17" fmla="*/ 3146323 w 12191998"/>
              <a:gd name="csY17" fmla="*/ 4913671 h 6857999"/>
              <a:gd name="csX18" fmla="*/ 3146323 w 12191998"/>
              <a:gd name="csY18" fmla="*/ 0 h 6857999"/>
              <a:gd name="csX19" fmla="*/ 3245059 w 12191998"/>
              <a:gd name="csY19" fmla="*/ 0 h 6857999"/>
              <a:gd name="csX20" fmla="*/ 3245059 w 12191998"/>
              <a:gd name="csY20" fmla="*/ 5480830 h 6857999"/>
              <a:gd name="csX21" fmla="*/ 3599021 w 12191998"/>
              <a:gd name="csY21" fmla="*/ 5834792 h 6857999"/>
              <a:gd name="csX22" fmla="*/ 3599020 w 12191998"/>
              <a:gd name="csY22" fmla="*/ 5834793 h 6857999"/>
              <a:gd name="csX23" fmla="*/ 3952982 w 12191998"/>
              <a:gd name="csY23" fmla="*/ 5480831 h 6857999"/>
              <a:gd name="csX24" fmla="*/ 3952983 w 12191998"/>
              <a:gd name="csY24" fmla="*/ 0 h 6857999"/>
              <a:gd name="csX25" fmla="*/ 4051719 w 12191998"/>
              <a:gd name="csY25" fmla="*/ 0 h 6857999"/>
              <a:gd name="csX26" fmla="*/ 4051719 w 12191998"/>
              <a:gd name="csY26" fmla="*/ 4913670 h 6857999"/>
              <a:gd name="csX27" fmla="*/ 4405680 w 12191998"/>
              <a:gd name="csY27" fmla="*/ 5267632 h 6857999"/>
              <a:gd name="csX28" fmla="*/ 4405680 w 12191998"/>
              <a:gd name="csY28" fmla="*/ 5267633 h 6857999"/>
              <a:gd name="csX29" fmla="*/ 4759641 w 12191998"/>
              <a:gd name="csY29" fmla="*/ 4913671 h 6857999"/>
              <a:gd name="csX30" fmla="*/ 4759642 w 12191998"/>
              <a:gd name="csY30" fmla="*/ 0 h 6857999"/>
              <a:gd name="csX31" fmla="*/ 4870658 w 12191998"/>
              <a:gd name="csY31" fmla="*/ 0 h 6857999"/>
              <a:gd name="csX32" fmla="*/ 4870658 w 12191998"/>
              <a:gd name="csY32" fmla="*/ 5480830 h 6857999"/>
              <a:gd name="csX33" fmla="*/ 5224620 w 12191998"/>
              <a:gd name="csY33" fmla="*/ 5834792 h 6857999"/>
              <a:gd name="csX34" fmla="*/ 5224619 w 12191998"/>
              <a:gd name="csY34" fmla="*/ 5834793 h 6857999"/>
              <a:gd name="csX35" fmla="*/ 5578581 w 12191998"/>
              <a:gd name="csY35" fmla="*/ 5480831 h 6857999"/>
              <a:gd name="csX36" fmla="*/ 5578582 w 12191998"/>
              <a:gd name="csY36" fmla="*/ 0 h 6857999"/>
              <a:gd name="csX37" fmla="*/ 5686528 w 12191998"/>
              <a:gd name="csY37" fmla="*/ 0 h 6857999"/>
              <a:gd name="csX38" fmla="*/ 5686528 w 12191998"/>
              <a:gd name="csY38" fmla="*/ 4913669 h 6857999"/>
              <a:gd name="csX39" fmla="*/ 6040490 w 12191998"/>
              <a:gd name="csY39" fmla="*/ 5267631 h 6857999"/>
              <a:gd name="csX40" fmla="*/ 6040489 w 12191998"/>
              <a:gd name="csY40" fmla="*/ 5267632 h 6857999"/>
              <a:gd name="csX41" fmla="*/ 6394451 w 12191998"/>
              <a:gd name="csY41" fmla="*/ 4913670 h 6857999"/>
              <a:gd name="csX42" fmla="*/ 6394452 w 12191998"/>
              <a:gd name="csY42" fmla="*/ 0 h 6857999"/>
              <a:gd name="csX43" fmla="*/ 6502398 w 12191998"/>
              <a:gd name="csY43" fmla="*/ 0 h 6857999"/>
              <a:gd name="csX44" fmla="*/ 6502398 w 12191998"/>
              <a:gd name="csY44" fmla="*/ 4913669 h 6857999"/>
              <a:gd name="csX45" fmla="*/ 6856360 w 12191998"/>
              <a:gd name="csY45" fmla="*/ 5267631 h 6857999"/>
              <a:gd name="csX46" fmla="*/ 6856359 w 12191998"/>
              <a:gd name="csY46" fmla="*/ 5267632 h 6857999"/>
              <a:gd name="csX47" fmla="*/ 7210321 w 12191998"/>
              <a:gd name="csY47" fmla="*/ 4913670 h 6857999"/>
              <a:gd name="csX48" fmla="*/ 7210322 w 12191998"/>
              <a:gd name="csY48" fmla="*/ 0 h 6857999"/>
              <a:gd name="csX49" fmla="*/ 12191998 w 12191998"/>
              <a:gd name="csY49" fmla="*/ 0 h 6857999"/>
              <a:gd name="csX50" fmla="*/ 12191998 w 12191998"/>
              <a:gd name="csY50" fmla="*/ 6857999 h 6857999"/>
              <a:gd name="csX51" fmla="*/ 0 w 12191998"/>
              <a:gd name="csY51" fmla="*/ 6857999 h 6857999"/>
              <a:gd name="csX52" fmla="*/ 0 w 12191998"/>
              <a:gd name="csY52" fmla="*/ 5480831 h 6857999"/>
              <a:gd name="csX53" fmla="*/ 353962 w 12191998"/>
              <a:gd name="csY53" fmla="*/ 5834793 h 6857999"/>
              <a:gd name="csX54" fmla="*/ 353961 w 12191998"/>
              <a:gd name="csY54" fmla="*/ 5834794 h 6857999"/>
              <a:gd name="csX55" fmla="*/ 707923 w 12191998"/>
              <a:gd name="csY55" fmla="*/ 5480832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12191998" h="6857999">
                <a:moveTo>
                  <a:pt x="707924" y="0"/>
                </a:moveTo>
                <a:lnTo>
                  <a:pt x="812799" y="0"/>
                </a:lnTo>
                <a:lnTo>
                  <a:pt x="812799" y="4913671"/>
                </a:lnTo>
                <a:cubicBezTo>
                  <a:pt x="812799" y="5109159"/>
                  <a:pt x="971273" y="5267633"/>
                  <a:pt x="1166761" y="5267633"/>
                </a:cubicBezTo>
                <a:lnTo>
                  <a:pt x="1166760" y="5267634"/>
                </a:lnTo>
                <a:cubicBezTo>
                  <a:pt x="1362248" y="5267634"/>
                  <a:pt x="1520722" y="5109160"/>
                  <a:pt x="1520722" y="4913672"/>
                </a:cubicBezTo>
                <a:lnTo>
                  <a:pt x="1520723" y="0"/>
                </a:lnTo>
                <a:lnTo>
                  <a:pt x="1625599" y="0"/>
                </a:lnTo>
                <a:lnTo>
                  <a:pt x="1625599" y="5480830"/>
                </a:lnTo>
                <a:cubicBezTo>
                  <a:pt x="1625599" y="5676318"/>
                  <a:pt x="1784073" y="5834792"/>
                  <a:pt x="1979561" y="5834792"/>
                </a:cubicBezTo>
                <a:lnTo>
                  <a:pt x="1979560" y="5834793"/>
                </a:lnTo>
                <a:cubicBezTo>
                  <a:pt x="2175049" y="5834793"/>
                  <a:pt x="2333523" y="5676319"/>
                  <a:pt x="2333523" y="5480831"/>
                </a:cubicBezTo>
                <a:lnTo>
                  <a:pt x="2333523" y="0"/>
                </a:lnTo>
                <a:lnTo>
                  <a:pt x="2438399" y="0"/>
                </a:lnTo>
                <a:lnTo>
                  <a:pt x="2438399" y="4913670"/>
                </a:lnTo>
                <a:cubicBezTo>
                  <a:pt x="2438399" y="5109158"/>
                  <a:pt x="2596873" y="5267632"/>
                  <a:pt x="2792361" y="5267632"/>
                </a:cubicBezTo>
                <a:lnTo>
                  <a:pt x="2792360" y="5267633"/>
                </a:lnTo>
                <a:cubicBezTo>
                  <a:pt x="2987848" y="5267633"/>
                  <a:pt x="3146323" y="5109159"/>
                  <a:pt x="3146323" y="4913671"/>
                </a:cubicBezTo>
                <a:lnTo>
                  <a:pt x="3146323" y="0"/>
                </a:lnTo>
                <a:lnTo>
                  <a:pt x="3245059" y="0"/>
                </a:lnTo>
                <a:lnTo>
                  <a:pt x="3245059" y="5480830"/>
                </a:lnTo>
                <a:cubicBezTo>
                  <a:pt x="3245059" y="5676318"/>
                  <a:pt x="3403533" y="5834792"/>
                  <a:pt x="3599021" y="5834792"/>
                </a:cubicBezTo>
                <a:lnTo>
                  <a:pt x="3599020" y="5834793"/>
                </a:lnTo>
                <a:cubicBezTo>
                  <a:pt x="3794508" y="5834793"/>
                  <a:pt x="3952982" y="5676319"/>
                  <a:pt x="3952982" y="5480831"/>
                </a:cubicBezTo>
                <a:lnTo>
                  <a:pt x="3952983" y="0"/>
                </a:lnTo>
                <a:lnTo>
                  <a:pt x="4051719" y="0"/>
                </a:lnTo>
                <a:lnTo>
                  <a:pt x="4051719" y="4913670"/>
                </a:lnTo>
                <a:cubicBezTo>
                  <a:pt x="4051719" y="5109158"/>
                  <a:pt x="4210192" y="5267632"/>
                  <a:pt x="4405680" y="5267632"/>
                </a:cubicBezTo>
                <a:lnTo>
                  <a:pt x="4405680" y="5267633"/>
                </a:lnTo>
                <a:cubicBezTo>
                  <a:pt x="4601168" y="5267633"/>
                  <a:pt x="4759641" y="5109159"/>
                  <a:pt x="4759641" y="4913671"/>
                </a:cubicBezTo>
                <a:lnTo>
                  <a:pt x="4759642" y="0"/>
                </a:lnTo>
                <a:lnTo>
                  <a:pt x="4870658" y="0"/>
                </a:lnTo>
                <a:lnTo>
                  <a:pt x="4870658" y="5480830"/>
                </a:lnTo>
                <a:cubicBezTo>
                  <a:pt x="4870658" y="5676318"/>
                  <a:pt x="5029133" y="5834792"/>
                  <a:pt x="5224620" y="5834792"/>
                </a:cubicBezTo>
                <a:lnTo>
                  <a:pt x="5224619" y="5834793"/>
                </a:lnTo>
                <a:cubicBezTo>
                  <a:pt x="5420108" y="5834793"/>
                  <a:pt x="5578581" y="5676319"/>
                  <a:pt x="5578581" y="5480831"/>
                </a:cubicBezTo>
                <a:lnTo>
                  <a:pt x="5578582" y="0"/>
                </a:lnTo>
                <a:lnTo>
                  <a:pt x="5686528" y="0"/>
                </a:lnTo>
                <a:lnTo>
                  <a:pt x="5686528" y="4913669"/>
                </a:lnTo>
                <a:cubicBezTo>
                  <a:pt x="5686528" y="5109157"/>
                  <a:pt x="5845003" y="5267631"/>
                  <a:pt x="6040490" y="5267631"/>
                </a:cubicBezTo>
                <a:lnTo>
                  <a:pt x="6040489" y="5267632"/>
                </a:lnTo>
                <a:cubicBezTo>
                  <a:pt x="6235977" y="5267632"/>
                  <a:pt x="6394451" y="5109158"/>
                  <a:pt x="6394451" y="4913670"/>
                </a:cubicBezTo>
                <a:lnTo>
                  <a:pt x="6394452" y="0"/>
                </a:lnTo>
                <a:lnTo>
                  <a:pt x="6502398" y="0"/>
                </a:lnTo>
                <a:lnTo>
                  <a:pt x="6502398" y="4913669"/>
                </a:lnTo>
                <a:cubicBezTo>
                  <a:pt x="6502398" y="5109157"/>
                  <a:pt x="6660872" y="5267631"/>
                  <a:pt x="6856360" y="5267631"/>
                </a:cubicBezTo>
                <a:lnTo>
                  <a:pt x="6856359" y="5267632"/>
                </a:lnTo>
                <a:cubicBezTo>
                  <a:pt x="7051847" y="5267632"/>
                  <a:pt x="7210321" y="5109158"/>
                  <a:pt x="7210321" y="4913670"/>
                </a:cubicBezTo>
                <a:lnTo>
                  <a:pt x="7210322" y="0"/>
                </a:lnTo>
                <a:lnTo>
                  <a:pt x="12191998" y="0"/>
                </a:lnTo>
                <a:lnTo>
                  <a:pt x="12191998" y="6857999"/>
                </a:lnTo>
                <a:lnTo>
                  <a:pt x="0" y="6857999"/>
                </a:lnTo>
                <a:lnTo>
                  <a:pt x="0" y="5480831"/>
                </a:lnTo>
                <a:cubicBezTo>
                  <a:pt x="0" y="5676319"/>
                  <a:pt x="158474" y="5834793"/>
                  <a:pt x="353962" y="5834793"/>
                </a:cubicBezTo>
                <a:lnTo>
                  <a:pt x="353961" y="5834794"/>
                </a:lnTo>
                <a:cubicBezTo>
                  <a:pt x="549449" y="5834794"/>
                  <a:pt x="707923" y="5676320"/>
                  <a:pt x="707923" y="5480832"/>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TextBox 19">
            <a:extLst>
              <a:ext uri="{FF2B5EF4-FFF2-40B4-BE49-F238E27FC236}">
                <a16:creationId xmlns:a16="http://schemas.microsoft.com/office/drawing/2014/main" id="{BC31E734-B70C-3F96-2B91-5A7BC4397B15}"/>
              </a:ext>
            </a:extLst>
          </p:cNvPr>
          <p:cNvSpPr txBox="1"/>
          <p:nvPr/>
        </p:nvSpPr>
        <p:spPr>
          <a:xfrm>
            <a:off x="6450957" y="1548936"/>
            <a:ext cx="6169306" cy="15696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Docker Part 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800" b="1" dirty="0">
                <a:solidFill>
                  <a:prstClr val="black"/>
                </a:solidFill>
                <a:latin typeface="Times New Roman" panose="02020603050405020304" pitchFamily="18" charset="0"/>
                <a:cs typeface="Times New Roman" panose="02020603050405020304" pitchFamily="18" charset="0"/>
              </a:rPr>
              <a:t>Build Images</a:t>
            </a:r>
            <a:endPar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24006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2B122D9-FAB2-0F7B-5BC4-6AAC4F6EEC9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266760A-950C-E646-9079-F15F3790D3AC}"/>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Using a container as a compiler:</a:t>
            </a:r>
          </a:p>
        </p:txBody>
      </p:sp>
      <p:pic>
        <p:nvPicPr>
          <p:cNvPr id="3" name="Picture 2">
            <a:extLst>
              <a:ext uri="{FF2B5EF4-FFF2-40B4-BE49-F238E27FC236}">
                <a16:creationId xmlns:a16="http://schemas.microsoft.com/office/drawing/2014/main" id="{50AFC939-E169-EB44-4529-234DA547BC10}"/>
              </a:ext>
            </a:extLst>
          </p:cNvPr>
          <p:cNvPicPr>
            <a:picLocks noChangeAspect="1"/>
          </p:cNvPicPr>
          <p:nvPr/>
        </p:nvPicPr>
        <p:blipFill>
          <a:blip r:embed="rId2"/>
          <a:srcRect r="27334"/>
          <a:stretch>
            <a:fillRect/>
          </a:stretch>
        </p:blipFill>
        <p:spPr>
          <a:xfrm>
            <a:off x="129101" y="1325563"/>
            <a:ext cx="5750589" cy="5471244"/>
          </a:xfrm>
          <a:prstGeom prst="rect">
            <a:avLst/>
          </a:prstGeom>
        </p:spPr>
      </p:pic>
      <p:pic>
        <p:nvPicPr>
          <p:cNvPr id="5" name="Picture 4">
            <a:extLst>
              <a:ext uri="{FF2B5EF4-FFF2-40B4-BE49-F238E27FC236}">
                <a16:creationId xmlns:a16="http://schemas.microsoft.com/office/drawing/2014/main" id="{9C6DF811-500F-2CC9-C566-33F670E20854}"/>
              </a:ext>
            </a:extLst>
          </p:cNvPr>
          <p:cNvPicPr>
            <a:picLocks noChangeAspect="1"/>
          </p:cNvPicPr>
          <p:nvPr/>
        </p:nvPicPr>
        <p:blipFill>
          <a:blip r:embed="rId3"/>
          <a:stretch>
            <a:fillRect/>
          </a:stretch>
        </p:blipFill>
        <p:spPr>
          <a:xfrm>
            <a:off x="6008791" y="1325563"/>
            <a:ext cx="5976732" cy="3177611"/>
          </a:xfrm>
          <a:prstGeom prst="rect">
            <a:avLst/>
          </a:prstGeom>
        </p:spPr>
      </p:pic>
      <p:pic>
        <p:nvPicPr>
          <p:cNvPr id="17" name="Picture 16">
            <a:extLst>
              <a:ext uri="{FF2B5EF4-FFF2-40B4-BE49-F238E27FC236}">
                <a16:creationId xmlns:a16="http://schemas.microsoft.com/office/drawing/2014/main" id="{A88AFB57-C68E-2671-5EF3-E9007EF9249F}"/>
              </a:ext>
            </a:extLst>
          </p:cNvPr>
          <p:cNvPicPr>
            <a:picLocks noChangeAspect="1"/>
          </p:cNvPicPr>
          <p:nvPr/>
        </p:nvPicPr>
        <p:blipFill>
          <a:blip r:embed="rId4"/>
          <a:stretch>
            <a:fillRect/>
          </a:stretch>
        </p:blipFill>
        <p:spPr>
          <a:xfrm>
            <a:off x="6008791" y="4720410"/>
            <a:ext cx="5976732" cy="1759048"/>
          </a:xfrm>
          <a:prstGeom prst="rect">
            <a:avLst/>
          </a:prstGeom>
        </p:spPr>
      </p:pic>
    </p:spTree>
    <p:extLst>
      <p:ext uri="{BB962C8B-B14F-4D97-AF65-F5344CB8AC3E}">
        <p14:creationId xmlns:p14="http://schemas.microsoft.com/office/powerpoint/2010/main" val="2016407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27CF13C-EC52-6822-1026-C4D86032A54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9ECEB72-AB45-58D4-C9DF-C7251AD1878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Images:</a:t>
            </a:r>
          </a:p>
        </p:txBody>
      </p:sp>
      <p:sp>
        <p:nvSpPr>
          <p:cNvPr id="9" name="Rectangle 8">
            <a:extLst>
              <a:ext uri="{FF2B5EF4-FFF2-40B4-BE49-F238E27FC236}">
                <a16:creationId xmlns:a16="http://schemas.microsoft.com/office/drawing/2014/main" id="{62C47A37-D982-3E10-6303-C31C8A8B0015}"/>
              </a:ext>
            </a:extLst>
          </p:cNvPr>
          <p:cNvSpPr/>
          <p:nvPr/>
        </p:nvSpPr>
        <p:spPr>
          <a:xfrm>
            <a:off x="148223" y="1081722"/>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7EF57-8A20-B06E-04B6-6180D41023CC}"/>
              </a:ext>
            </a:extLst>
          </p:cNvPr>
          <p:cNvSpPr/>
          <p:nvPr/>
        </p:nvSpPr>
        <p:spPr>
          <a:xfrm>
            <a:off x="224422" y="1081722"/>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Docker image is a read-only template that contains all the instructions and files needed to create a Docker container. It packages the application code, configuration files, system libraries, and the base operating system files.</a:t>
            </a:r>
          </a:p>
        </p:txBody>
      </p:sp>
      <p:sp>
        <p:nvSpPr>
          <p:cNvPr id="6" name="Rectangle 5">
            <a:extLst>
              <a:ext uri="{FF2B5EF4-FFF2-40B4-BE49-F238E27FC236}">
                <a16:creationId xmlns:a16="http://schemas.microsoft.com/office/drawing/2014/main" id="{9D138BB0-A24E-363A-343A-650D0225B808}"/>
              </a:ext>
            </a:extLst>
          </p:cNvPr>
          <p:cNvSpPr/>
          <p:nvPr/>
        </p:nvSpPr>
        <p:spPr>
          <a:xfrm>
            <a:off x="148223" y="2145667"/>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C82142E-1437-136A-CC95-14790FFC7712}"/>
              </a:ext>
            </a:extLst>
          </p:cNvPr>
          <p:cNvSpPr/>
          <p:nvPr/>
        </p:nvSpPr>
        <p:spPr>
          <a:xfrm>
            <a:off x="224422" y="2145667"/>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Images are built from a </a:t>
            </a:r>
            <a:r>
              <a:rPr kumimoji="0" lang="en-US" sz="2000" b="1" i="0" u="none" strike="noStrike" kern="1200" cap="none" spc="0" normalizeH="0" baseline="0" noProof="0" dirty="0" err="1">
                <a:ln>
                  <a:noFill/>
                </a:ln>
                <a:solidFill>
                  <a:srgbClr val="E8E8E8"/>
                </a:solidFill>
                <a:effectLst/>
                <a:uLnTx/>
                <a:uFillTx/>
                <a:latin typeface="Arial" panose="020B0604020202020204" pitchFamily="34" charset="0"/>
                <a:ea typeface="+mn-ea"/>
                <a:cs typeface="Arial" panose="020B0604020202020204" pitchFamily="34" charset="0"/>
              </a:rPr>
              <a:t>Dockerfile</a:t>
            </a:r>
            <a:r>
              <a:rPr kumimoji="0" lang="en-US" sz="20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 where each instruction creates a distinct, immutable layer that defines what the image should contain or do.</a:t>
            </a:r>
          </a:p>
        </p:txBody>
      </p:sp>
      <p:sp>
        <p:nvSpPr>
          <p:cNvPr id="11" name="Rectangle 10">
            <a:extLst>
              <a:ext uri="{FF2B5EF4-FFF2-40B4-BE49-F238E27FC236}">
                <a16:creationId xmlns:a16="http://schemas.microsoft.com/office/drawing/2014/main" id="{956EFE06-B7BE-10A1-7839-31CDFF8F7949}"/>
              </a:ext>
            </a:extLst>
          </p:cNvPr>
          <p:cNvSpPr/>
          <p:nvPr/>
        </p:nvSpPr>
        <p:spPr>
          <a:xfrm>
            <a:off x="183784" y="2992437"/>
            <a:ext cx="111760"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1BD1D21-5576-1F86-2790-5E86B59E63B3}"/>
              </a:ext>
            </a:extLst>
          </p:cNvPr>
          <p:cNvSpPr/>
          <p:nvPr/>
        </p:nvSpPr>
        <p:spPr>
          <a:xfrm>
            <a:off x="259983" y="2992437"/>
            <a:ext cx="11743155"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To list the images you have locally downloaded, use:</a:t>
            </a:r>
          </a:p>
        </p:txBody>
      </p:sp>
      <p:pic>
        <p:nvPicPr>
          <p:cNvPr id="13" name="Picture 12" descr="A black screen with white text&#10;&#10;AI-generated content may be incorrect.">
            <a:extLst>
              <a:ext uri="{FF2B5EF4-FFF2-40B4-BE49-F238E27FC236}">
                <a16:creationId xmlns:a16="http://schemas.microsoft.com/office/drawing/2014/main" id="{47315924-0745-9E39-4F87-D83CFE82BF2D}"/>
              </a:ext>
            </a:extLst>
          </p:cNvPr>
          <p:cNvPicPr>
            <a:picLocks noChangeAspect="1"/>
          </p:cNvPicPr>
          <p:nvPr/>
        </p:nvPicPr>
        <p:blipFill>
          <a:blip r:embed="rId2"/>
          <a:srcRect b="23023"/>
          <a:stretch>
            <a:fillRect/>
          </a:stretch>
        </p:blipFill>
        <p:spPr>
          <a:xfrm>
            <a:off x="224422" y="3616644"/>
            <a:ext cx="11743154" cy="875353"/>
          </a:xfrm>
          <a:prstGeom prst="rect">
            <a:avLst/>
          </a:prstGeom>
        </p:spPr>
      </p:pic>
      <p:sp>
        <p:nvSpPr>
          <p:cNvPr id="14" name="Rectangle 13">
            <a:extLst>
              <a:ext uri="{FF2B5EF4-FFF2-40B4-BE49-F238E27FC236}">
                <a16:creationId xmlns:a16="http://schemas.microsoft.com/office/drawing/2014/main" id="{B97F7FAD-7257-2C8C-B050-DD85B47CF67B}"/>
              </a:ext>
            </a:extLst>
          </p:cNvPr>
          <p:cNvSpPr/>
          <p:nvPr/>
        </p:nvSpPr>
        <p:spPr>
          <a:xfrm>
            <a:off x="204103" y="4602482"/>
            <a:ext cx="111760"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8A349831-EF65-96EC-4634-DB1F0A8F3F3A}"/>
              </a:ext>
            </a:extLst>
          </p:cNvPr>
          <p:cNvSpPr/>
          <p:nvPr/>
        </p:nvSpPr>
        <p:spPr>
          <a:xfrm>
            <a:off x="280302" y="4602482"/>
            <a:ext cx="11743155" cy="51372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To build an image from a </a:t>
            </a:r>
            <a:r>
              <a:rPr kumimoji="0" lang="en-US" sz="2000" b="1" i="0" u="none" strike="noStrike" kern="1200" cap="none" spc="0" normalizeH="0" baseline="0" noProof="0" dirty="0" err="1">
                <a:ln>
                  <a:noFill/>
                </a:ln>
                <a:solidFill>
                  <a:srgbClr val="E8E8E8"/>
                </a:solidFill>
                <a:effectLst/>
                <a:uLnTx/>
                <a:uFillTx/>
                <a:latin typeface="Arial" panose="020B0604020202020204" pitchFamily="34" charset="0"/>
                <a:ea typeface="+mn-ea"/>
                <a:cs typeface="Arial" panose="020B0604020202020204" pitchFamily="34" charset="0"/>
              </a:rPr>
              <a:t>Dockerfile</a:t>
            </a:r>
            <a:r>
              <a:rPr kumimoji="0" lang="en-US" sz="20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 in the current directory, run:</a:t>
            </a:r>
          </a:p>
        </p:txBody>
      </p:sp>
      <p:pic>
        <p:nvPicPr>
          <p:cNvPr id="19" name="Picture 18">
            <a:extLst>
              <a:ext uri="{FF2B5EF4-FFF2-40B4-BE49-F238E27FC236}">
                <a16:creationId xmlns:a16="http://schemas.microsoft.com/office/drawing/2014/main" id="{B418F251-D163-F205-5A05-638822F3B834}"/>
              </a:ext>
            </a:extLst>
          </p:cNvPr>
          <p:cNvPicPr>
            <a:picLocks noChangeAspect="1"/>
          </p:cNvPicPr>
          <p:nvPr/>
        </p:nvPicPr>
        <p:blipFill>
          <a:blip r:embed="rId3"/>
          <a:stretch>
            <a:fillRect/>
          </a:stretch>
        </p:blipFill>
        <p:spPr>
          <a:xfrm>
            <a:off x="224422" y="5188589"/>
            <a:ext cx="11743154" cy="390580"/>
          </a:xfrm>
          <a:prstGeom prst="rect">
            <a:avLst/>
          </a:prstGeom>
        </p:spPr>
      </p:pic>
      <p:sp>
        <p:nvSpPr>
          <p:cNvPr id="20" name="Oval 19">
            <a:extLst>
              <a:ext uri="{FF2B5EF4-FFF2-40B4-BE49-F238E27FC236}">
                <a16:creationId xmlns:a16="http://schemas.microsoft.com/office/drawing/2014/main" id="{7E3BA7C2-5081-4372-4F94-217413331F21}"/>
              </a:ext>
            </a:extLst>
          </p:cNvPr>
          <p:cNvSpPr/>
          <p:nvPr/>
        </p:nvSpPr>
        <p:spPr>
          <a:xfrm>
            <a:off x="11633200" y="5308600"/>
            <a:ext cx="334376" cy="26702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EG" sz="1800" b="0" i="0" u="none" strike="noStrike" kern="1200" cap="none" spc="0" normalizeH="0" baseline="0" noProof="0">
              <a:ln>
                <a:noFill/>
              </a:ln>
              <a:solidFill>
                <a:prstClr val="white"/>
              </a:solidFill>
              <a:effectLst/>
              <a:uLnTx/>
              <a:uFillTx/>
              <a:latin typeface="Aptos" panose="02110004020202020204"/>
              <a:ea typeface="+mn-ea"/>
              <a:cs typeface="Arial" panose="020B0604020202020204" pitchFamily="34" charset="0"/>
            </a:endParaRPr>
          </a:p>
        </p:txBody>
      </p:sp>
      <p:cxnSp>
        <p:nvCxnSpPr>
          <p:cNvPr id="22" name="Straight Arrow Connector 21">
            <a:extLst>
              <a:ext uri="{FF2B5EF4-FFF2-40B4-BE49-F238E27FC236}">
                <a16:creationId xmlns:a16="http://schemas.microsoft.com/office/drawing/2014/main" id="{771EE31D-0F44-8DB1-FBA9-D3DF7C52870D}"/>
              </a:ext>
            </a:extLst>
          </p:cNvPr>
          <p:cNvCxnSpPr>
            <a:stCxn id="20" idx="0"/>
          </p:cNvCxnSpPr>
          <p:nvPr/>
        </p:nvCxnSpPr>
        <p:spPr>
          <a:xfrm flipH="1" flipV="1">
            <a:off x="11303000" y="4978400"/>
            <a:ext cx="497388" cy="3302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4B924E41-9F52-E7E5-A6A9-B01ECCA8F113}"/>
              </a:ext>
            </a:extLst>
          </p:cNvPr>
          <p:cNvSpPr txBox="1"/>
          <p:nvPr/>
        </p:nvSpPr>
        <p:spPr>
          <a:xfrm>
            <a:off x="9753600" y="4631298"/>
            <a:ext cx="2667000"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DON’T FORGET</a:t>
            </a:r>
          </a:p>
        </p:txBody>
      </p:sp>
      <p:sp>
        <p:nvSpPr>
          <p:cNvPr id="24" name="Rectangle 23">
            <a:extLst>
              <a:ext uri="{FF2B5EF4-FFF2-40B4-BE49-F238E27FC236}">
                <a16:creationId xmlns:a16="http://schemas.microsoft.com/office/drawing/2014/main" id="{B3280C00-F610-EF0C-EBD4-950C2CFDD86B}"/>
              </a:ext>
            </a:extLst>
          </p:cNvPr>
          <p:cNvSpPr/>
          <p:nvPr/>
        </p:nvSpPr>
        <p:spPr>
          <a:xfrm>
            <a:off x="204103" y="5664254"/>
            <a:ext cx="111760" cy="1152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99240731-4E1B-23D5-9016-D5CD71AD6646}"/>
              </a:ext>
            </a:extLst>
          </p:cNvPr>
          <p:cNvSpPr/>
          <p:nvPr/>
        </p:nvSpPr>
        <p:spPr>
          <a:xfrm>
            <a:off x="280302" y="5664254"/>
            <a:ext cx="11743155" cy="115200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If the base image referenced in the </a:t>
            </a:r>
            <a:r>
              <a:rPr kumimoji="0" lang="en-US" sz="1800" b="1" i="0" u="none" strike="noStrike" kern="1200" cap="none" spc="0" normalizeH="0" baseline="0" noProof="0" dirty="0" err="1">
                <a:ln>
                  <a:noFill/>
                </a:ln>
                <a:solidFill>
                  <a:srgbClr val="E8E8E8"/>
                </a:solidFill>
                <a:effectLst/>
                <a:uLnTx/>
                <a:uFillTx/>
                <a:latin typeface="Arial" panose="020B0604020202020204" pitchFamily="34" charset="0"/>
                <a:ea typeface="+mn-ea"/>
                <a:cs typeface="Arial" panose="020B0604020202020204" pitchFamily="34" charset="0"/>
              </a:rPr>
              <a:t>Dockerfile</a:t>
            </a:r>
            <a:r>
              <a:rPr kumimoji="0" lang="en-US" sz="1800" b="1" i="0" u="none" strike="noStrike" kern="1200" cap="none" spc="0" normalizeH="0" baseline="0" noProof="0" dirty="0">
                <a:ln>
                  <a:noFill/>
                </a:ln>
                <a:solidFill>
                  <a:srgbClr val="E8E8E8"/>
                </a:solidFill>
                <a:effectLst/>
                <a:uLnTx/>
                <a:uFillTx/>
                <a:latin typeface="Arial" panose="020B0604020202020204" pitchFamily="34" charset="0"/>
                <a:ea typeface="+mn-ea"/>
                <a:cs typeface="Arial" panose="020B0604020202020204" pitchFamily="34" charset="0"/>
              </a:rPr>
              <a:t> is not already on your machine, Docker automatically pulls it from Docker Hub. The best practice when using images is to use a minimal base image to reduce the size and minimize the potential attack surface commonly introduced by unnecessary packages or components.</a:t>
            </a:r>
          </a:p>
        </p:txBody>
      </p:sp>
    </p:spTree>
    <p:extLst>
      <p:ext uri="{BB962C8B-B14F-4D97-AF65-F5344CB8AC3E}">
        <p14:creationId xmlns:p14="http://schemas.microsoft.com/office/powerpoint/2010/main" val="25129755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7DCEE2A-56B7-93FC-60F6-BF8B095D117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C079BCA-B84A-10F2-139F-15A47A3FD0A4}"/>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 Docker Images:</a:t>
            </a:r>
          </a:p>
        </p:txBody>
      </p:sp>
      <p:sp>
        <p:nvSpPr>
          <p:cNvPr id="9" name="Rectangle 8">
            <a:extLst>
              <a:ext uri="{FF2B5EF4-FFF2-40B4-BE49-F238E27FC236}">
                <a16:creationId xmlns:a16="http://schemas.microsoft.com/office/drawing/2014/main" id="{7376F439-80C5-C255-DFCF-20904913B3B2}"/>
              </a:ext>
            </a:extLst>
          </p:cNvPr>
          <p:cNvSpPr/>
          <p:nvPr/>
        </p:nvSpPr>
        <p:spPr>
          <a:xfrm>
            <a:off x="148223" y="1081722"/>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403D005-561D-FD85-3105-2EA6323A2CE0}"/>
              </a:ext>
            </a:extLst>
          </p:cNvPr>
          <p:cNvSpPr/>
          <p:nvPr/>
        </p:nvSpPr>
        <p:spPr>
          <a:xfrm>
            <a:off x="224422" y="1081722"/>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Use multi-stage builds to reduce image size and separate build-time and runtime environments. This </a:t>
            </a:r>
            <a:r>
              <a:rPr lang="en-US" b="1" dirty="0">
                <a:solidFill>
                  <a:prstClr val="white"/>
                </a:solidFill>
                <a:latin typeface="Arial" panose="020B0604020202020204" pitchFamily="34" charset="0"/>
                <a:cs typeface="Arial" panose="020B0604020202020204" pitchFamily="34" charset="0"/>
              </a:rPr>
              <a:t>ensures that your final image contains only what's needed to run your application, thereby improving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security and performance.</a:t>
            </a:r>
          </a:p>
        </p:txBody>
      </p:sp>
      <p:sp>
        <p:nvSpPr>
          <p:cNvPr id="6" name="Rectangle 5">
            <a:extLst>
              <a:ext uri="{FF2B5EF4-FFF2-40B4-BE49-F238E27FC236}">
                <a16:creationId xmlns:a16="http://schemas.microsoft.com/office/drawing/2014/main" id="{BEB90931-C316-7806-A2DE-33CB0318AD43}"/>
              </a:ext>
            </a:extLst>
          </p:cNvPr>
          <p:cNvSpPr/>
          <p:nvPr/>
        </p:nvSpPr>
        <p:spPr>
          <a:xfrm>
            <a:off x="148223" y="2145667"/>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134E004C-E831-0E10-ECA4-5229A5B58729}"/>
              </a:ext>
            </a:extLst>
          </p:cNvPr>
          <p:cNvSpPr/>
          <p:nvPr/>
        </p:nvSpPr>
        <p:spPr>
          <a:xfrm>
            <a:off x="224422" y="2145667"/>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Follow best practices for writing </a:t>
            </a:r>
            <a:r>
              <a:rPr kumimoji="0" lang="en-US" sz="2000"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Dockerfiles</a:t>
            </a: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to create efficient, maintainable, and secure images.</a:t>
            </a:r>
          </a:p>
        </p:txBody>
      </p:sp>
      <p:sp>
        <p:nvSpPr>
          <p:cNvPr id="11" name="Rectangle 10">
            <a:extLst>
              <a:ext uri="{FF2B5EF4-FFF2-40B4-BE49-F238E27FC236}">
                <a16:creationId xmlns:a16="http://schemas.microsoft.com/office/drawing/2014/main" id="{C699F4BC-5096-5CAB-13F9-9247578F9CBA}"/>
              </a:ext>
            </a:extLst>
          </p:cNvPr>
          <p:cNvSpPr/>
          <p:nvPr/>
        </p:nvSpPr>
        <p:spPr>
          <a:xfrm>
            <a:off x="148223" y="2992436"/>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DEC24A1-A373-5F73-2578-254AA2977715}"/>
              </a:ext>
            </a:extLst>
          </p:cNvPr>
          <p:cNvSpPr/>
          <p:nvPr/>
        </p:nvSpPr>
        <p:spPr>
          <a:xfrm>
            <a:off x="224422" y="2992436"/>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Understand how build context works in Docker, as it affects what files are sent to the Docker daemon during the build process.</a:t>
            </a:r>
          </a:p>
        </p:txBody>
      </p:sp>
      <p:sp>
        <p:nvSpPr>
          <p:cNvPr id="2" name="Rectangle 1">
            <a:extLst>
              <a:ext uri="{FF2B5EF4-FFF2-40B4-BE49-F238E27FC236}">
                <a16:creationId xmlns:a16="http://schemas.microsoft.com/office/drawing/2014/main" id="{E9DFCCFE-141C-7A73-2E2D-2BDA09431295}"/>
              </a:ext>
            </a:extLst>
          </p:cNvPr>
          <p:cNvSpPr/>
          <p:nvPr/>
        </p:nvSpPr>
        <p:spPr>
          <a:xfrm>
            <a:off x="148223" y="3839205"/>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CD551B28-E33E-0882-FC65-5429F227E546}"/>
              </a:ext>
            </a:extLst>
          </p:cNvPr>
          <p:cNvSpPr/>
          <p:nvPr/>
        </p:nvSpPr>
        <p:spPr>
          <a:xfrm>
            <a:off x="224422" y="3839205"/>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Use minimal or </a:t>
            </a:r>
            <a:r>
              <a:rPr kumimoji="0" lang="en-US" sz="2000"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distroless</a:t>
            </a: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base images when possible for a more secure and predictable environment.</a:t>
            </a:r>
          </a:p>
        </p:txBody>
      </p:sp>
      <p:sp>
        <p:nvSpPr>
          <p:cNvPr id="4" name="Rectangle 3">
            <a:extLst>
              <a:ext uri="{FF2B5EF4-FFF2-40B4-BE49-F238E27FC236}">
                <a16:creationId xmlns:a16="http://schemas.microsoft.com/office/drawing/2014/main" id="{EDCBB87F-4D8C-EBBD-F8B4-58B5D0B967E2}"/>
              </a:ext>
            </a:extLst>
          </p:cNvPr>
          <p:cNvSpPr/>
          <p:nvPr/>
        </p:nvSpPr>
        <p:spPr>
          <a:xfrm>
            <a:off x="148223" y="4685974"/>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ED580246-DB37-B640-E291-C8A62F0E5BB2}"/>
              </a:ext>
            </a:extLst>
          </p:cNvPr>
          <p:cNvSpPr/>
          <p:nvPr/>
        </p:nvSpPr>
        <p:spPr>
          <a:xfrm>
            <a:off x="224422" y="4685974"/>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Validate image behavior using CI pipelines and explicitly include runtime dependencies in your </a:t>
            </a:r>
            <a:r>
              <a:rPr kumimoji="0" lang="en-US" sz="2000"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a:t>
            </a:r>
          </a:p>
        </p:txBody>
      </p:sp>
      <p:sp>
        <p:nvSpPr>
          <p:cNvPr id="16" name="Rectangle 15">
            <a:extLst>
              <a:ext uri="{FF2B5EF4-FFF2-40B4-BE49-F238E27FC236}">
                <a16:creationId xmlns:a16="http://schemas.microsoft.com/office/drawing/2014/main" id="{E55298E6-60A1-C588-9C0D-615B0047CC79}"/>
              </a:ext>
            </a:extLst>
          </p:cNvPr>
          <p:cNvSpPr/>
          <p:nvPr/>
        </p:nvSpPr>
        <p:spPr>
          <a:xfrm>
            <a:off x="148223" y="5532743"/>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76E0C6A-D1F1-3756-AC8C-2109681661B8}"/>
              </a:ext>
            </a:extLst>
          </p:cNvPr>
          <p:cNvSpPr/>
          <p:nvPr/>
        </p:nvSpPr>
        <p:spPr>
          <a:xfrm>
            <a:off x="224422" y="5532743"/>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2000" b="1" dirty="0">
                <a:solidFill>
                  <a:schemeClr val="bg1"/>
                </a:solidFill>
                <a:latin typeface="Arial" panose="020B0604020202020204" pitchFamily="34" charset="0"/>
                <a:cs typeface="Arial" panose="020B0604020202020204" pitchFamily="34" charset="0"/>
              </a:rPr>
              <a:t>Use Docker Scout to continuously monitor your images for vulnerabilities (CVEs).</a:t>
            </a:r>
          </a:p>
        </p:txBody>
      </p:sp>
    </p:spTree>
    <p:extLst>
      <p:ext uri="{BB962C8B-B14F-4D97-AF65-F5344CB8AC3E}">
        <p14:creationId xmlns:p14="http://schemas.microsoft.com/office/powerpoint/2010/main" val="711482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37FB2459-758B-5605-57E9-1BE6BEA5811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52BB463-BE6B-B4CF-5810-406655F7C009}"/>
              </a:ext>
            </a:extLst>
          </p:cNvPr>
          <p:cNvSpPr>
            <a:spLocks noGrp="1"/>
          </p:cNvSpPr>
          <p:nvPr>
            <p:ph type="title"/>
          </p:nvPr>
        </p:nvSpPr>
        <p:spPr>
          <a:xfrm>
            <a:off x="0" y="0"/>
            <a:ext cx="10515600" cy="1325563"/>
          </a:xfrm>
        </p:spPr>
        <p:txBody>
          <a:bodyPr/>
          <a:lstStyle/>
          <a:p>
            <a:r>
              <a:rPr lang="en-US" sz="5400" b="1" dirty="0" err="1">
                <a:latin typeface="Times New Roman" panose="02020603050405020304" pitchFamily="18" charset="0"/>
                <a:cs typeface="Times New Roman" panose="02020603050405020304" pitchFamily="18" charset="0"/>
              </a:rPr>
              <a:t>DockerFiles</a:t>
            </a:r>
            <a:r>
              <a:rPr lang="en-US" sz="5400" b="1" dirty="0">
                <a:latin typeface="Times New Roman" panose="02020603050405020304" pitchFamily="18" charset="0"/>
                <a:cs typeface="Times New Roman" panose="02020603050405020304" pitchFamily="18" charset="0"/>
              </a:rPr>
              <a:t>:</a:t>
            </a:r>
          </a:p>
        </p:txBody>
      </p:sp>
      <p:sp>
        <p:nvSpPr>
          <p:cNvPr id="9" name="Rectangle 8">
            <a:extLst>
              <a:ext uri="{FF2B5EF4-FFF2-40B4-BE49-F238E27FC236}">
                <a16:creationId xmlns:a16="http://schemas.microsoft.com/office/drawing/2014/main" id="{98D71179-7E83-154A-0532-CA665D91C3D3}"/>
              </a:ext>
            </a:extLst>
          </p:cNvPr>
          <p:cNvSpPr/>
          <p:nvPr/>
        </p:nvSpPr>
        <p:spPr>
          <a:xfrm>
            <a:off x="148223" y="1081723"/>
            <a:ext cx="111760" cy="8978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79947A0F-34F9-3AAA-6CA0-F81884D9D218}"/>
              </a:ext>
            </a:extLst>
          </p:cNvPr>
          <p:cNvSpPr/>
          <p:nvPr/>
        </p:nvSpPr>
        <p:spPr>
          <a:xfrm>
            <a:off x="224422" y="1081723"/>
            <a:ext cx="11743155" cy="8978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 ALL STARTS WITH A DOCKERFILE. Docker builds images by reading the instructions from a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Dockerfile</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Dockerfile</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is a text file containing instructions for building your source code. It defines everything from the base operating system to the environment variables and application code.</a:t>
            </a:r>
          </a:p>
        </p:txBody>
      </p:sp>
      <p:pic>
        <p:nvPicPr>
          <p:cNvPr id="14" name="Picture 13">
            <a:extLst>
              <a:ext uri="{FF2B5EF4-FFF2-40B4-BE49-F238E27FC236}">
                <a16:creationId xmlns:a16="http://schemas.microsoft.com/office/drawing/2014/main" id="{06D2A8E1-548B-BB3F-2F3E-8D9CA8AFA7CE}"/>
              </a:ext>
            </a:extLst>
          </p:cNvPr>
          <p:cNvPicPr>
            <a:picLocks noChangeAspect="1"/>
          </p:cNvPicPr>
          <p:nvPr/>
        </p:nvPicPr>
        <p:blipFill>
          <a:blip r:embed="rId3"/>
          <a:stretch>
            <a:fillRect/>
          </a:stretch>
        </p:blipFill>
        <p:spPr>
          <a:xfrm>
            <a:off x="7218597" y="2672139"/>
            <a:ext cx="4748980" cy="2479583"/>
          </a:xfrm>
          <a:prstGeom prst="rect">
            <a:avLst/>
          </a:prstGeom>
        </p:spPr>
      </p:pic>
      <p:pic>
        <p:nvPicPr>
          <p:cNvPr id="18" name="Picture 17">
            <a:extLst>
              <a:ext uri="{FF2B5EF4-FFF2-40B4-BE49-F238E27FC236}">
                <a16:creationId xmlns:a16="http://schemas.microsoft.com/office/drawing/2014/main" id="{11D432D4-5432-9DCD-C4AF-35664954D383}"/>
              </a:ext>
            </a:extLst>
          </p:cNvPr>
          <p:cNvPicPr>
            <a:picLocks noChangeAspect="1"/>
          </p:cNvPicPr>
          <p:nvPr/>
        </p:nvPicPr>
        <p:blipFill>
          <a:blip r:embed="rId4"/>
          <a:stretch>
            <a:fillRect/>
          </a:stretch>
        </p:blipFill>
        <p:spPr>
          <a:xfrm>
            <a:off x="148223" y="2101490"/>
            <a:ext cx="6734358" cy="3674788"/>
          </a:xfrm>
          <a:prstGeom prst="rect">
            <a:avLst/>
          </a:prstGeom>
        </p:spPr>
      </p:pic>
      <p:sp>
        <p:nvSpPr>
          <p:cNvPr id="19" name="Rectangle 18">
            <a:extLst>
              <a:ext uri="{FF2B5EF4-FFF2-40B4-BE49-F238E27FC236}">
                <a16:creationId xmlns:a16="http://schemas.microsoft.com/office/drawing/2014/main" id="{253868C6-DE97-CF4C-8EE3-E64AC867ECB4}"/>
              </a:ext>
            </a:extLst>
          </p:cNvPr>
          <p:cNvSpPr/>
          <p:nvPr/>
        </p:nvSpPr>
        <p:spPr>
          <a:xfrm>
            <a:off x="148223" y="5858821"/>
            <a:ext cx="111760" cy="8978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A4019DF7-1563-1609-9D71-04E2DFF8EF5A}"/>
              </a:ext>
            </a:extLst>
          </p:cNvPr>
          <p:cNvSpPr/>
          <p:nvPr/>
        </p:nvSpPr>
        <p:spPr>
          <a:xfrm>
            <a:off x="224422" y="5858821"/>
            <a:ext cx="11743155" cy="8978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Dockerfiles</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are crucial inputs for image builds and can facilitate automated, multi-layer image builds based on your unique configurations.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Dockerfiles</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can start simple and grow with your needs to support more complex scenarios.</a:t>
            </a:r>
          </a:p>
        </p:txBody>
      </p:sp>
    </p:spTree>
    <p:extLst>
      <p:ext uri="{BB962C8B-B14F-4D97-AF65-F5344CB8AC3E}">
        <p14:creationId xmlns:p14="http://schemas.microsoft.com/office/powerpoint/2010/main" val="1207218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9D78AC8-CDF0-2272-5AEB-52BB3BC7CD7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C52F882-CEA4-5C3A-9F46-83560796182F}"/>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a:t>
            </a:r>
          </a:p>
        </p:txBody>
      </p:sp>
      <p:sp>
        <p:nvSpPr>
          <p:cNvPr id="2" name="Rectangle 1">
            <a:extLst>
              <a:ext uri="{FF2B5EF4-FFF2-40B4-BE49-F238E27FC236}">
                <a16:creationId xmlns:a16="http://schemas.microsoft.com/office/drawing/2014/main" id="{FF23CA89-4A7E-B23D-E66E-6C6B71D63B17}"/>
              </a:ext>
            </a:extLst>
          </p:cNvPr>
          <p:cNvSpPr/>
          <p:nvPr/>
        </p:nvSpPr>
        <p:spPr>
          <a:xfrm>
            <a:off x="148223" y="1325563"/>
            <a:ext cx="111760" cy="10046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E00BD3A1-1619-9DAF-086E-B70E437CB204}"/>
              </a:ext>
            </a:extLst>
          </p:cNvPr>
          <p:cNvSpPr/>
          <p:nvPr/>
        </p:nvSpPr>
        <p:spPr>
          <a:xfrm>
            <a:off x="224422" y="1325563"/>
            <a:ext cx="11743155" cy="10046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Filename</a:t>
            </a:r>
            <a:r>
              <a:rPr lang="en-US" sz="2000" b="1" dirty="0">
                <a:solidFill>
                  <a:prstClr val="white"/>
                </a:solidFill>
                <a:latin typeface="Arial" panose="020B0604020202020204" pitchFamily="34" charset="0"/>
                <a:cs typeface="Arial" panose="020B0604020202020204" pitchFamily="34" charset="0"/>
              </a:rPr>
              <a:t>. The default filename to use for a </a:t>
            </a:r>
            <a:r>
              <a:rPr lang="en-US" sz="2000" b="1" dirty="0" err="1">
                <a:solidFill>
                  <a:prstClr val="white"/>
                </a:solidFill>
                <a:latin typeface="Arial" panose="020B0604020202020204" pitchFamily="34" charset="0"/>
                <a:cs typeface="Arial" panose="020B0604020202020204" pitchFamily="34" charset="0"/>
              </a:rPr>
              <a:t>Dockerfile</a:t>
            </a:r>
            <a:r>
              <a:rPr lang="en-US" sz="2000" b="1" dirty="0">
                <a:solidFill>
                  <a:prstClr val="white"/>
                </a:solidFill>
                <a:latin typeface="Arial" panose="020B0604020202020204" pitchFamily="34" charset="0"/>
                <a:cs typeface="Arial" panose="020B0604020202020204" pitchFamily="34" charset="0"/>
              </a:rPr>
              <a:t> is </a:t>
            </a:r>
            <a:r>
              <a:rPr lang="en-US" sz="2000" b="1" dirty="0" err="1">
                <a:solidFill>
                  <a:prstClr val="white"/>
                </a:solidFill>
                <a:latin typeface="Arial" panose="020B0604020202020204" pitchFamily="34" charset="0"/>
                <a:cs typeface="Arial" panose="020B0604020202020204" pitchFamily="34" charset="0"/>
              </a:rPr>
              <a:t>Dockerfile</a:t>
            </a:r>
            <a:r>
              <a:rPr lang="en-US" sz="2000" b="1" dirty="0">
                <a:solidFill>
                  <a:prstClr val="white"/>
                </a:solidFill>
                <a:latin typeface="Arial" panose="020B0604020202020204" pitchFamily="34" charset="0"/>
                <a:cs typeface="Arial" panose="020B0604020202020204" pitchFamily="34" charset="0"/>
              </a:rPr>
              <a:t>, without a file extension. Using the default name allows you to run the docker build command without having to specify additional command flags.</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47567273-D6AF-FC5C-CA1D-B5C5C7D9B32C}"/>
              </a:ext>
            </a:extLst>
          </p:cNvPr>
          <p:cNvSpPr/>
          <p:nvPr/>
        </p:nvSpPr>
        <p:spPr>
          <a:xfrm>
            <a:off x="148223" y="2495602"/>
            <a:ext cx="111760" cy="10046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9BCFD386-8A56-1342-0389-763D08955DE2}"/>
              </a:ext>
            </a:extLst>
          </p:cNvPr>
          <p:cNvSpPr/>
          <p:nvPr/>
        </p:nvSpPr>
        <p:spPr>
          <a:xfrm>
            <a:off x="224422" y="2495602"/>
            <a:ext cx="11743155" cy="10046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accent5">
                    <a:lumMod val="60000"/>
                    <a:lumOff val="40000"/>
                  </a:schemeClr>
                </a:solidFill>
                <a:latin typeface="Arial" panose="020B0604020202020204" pitchFamily="34" charset="0"/>
                <a:cs typeface="Arial" panose="020B0604020202020204" pitchFamily="34" charset="0"/>
              </a:rPr>
              <a:t>Docker Images</a:t>
            </a:r>
            <a:r>
              <a:rPr lang="en-US" sz="2000" b="1" dirty="0">
                <a:solidFill>
                  <a:prstClr val="white"/>
                </a:solidFill>
                <a:latin typeface="Arial" panose="020B0604020202020204" pitchFamily="34" charset="0"/>
                <a:cs typeface="Arial" panose="020B0604020202020204" pitchFamily="34" charset="0"/>
              </a:rPr>
              <a:t>. Docker images consist of layers. Each layer is the result of a build instruction in the </a:t>
            </a:r>
            <a:r>
              <a:rPr lang="en-US" sz="2000" b="1" dirty="0" err="1">
                <a:solidFill>
                  <a:prstClr val="white"/>
                </a:solidFill>
                <a:latin typeface="Arial" panose="020B0604020202020204" pitchFamily="34" charset="0"/>
                <a:cs typeface="Arial" panose="020B0604020202020204" pitchFamily="34" charset="0"/>
              </a:rPr>
              <a:t>Dockerfile</a:t>
            </a:r>
            <a:r>
              <a:rPr lang="en-US" sz="2000" b="1" dirty="0">
                <a:solidFill>
                  <a:prstClr val="white"/>
                </a:solidFill>
                <a:latin typeface="Arial" panose="020B0604020202020204" pitchFamily="34" charset="0"/>
                <a:cs typeface="Arial" panose="020B0604020202020204" pitchFamily="34" charset="0"/>
              </a:rPr>
              <a:t>. Layers are stacked sequentially, and each one is a delta representing the changes applied to the previous layer.</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7" name="Picture 6">
            <a:extLst>
              <a:ext uri="{FF2B5EF4-FFF2-40B4-BE49-F238E27FC236}">
                <a16:creationId xmlns:a16="http://schemas.microsoft.com/office/drawing/2014/main" id="{59E64F48-8EF9-51F7-19F0-E9763037EE13}"/>
              </a:ext>
            </a:extLst>
          </p:cNvPr>
          <p:cNvPicPr>
            <a:picLocks noChangeAspect="1"/>
          </p:cNvPicPr>
          <p:nvPr/>
        </p:nvPicPr>
        <p:blipFill>
          <a:blip r:embed="rId3"/>
          <a:stretch>
            <a:fillRect/>
          </a:stretch>
        </p:blipFill>
        <p:spPr>
          <a:xfrm>
            <a:off x="148223" y="3586610"/>
            <a:ext cx="5269351" cy="2135764"/>
          </a:xfrm>
          <a:prstGeom prst="rect">
            <a:avLst/>
          </a:prstGeom>
        </p:spPr>
      </p:pic>
      <p:sp>
        <p:nvSpPr>
          <p:cNvPr id="6" name="Rectangle 5">
            <a:extLst>
              <a:ext uri="{FF2B5EF4-FFF2-40B4-BE49-F238E27FC236}">
                <a16:creationId xmlns:a16="http://schemas.microsoft.com/office/drawing/2014/main" id="{82DAB2ED-975A-7755-E4D7-A2862A9177AD}"/>
              </a:ext>
            </a:extLst>
          </p:cNvPr>
          <p:cNvSpPr/>
          <p:nvPr/>
        </p:nvSpPr>
        <p:spPr>
          <a:xfrm>
            <a:off x="5493774" y="3586610"/>
            <a:ext cx="6550003" cy="269403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To ship and deploy this application without Docker Build, you would need to make sure that:</a:t>
            </a:r>
          </a:p>
          <a:p>
            <a:pPr marL="285750" lvl="0" indent="-285750">
              <a:buFont typeface="Arial" panose="020B0604020202020204" pitchFamily="34" charset="0"/>
              <a:buChar cha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required runtime dependencies are installed on the server</a:t>
            </a:r>
          </a:p>
          <a:p>
            <a:pPr marL="285750" lvl="0" indent="-285750">
              <a:buFont typeface="Arial" panose="020B0604020202020204" pitchFamily="34" charset="0"/>
              <a:buChar cha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Python code gets uploaded to the server's filesystem</a:t>
            </a:r>
          </a:p>
          <a:p>
            <a:pPr marL="285750" lvl="0" indent="-285750">
              <a:buFont typeface="Arial" panose="020B0604020202020204" pitchFamily="34" charset="0"/>
              <a:buChar cha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server starts your application, using the necessary parameters</a:t>
            </a:r>
          </a:p>
        </p:txBody>
      </p:sp>
    </p:spTree>
    <p:extLst>
      <p:ext uri="{BB962C8B-B14F-4D97-AF65-F5344CB8AC3E}">
        <p14:creationId xmlns:p14="http://schemas.microsoft.com/office/powerpoint/2010/main" val="16228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4CBAB68-51F1-2914-616A-A1D8C0FC10E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FD038AD-65FC-1191-75CC-2CFCA4BDF9F4}"/>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a:t>
            </a:r>
          </a:p>
        </p:txBody>
      </p:sp>
      <p:sp>
        <p:nvSpPr>
          <p:cNvPr id="2" name="Rectangle 1">
            <a:extLst>
              <a:ext uri="{FF2B5EF4-FFF2-40B4-BE49-F238E27FC236}">
                <a16:creationId xmlns:a16="http://schemas.microsoft.com/office/drawing/2014/main" id="{8E4CFC95-D8F7-B347-8630-152515326F4A}"/>
              </a:ext>
            </a:extLst>
          </p:cNvPr>
          <p:cNvSpPr/>
          <p:nvPr/>
        </p:nvSpPr>
        <p:spPr>
          <a:xfrm>
            <a:off x="148223" y="1325563"/>
            <a:ext cx="111760" cy="80803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BDF3A88C-4FE9-B190-7964-6665BAF2B6F3}"/>
              </a:ext>
            </a:extLst>
          </p:cNvPr>
          <p:cNvSpPr/>
          <p:nvPr/>
        </p:nvSpPr>
        <p:spPr>
          <a:xfrm>
            <a:off x="224422" y="1325563"/>
            <a:ext cx="11743155" cy="80803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bg1"/>
                </a:solidFill>
                <a:latin typeface="Arial" panose="020B0604020202020204" pitchFamily="34" charset="0"/>
                <a:cs typeface="Arial" panose="020B0604020202020204" pitchFamily="34" charset="0"/>
              </a:rPr>
              <a:t>The following </a:t>
            </a:r>
            <a:r>
              <a:rPr lang="en-US" b="1" dirty="0" err="1">
                <a:solidFill>
                  <a:schemeClr val="bg1"/>
                </a:solidFill>
                <a:latin typeface="Arial" panose="020B0604020202020204" pitchFamily="34" charset="0"/>
                <a:cs typeface="Arial" panose="020B0604020202020204" pitchFamily="34" charset="0"/>
              </a:rPr>
              <a:t>Dockerfile</a:t>
            </a:r>
            <a:r>
              <a:rPr lang="en-US" b="1" dirty="0">
                <a:solidFill>
                  <a:schemeClr val="bg1"/>
                </a:solidFill>
                <a:latin typeface="Arial" panose="020B0604020202020204" pitchFamily="34" charset="0"/>
                <a:cs typeface="Arial" panose="020B0604020202020204" pitchFamily="34" charset="0"/>
              </a:rPr>
              <a:t> creates a container image, which has all the dependencies installed and that automatically starts your application.</a:t>
            </a:r>
            <a:endPar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pic>
        <p:nvPicPr>
          <p:cNvPr id="7" name="Picture 6">
            <a:extLst>
              <a:ext uri="{FF2B5EF4-FFF2-40B4-BE49-F238E27FC236}">
                <a16:creationId xmlns:a16="http://schemas.microsoft.com/office/drawing/2014/main" id="{1715627D-E922-E6C6-9B47-4141CE20C26C}"/>
              </a:ext>
            </a:extLst>
          </p:cNvPr>
          <p:cNvPicPr>
            <a:picLocks noChangeAspect="1"/>
          </p:cNvPicPr>
          <p:nvPr/>
        </p:nvPicPr>
        <p:blipFill>
          <a:blip r:embed="rId3"/>
          <a:stretch>
            <a:fillRect/>
          </a:stretch>
        </p:blipFill>
        <p:spPr>
          <a:xfrm>
            <a:off x="148223" y="2391281"/>
            <a:ext cx="4423777" cy="2135764"/>
          </a:xfrm>
          <a:prstGeom prst="rect">
            <a:avLst/>
          </a:prstGeom>
        </p:spPr>
      </p:pic>
      <p:pic>
        <p:nvPicPr>
          <p:cNvPr id="10" name="Picture 9">
            <a:extLst>
              <a:ext uri="{FF2B5EF4-FFF2-40B4-BE49-F238E27FC236}">
                <a16:creationId xmlns:a16="http://schemas.microsoft.com/office/drawing/2014/main" id="{ABB68BA2-4DC9-B309-04A1-3C8D6AD86CA9}"/>
              </a:ext>
            </a:extLst>
          </p:cNvPr>
          <p:cNvPicPr>
            <a:picLocks noChangeAspect="1"/>
          </p:cNvPicPr>
          <p:nvPr/>
        </p:nvPicPr>
        <p:blipFill>
          <a:blip r:embed="rId4"/>
          <a:stretch>
            <a:fillRect/>
          </a:stretch>
        </p:blipFill>
        <p:spPr>
          <a:xfrm>
            <a:off x="4751780" y="2391281"/>
            <a:ext cx="7215797" cy="4166835"/>
          </a:xfrm>
          <a:prstGeom prst="rect">
            <a:avLst/>
          </a:prstGeom>
        </p:spPr>
      </p:pic>
    </p:spTree>
    <p:extLst>
      <p:ext uri="{BB962C8B-B14F-4D97-AF65-F5344CB8AC3E}">
        <p14:creationId xmlns:p14="http://schemas.microsoft.com/office/powerpoint/2010/main" val="255721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315E8C8C-4F8D-9C01-45FF-E321639E17C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C7012D4-7A8F-323F-9118-A3698DB62F00}"/>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8E3DE884-76A6-0A9C-6D81-3F974C4F5EAF}"/>
              </a:ext>
            </a:extLst>
          </p:cNvPr>
          <p:cNvPicPr>
            <a:picLocks noChangeAspect="1"/>
          </p:cNvPicPr>
          <p:nvPr/>
        </p:nvPicPr>
        <p:blipFill>
          <a:blip r:embed="rId3"/>
          <a:stretch>
            <a:fillRect/>
          </a:stretch>
        </p:blipFill>
        <p:spPr>
          <a:xfrm>
            <a:off x="110956" y="1172081"/>
            <a:ext cx="5178799" cy="4166835"/>
          </a:xfrm>
          <a:prstGeom prst="rect">
            <a:avLst/>
          </a:prstGeom>
        </p:spPr>
      </p:pic>
      <p:sp>
        <p:nvSpPr>
          <p:cNvPr id="4" name="Rectangle 3">
            <a:extLst>
              <a:ext uri="{FF2B5EF4-FFF2-40B4-BE49-F238E27FC236}">
                <a16:creationId xmlns:a16="http://schemas.microsoft.com/office/drawing/2014/main" id="{2F7485D9-E30F-74FD-18B8-EE34A509C6DA}"/>
              </a:ext>
            </a:extLst>
          </p:cNvPr>
          <p:cNvSpPr/>
          <p:nvPr/>
        </p:nvSpPr>
        <p:spPr>
          <a:xfrm>
            <a:off x="5400711" y="1172081"/>
            <a:ext cx="6680333" cy="269403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kumimoji="0" lang="en-US" sz="2000" b="1" i="0" u="none" strike="noStrike" kern="1200" cap="none" spc="0" normalizeH="0" baseline="0" noProof="0" dirty="0" err="1">
                <a:ln>
                  <a:noFill/>
                </a:ln>
                <a:solidFill>
                  <a:schemeClr val="accent2"/>
                </a:solidFill>
                <a:effectLst/>
                <a:uLnTx/>
                <a:uFillTx/>
                <a:latin typeface="Arial" panose="020B0604020202020204" pitchFamily="34" charset="0"/>
                <a:ea typeface="+mn-ea"/>
                <a:cs typeface="Arial" panose="020B0604020202020204" pitchFamily="34" charset="0"/>
              </a:rPr>
              <a:t>Dockerfile</a:t>
            </a:r>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 syntax:</a:t>
            </a:r>
          </a:p>
          <a:p>
            <a:pPr lvl="0"/>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The first line to add to a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is a # syntax parser directive. While optional, this directive instructs the Docker builder what syntax to use when parsing the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and allows older Docker versions with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BuildKit</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enabled to use a specific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frontend before starting the build. Parser directives must appear before any other comment, whitespace, or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instruction in your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and should be the first line in </a:t>
            </a:r>
            <a:r>
              <a:rPr kumimoji="0" lang="en-US"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Dockerfiles</a:t>
            </a:r>
            <a:r>
              <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a:t>
            </a:r>
          </a:p>
        </p:txBody>
      </p:sp>
      <p:sp>
        <p:nvSpPr>
          <p:cNvPr id="5" name="TextBox 4">
            <a:extLst>
              <a:ext uri="{FF2B5EF4-FFF2-40B4-BE49-F238E27FC236}">
                <a16:creationId xmlns:a16="http://schemas.microsoft.com/office/drawing/2014/main" id="{9256D0B1-6BEC-19D9-9C70-AB2B4926A684}"/>
              </a:ext>
            </a:extLst>
          </p:cNvPr>
          <p:cNvSpPr txBox="1"/>
          <p:nvPr/>
        </p:nvSpPr>
        <p:spPr>
          <a:xfrm>
            <a:off x="1917291" y="1226696"/>
            <a:ext cx="3598606" cy="584775"/>
          </a:xfrm>
          <a:prstGeom prst="rect">
            <a:avLst/>
          </a:prstGeom>
          <a:noFill/>
        </p:spPr>
        <p:txBody>
          <a:bodyPr wrap="square" rtlCol="0">
            <a:spAutoFit/>
          </a:bodyPr>
          <a:lstStyle/>
          <a:p>
            <a:r>
              <a:rPr lang="en-US" sz="1600" b="1" dirty="0">
                <a:solidFill>
                  <a:srgbClr val="FF0000"/>
                </a:solidFill>
                <a:latin typeface="Arial" panose="020B0604020202020204" pitchFamily="34" charset="0"/>
                <a:cs typeface="Arial" panose="020B0604020202020204" pitchFamily="34" charset="0"/>
              </a:rPr>
              <a:t>which always points to the latest release of the version 1 syntax.</a:t>
            </a:r>
          </a:p>
        </p:txBody>
      </p:sp>
      <p:sp>
        <p:nvSpPr>
          <p:cNvPr id="6" name="Rectangle 5">
            <a:extLst>
              <a:ext uri="{FF2B5EF4-FFF2-40B4-BE49-F238E27FC236}">
                <a16:creationId xmlns:a16="http://schemas.microsoft.com/office/drawing/2014/main" id="{D58762A7-8DD4-DB0B-07A9-CE2F88824CA2}"/>
              </a:ext>
            </a:extLst>
          </p:cNvPr>
          <p:cNvSpPr/>
          <p:nvPr/>
        </p:nvSpPr>
        <p:spPr>
          <a:xfrm>
            <a:off x="5400711" y="3991896"/>
            <a:ext cx="6680333" cy="269403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Base Image:</a:t>
            </a:r>
          </a:p>
          <a:p>
            <a:pPr lvl="0"/>
            <a:r>
              <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The FROM instruction sets your base image to the 22.04 release of Ubuntu. All instructions that follow are executed in this base image: an Ubuntu environment. The notation ubuntu:22.04, follows the </a:t>
            </a:r>
            <a:r>
              <a:rPr kumimoji="0" lang="en-US" sz="1600"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name:tag</a:t>
            </a:r>
            <a:r>
              <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standard for naming Docker images. When you build images, you use this notation to name your images. There are many public images you can leverage in your projects, by importing them into your build steps using the </a:t>
            </a:r>
            <a:r>
              <a:rPr kumimoji="0" lang="en-US" sz="1600"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Dockerfile</a:t>
            </a:r>
            <a:r>
              <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FROM instruction.</a:t>
            </a:r>
          </a:p>
        </p:txBody>
      </p:sp>
      <p:grpSp>
        <p:nvGrpSpPr>
          <p:cNvPr id="9" name="Group 8">
            <a:extLst>
              <a:ext uri="{FF2B5EF4-FFF2-40B4-BE49-F238E27FC236}">
                <a16:creationId xmlns:a16="http://schemas.microsoft.com/office/drawing/2014/main" id="{F9A65E56-7187-970F-BC04-B01462534F93}"/>
              </a:ext>
            </a:extLst>
          </p:cNvPr>
          <p:cNvGrpSpPr/>
          <p:nvPr/>
        </p:nvGrpSpPr>
        <p:grpSpPr>
          <a:xfrm>
            <a:off x="1289448" y="1888272"/>
            <a:ext cx="4183560" cy="2401560"/>
            <a:chOff x="1289448" y="1888272"/>
            <a:chExt cx="4183560" cy="240156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C306C18-ECE9-D369-A313-5997DA6E8E7C}"/>
                    </a:ext>
                  </a:extLst>
                </p14:cNvPr>
                <p14:cNvContentPartPr/>
                <p14:nvPr/>
              </p14:nvContentPartPr>
              <p14:xfrm>
                <a:off x="1289448" y="1888272"/>
                <a:ext cx="4109760" cy="2309400"/>
              </p14:xfrm>
            </p:contentPart>
          </mc:Choice>
          <mc:Fallback xmlns="">
            <p:pic>
              <p:nvPicPr>
                <p:cNvPr id="3" name="Ink 2">
                  <a:extLst>
                    <a:ext uri="{FF2B5EF4-FFF2-40B4-BE49-F238E27FC236}">
                      <a16:creationId xmlns:a16="http://schemas.microsoft.com/office/drawing/2014/main" id="{EC306C18-ECE9-D369-A313-5997DA6E8E7C}"/>
                    </a:ext>
                  </a:extLst>
                </p:cNvPr>
                <p:cNvPicPr/>
                <p:nvPr/>
              </p:nvPicPr>
              <p:blipFill>
                <a:blip r:embed="rId5"/>
                <a:stretch>
                  <a:fillRect/>
                </a:stretch>
              </p:blipFill>
              <p:spPr>
                <a:xfrm>
                  <a:off x="1280448" y="1879272"/>
                  <a:ext cx="4127400" cy="2327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B6A097A-CD79-B1C2-224A-0D27A7004619}"/>
                    </a:ext>
                  </a:extLst>
                </p14:cNvPr>
                <p14:cNvContentPartPr/>
                <p14:nvPr/>
              </p14:nvContentPartPr>
              <p14:xfrm>
                <a:off x="5328288" y="4060872"/>
                <a:ext cx="144720" cy="228960"/>
              </p14:xfrm>
            </p:contentPart>
          </mc:Choice>
          <mc:Fallback xmlns="">
            <p:pic>
              <p:nvPicPr>
                <p:cNvPr id="7" name="Ink 6">
                  <a:extLst>
                    <a:ext uri="{FF2B5EF4-FFF2-40B4-BE49-F238E27FC236}">
                      <a16:creationId xmlns:a16="http://schemas.microsoft.com/office/drawing/2014/main" id="{BB6A097A-CD79-B1C2-224A-0D27A7004619}"/>
                    </a:ext>
                  </a:extLst>
                </p:cNvPr>
                <p:cNvPicPr/>
                <p:nvPr/>
              </p:nvPicPr>
              <p:blipFill>
                <a:blip r:embed="rId7"/>
                <a:stretch>
                  <a:fillRect/>
                </a:stretch>
              </p:blipFill>
              <p:spPr>
                <a:xfrm>
                  <a:off x="5319648" y="4052232"/>
                  <a:ext cx="162360" cy="246600"/>
                </a:xfrm>
                <a:prstGeom prst="rect">
                  <a:avLst/>
                </a:prstGeom>
              </p:spPr>
            </p:pic>
          </mc:Fallback>
        </mc:AlternateContent>
      </p:grpSp>
    </p:spTree>
    <p:extLst>
      <p:ext uri="{BB962C8B-B14F-4D97-AF65-F5344CB8AC3E}">
        <p14:creationId xmlns:p14="http://schemas.microsoft.com/office/powerpoint/2010/main" val="3194594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10D89E1-E46D-EF54-C72E-EE9A94C255F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273F897-D50B-8C63-FC72-4CF932190EB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3F37A99B-F68F-0BEA-216C-CB18850811E8}"/>
              </a:ext>
            </a:extLst>
          </p:cNvPr>
          <p:cNvPicPr>
            <a:picLocks noChangeAspect="1"/>
          </p:cNvPicPr>
          <p:nvPr/>
        </p:nvPicPr>
        <p:blipFill>
          <a:blip r:embed="rId3"/>
          <a:stretch>
            <a:fillRect/>
          </a:stretch>
        </p:blipFill>
        <p:spPr>
          <a:xfrm>
            <a:off x="110956" y="1172081"/>
            <a:ext cx="5178799" cy="4166835"/>
          </a:xfrm>
          <a:prstGeom prst="rect">
            <a:avLst/>
          </a:prstGeom>
        </p:spPr>
      </p:pic>
      <p:sp>
        <p:nvSpPr>
          <p:cNvPr id="4" name="Rectangle 3">
            <a:extLst>
              <a:ext uri="{FF2B5EF4-FFF2-40B4-BE49-F238E27FC236}">
                <a16:creationId xmlns:a16="http://schemas.microsoft.com/office/drawing/2014/main" id="{FB6054AB-2A0C-6A1A-1974-07E82A11151A}"/>
              </a:ext>
            </a:extLst>
          </p:cNvPr>
          <p:cNvSpPr/>
          <p:nvPr/>
        </p:nvSpPr>
        <p:spPr>
          <a:xfrm>
            <a:off x="5400711" y="1172081"/>
            <a:ext cx="6680333" cy="269403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Environment setup:</a:t>
            </a:r>
          </a:p>
          <a:p>
            <a:pPr lvl="0"/>
            <a:r>
              <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This RUN instruction executes a shell in Ubuntu that updates the APT package index and installs Python tools in the container.</a:t>
            </a:r>
          </a:p>
          <a:p>
            <a:pPr lvl="0"/>
            <a:endParaRPr lang="en-US" sz="1400" b="1" dirty="0">
              <a:solidFill>
                <a:schemeClr val="bg1"/>
              </a:solidFill>
              <a:latin typeface="Arial" panose="020B0604020202020204" pitchFamily="34" charset="0"/>
              <a:cs typeface="Arial" panose="020B0604020202020204" pitchFamily="34" charset="0"/>
            </a:endParaRPr>
          </a:p>
          <a:p>
            <a:pPr lvl="0"/>
            <a:r>
              <a:rPr lang="en-US" sz="2000" b="1" dirty="0">
                <a:solidFill>
                  <a:schemeClr val="accent2"/>
                </a:solidFill>
                <a:latin typeface="Arial" panose="020B0604020202020204" pitchFamily="34" charset="0"/>
                <a:cs typeface="Arial" panose="020B0604020202020204" pitchFamily="34" charset="0"/>
              </a:rPr>
              <a:t>Installing dependencies:</a:t>
            </a:r>
          </a:p>
          <a:p>
            <a:pPr lvl="0"/>
            <a:r>
              <a:rPr lang="en-US" sz="1600" b="1" dirty="0">
                <a:solidFill>
                  <a:schemeClr val="bg1"/>
                </a:solidFill>
                <a:latin typeface="Arial" panose="020B0604020202020204" pitchFamily="34" charset="0"/>
                <a:cs typeface="Arial" panose="020B0604020202020204" pitchFamily="34" charset="0"/>
              </a:rPr>
              <a:t>The second RUN instruction installs the flask dependency required by the Python application. A prerequisite for this instruction is that pip is installed in the build container. The first RUN command installs pip, ensuring that we can use it to install the Flask web framework.</a:t>
            </a:r>
            <a:endPar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EF2DF26C-5972-26C1-F95E-FFC9A804AC88}"/>
              </a:ext>
            </a:extLst>
          </p:cNvPr>
          <p:cNvSpPr txBox="1"/>
          <p:nvPr/>
        </p:nvSpPr>
        <p:spPr>
          <a:xfrm>
            <a:off x="1917291" y="1226696"/>
            <a:ext cx="3598606" cy="584775"/>
          </a:xfrm>
          <a:prstGeom prst="rect">
            <a:avLst/>
          </a:prstGeom>
          <a:noFill/>
        </p:spPr>
        <p:txBody>
          <a:bodyPr wrap="square" rtlCol="0">
            <a:spAutoFit/>
          </a:bodyPr>
          <a:lstStyle/>
          <a:p>
            <a:r>
              <a:rPr lang="en-US" sz="1600" b="1" dirty="0">
                <a:solidFill>
                  <a:srgbClr val="FF0000"/>
                </a:solidFill>
                <a:latin typeface="Arial" panose="020B0604020202020204" pitchFamily="34" charset="0"/>
                <a:cs typeface="Arial" panose="020B0604020202020204" pitchFamily="34" charset="0"/>
              </a:rPr>
              <a:t>which always points to the latest release of the version 1 syntax.</a:t>
            </a:r>
          </a:p>
        </p:txBody>
      </p:sp>
      <p:sp>
        <p:nvSpPr>
          <p:cNvPr id="6" name="Rectangle 5">
            <a:extLst>
              <a:ext uri="{FF2B5EF4-FFF2-40B4-BE49-F238E27FC236}">
                <a16:creationId xmlns:a16="http://schemas.microsoft.com/office/drawing/2014/main" id="{B2F51A34-1F10-B6C0-B8CB-9DF53170B3FC}"/>
              </a:ext>
            </a:extLst>
          </p:cNvPr>
          <p:cNvSpPr/>
          <p:nvPr/>
        </p:nvSpPr>
        <p:spPr>
          <a:xfrm>
            <a:off x="5400710" y="4109052"/>
            <a:ext cx="6680333" cy="185829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Copying files:</a:t>
            </a:r>
          </a:p>
          <a:p>
            <a:pPr lvl="0"/>
            <a:r>
              <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The next instruction uses the COPY instruction to copy the hello.py file from the local build context into the root directory of our image.</a:t>
            </a:r>
            <a:r>
              <a:rPr lang="en-US" sz="1600" b="1" dirty="0">
                <a:solidFill>
                  <a:schemeClr val="bg1"/>
                </a:solidFill>
                <a:latin typeface="Arial" panose="020B0604020202020204" pitchFamily="34" charset="0"/>
                <a:cs typeface="Arial" panose="020B0604020202020204" pitchFamily="34" charset="0"/>
              </a:rPr>
              <a:t> A build context is the set of files that you can access in </a:t>
            </a:r>
            <a:r>
              <a:rPr lang="en-US" sz="1600" b="1" dirty="0" err="1">
                <a:solidFill>
                  <a:schemeClr val="bg1"/>
                </a:solidFill>
                <a:latin typeface="Arial" panose="020B0604020202020204" pitchFamily="34" charset="0"/>
                <a:cs typeface="Arial" panose="020B0604020202020204" pitchFamily="34" charset="0"/>
              </a:rPr>
              <a:t>Dockerfile</a:t>
            </a:r>
            <a:r>
              <a:rPr lang="en-US" sz="1600" b="1" dirty="0">
                <a:solidFill>
                  <a:schemeClr val="bg1"/>
                </a:solidFill>
                <a:latin typeface="Arial" panose="020B0604020202020204" pitchFamily="34" charset="0"/>
                <a:cs typeface="Arial" panose="020B0604020202020204" pitchFamily="34" charset="0"/>
              </a:rPr>
              <a:t> instructions, such as COPY and ADD. After the COPY instruction, the hello.py file is added to the filesystem of the build container.</a:t>
            </a:r>
            <a:endParaRPr kumimoji="0" lang="en-US" sz="16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BA5E7354-73C5-58FD-0325-380C2667DB4E}"/>
                  </a:ext>
                </a:extLst>
              </p14:cNvPr>
              <p14:cNvContentPartPr/>
              <p14:nvPr/>
            </p14:nvContentPartPr>
            <p14:xfrm>
              <a:off x="4299839" y="1969499"/>
              <a:ext cx="989915" cy="579961"/>
            </p14:xfrm>
          </p:contentPart>
        </mc:Choice>
        <mc:Fallback xmlns="">
          <p:pic>
            <p:nvPicPr>
              <p:cNvPr id="12" name="Ink 11">
                <a:extLst>
                  <a:ext uri="{FF2B5EF4-FFF2-40B4-BE49-F238E27FC236}">
                    <a16:creationId xmlns:a16="http://schemas.microsoft.com/office/drawing/2014/main" id="{BA5E7354-73C5-58FD-0325-380C2667DB4E}"/>
                  </a:ext>
                </a:extLst>
              </p:cNvPr>
              <p:cNvPicPr/>
              <p:nvPr/>
            </p:nvPicPr>
            <p:blipFill>
              <a:blip r:embed="rId5"/>
              <a:stretch>
                <a:fillRect/>
              </a:stretch>
            </p:blipFill>
            <p:spPr>
              <a:xfrm>
                <a:off x="4290840" y="1960859"/>
                <a:ext cx="1007553" cy="597601"/>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DC78F244-8902-DAD5-FE90-9E76E30C62DE}"/>
                  </a:ext>
                </a:extLst>
              </p14:cNvPr>
              <p14:cNvContentPartPr/>
              <p14:nvPr/>
            </p14:nvContentPartPr>
            <p14:xfrm>
              <a:off x="5186640" y="1889400"/>
              <a:ext cx="169200" cy="231120"/>
            </p14:xfrm>
          </p:contentPart>
        </mc:Choice>
        <mc:Fallback xmlns="">
          <p:pic>
            <p:nvPicPr>
              <p:cNvPr id="16" name="Ink 15">
                <a:extLst>
                  <a:ext uri="{FF2B5EF4-FFF2-40B4-BE49-F238E27FC236}">
                    <a16:creationId xmlns:a16="http://schemas.microsoft.com/office/drawing/2014/main" id="{DC78F244-8902-DAD5-FE90-9E76E30C62DE}"/>
                  </a:ext>
                </a:extLst>
              </p:cNvPr>
              <p:cNvPicPr/>
              <p:nvPr/>
            </p:nvPicPr>
            <p:blipFill>
              <a:blip r:embed="rId7"/>
              <a:stretch>
                <a:fillRect/>
              </a:stretch>
            </p:blipFill>
            <p:spPr>
              <a:xfrm>
                <a:off x="5177640" y="1880760"/>
                <a:ext cx="18684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6350A37C-3F0E-56D7-46A3-2E6E907D8FB5}"/>
                  </a:ext>
                </a:extLst>
              </p14:cNvPr>
              <p14:cNvContentPartPr/>
              <p14:nvPr/>
            </p14:nvContentPartPr>
            <p14:xfrm>
              <a:off x="1166400" y="3642880"/>
              <a:ext cx="4108320" cy="937440"/>
            </p14:xfrm>
          </p:contentPart>
        </mc:Choice>
        <mc:Fallback xmlns="">
          <p:pic>
            <p:nvPicPr>
              <p:cNvPr id="18" name="Ink 17">
                <a:extLst>
                  <a:ext uri="{FF2B5EF4-FFF2-40B4-BE49-F238E27FC236}">
                    <a16:creationId xmlns:a16="http://schemas.microsoft.com/office/drawing/2014/main" id="{6350A37C-3F0E-56D7-46A3-2E6E907D8FB5}"/>
                  </a:ext>
                </a:extLst>
              </p:cNvPr>
              <p:cNvPicPr/>
              <p:nvPr/>
            </p:nvPicPr>
            <p:blipFill>
              <a:blip r:embed="rId9"/>
              <a:stretch>
                <a:fillRect/>
              </a:stretch>
            </p:blipFill>
            <p:spPr>
              <a:xfrm>
                <a:off x="1157400" y="3634240"/>
                <a:ext cx="4125960" cy="955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A037D558-8D84-7FF8-DD5B-146DCA69C12B}"/>
                  </a:ext>
                </a:extLst>
              </p14:cNvPr>
              <p14:cNvContentPartPr/>
              <p14:nvPr/>
            </p14:nvContentPartPr>
            <p14:xfrm>
              <a:off x="5091480" y="4374400"/>
              <a:ext cx="303480" cy="384480"/>
            </p14:xfrm>
          </p:contentPart>
        </mc:Choice>
        <mc:Fallback xmlns="">
          <p:pic>
            <p:nvPicPr>
              <p:cNvPr id="19" name="Ink 18">
                <a:extLst>
                  <a:ext uri="{FF2B5EF4-FFF2-40B4-BE49-F238E27FC236}">
                    <a16:creationId xmlns:a16="http://schemas.microsoft.com/office/drawing/2014/main" id="{A037D558-8D84-7FF8-DD5B-146DCA69C12B}"/>
                  </a:ext>
                </a:extLst>
              </p:cNvPr>
              <p:cNvPicPr/>
              <p:nvPr/>
            </p:nvPicPr>
            <p:blipFill>
              <a:blip r:embed="rId11"/>
              <a:stretch>
                <a:fillRect/>
              </a:stretch>
            </p:blipFill>
            <p:spPr>
              <a:xfrm>
                <a:off x="5082480" y="4365400"/>
                <a:ext cx="32112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97010942-41C8-F574-AE70-159DA002FB86}"/>
                  </a:ext>
                </a:extLst>
              </p14:cNvPr>
              <p14:cNvContentPartPr/>
              <p14:nvPr/>
            </p14:nvContentPartPr>
            <p14:xfrm>
              <a:off x="3509930" y="2104068"/>
              <a:ext cx="590400" cy="720"/>
            </p14:xfrm>
          </p:contentPart>
        </mc:Choice>
        <mc:Fallback xmlns="">
          <p:pic>
            <p:nvPicPr>
              <p:cNvPr id="21" name="Ink 20">
                <a:extLst>
                  <a:ext uri="{FF2B5EF4-FFF2-40B4-BE49-F238E27FC236}">
                    <a16:creationId xmlns:a16="http://schemas.microsoft.com/office/drawing/2014/main" id="{97010942-41C8-F574-AE70-159DA002FB86}"/>
                  </a:ext>
                </a:extLst>
              </p:cNvPr>
              <p:cNvPicPr/>
              <p:nvPr/>
            </p:nvPicPr>
            <p:blipFill>
              <a:blip r:embed="rId13"/>
              <a:stretch>
                <a:fillRect/>
              </a:stretch>
            </p:blipFill>
            <p:spPr>
              <a:xfrm>
                <a:off x="3500930" y="2086068"/>
                <a:ext cx="608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4D9B3DD6-AA05-4C2C-EE42-6B089808FDC1}"/>
                  </a:ext>
                </a:extLst>
              </p14:cNvPr>
              <p14:cNvContentPartPr/>
              <p14:nvPr/>
            </p14:nvContentPartPr>
            <p14:xfrm>
              <a:off x="4079450" y="2123508"/>
              <a:ext cx="30960" cy="950760"/>
            </p14:xfrm>
          </p:contentPart>
        </mc:Choice>
        <mc:Fallback xmlns="">
          <p:pic>
            <p:nvPicPr>
              <p:cNvPr id="22" name="Ink 21">
                <a:extLst>
                  <a:ext uri="{FF2B5EF4-FFF2-40B4-BE49-F238E27FC236}">
                    <a16:creationId xmlns:a16="http://schemas.microsoft.com/office/drawing/2014/main" id="{4D9B3DD6-AA05-4C2C-EE42-6B089808FDC1}"/>
                  </a:ext>
                </a:extLst>
              </p:cNvPr>
              <p:cNvPicPr/>
              <p:nvPr/>
            </p:nvPicPr>
            <p:blipFill>
              <a:blip r:embed="rId15"/>
              <a:stretch>
                <a:fillRect/>
              </a:stretch>
            </p:blipFill>
            <p:spPr>
              <a:xfrm>
                <a:off x="4070810" y="2114868"/>
                <a:ext cx="48600" cy="968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21694B62-13A9-29A1-D62A-3A1DA96EA785}"/>
                  </a:ext>
                </a:extLst>
              </p14:cNvPr>
              <p14:cNvContentPartPr/>
              <p14:nvPr/>
            </p14:nvContentPartPr>
            <p14:xfrm>
              <a:off x="3480770" y="3075348"/>
              <a:ext cx="619560" cy="22320"/>
            </p14:xfrm>
          </p:contentPart>
        </mc:Choice>
        <mc:Fallback xmlns="">
          <p:pic>
            <p:nvPicPr>
              <p:cNvPr id="23" name="Ink 22">
                <a:extLst>
                  <a:ext uri="{FF2B5EF4-FFF2-40B4-BE49-F238E27FC236}">
                    <a16:creationId xmlns:a16="http://schemas.microsoft.com/office/drawing/2014/main" id="{21694B62-13A9-29A1-D62A-3A1DA96EA785}"/>
                  </a:ext>
                </a:extLst>
              </p:cNvPr>
              <p:cNvPicPr/>
              <p:nvPr/>
            </p:nvPicPr>
            <p:blipFill>
              <a:blip r:embed="rId17"/>
              <a:stretch>
                <a:fillRect/>
              </a:stretch>
            </p:blipFill>
            <p:spPr>
              <a:xfrm>
                <a:off x="3472130" y="3066348"/>
                <a:ext cx="637200" cy="39960"/>
              </a:xfrm>
              <a:prstGeom prst="rect">
                <a:avLst/>
              </a:prstGeom>
            </p:spPr>
          </p:pic>
        </mc:Fallback>
      </mc:AlternateContent>
    </p:spTree>
    <p:extLst>
      <p:ext uri="{BB962C8B-B14F-4D97-AF65-F5344CB8AC3E}">
        <p14:creationId xmlns:p14="http://schemas.microsoft.com/office/powerpoint/2010/main" val="3695391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DE9F5F5-259B-0C43-DA29-DC4A9A50CF9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9FF9510-743E-505D-D62A-CB9096D1B95E}"/>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DD67D63A-5C5B-473D-9C43-6265EC33936A}"/>
              </a:ext>
            </a:extLst>
          </p:cNvPr>
          <p:cNvPicPr>
            <a:picLocks noChangeAspect="1"/>
          </p:cNvPicPr>
          <p:nvPr/>
        </p:nvPicPr>
        <p:blipFill>
          <a:blip r:embed="rId3"/>
          <a:stretch>
            <a:fillRect/>
          </a:stretch>
        </p:blipFill>
        <p:spPr>
          <a:xfrm>
            <a:off x="110956" y="1172081"/>
            <a:ext cx="5178799" cy="4166835"/>
          </a:xfrm>
          <a:prstGeom prst="rect">
            <a:avLst/>
          </a:prstGeom>
        </p:spPr>
      </p:pic>
      <p:sp>
        <p:nvSpPr>
          <p:cNvPr id="4" name="Rectangle 3">
            <a:extLst>
              <a:ext uri="{FF2B5EF4-FFF2-40B4-BE49-F238E27FC236}">
                <a16:creationId xmlns:a16="http://schemas.microsoft.com/office/drawing/2014/main" id="{F421417D-F88D-B044-10DD-1349AAB36029}"/>
              </a:ext>
            </a:extLst>
          </p:cNvPr>
          <p:cNvSpPr/>
          <p:nvPr/>
        </p:nvSpPr>
        <p:spPr>
          <a:xfrm>
            <a:off x="5400711" y="1172081"/>
            <a:ext cx="6680333" cy="557284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7132"/>
                </a:solidFill>
                <a:effectLst/>
                <a:uLnTx/>
                <a:uFillTx/>
                <a:latin typeface="Arial" panose="020B0604020202020204" pitchFamily="34" charset="0"/>
                <a:ea typeface="+mn-ea"/>
                <a:cs typeface="Arial" panose="020B0604020202020204" pitchFamily="34" charset="0"/>
              </a:rPr>
              <a:t>Setting environment variables: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your application uses environment variables, you can set environment variables in your Docker build using the ENV instruction.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prstClr val="white"/>
              </a:solidFill>
              <a:latin typeface="Arial" panose="020B0604020202020204" pitchFamily="34" charset="0"/>
              <a:cs typeface="Arial" panose="020B0604020202020204" pitchFamily="34" charset="0"/>
            </a:endParaRPr>
          </a:p>
          <a:p>
            <a:pPr lvl="0">
              <a:defRPr/>
            </a:pPr>
            <a:r>
              <a:rPr lang="en-US" sz="2000" b="1" dirty="0">
                <a:solidFill>
                  <a:srgbClr val="E97132"/>
                </a:solidFill>
                <a:latin typeface="Arial" panose="020B0604020202020204" pitchFamily="34" charset="0"/>
                <a:cs typeface="Arial" panose="020B0604020202020204" pitchFamily="34" charset="0"/>
              </a:rPr>
              <a:t>Exposed ports:</a:t>
            </a:r>
          </a:p>
          <a:p>
            <a:pPr lvl="0">
              <a:defRPr/>
            </a:pPr>
            <a:r>
              <a:rPr lang="en-US" b="1" dirty="0">
                <a:solidFill>
                  <a:prstClr val="white"/>
                </a:solidFill>
                <a:latin typeface="Arial" panose="020B0604020202020204" pitchFamily="34" charset="0"/>
                <a:cs typeface="Arial" panose="020B0604020202020204" pitchFamily="34" charset="0"/>
              </a:rPr>
              <a:t>The EXPOSE instruction marks that our final image has a service listening on port 8000. This instruction isn't required, but it is a good practice and helps tools and team members understand what this application is doing.</a:t>
            </a:r>
          </a:p>
          <a:p>
            <a:pPr>
              <a:defRPr/>
            </a:pPr>
            <a:b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b="1" dirty="0">
                <a:solidFill>
                  <a:srgbClr val="E97132"/>
                </a:solidFill>
                <a:latin typeface="Arial" panose="020B0604020202020204" pitchFamily="34" charset="0"/>
                <a:cs typeface="Arial" panose="020B0604020202020204" pitchFamily="34" charset="0"/>
              </a:rPr>
              <a:t>Exposed ports:</a:t>
            </a:r>
          </a:p>
          <a:p>
            <a:pPr lvl="0">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Finally, CMD instruction sets the command that is run when the user starts a container based on this image. This command starts the flask development server listening on all addresses on port 8000. The example here uses the "exec form" version of CMD. It's also possible to use the "shell form":</a:t>
            </a:r>
          </a:p>
        </p:txBody>
      </p:sp>
      <p:sp>
        <p:nvSpPr>
          <p:cNvPr id="5" name="TextBox 4">
            <a:extLst>
              <a:ext uri="{FF2B5EF4-FFF2-40B4-BE49-F238E27FC236}">
                <a16:creationId xmlns:a16="http://schemas.microsoft.com/office/drawing/2014/main" id="{C795E02C-2650-D495-D67C-9DEEA10764FB}"/>
              </a:ext>
            </a:extLst>
          </p:cNvPr>
          <p:cNvSpPr txBox="1"/>
          <p:nvPr/>
        </p:nvSpPr>
        <p:spPr>
          <a:xfrm>
            <a:off x="1917291" y="1226696"/>
            <a:ext cx="35986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which always points to the latest release of the version 1 syntax.</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A762202-2C73-1E1D-474F-DD821EE9C45E}"/>
                  </a:ext>
                </a:extLst>
              </p14:cNvPr>
              <p14:cNvContentPartPr/>
              <p14:nvPr/>
            </p14:nvContentPartPr>
            <p14:xfrm>
              <a:off x="3624300" y="3936600"/>
              <a:ext cx="618480" cy="1298880"/>
            </p14:xfrm>
          </p:contentPart>
        </mc:Choice>
        <mc:Fallback xmlns="">
          <p:pic>
            <p:nvPicPr>
              <p:cNvPr id="2" name="Ink 1">
                <a:extLst>
                  <a:ext uri="{FF2B5EF4-FFF2-40B4-BE49-F238E27FC236}">
                    <a16:creationId xmlns:a16="http://schemas.microsoft.com/office/drawing/2014/main" id="{CA762202-2C73-1E1D-474F-DD821EE9C45E}"/>
                  </a:ext>
                </a:extLst>
              </p:cNvPr>
              <p:cNvPicPr/>
              <p:nvPr/>
            </p:nvPicPr>
            <p:blipFill>
              <a:blip r:embed="rId5"/>
              <a:stretch>
                <a:fillRect/>
              </a:stretch>
            </p:blipFill>
            <p:spPr>
              <a:xfrm>
                <a:off x="3615300" y="3927600"/>
                <a:ext cx="636120" cy="1316520"/>
              </a:xfrm>
              <a:prstGeom prst="rect">
                <a:avLst/>
              </a:prstGeom>
            </p:spPr>
          </p:pic>
        </mc:Fallback>
      </mc:AlternateContent>
      <p:grpSp>
        <p:nvGrpSpPr>
          <p:cNvPr id="14" name="Group 13">
            <a:extLst>
              <a:ext uri="{FF2B5EF4-FFF2-40B4-BE49-F238E27FC236}">
                <a16:creationId xmlns:a16="http://schemas.microsoft.com/office/drawing/2014/main" id="{A97D4DCD-342A-87F2-0C34-CD82E0C752C7}"/>
              </a:ext>
            </a:extLst>
          </p:cNvPr>
          <p:cNvGrpSpPr/>
          <p:nvPr/>
        </p:nvGrpSpPr>
        <p:grpSpPr>
          <a:xfrm>
            <a:off x="4293540" y="1703880"/>
            <a:ext cx="1261440" cy="4815720"/>
            <a:chOff x="4293540" y="1703880"/>
            <a:chExt cx="1261440" cy="481572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2F24EDD-0B2B-95B2-93B9-18A8EF34B620}"/>
                    </a:ext>
                  </a:extLst>
                </p14:cNvPr>
                <p14:cNvContentPartPr/>
                <p14:nvPr/>
              </p14:nvContentPartPr>
              <p14:xfrm>
                <a:off x="4293540" y="1703880"/>
                <a:ext cx="1261440" cy="2885400"/>
              </p14:xfrm>
            </p:contentPart>
          </mc:Choice>
          <mc:Fallback xmlns="">
            <p:pic>
              <p:nvPicPr>
                <p:cNvPr id="11" name="Ink 10">
                  <a:extLst>
                    <a:ext uri="{FF2B5EF4-FFF2-40B4-BE49-F238E27FC236}">
                      <a16:creationId xmlns:a16="http://schemas.microsoft.com/office/drawing/2014/main" id="{72F24EDD-0B2B-95B2-93B9-18A8EF34B620}"/>
                    </a:ext>
                  </a:extLst>
                </p:cNvPr>
                <p:cNvPicPr/>
                <p:nvPr/>
              </p:nvPicPr>
              <p:blipFill>
                <a:blip r:embed="rId7"/>
                <a:stretch>
                  <a:fillRect/>
                </a:stretch>
              </p:blipFill>
              <p:spPr>
                <a:xfrm>
                  <a:off x="4284900" y="1694880"/>
                  <a:ext cx="1279080" cy="2903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AEA5A8C6-9D3E-CF68-9C2A-4304CD9D4330}"/>
                    </a:ext>
                  </a:extLst>
                </p14:cNvPr>
                <p14:cNvContentPartPr/>
                <p14:nvPr/>
              </p14:nvContentPartPr>
              <p14:xfrm>
                <a:off x="4309020" y="4569480"/>
                <a:ext cx="877680" cy="1847880"/>
              </p14:xfrm>
            </p:contentPart>
          </mc:Choice>
          <mc:Fallback xmlns="">
            <p:pic>
              <p:nvPicPr>
                <p:cNvPr id="12" name="Ink 11">
                  <a:extLst>
                    <a:ext uri="{FF2B5EF4-FFF2-40B4-BE49-F238E27FC236}">
                      <a16:creationId xmlns:a16="http://schemas.microsoft.com/office/drawing/2014/main" id="{AEA5A8C6-9D3E-CF68-9C2A-4304CD9D4330}"/>
                    </a:ext>
                  </a:extLst>
                </p:cNvPr>
                <p:cNvPicPr/>
                <p:nvPr/>
              </p:nvPicPr>
              <p:blipFill>
                <a:blip r:embed="rId9"/>
                <a:stretch>
                  <a:fillRect/>
                </a:stretch>
              </p:blipFill>
              <p:spPr>
                <a:xfrm>
                  <a:off x="4300020" y="4560840"/>
                  <a:ext cx="895320" cy="1865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707B1905-6654-C446-73CD-EA46DC0586BC}"/>
                    </a:ext>
                  </a:extLst>
                </p14:cNvPr>
                <p14:cNvContentPartPr/>
                <p14:nvPr/>
              </p14:nvContentPartPr>
              <p14:xfrm>
                <a:off x="5136300" y="6234120"/>
                <a:ext cx="142560" cy="285480"/>
              </p14:xfrm>
            </p:contentPart>
          </mc:Choice>
          <mc:Fallback xmlns="">
            <p:pic>
              <p:nvPicPr>
                <p:cNvPr id="13" name="Ink 12">
                  <a:extLst>
                    <a:ext uri="{FF2B5EF4-FFF2-40B4-BE49-F238E27FC236}">
                      <a16:creationId xmlns:a16="http://schemas.microsoft.com/office/drawing/2014/main" id="{707B1905-6654-C446-73CD-EA46DC0586BC}"/>
                    </a:ext>
                  </a:extLst>
                </p:cNvPr>
                <p:cNvPicPr/>
                <p:nvPr/>
              </p:nvPicPr>
              <p:blipFill>
                <a:blip r:embed="rId11"/>
                <a:stretch>
                  <a:fillRect/>
                </a:stretch>
              </p:blipFill>
              <p:spPr>
                <a:xfrm>
                  <a:off x="5127660" y="6225480"/>
                  <a:ext cx="160200" cy="303120"/>
                </a:xfrm>
                <a:prstGeom prst="rect">
                  <a:avLst/>
                </a:prstGeom>
              </p:spPr>
            </p:pic>
          </mc:Fallback>
        </mc:AlternateContent>
      </p:grpSp>
      <p:sp>
        <p:nvSpPr>
          <p:cNvPr id="15" name="Cloud 14">
            <a:extLst>
              <a:ext uri="{FF2B5EF4-FFF2-40B4-BE49-F238E27FC236}">
                <a16:creationId xmlns:a16="http://schemas.microsoft.com/office/drawing/2014/main" id="{D2E2D4FD-C777-E49B-751C-3E7768604BEE}"/>
              </a:ext>
            </a:extLst>
          </p:cNvPr>
          <p:cNvSpPr/>
          <p:nvPr/>
        </p:nvSpPr>
        <p:spPr>
          <a:xfrm>
            <a:off x="42132" y="5493420"/>
            <a:ext cx="4881222" cy="1285591"/>
          </a:xfrm>
          <a:prstGeom prst="cloud">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solidFill>
                  <a:schemeClr val="bg1"/>
                </a:solidFill>
                <a:latin typeface="Arial" panose="020B0604020202020204" pitchFamily="34" charset="0"/>
                <a:cs typeface="Arial" panose="020B0604020202020204" pitchFamily="34" charset="0"/>
              </a:rPr>
              <a:t>docker build -t </a:t>
            </a:r>
            <a:r>
              <a:rPr lang="en-US" b="1" dirty="0" err="1">
                <a:solidFill>
                  <a:schemeClr val="bg1"/>
                </a:solidFill>
                <a:latin typeface="Arial" panose="020B0604020202020204" pitchFamily="34" charset="0"/>
                <a:cs typeface="Arial" panose="020B0604020202020204" pitchFamily="34" charset="0"/>
              </a:rPr>
              <a:t>test:latest</a:t>
            </a:r>
            <a:r>
              <a:rPr lang="en-US" b="1" dirty="0">
                <a:solidFill>
                  <a:schemeClr val="bg1"/>
                </a:solidFill>
                <a:latin typeface="Arial" panose="020B0604020202020204" pitchFamily="34" charset="0"/>
                <a:cs typeface="Arial" panose="020B0604020202020204" pitchFamily="34" charset="0"/>
              </a:rPr>
              <a:t> .</a:t>
            </a:r>
            <a:endParaRPr kumimoji="0" lang="en-US"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86544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36AD8B8C-7481-2698-3BEB-5DCF5B134FE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BF64562-A1A0-284E-D06D-DBF989925A8F}"/>
              </a:ext>
            </a:extLst>
          </p:cNvPr>
          <p:cNvSpPr>
            <a:spLocks noGrp="1"/>
          </p:cNvSpPr>
          <p:nvPr>
            <p:ph type="title"/>
          </p:nvPr>
        </p:nvSpPr>
        <p:spPr>
          <a:xfrm>
            <a:off x="0" y="0"/>
            <a:ext cx="10515600" cy="1325563"/>
          </a:xfrm>
        </p:spPr>
        <p:txBody>
          <a:bodyPr>
            <a:normAutofit fontScale="90000"/>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 (Better Version):</a:t>
            </a:r>
          </a:p>
        </p:txBody>
      </p:sp>
      <p:pic>
        <p:nvPicPr>
          <p:cNvPr id="6" name="Picture 5">
            <a:extLst>
              <a:ext uri="{FF2B5EF4-FFF2-40B4-BE49-F238E27FC236}">
                <a16:creationId xmlns:a16="http://schemas.microsoft.com/office/drawing/2014/main" id="{6A432617-90BA-0321-F942-74CB3D3F32D5}"/>
              </a:ext>
            </a:extLst>
          </p:cNvPr>
          <p:cNvPicPr>
            <a:picLocks noChangeAspect="1"/>
          </p:cNvPicPr>
          <p:nvPr/>
        </p:nvPicPr>
        <p:blipFill>
          <a:blip r:embed="rId3"/>
          <a:stretch>
            <a:fillRect/>
          </a:stretch>
        </p:blipFill>
        <p:spPr>
          <a:xfrm>
            <a:off x="117456" y="1176615"/>
            <a:ext cx="6853615" cy="5578146"/>
          </a:xfrm>
          <a:prstGeom prst="rect">
            <a:avLst/>
          </a:prstGeom>
        </p:spPr>
      </p:pic>
      <p:graphicFrame>
        <p:nvGraphicFramePr>
          <p:cNvPr id="7" name="Table 6">
            <a:extLst>
              <a:ext uri="{FF2B5EF4-FFF2-40B4-BE49-F238E27FC236}">
                <a16:creationId xmlns:a16="http://schemas.microsoft.com/office/drawing/2014/main" id="{A8CC6EB6-C5CA-C9AF-EA5F-F7264209E539}"/>
              </a:ext>
            </a:extLst>
          </p:cNvPr>
          <p:cNvGraphicFramePr>
            <a:graphicFrameLocks noGrp="1"/>
          </p:cNvGraphicFramePr>
          <p:nvPr>
            <p:extLst>
              <p:ext uri="{D42A27DB-BD31-4B8C-83A1-F6EECF244321}">
                <p14:modId xmlns:p14="http://schemas.microsoft.com/office/powerpoint/2010/main" val="2334722008"/>
              </p:ext>
            </p:extLst>
          </p:nvPr>
        </p:nvGraphicFramePr>
        <p:xfrm>
          <a:off x="7088527" y="1134356"/>
          <a:ext cx="4986015" cy="5662664"/>
        </p:xfrm>
        <a:graphic>
          <a:graphicData uri="http://schemas.openxmlformats.org/drawingml/2006/table">
            <a:tbl>
              <a:tblPr/>
              <a:tblGrid>
                <a:gridCol w="1662005">
                  <a:extLst>
                    <a:ext uri="{9D8B030D-6E8A-4147-A177-3AD203B41FA5}">
                      <a16:colId xmlns:a16="http://schemas.microsoft.com/office/drawing/2014/main" val="1645390493"/>
                    </a:ext>
                  </a:extLst>
                </a:gridCol>
                <a:gridCol w="1662005">
                  <a:extLst>
                    <a:ext uri="{9D8B030D-6E8A-4147-A177-3AD203B41FA5}">
                      <a16:colId xmlns:a16="http://schemas.microsoft.com/office/drawing/2014/main" val="1505030391"/>
                    </a:ext>
                  </a:extLst>
                </a:gridCol>
                <a:gridCol w="1662005">
                  <a:extLst>
                    <a:ext uri="{9D8B030D-6E8A-4147-A177-3AD203B41FA5}">
                      <a16:colId xmlns:a16="http://schemas.microsoft.com/office/drawing/2014/main" val="3788179115"/>
                    </a:ext>
                  </a:extLst>
                </a:gridCol>
              </a:tblGrid>
              <a:tr h="542294">
                <a:tc>
                  <a:txBody>
                    <a:bodyPr/>
                    <a:lstStyle/>
                    <a:p>
                      <a:pPr algn="ctr">
                        <a:buNone/>
                      </a:pPr>
                      <a:r>
                        <a:rPr lang="en-US" sz="1400" b="1" dirty="0">
                          <a:effectLst/>
                          <a:latin typeface="Arial" panose="020B0604020202020204" pitchFamily="34" charset="0"/>
                          <a:cs typeface="Arial" panose="020B0604020202020204" pitchFamily="34" charset="0"/>
                        </a:rPr>
                        <a:t>Aspect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2">
                        <a:lumMod val="90000"/>
                      </a:schemeClr>
                    </a:solidFill>
                  </a:tcPr>
                </a:tc>
                <a:tc>
                  <a:txBody>
                    <a:bodyPr/>
                    <a:lstStyle/>
                    <a:p>
                      <a:pPr algn="ctr">
                        <a:buNone/>
                      </a:pPr>
                      <a:r>
                        <a:rPr lang="en-US" sz="1400" b="1" dirty="0">
                          <a:effectLst/>
                          <a:latin typeface="Arial" panose="020B0604020202020204" pitchFamily="34" charset="0"/>
                          <a:cs typeface="Arial" panose="020B0604020202020204" pitchFamily="34" charset="0"/>
                        </a:rPr>
                        <a:t>Original (Yours)</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2">
                        <a:lumMod val="90000"/>
                      </a:schemeClr>
                    </a:solidFill>
                  </a:tcPr>
                </a:tc>
                <a:tc>
                  <a:txBody>
                    <a:bodyPr/>
                    <a:lstStyle/>
                    <a:p>
                      <a:pPr algn="ctr">
                        <a:buNone/>
                      </a:pPr>
                      <a:r>
                        <a:rPr lang="en-US" sz="1400" b="1" dirty="0">
                          <a:effectLst/>
                          <a:latin typeface="Arial" panose="020B0604020202020204" pitchFamily="34" charset="0"/>
                          <a:cs typeface="Arial" panose="020B0604020202020204" pitchFamily="34" charset="0"/>
                        </a:rPr>
                        <a:t>Optimized Version</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755655973"/>
                  </a:ext>
                </a:extLst>
              </a:tr>
              <a:tr h="834575">
                <a:tc>
                  <a:txBody>
                    <a:bodyPr/>
                    <a:lstStyle/>
                    <a:p>
                      <a:pPr algn="ctr">
                        <a:buNone/>
                      </a:pPr>
                      <a:r>
                        <a:rPr lang="en-US" sz="1400" b="1" dirty="0">
                          <a:effectLst/>
                          <a:latin typeface="Arial" panose="020B0604020202020204" pitchFamily="34" charset="0"/>
                          <a:cs typeface="Arial" panose="020B0604020202020204" pitchFamily="34" charset="0"/>
                        </a:rPr>
                        <a:t>Base Image</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sv-SE" sz="1400" b="1" dirty="0">
                          <a:effectLst/>
                          <a:latin typeface="Arial" panose="020B0604020202020204" pitchFamily="34" charset="0"/>
                          <a:cs typeface="Arial" panose="020B0604020202020204" pitchFamily="34" charset="0"/>
                        </a:rPr>
                        <a:t>ubuntu:22.04 (~77MB, full OS)</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a:effectLst/>
                          <a:latin typeface="Arial" panose="020B0604020202020204" pitchFamily="34" charset="0"/>
                          <a:cs typeface="Arial" panose="020B0604020202020204" pitchFamily="34" charset="0"/>
                        </a:rPr>
                        <a:t>python:3.12-slim (~50MB, Python-ready) </a:t>
                      </a:r>
                      <a:r>
                        <a:rPr lang="en-US" sz="1400" b="1">
                          <a:effectLst/>
                          <a:latin typeface="Arial" panose="020B0604020202020204" pitchFamily="34" charset="0"/>
                          <a:cs typeface="Arial" panose="020B0604020202020204" pitchFamily="34" charset="0"/>
                          <a:hlinkClick r:id="rId4"/>
                        </a:rPr>
                        <a:t>docker</a:t>
                      </a:r>
                      <a:r>
                        <a:rPr lang="en-US" sz="1400" b="1">
                          <a:effectLst/>
                          <a:latin typeface="Arial" panose="020B0604020202020204" pitchFamily="34" charset="0"/>
                          <a:cs typeface="Arial" panose="020B0604020202020204" pitchFamily="34" charset="0"/>
                        </a:rPr>
                        <a: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3592750101"/>
                  </a:ext>
                </a:extLst>
              </a:tr>
              <a:tr h="1017492">
                <a:tc>
                  <a:txBody>
                    <a:bodyPr/>
                    <a:lstStyle/>
                    <a:p>
                      <a:pPr algn="ctr">
                        <a:buNone/>
                      </a:pPr>
                      <a:r>
                        <a:rPr lang="en-US" sz="1400" b="1">
                          <a:effectLst/>
                          <a:latin typeface="Arial" panose="020B0604020202020204" pitchFamily="34" charset="0"/>
                          <a:cs typeface="Arial" panose="020B0604020202020204" pitchFamily="34" charset="0"/>
                        </a:rPr>
                        <a:t>Layer Efficiency</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dirty="0">
                          <a:effectLst/>
                          <a:latin typeface="Arial" panose="020B0604020202020204" pitchFamily="34" charset="0"/>
                          <a:cs typeface="Arial" panose="020B0604020202020204" pitchFamily="34" charset="0"/>
                        </a:rPr>
                        <a:t>2 RUNs (apt + pip = more layers/cache misses)</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a:effectLst/>
                          <a:latin typeface="Arial" panose="020B0604020202020204" pitchFamily="34" charset="0"/>
                          <a:cs typeface="Arial" panose="020B0604020202020204" pitchFamily="34" charset="0"/>
                        </a:rPr>
                        <a:t>1 RUN for pip (fewer layers, faster rebuilds) </a:t>
                      </a:r>
                      <a:r>
                        <a:rPr lang="en-US" sz="1400" b="1">
                          <a:effectLst/>
                          <a:latin typeface="Arial" panose="020B0604020202020204" pitchFamily="34" charset="0"/>
                          <a:cs typeface="Arial" panose="020B0604020202020204" pitchFamily="34" charset="0"/>
                          <a:hlinkClick r:id="rId5"/>
                        </a:rPr>
                        <a:t>docs.docker</a:t>
                      </a:r>
                      <a:r>
                        <a:rPr lang="en-US" sz="1400" b="1">
                          <a:effectLst/>
                          <a:latin typeface="Arial" panose="020B0604020202020204" pitchFamily="34" charset="0"/>
                          <a:cs typeface="Arial" panose="020B0604020202020204" pitchFamily="34" charset="0"/>
                        </a:rPr>
                        <a: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2332130087"/>
                  </a:ext>
                </a:extLst>
              </a:tr>
              <a:tr h="834575">
                <a:tc>
                  <a:txBody>
                    <a:bodyPr/>
                    <a:lstStyle/>
                    <a:p>
                      <a:pPr algn="ctr">
                        <a:buNone/>
                      </a:pPr>
                      <a:r>
                        <a:rPr lang="en-US" sz="1400" b="1" dirty="0">
                          <a:effectLst/>
                          <a:latin typeface="Arial" panose="020B0604020202020204" pitchFamily="34" charset="0"/>
                          <a:cs typeface="Arial" panose="020B0604020202020204" pitchFamily="34" charset="0"/>
                        </a:rPr>
                        <a:t>Security</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dirty="0">
                          <a:effectLst/>
                          <a:latin typeface="Arial" panose="020B0604020202020204" pitchFamily="34" charset="0"/>
                          <a:cs typeface="Arial" panose="020B0604020202020204" pitchFamily="34" charset="0"/>
                        </a:rPr>
                        <a:t>Runs as root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a:effectLst/>
                          <a:latin typeface="Arial" panose="020B0604020202020204" pitchFamily="34" charset="0"/>
                          <a:cs typeface="Arial" panose="020B0604020202020204" pitchFamily="34" charset="0"/>
                        </a:rPr>
                        <a:t>Non-root appuser (best practice) </a:t>
                      </a:r>
                      <a:r>
                        <a:rPr lang="en-US" sz="1400" b="1">
                          <a:effectLst/>
                          <a:latin typeface="Arial" panose="020B0604020202020204" pitchFamily="34" charset="0"/>
                          <a:cs typeface="Arial" panose="020B0604020202020204" pitchFamily="34" charset="0"/>
                          <a:hlinkClick r:id="rId6"/>
                        </a:rPr>
                        <a:t>oneuptime</a:t>
                      </a:r>
                      <a:r>
                        <a:rPr lang="en-US" sz="1400" b="1">
                          <a:effectLst/>
                          <a:latin typeface="Arial" panose="020B0604020202020204" pitchFamily="34" charset="0"/>
                          <a:cs typeface="Arial" panose="020B0604020202020204" pitchFamily="34" charset="0"/>
                        </a:rPr>
                        <a: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3012839784"/>
                  </a:ext>
                </a:extLst>
              </a:tr>
              <a:tr h="834575">
                <a:tc>
                  <a:txBody>
                    <a:bodyPr/>
                    <a:lstStyle/>
                    <a:p>
                      <a:pPr algn="ctr">
                        <a:buNone/>
                      </a:pPr>
                      <a:r>
                        <a:rPr lang="en-US" sz="1400" b="1">
                          <a:effectLst/>
                          <a:latin typeface="Arial" panose="020B0604020202020204" pitchFamily="34" charset="0"/>
                          <a:cs typeface="Arial" panose="020B0604020202020204" pitchFamily="34" charset="0"/>
                        </a:rPr>
                        <a:t>WORKDIR/COPY</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dirty="0">
                          <a:effectLst/>
                          <a:latin typeface="Arial" panose="020B0604020202020204" pitchFamily="34" charset="0"/>
                          <a:cs typeface="Arial" panose="020B0604020202020204" pitchFamily="34" charset="0"/>
                        </a:rPr>
                        <a:t>Missing WORKDIR, incomplete COPY</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dirty="0">
                          <a:effectLst/>
                          <a:latin typeface="Arial" panose="020B0604020202020204" pitchFamily="34" charset="0"/>
                          <a:cs typeface="Arial" panose="020B0604020202020204" pitchFamily="34" charset="0"/>
                        </a:rPr>
                        <a:t>Sets /app, copies to it cleanly</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2860826275"/>
                  </a:ext>
                </a:extLst>
              </a:tr>
              <a:tr h="753912">
                <a:tc>
                  <a:txBody>
                    <a:bodyPr/>
                    <a:lstStyle/>
                    <a:p>
                      <a:pPr algn="ctr">
                        <a:buNone/>
                      </a:pPr>
                      <a:r>
                        <a:rPr lang="en-US" sz="1400" b="1">
                          <a:effectLst/>
                          <a:latin typeface="Arial" panose="020B0604020202020204" pitchFamily="34" charset="0"/>
                          <a:cs typeface="Arial" panose="020B0604020202020204" pitchFamily="34" charset="0"/>
                        </a:rPr>
                        <a:t>Pip Flags</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a:effectLst/>
                          <a:latin typeface="Arial" panose="020B0604020202020204" pitchFamily="34" charset="0"/>
                          <a:cs typeface="Arial" panose="020B0604020202020204" pitchFamily="34" charset="0"/>
                        </a:rPr>
                        <a:t>None (bloats cache)</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dirty="0">
                          <a:effectLst/>
                          <a:latin typeface="Arial" panose="020B0604020202020204" pitchFamily="34" charset="0"/>
                          <a:cs typeface="Arial" panose="020B0604020202020204" pitchFamily="34" charset="0"/>
                        </a:rPr>
                        <a:t>--no-cache-</a:t>
                      </a:r>
                      <a:r>
                        <a:rPr lang="en-US" sz="1400" b="1" dirty="0" err="1">
                          <a:effectLst/>
                          <a:latin typeface="Arial" panose="020B0604020202020204" pitchFamily="34" charset="0"/>
                          <a:cs typeface="Arial" panose="020B0604020202020204" pitchFamily="34" charset="0"/>
                        </a:rPr>
                        <a:t>dir</a:t>
                      </a:r>
                      <a:r>
                        <a:rPr lang="en-US" sz="1400" b="1" dirty="0">
                          <a:effectLst/>
                          <a:latin typeface="Arial" panose="020B0604020202020204" pitchFamily="34" charset="0"/>
                          <a:cs typeface="Arial" panose="020B0604020202020204" pitchFamily="34" charset="0"/>
                        </a:rPr>
                        <a:t> (smaller image) </a:t>
                      </a:r>
                      <a:r>
                        <a:rPr lang="en-US" sz="1400" b="1" dirty="0">
                          <a:effectLst/>
                          <a:latin typeface="Arial" panose="020B0604020202020204" pitchFamily="34" charset="0"/>
                          <a:cs typeface="Arial" panose="020B0604020202020204" pitchFamily="34" charset="0"/>
                          <a:hlinkClick r:id="rId4"/>
                        </a:rPr>
                        <a:t>docker</a:t>
                      </a:r>
                      <a:r>
                        <a:rPr lang="en-US" sz="1400" b="1" dirty="0">
                          <a:effectLst/>
                          <a:latin typeface="Arial" panose="020B0604020202020204" pitchFamily="34" charset="0"/>
                          <a:cs typeface="Arial" panose="020B0604020202020204" pitchFamily="34" charset="0"/>
                        </a:rPr>
                        <a: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4028792226"/>
                  </a:ext>
                </a:extLst>
              </a:tr>
              <a:tr h="834575">
                <a:tc>
                  <a:txBody>
                    <a:bodyPr/>
                    <a:lstStyle/>
                    <a:p>
                      <a:pPr algn="ctr">
                        <a:buNone/>
                      </a:pPr>
                      <a:r>
                        <a:rPr lang="en-US" sz="1400" b="1">
                          <a:effectLst/>
                          <a:latin typeface="Arial" panose="020B0604020202020204" pitchFamily="34" charset="0"/>
                          <a:cs typeface="Arial" panose="020B0604020202020204" pitchFamily="34" charset="0"/>
                        </a:rPr>
                        <a:t>Size/Speed</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a:effectLst/>
                          <a:latin typeface="Arial" panose="020B0604020202020204" pitchFamily="34" charset="0"/>
                          <a:cs typeface="Arial" panose="020B0604020202020204" pitchFamily="34" charset="0"/>
                        </a:rPr>
                        <a:t>Larger (~200MB+), slower</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tc>
                  <a:txBody>
                    <a:bodyPr/>
                    <a:lstStyle/>
                    <a:p>
                      <a:pPr algn="ctr">
                        <a:buNone/>
                      </a:pPr>
                      <a:r>
                        <a:rPr lang="en-US" sz="1400" b="1" dirty="0">
                          <a:effectLst/>
                          <a:latin typeface="Arial" panose="020B0604020202020204" pitchFamily="34" charset="0"/>
                          <a:cs typeface="Arial" panose="020B0604020202020204" pitchFamily="34" charset="0"/>
                        </a:rPr>
                        <a:t>~120MB, quicker builds/runs </a:t>
                      </a:r>
                      <a:r>
                        <a:rPr lang="en-US" sz="1400" b="1" dirty="0" err="1">
                          <a:effectLst/>
                          <a:latin typeface="Arial" panose="020B0604020202020204" pitchFamily="34" charset="0"/>
                          <a:cs typeface="Arial" panose="020B0604020202020204" pitchFamily="34" charset="0"/>
                          <a:hlinkClick r:id="rId7"/>
                        </a:rPr>
                        <a:t>sysdig</a:t>
                      </a:r>
                      <a:r>
                        <a:rPr lang="en-US" sz="1400" b="1" dirty="0">
                          <a:effectLst/>
                          <a:latin typeface="Arial" panose="020B0604020202020204" pitchFamily="34" charset="0"/>
                          <a:cs typeface="Arial" panose="020B0604020202020204" pitchFamily="34" charset="0"/>
                        </a:rPr>
                        <a:t>​</a:t>
                      </a:r>
                    </a:p>
                  </a:txBody>
                  <a:tcPr marL="60018" marR="60018" marT="60018" marB="6001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solidFill>
                  </a:tcPr>
                </a:tc>
                <a:extLst>
                  <a:ext uri="{0D108BD9-81ED-4DB2-BD59-A6C34878D82A}">
                    <a16:rowId xmlns:a16="http://schemas.microsoft.com/office/drawing/2014/main" val="3178959727"/>
                  </a:ext>
                </a:extLst>
              </a:tr>
            </a:tbl>
          </a:graphicData>
        </a:graphic>
      </p:graphicFrame>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D234C98C-A4A9-61E6-B4A8-A59AAD638A72}"/>
                  </a:ext>
                </a:extLst>
              </p14:cNvPr>
              <p14:cNvContentPartPr/>
              <p14:nvPr/>
            </p14:nvContentPartPr>
            <p14:xfrm>
              <a:off x="-13248" y="2906424"/>
              <a:ext cx="5379120" cy="1154520"/>
            </p14:xfrm>
          </p:contentPart>
        </mc:Choice>
        <mc:Fallback xmlns="">
          <p:pic>
            <p:nvPicPr>
              <p:cNvPr id="2" name="Ink 1">
                <a:extLst>
                  <a:ext uri="{FF2B5EF4-FFF2-40B4-BE49-F238E27FC236}">
                    <a16:creationId xmlns:a16="http://schemas.microsoft.com/office/drawing/2014/main" id="{D234C98C-A4A9-61E6-B4A8-A59AAD638A72}"/>
                  </a:ext>
                </a:extLst>
              </p:cNvPr>
              <p:cNvPicPr/>
              <p:nvPr/>
            </p:nvPicPr>
            <p:blipFill>
              <a:blip r:embed="rId9"/>
              <a:stretch>
                <a:fillRect/>
              </a:stretch>
            </p:blipFill>
            <p:spPr>
              <a:xfrm>
                <a:off x="-21888" y="2897784"/>
                <a:ext cx="5396760" cy="1172160"/>
              </a:xfrm>
              <a:prstGeom prst="rect">
                <a:avLst/>
              </a:prstGeom>
            </p:spPr>
          </p:pic>
        </mc:Fallback>
      </mc:AlternateContent>
      <p:sp>
        <p:nvSpPr>
          <p:cNvPr id="3" name="TextBox 2">
            <a:extLst>
              <a:ext uri="{FF2B5EF4-FFF2-40B4-BE49-F238E27FC236}">
                <a16:creationId xmlns:a16="http://schemas.microsoft.com/office/drawing/2014/main" id="{F001149B-379B-04D1-303C-82884121D115}"/>
              </a:ext>
            </a:extLst>
          </p:cNvPr>
          <p:cNvSpPr txBox="1"/>
          <p:nvPr/>
        </p:nvSpPr>
        <p:spPr>
          <a:xfrm>
            <a:off x="1737360" y="3059668"/>
            <a:ext cx="2321982"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You can skip it now</a:t>
            </a:r>
          </a:p>
        </p:txBody>
      </p:sp>
    </p:spTree>
    <p:extLst>
      <p:ext uri="{BB962C8B-B14F-4D97-AF65-F5344CB8AC3E}">
        <p14:creationId xmlns:p14="http://schemas.microsoft.com/office/powerpoint/2010/main" val="357270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DB92FB51-28C8-C74A-F02C-E25CC65903E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5DC6853-2697-E8EA-C89F-D88798938EB7}"/>
              </a:ext>
            </a:extLst>
          </p:cNvPr>
          <p:cNvSpPr>
            <a:spLocks noGrp="1"/>
          </p:cNvSpPr>
          <p:nvPr>
            <p:ph type="title"/>
          </p:nvPr>
        </p:nvSpPr>
        <p:spPr>
          <a:xfrm>
            <a:off x="0" y="0"/>
            <a:ext cx="10515600" cy="1325563"/>
          </a:xfrm>
        </p:spPr>
        <p:txBody>
          <a:bodyPr>
            <a:normAutofit fontScale="90000"/>
          </a:bodyPr>
          <a:lstStyle/>
          <a:p>
            <a:r>
              <a:rPr lang="en-US" sz="5400" b="1" dirty="0">
                <a:latin typeface="Times New Roman" panose="02020603050405020304" pitchFamily="18" charset="0"/>
                <a:cs typeface="Times New Roman" panose="02020603050405020304" pitchFamily="18" charset="0"/>
              </a:rPr>
              <a:t>Create A </a:t>
            </a:r>
            <a:r>
              <a:rPr lang="en-US" sz="5400" b="1" dirty="0" err="1">
                <a:latin typeface="Times New Roman" panose="02020603050405020304" pitchFamily="18" charset="0"/>
                <a:cs typeface="Times New Roman" panose="02020603050405020304" pitchFamily="18" charset="0"/>
              </a:rPr>
              <a:t>DockerFile</a:t>
            </a:r>
            <a:r>
              <a:rPr lang="en-US" sz="5400" b="1" dirty="0">
                <a:latin typeface="Times New Roman" panose="02020603050405020304" pitchFamily="18" charset="0"/>
                <a:cs typeface="Times New Roman" panose="02020603050405020304" pitchFamily="18" charset="0"/>
              </a:rPr>
              <a:t> (Better Version):</a:t>
            </a:r>
          </a:p>
        </p:txBody>
      </p:sp>
      <p:pic>
        <p:nvPicPr>
          <p:cNvPr id="5" name="Picture 4">
            <a:extLst>
              <a:ext uri="{FF2B5EF4-FFF2-40B4-BE49-F238E27FC236}">
                <a16:creationId xmlns:a16="http://schemas.microsoft.com/office/drawing/2014/main" id="{DDADA822-05D5-FD67-C23B-B44B6FAEBB83}"/>
              </a:ext>
            </a:extLst>
          </p:cNvPr>
          <p:cNvPicPr>
            <a:picLocks noChangeAspect="1"/>
          </p:cNvPicPr>
          <p:nvPr/>
        </p:nvPicPr>
        <p:blipFill>
          <a:blip r:embed="rId3"/>
          <a:stretch>
            <a:fillRect/>
          </a:stretch>
        </p:blipFill>
        <p:spPr>
          <a:xfrm>
            <a:off x="296407" y="1211093"/>
            <a:ext cx="4344418" cy="3734531"/>
          </a:xfrm>
          <a:prstGeom prst="rect">
            <a:avLst/>
          </a:prstGeom>
        </p:spPr>
      </p:pic>
      <p:pic>
        <p:nvPicPr>
          <p:cNvPr id="9" name="Picture 8">
            <a:extLst>
              <a:ext uri="{FF2B5EF4-FFF2-40B4-BE49-F238E27FC236}">
                <a16:creationId xmlns:a16="http://schemas.microsoft.com/office/drawing/2014/main" id="{BED2017E-6A20-BE7F-D7E0-A91BD43387F0}"/>
              </a:ext>
            </a:extLst>
          </p:cNvPr>
          <p:cNvPicPr>
            <a:picLocks noChangeAspect="1"/>
          </p:cNvPicPr>
          <p:nvPr/>
        </p:nvPicPr>
        <p:blipFill>
          <a:blip r:embed="rId4"/>
          <a:stretch>
            <a:fillRect/>
          </a:stretch>
        </p:blipFill>
        <p:spPr>
          <a:xfrm>
            <a:off x="5110685" y="1536429"/>
            <a:ext cx="4738409" cy="3083861"/>
          </a:xfrm>
          <a:prstGeom prst="rect">
            <a:avLst/>
          </a:prstGeom>
        </p:spPr>
      </p:pic>
    </p:spTree>
    <p:extLst>
      <p:ext uri="{BB962C8B-B14F-4D97-AF65-F5344CB8AC3E}">
        <p14:creationId xmlns:p14="http://schemas.microsoft.com/office/powerpoint/2010/main" val="32288955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3316CE2F-6F25-41AB-B553-EF03F17D58A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FA0C86F-E1C5-2153-741D-489A8E622C9E}"/>
              </a:ext>
            </a:extLst>
          </p:cNvPr>
          <p:cNvSpPr>
            <a:spLocks noGrp="1"/>
          </p:cNvSpPr>
          <p:nvPr>
            <p:ph type="title"/>
          </p:nvPr>
        </p:nvSpPr>
        <p:spPr>
          <a:xfrm>
            <a:off x="0" y="0"/>
            <a:ext cx="10515600" cy="1325563"/>
          </a:xfrm>
        </p:spPr>
        <p:txBody>
          <a:bodyPr>
            <a:normAutofit/>
          </a:bodyPr>
          <a:lstStyle/>
          <a:p>
            <a:r>
              <a:rPr lang="en-US" sz="5400" b="1" dirty="0">
                <a:latin typeface="Times New Roman" panose="02020603050405020304" pitchFamily="18" charset="0"/>
                <a:cs typeface="Times New Roman" panose="02020603050405020304" pitchFamily="18" charset="0"/>
              </a:rPr>
              <a:t>Using a container as a compiler:</a:t>
            </a:r>
          </a:p>
        </p:txBody>
      </p:sp>
      <p:pic>
        <p:nvPicPr>
          <p:cNvPr id="3" name="Picture 2">
            <a:extLst>
              <a:ext uri="{FF2B5EF4-FFF2-40B4-BE49-F238E27FC236}">
                <a16:creationId xmlns:a16="http://schemas.microsoft.com/office/drawing/2014/main" id="{F20AEC4D-D14B-4A8F-60A1-BFE1B92450C1}"/>
              </a:ext>
            </a:extLst>
          </p:cNvPr>
          <p:cNvPicPr>
            <a:picLocks noChangeAspect="1"/>
          </p:cNvPicPr>
          <p:nvPr/>
        </p:nvPicPr>
        <p:blipFill>
          <a:blip r:embed="rId3"/>
          <a:stretch>
            <a:fillRect/>
          </a:stretch>
        </p:blipFill>
        <p:spPr>
          <a:xfrm>
            <a:off x="391532" y="1621384"/>
            <a:ext cx="4740906" cy="2891621"/>
          </a:xfrm>
          <a:prstGeom prst="rect">
            <a:avLst/>
          </a:prstGeom>
        </p:spPr>
      </p:pic>
      <p:pic>
        <p:nvPicPr>
          <p:cNvPr id="6" name="Picture 5">
            <a:extLst>
              <a:ext uri="{FF2B5EF4-FFF2-40B4-BE49-F238E27FC236}">
                <a16:creationId xmlns:a16="http://schemas.microsoft.com/office/drawing/2014/main" id="{DBB34E5A-948F-9470-C3F6-8E44345717EC}"/>
              </a:ext>
            </a:extLst>
          </p:cNvPr>
          <p:cNvPicPr>
            <a:picLocks noChangeAspect="1"/>
          </p:cNvPicPr>
          <p:nvPr/>
        </p:nvPicPr>
        <p:blipFill>
          <a:blip r:embed="rId4"/>
          <a:stretch>
            <a:fillRect/>
          </a:stretch>
        </p:blipFill>
        <p:spPr>
          <a:xfrm>
            <a:off x="5463192" y="1621384"/>
            <a:ext cx="5716085" cy="2891621"/>
          </a:xfrm>
          <a:prstGeom prst="rect">
            <a:avLst/>
          </a:prstGeom>
        </p:spPr>
      </p:pic>
      <p:pic>
        <p:nvPicPr>
          <p:cNvPr id="10" name="Picture 9">
            <a:extLst>
              <a:ext uri="{FF2B5EF4-FFF2-40B4-BE49-F238E27FC236}">
                <a16:creationId xmlns:a16="http://schemas.microsoft.com/office/drawing/2014/main" id="{4B77AEFA-922A-3AF3-8ACE-723C672C925A}"/>
              </a:ext>
            </a:extLst>
          </p:cNvPr>
          <p:cNvPicPr>
            <a:picLocks noChangeAspect="1"/>
          </p:cNvPicPr>
          <p:nvPr/>
        </p:nvPicPr>
        <p:blipFill>
          <a:blip r:embed="rId5"/>
          <a:stretch>
            <a:fillRect/>
          </a:stretch>
        </p:blipFill>
        <p:spPr>
          <a:xfrm>
            <a:off x="391532" y="4802017"/>
            <a:ext cx="4740906" cy="434599"/>
          </a:xfrm>
          <a:prstGeom prst="rect">
            <a:avLst/>
          </a:prstGeom>
        </p:spPr>
      </p:pic>
      <p:pic>
        <p:nvPicPr>
          <p:cNvPr id="12" name="Picture 11">
            <a:extLst>
              <a:ext uri="{FF2B5EF4-FFF2-40B4-BE49-F238E27FC236}">
                <a16:creationId xmlns:a16="http://schemas.microsoft.com/office/drawing/2014/main" id="{0A095C28-FC5A-BA89-5425-11CD00200F20}"/>
              </a:ext>
            </a:extLst>
          </p:cNvPr>
          <p:cNvPicPr>
            <a:picLocks noChangeAspect="1"/>
          </p:cNvPicPr>
          <p:nvPr/>
        </p:nvPicPr>
        <p:blipFill>
          <a:blip r:embed="rId6"/>
          <a:stretch>
            <a:fillRect/>
          </a:stretch>
        </p:blipFill>
        <p:spPr>
          <a:xfrm>
            <a:off x="391532" y="5589995"/>
            <a:ext cx="4740906" cy="431904"/>
          </a:xfrm>
          <a:prstGeom prst="rect">
            <a:avLst/>
          </a:prstGeom>
        </p:spPr>
      </p:pic>
    </p:spTree>
    <p:extLst>
      <p:ext uri="{BB962C8B-B14F-4D97-AF65-F5344CB8AC3E}">
        <p14:creationId xmlns:p14="http://schemas.microsoft.com/office/powerpoint/2010/main" val="2627651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DE86BBD-F99E-C97C-D837-F8A129DA9910}"/>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6ED7EC5-F1FF-0B94-6EAE-D34879C4A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8652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F397C10-A314-2AAB-67D2-8E4DAEA0795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CCECF62-EFC1-C822-C10D-D28F2B593465}"/>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Clean Up Your Space:</a:t>
            </a:r>
          </a:p>
        </p:txBody>
      </p:sp>
      <p:sp>
        <p:nvSpPr>
          <p:cNvPr id="9" name="Rectangle 8">
            <a:extLst>
              <a:ext uri="{FF2B5EF4-FFF2-40B4-BE49-F238E27FC236}">
                <a16:creationId xmlns:a16="http://schemas.microsoft.com/office/drawing/2014/main" id="{8BE2888C-3995-570F-C372-56E013FD306E}"/>
              </a:ext>
            </a:extLst>
          </p:cNvPr>
          <p:cNvSpPr/>
          <p:nvPr/>
        </p:nvSpPr>
        <p:spPr>
          <a:xfrm>
            <a:off x="148223" y="1170212"/>
            <a:ext cx="111760" cy="88473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77306D63-5AF5-EC1A-E55F-13CA2AB89E77}"/>
              </a:ext>
            </a:extLst>
          </p:cNvPr>
          <p:cNvSpPr/>
          <p:nvPr/>
        </p:nvSpPr>
        <p:spPr>
          <a:xfrm>
            <a:off x="224422" y="1170212"/>
            <a:ext cx="11743155" cy="88473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Arial" panose="020B0604020202020204" pitchFamily="34" charset="0"/>
                <a:cs typeface="Arial" panose="020B0604020202020204" pitchFamily="34" charset="0"/>
              </a:rPr>
              <a:t>Remove all the images and containers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1D6BAC3D-9CBD-C554-E388-98AEDDCB542B}"/>
              </a:ext>
            </a:extLst>
          </p:cNvPr>
          <p:cNvPicPr>
            <a:picLocks noChangeAspect="1"/>
          </p:cNvPicPr>
          <p:nvPr/>
        </p:nvPicPr>
        <p:blipFill>
          <a:blip r:embed="rId3"/>
          <a:stretch>
            <a:fillRect/>
          </a:stretch>
        </p:blipFill>
        <p:spPr>
          <a:xfrm>
            <a:off x="2712426" y="2227276"/>
            <a:ext cx="6767146" cy="4104698"/>
          </a:xfrm>
          <a:prstGeom prst="rect">
            <a:avLst/>
          </a:prstGeom>
        </p:spPr>
      </p:pic>
    </p:spTree>
    <p:extLst>
      <p:ext uri="{BB962C8B-B14F-4D97-AF65-F5344CB8AC3E}">
        <p14:creationId xmlns:p14="http://schemas.microsoft.com/office/powerpoint/2010/main" val="10936227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8ABBC2DA-C1D2-7E67-7CCE-EB8D830A5F3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1CD2DAE-D2B4-F239-8C78-8D36F54C952B}"/>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Run mongo-press:</a:t>
            </a:r>
          </a:p>
        </p:txBody>
      </p:sp>
      <p:sp>
        <p:nvSpPr>
          <p:cNvPr id="9" name="Rectangle 8">
            <a:extLst>
              <a:ext uri="{FF2B5EF4-FFF2-40B4-BE49-F238E27FC236}">
                <a16:creationId xmlns:a16="http://schemas.microsoft.com/office/drawing/2014/main" id="{A7B69460-F1CA-9BB8-2507-6606F45A9177}"/>
              </a:ext>
            </a:extLst>
          </p:cNvPr>
          <p:cNvSpPr/>
          <p:nvPr/>
        </p:nvSpPr>
        <p:spPr>
          <a:xfrm>
            <a:off x="148223" y="1170212"/>
            <a:ext cx="111760" cy="120919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1A1424DF-427E-CABB-0CCF-B699739922E7}"/>
              </a:ext>
            </a:extLst>
          </p:cNvPr>
          <p:cNvSpPr/>
          <p:nvPr/>
        </p:nvSpPr>
        <p:spPr>
          <a:xfrm>
            <a:off x="224422" y="1170212"/>
            <a:ext cx="11743155" cy="120919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Arial" panose="020B0604020202020204" pitchFamily="34" charset="0"/>
                <a:cs typeface="Arial" panose="020B0604020202020204" pitchFamily="34" charset="0"/>
              </a:rPr>
              <a:t>To run multiple services like mongo-press you need to go through some steps: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Arial" panose="020B0604020202020204" pitchFamily="34" charset="0"/>
                <a:cs typeface="Arial" panose="020B0604020202020204" pitchFamily="34" charset="0"/>
              </a:rPr>
              <a:t>1- Create a docker network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 start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mongodb</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a:t>
            </a:r>
            <a:r>
              <a:rPr lang="en-US" b="1" dirty="0" err="1">
                <a:solidFill>
                  <a:prstClr val="white"/>
                </a:solidFill>
                <a:latin typeface="Arial" panose="020B0604020202020204" pitchFamily="34" charset="0"/>
                <a:cs typeface="Arial" panose="020B0604020202020204" pitchFamily="34" charset="0"/>
              </a:rPr>
              <a:t>ontainer</a:t>
            </a:r>
            <a:endParaRPr lang="en-US" b="1" dirty="0">
              <a:solidFill>
                <a:prstClr val="white"/>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3- start mongo-press container</a:t>
            </a:r>
          </a:p>
        </p:txBody>
      </p:sp>
      <p:pic>
        <p:nvPicPr>
          <p:cNvPr id="5" name="Picture 4">
            <a:extLst>
              <a:ext uri="{FF2B5EF4-FFF2-40B4-BE49-F238E27FC236}">
                <a16:creationId xmlns:a16="http://schemas.microsoft.com/office/drawing/2014/main" id="{C0A02000-951E-0CD4-0B21-5C67250A1AE3}"/>
              </a:ext>
            </a:extLst>
          </p:cNvPr>
          <p:cNvPicPr>
            <a:picLocks noChangeAspect="1"/>
          </p:cNvPicPr>
          <p:nvPr/>
        </p:nvPicPr>
        <p:blipFill>
          <a:blip r:embed="rId3"/>
          <a:stretch>
            <a:fillRect/>
          </a:stretch>
        </p:blipFill>
        <p:spPr>
          <a:xfrm>
            <a:off x="2091813" y="2581163"/>
            <a:ext cx="6331974" cy="4016088"/>
          </a:xfrm>
          <a:prstGeom prst="rect">
            <a:avLst/>
          </a:prstGeom>
        </p:spPr>
      </p:pic>
    </p:spTree>
    <p:extLst>
      <p:ext uri="{BB962C8B-B14F-4D97-AF65-F5344CB8AC3E}">
        <p14:creationId xmlns:p14="http://schemas.microsoft.com/office/powerpoint/2010/main" val="3404628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BDB8FD16-2D5F-BB02-BAF6-F3A239432FA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C14E409-D5FB-C260-5E6C-91D3B3931C38}"/>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Compose:</a:t>
            </a:r>
          </a:p>
        </p:txBody>
      </p:sp>
      <p:sp>
        <p:nvSpPr>
          <p:cNvPr id="9" name="Rectangle 8">
            <a:extLst>
              <a:ext uri="{FF2B5EF4-FFF2-40B4-BE49-F238E27FC236}">
                <a16:creationId xmlns:a16="http://schemas.microsoft.com/office/drawing/2014/main" id="{5FA59327-662A-4964-FF61-6DF3E78326D5}"/>
              </a:ext>
            </a:extLst>
          </p:cNvPr>
          <p:cNvSpPr/>
          <p:nvPr/>
        </p:nvSpPr>
        <p:spPr>
          <a:xfrm>
            <a:off x="148223" y="1170212"/>
            <a:ext cx="111760"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75A8DDB3-3C2E-E429-02AE-8B331359D650}"/>
              </a:ext>
            </a:extLst>
          </p:cNvPr>
          <p:cNvSpPr/>
          <p:nvPr/>
        </p:nvSpPr>
        <p:spPr>
          <a:xfrm>
            <a:off x="224422" y="1170212"/>
            <a:ext cx="11743155"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Docker Compose is a tool for defining and running multi-container applications. It is the key to unlocking a streamlined and efficient development and deployment experience.</a:t>
            </a:r>
          </a:p>
        </p:txBody>
      </p:sp>
      <p:sp>
        <p:nvSpPr>
          <p:cNvPr id="6" name="Rectangle 5">
            <a:extLst>
              <a:ext uri="{FF2B5EF4-FFF2-40B4-BE49-F238E27FC236}">
                <a16:creationId xmlns:a16="http://schemas.microsoft.com/office/drawing/2014/main" id="{0DEB71A2-5FD2-0D9F-8018-61ADD854A37B}"/>
              </a:ext>
            </a:extLst>
          </p:cNvPr>
          <p:cNvSpPr/>
          <p:nvPr/>
        </p:nvSpPr>
        <p:spPr>
          <a:xfrm>
            <a:off x="148223" y="2066924"/>
            <a:ext cx="111760"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3C485A20-C8F9-E033-B94B-CFE36580F4C9}"/>
              </a:ext>
            </a:extLst>
          </p:cNvPr>
          <p:cNvSpPr/>
          <p:nvPr/>
        </p:nvSpPr>
        <p:spPr>
          <a:xfrm>
            <a:off x="224422" y="2066924"/>
            <a:ext cx="11743155"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Compose simplifies the control of your entire application stack, making it easy to manage services, networks, and volumes in a single YAML configuration file. Then, with a single command, you create and start all the services from your configuration file.</a:t>
            </a:r>
          </a:p>
        </p:txBody>
      </p:sp>
      <p:sp>
        <p:nvSpPr>
          <p:cNvPr id="2" name="Rectangle 1">
            <a:extLst>
              <a:ext uri="{FF2B5EF4-FFF2-40B4-BE49-F238E27FC236}">
                <a16:creationId xmlns:a16="http://schemas.microsoft.com/office/drawing/2014/main" id="{BA4DBBE9-C7EA-7549-7636-AC3D1318B9DB}"/>
              </a:ext>
            </a:extLst>
          </p:cNvPr>
          <p:cNvSpPr/>
          <p:nvPr/>
        </p:nvSpPr>
        <p:spPr>
          <a:xfrm>
            <a:off x="148223" y="3278681"/>
            <a:ext cx="111760" cy="34760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18E119DF-952E-D991-368E-692D7A0E35E7}"/>
              </a:ext>
            </a:extLst>
          </p:cNvPr>
          <p:cNvSpPr/>
          <p:nvPr/>
        </p:nvSpPr>
        <p:spPr>
          <a:xfrm>
            <a:off x="224422" y="3278681"/>
            <a:ext cx="11743155" cy="34760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accent2"/>
                </a:solidFill>
                <a:latin typeface="Arial" panose="020B0604020202020204" pitchFamily="34" charset="0"/>
                <a:cs typeface="Arial" panose="020B0604020202020204" pitchFamily="34" charset="0"/>
              </a:rPr>
              <a:t>Using Docker Compose offers several benefits that streamline the development, deployment, and management of containerized applications:</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Simplified control: Define and manage multi-container apps in one YAML file, streamlining orchestration and replication.</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Efficient collaboration: Shareable YAML files support smooth collaboration between developers and operations, improving workflows and issue resolution, leading to increased overall efficiency.</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Rapid application development: Compose caches the configuration used to create a container. When you restart a service that has not changed, Compose reuses the existing containers. Re-using containers means that you can make changes to your environment very quickly.</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Portability across environments: Compose supports variables in the Compose file. You can use these variables to customize your composition for different environments or different users.</a:t>
            </a:r>
          </a:p>
        </p:txBody>
      </p:sp>
    </p:spTree>
    <p:extLst>
      <p:ext uri="{BB962C8B-B14F-4D97-AF65-F5344CB8AC3E}">
        <p14:creationId xmlns:p14="http://schemas.microsoft.com/office/powerpoint/2010/main" val="12149643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54E1C2F9-3813-5641-675C-6B60E53C0AF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9CB2B76-05B4-17C2-8FD7-C050170CDFD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Why Docker Compose:</a:t>
            </a:r>
          </a:p>
        </p:txBody>
      </p:sp>
      <p:sp>
        <p:nvSpPr>
          <p:cNvPr id="9" name="Rectangle 8">
            <a:extLst>
              <a:ext uri="{FF2B5EF4-FFF2-40B4-BE49-F238E27FC236}">
                <a16:creationId xmlns:a16="http://schemas.microsoft.com/office/drawing/2014/main" id="{51F6C52E-7FFD-3DD1-0968-CBC2FAB53EFB}"/>
              </a:ext>
            </a:extLst>
          </p:cNvPr>
          <p:cNvSpPr/>
          <p:nvPr/>
        </p:nvSpPr>
        <p:spPr>
          <a:xfrm>
            <a:off x="148223" y="1170212"/>
            <a:ext cx="111760"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9A7E8D3D-BD06-2D21-2262-5A6F7BCA0C51}"/>
              </a:ext>
            </a:extLst>
          </p:cNvPr>
          <p:cNvSpPr/>
          <p:nvPr/>
        </p:nvSpPr>
        <p:spPr>
          <a:xfrm>
            <a:off x="224422" y="1170212"/>
            <a:ext cx="11743155"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One best practice for containers is that each container should do one thing and do it well. While there are exceptions to this rule, avoid the tendency to have one container do multiple things.</a:t>
            </a:r>
          </a:p>
        </p:txBody>
      </p:sp>
      <p:sp>
        <p:nvSpPr>
          <p:cNvPr id="6" name="Rectangle 5">
            <a:extLst>
              <a:ext uri="{FF2B5EF4-FFF2-40B4-BE49-F238E27FC236}">
                <a16:creationId xmlns:a16="http://schemas.microsoft.com/office/drawing/2014/main" id="{8159533D-F82C-F312-7DB1-3A52246183D9}"/>
              </a:ext>
            </a:extLst>
          </p:cNvPr>
          <p:cNvSpPr/>
          <p:nvPr/>
        </p:nvSpPr>
        <p:spPr>
          <a:xfrm>
            <a:off x="148223" y="2066924"/>
            <a:ext cx="111760"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9F05D45-85BC-892F-267B-3D346740D361}"/>
              </a:ext>
            </a:extLst>
          </p:cNvPr>
          <p:cNvSpPr/>
          <p:nvPr/>
        </p:nvSpPr>
        <p:spPr>
          <a:xfrm>
            <a:off x="224422" y="2066924"/>
            <a:ext cx="11743155"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You can use multiple &lt;docker run&gt; commands to start multiple containers. But you'll soon realize you'll need to manage networks, all of the flags needed to connect containers to those networks, and more. And when you're done, cleanup is a little more complicated.</a:t>
            </a:r>
          </a:p>
        </p:txBody>
      </p:sp>
      <p:sp>
        <p:nvSpPr>
          <p:cNvPr id="4" name="Rectangle 3">
            <a:extLst>
              <a:ext uri="{FF2B5EF4-FFF2-40B4-BE49-F238E27FC236}">
                <a16:creationId xmlns:a16="http://schemas.microsoft.com/office/drawing/2014/main" id="{69392FF3-20D8-6F94-C4DC-A42389B73BC5}"/>
              </a:ext>
            </a:extLst>
          </p:cNvPr>
          <p:cNvSpPr/>
          <p:nvPr/>
        </p:nvSpPr>
        <p:spPr>
          <a:xfrm>
            <a:off x="148223" y="3279039"/>
            <a:ext cx="111760"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FC28D2A4-CE41-789C-3CAC-DA1896F8ED40}"/>
              </a:ext>
            </a:extLst>
          </p:cNvPr>
          <p:cNvSpPr/>
          <p:nvPr/>
        </p:nvSpPr>
        <p:spPr>
          <a:xfrm>
            <a:off x="224422" y="3279039"/>
            <a:ext cx="11743155"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With Docker Compose, you can define all of your containers and their configurations in a single YAML file. If you include this file in your code repository, anyone that clones your repository can get up and running with a single command.</a:t>
            </a:r>
          </a:p>
        </p:txBody>
      </p:sp>
      <p:sp>
        <p:nvSpPr>
          <p:cNvPr id="11" name="Rectangle 10">
            <a:extLst>
              <a:ext uri="{FF2B5EF4-FFF2-40B4-BE49-F238E27FC236}">
                <a16:creationId xmlns:a16="http://schemas.microsoft.com/office/drawing/2014/main" id="{E9957AB9-601D-895D-C6B9-EF00DC803E4C}"/>
              </a:ext>
            </a:extLst>
          </p:cNvPr>
          <p:cNvSpPr/>
          <p:nvPr/>
        </p:nvSpPr>
        <p:spPr>
          <a:xfrm>
            <a:off x="148223" y="4491154"/>
            <a:ext cx="111760"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D1F94174-498C-808E-1B55-730DBBCF782C}"/>
              </a:ext>
            </a:extLst>
          </p:cNvPr>
          <p:cNvSpPr/>
          <p:nvPr/>
        </p:nvSpPr>
        <p:spPr>
          <a:xfrm>
            <a:off x="224422" y="4491154"/>
            <a:ext cx="11743155" cy="108214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2000" b="1" dirty="0">
                <a:solidFill>
                  <a:schemeClr val="bg1"/>
                </a:solidFill>
                <a:latin typeface="Arial" panose="020B0604020202020204" pitchFamily="34" charset="0"/>
                <a:cs typeface="Arial" panose="020B0604020202020204" pitchFamily="34" charset="0"/>
              </a:rPr>
              <a:t>A </a:t>
            </a:r>
            <a:r>
              <a:rPr lang="en-US" sz="2000" b="1" dirty="0" err="1">
                <a:solidFill>
                  <a:schemeClr val="bg1"/>
                </a:solidFill>
                <a:latin typeface="Arial" panose="020B0604020202020204" pitchFamily="34" charset="0"/>
                <a:cs typeface="Arial" panose="020B0604020202020204" pitchFamily="34" charset="0"/>
              </a:rPr>
              <a:t>Dockerfile</a:t>
            </a:r>
            <a:r>
              <a:rPr lang="en-US" sz="2000" b="1" dirty="0">
                <a:solidFill>
                  <a:schemeClr val="bg1"/>
                </a:solidFill>
                <a:latin typeface="Arial" panose="020B0604020202020204" pitchFamily="34" charset="0"/>
                <a:cs typeface="Arial" panose="020B0604020202020204" pitchFamily="34" charset="0"/>
              </a:rPr>
              <a:t> provides instructions to build a container image while a Compose file defines your running containers. Quite often, a Compose file references a </a:t>
            </a:r>
            <a:r>
              <a:rPr lang="en-US" sz="2000" b="1" dirty="0" err="1">
                <a:solidFill>
                  <a:schemeClr val="bg1"/>
                </a:solidFill>
                <a:latin typeface="Arial" panose="020B0604020202020204" pitchFamily="34" charset="0"/>
                <a:cs typeface="Arial" panose="020B0604020202020204" pitchFamily="34" charset="0"/>
              </a:rPr>
              <a:t>Dockerfile</a:t>
            </a:r>
            <a:r>
              <a:rPr lang="en-US" sz="2000" b="1" dirty="0">
                <a:solidFill>
                  <a:schemeClr val="bg1"/>
                </a:solidFill>
                <a:latin typeface="Arial" panose="020B0604020202020204" pitchFamily="34" charset="0"/>
                <a:cs typeface="Arial" panose="020B0604020202020204" pitchFamily="34" charset="0"/>
              </a:rPr>
              <a:t> to build an image to use for a particular service</a:t>
            </a:r>
          </a:p>
        </p:txBody>
      </p:sp>
    </p:spTree>
    <p:extLst>
      <p:ext uri="{BB962C8B-B14F-4D97-AF65-F5344CB8AC3E}">
        <p14:creationId xmlns:p14="http://schemas.microsoft.com/office/powerpoint/2010/main" val="3245643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E0487B0-FA74-4B68-C338-68F187A0392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44B3AAD-6247-F3B7-F82C-83C338B0A4CA}"/>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Compose Core Concepts:</a:t>
            </a:r>
          </a:p>
        </p:txBody>
      </p:sp>
      <p:sp>
        <p:nvSpPr>
          <p:cNvPr id="9" name="Rectangle 8">
            <a:extLst>
              <a:ext uri="{FF2B5EF4-FFF2-40B4-BE49-F238E27FC236}">
                <a16:creationId xmlns:a16="http://schemas.microsoft.com/office/drawing/2014/main" id="{3F7E2682-E099-2311-8FEE-F2C69D027178}"/>
              </a:ext>
            </a:extLst>
          </p:cNvPr>
          <p:cNvSpPr/>
          <p:nvPr/>
        </p:nvSpPr>
        <p:spPr>
          <a:xfrm>
            <a:off x="148223" y="1170212"/>
            <a:ext cx="111760"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975C2296-675B-751A-BA2F-DF770E03FE12}"/>
              </a:ext>
            </a:extLst>
          </p:cNvPr>
          <p:cNvSpPr/>
          <p:nvPr/>
        </p:nvSpPr>
        <p:spPr>
          <a:xfrm>
            <a:off x="224422" y="1170212"/>
            <a:ext cx="11743155"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Services</a:t>
            </a:r>
            <a:r>
              <a:rPr lang="en-US" b="1" dirty="0">
                <a:solidFill>
                  <a:prstClr val="white"/>
                </a:solidFill>
                <a:latin typeface="Arial" panose="020B0604020202020204" pitchFamily="34" charset="0"/>
                <a:cs typeface="Arial" panose="020B0604020202020204" pitchFamily="34" charset="0"/>
              </a:rPr>
              <a:t>. They are the containers used in the app like front-ends (node), databases (MYSQL), and APIs(flask). </a:t>
            </a:r>
          </a:p>
        </p:txBody>
      </p:sp>
      <p:sp>
        <p:nvSpPr>
          <p:cNvPr id="2" name="Rectangle 1">
            <a:extLst>
              <a:ext uri="{FF2B5EF4-FFF2-40B4-BE49-F238E27FC236}">
                <a16:creationId xmlns:a16="http://schemas.microsoft.com/office/drawing/2014/main" id="{0E30C3DA-6E56-E910-9212-ECFFD6530C0E}"/>
              </a:ext>
            </a:extLst>
          </p:cNvPr>
          <p:cNvSpPr/>
          <p:nvPr/>
        </p:nvSpPr>
        <p:spPr>
          <a:xfrm>
            <a:off x="148223" y="2112403"/>
            <a:ext cx="111760"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D743DBBB-397D-D6B5-9C74-02D4A4D510CC}"/>
              </a:ext>
            </a:extLst>
          </p:cNvPr>
          <p:cNvSpPr/>
          <p:nvPr/>
        </p:nvSpPr>
        <p:spPr>
          <a:xfrm>
            <a:off x="224422" y="2112403"/>
            <a:ext cx="11743155"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Images vs Build</a:t>
            </a:r>
            <a:r>
              <a:rPr lang="en-US" b="1" dirty="0">
                <a:solidFill>
                  <a:prstClr val="white"/>
                </a:solidFill>
                <a:latin typeface="Arial" panose="020B0604020202020204" pitchFamily="34" charset="0"/>
                <a:cs typeface="Arial" panose="020B0604020202020204" pitchFamily="34" charset="0"/>
              </a:rPr>
              <a:t>. Now the containers are either pre-defined images or user-defined images with </a:t>
            </a:r>
            <a:r>
              <a:rPr lang="en-US" b="1" dirty="0" err="1">
                <a:solidFill>
                  <a:prstClr val="white"/>
                </a:solidFill>
                <a:latin typeface="Arial" panose="020B0604020202020204" pitchFamily="34" charset="0"/>
                <a:cs typeface="Arial" panose="020B0604020202020204" pitchFamily="34" charset="0"/>
              </a:rPr>
              <a:t>Dockerfiles</a:t>
            </a:r>
            <a:r>
              <a:rPr lang="en-US" b="1" dirty="0">
                <a:solidFill>
                  <a:prstClr val="white"/>
                </a:solidFill>
                <a:latin typeface="Arial" panose="020B0604020202020204" pitchFamily="34" charset="0"/>
                <a:cs typeface="Arial" panose="020B0604020202020204" pitchFamily="34" charset="0"/>
              </a:rPr>
              <a:t>. </a:t>
            </a:r>
          </a:p>
        </p:txBody>
      </p:sp>
      <p:sp>
        <p:nvSpPr>
          <p:cNvPr id="13" name="Rectangle 12">
            <a:extLst>
              <a:ext uri="{FF2B5EF4-FFF2-40B4-BE49-F238E27FC236}">
                <a16:creationId xmlns:a16="http://schemas.microsoft.com/office/drawing/2014/main" id="{367290BD-4723-ED02-3CFD-140B0A13CD81}"/>
              </a:ext>
            </a:extLst>
          </p:cNvPr>
          <p:cNvSpPr/>
          <p:nvPr/>
        </p:nvSpPr>
        <p:spPr>
          <a:xfrm>
            <a:off x="148223" y="3054595"/>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BA6189D-E643-53BF-27B2-098590A304BD}"/>
              </a:ext>
            </a:extLst>
          </p:cNvPr>
          <p:cNvSpPr/>
          <p:nvPr/>
        </p:nvSpPr>
        <p:spPr>
          <a:xfrm>
            <a:off x="224422" y="3054595"/>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Ports</a:t>
            </a:r>
            <a:r>
              <a:rPr lang="en-US" b="1" dirty="0">
                <a:solidFill>
                  <a:prstClr val="white"/>
                </a:solidFill>
                <a:latin typeface="Arial" panose="020B0604020202020204" pitchFamily="34" charset="0"/>
                <a:cs typeface="Arial" panose="020B0604020202020204" pitchFamily="34" charset="0"/>
              </a:rPr>
              <a:t>, where you apply port binding for your app. </a:t>
            </a:r>
          </a:p>
        </p:txBody>
      </p:sp>
      <p:sp>
        <p:nvSpPr>
          <p:cNvPr id="15" name="Rectangle 14">
            <a:extLst>
              <a:ext uri="{FF2B5EF4-FFF2-40B4-BE49-F238E27FC236}">
                <a16:creationId xmlns:a16="http://schemas.microsoft.com/office/drawing/2014/main" id="{2366A844-CC5F-DA93-0D5D-027A56E224DB}"/>
              </a:ext>
            </a:extLst>
          </p:cNvPr>
          <p:cNvSpPr/>
          <p:nvPr/>
        </p:nvSpPr>
        <p:spPr>
          <a:xfrm>
            <a:off x="148223" y="3842882"/>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E8E72824-F0E4-FC58-19FD-1340828BEF5D}"/>
              </a:ext>
            </a:extLst>
          </p:cNvPr>
          <p:cNvSpPr/>
          <p:nvPr/>
        </p:nvSpPr>
        <p:spPr>
          <a:xfrm>
            <a:off x="224422" y="3842882"/>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Volumes</a:t>
            </a:r>
            <a:r>
              <a:rPr lang="en-US" b="1" dirty="0">
                <a:solidFill>
                  <a:prstClr val="white"/>
                </a:solidFill>
                <a:latin typeface="Arial" panose="020B0604020202020204" pitchFamily="34" charset="0"/>
                <a:cs typeface="Arial" panose="020B0604020202020204" pitchFamily="34" charset="0"/>
              </a:rPr>
              <a:t>. Persist data (important for databases) (local temp files). </a:t>
            </a:r>
          </a:p>
        </p:txBody>
      </p:sp>
      <p:sp>
        <p:nvSpPr>
          <p:cNvPr id="17" name="Rectangle 16">
            <a:extLst>
              <a:ext uri="{FF2B5EF4-FFF2-40B4-BE49-F238E27FC236}">
                <a16:creationId xmlns:a16="http://schemas.microsoft.com/office/drawing/2014/main" id="{7092E81A-29E3-3C76-38DC-A53EE6F87B1D}"/>
              </a:ext>
            </a:extLst>
          </p:cNvPr>
          <p:cNvSpPr/>
          <p:nvPr/>
        </p:nvSpPr>
        <p:spPr>
          <a:xfrm>
            <a:off x="148223" y="4631169"/>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75789844-CAB5-C61C-DD26-56D9B0AFADE1}"/>
              </a:ext>
            </a:extLst>
          </p:cNvPr>
          <p:cNvSpPr/>
          <p:nvPr/>
        </p:nvSpPr>
        <p:spPr>
          <a:xfrm>
            <a:off x="224422" y="4631169"/>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Networks</a:t>
            </a:r>
            <a:r>
              <a:rPr lang="en-US" b="1" dirty="0">
                <a:solidFill>
                  <a:prstClr val="white"/>
                </a:solidFill>
                <a:latin typeface="Arial" panose="020B0604020202020204" pitchFamily="34" charset="0"/>
                <a:cs typeface="Arial" panose="020B0604020202020204" pitchFamily="34" charset="0"/>
              </a:rPr>
              <a:t>. Allow containers to talk using service names (no IP needed).</a:t>
            </a:r>
          </a:p>
        </p:txBody>
      </p:sp>
      <p:sp>
        <p:nvSpPr>
          <p:cNvPr id="19" name="Rectangle 18">
            <a:extLst>
              <a:ext uri="{FF2B5EF4-FFF2-40B4-BE49-F238E27FC236}">
                <a16:creationId xmlns:a16="http://schemas.microsoft.com/office/drawing/2014/main" id="{F7B4CA4F-BAB9-2D80-3FDE-32BEC0D18F82}"/>
              </a:ext>
            </a:extLst>
          </p:cNvPr>
          <p:cNvSpPr/>
          <p:nvPr/>
        </p:nvSpPr>
        <p:spPr>
          <a:xfrm>
            <a:off x="148223" y="5381369"/>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6DEB3DB0-E44A-45D5-81B4-56869EC9D441}"/>
              </a:ext>
            </a:extLst>
          </p:cNvPr>
          <p:cNvSpPr/>
          <p:nvPr/>
        </p:nvSpPr>
        <p:spPr>
          <a:xfrm>
            <a:off x="224422" y="5381369"/>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Environment Variables</a:t>
            </a:r>
            <a:r>
              <a:rPr lang="en-US" b="1" dirty="0">
                <a:solidFill>
                  <a:prstClr val="white"/>
                </a:solidFill>
                <a:latin typeface="Arial" panose="020B0604020202020204" pitchFamily="34" charset="0"/>
                <a:cs typeface="Arial" panose="020B0604020202020204" pitchFamily="34" charset="0"/>
              </a:rPr>
              <a:t>. Pass config like DB credentials.</a:t>
            </a:r>
          </a:p>
        </p:txBody>
      </p:sp>
      <p:sp>
        <p:nvSpPr>
          <p:cNvPr id="21" name="Rectangle 20">
            <a:extLst>
              <a:ext uri="{FF2B5EF4-FFF2-40B4-BE49-F238E27FC236}">
                <a16:creationId xmlns:a16="http://schemas.microsoft.com/office/drawing/2014/main" id="{A99B58E6-B427-94A9-F9BA-79FD0994D962}"/>
              </a:ext>
            </a:extLst>
          </p:cNvPr>
          <p:cNvSpPr/>
          <p:nvPr/>
        </p:nvSpPr>
        <p:spPr>
          <a:xfrm>
            <a:off x="148223" y="6131569"/>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01152711-BA52-60B2-F69C-71A8DD59EAE3}"/>
              </a:ext>
            </a:extLst>
          </p:cNvPr>
          <p:cNvSpPr/>
          <p:nvPr/>
        </p:nvSpPr>
        <p:spPr>
          <a:xfrm>
            <a:off x="224422" y="6131569"/>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err="1">
                <a:solidFill>
                  <a:schemeClr val="accent5">
                    <a:lumMod val="60000"/>
                    <a:lumOff val="40000"/>
                  </a:schemeClr>
                </a:solidFill>
                <a:latin typeface="Arial" panose="020B0604020202020204" pitchFamily="34" charset="0"/>
                <a:cs typeface="Arial" panose="020B0604020202020204" pitchFamily="34" charset="0"/>
              </a:rPr>
              <a:t>Depends_on</a:t>
            </a:r>
            <a:r>
              <a:rPr lang="en-US" b="1" dirty="0">
                <a:solidFill>
                  <a:prstClr val="white"/>
                </a:solidFill>
                <a:latin typeface="Arial" panose="020B0604020202020204" pitchFamily="34" charset="0"/>
                <a:cs typeface="Arial" panose="020B0604020202020204" pitchFamily="34" charset="0"/>
              </a:rPr>
              <a:t>. Control startup order (not readiness!).</a:t>
            </a:r>
          </a:p>
        </p:txBody>
      </p:sp>
    </p:spTree>
    <p:extLst>
      <p:ext uri="{BB962C8B-B14F-4D97-AF65-F5344CB8AC3E}">
        <p14:creationId xmlns:p14="http://schemas.microsoft.com/office/powerpoint/2010/main" val="344247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5F787B3-1F2F-7E26-65D7-1E57030F371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63962FB-EDB9-0E64-7B9C-FCFE559D6250}"/>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Run mongo-press:</a:t>
            </a:r>
          </a:p>
        </p:txBody>
      </p:sp>
      <p:pic>
        <p:nvPicPr>
          <p:cNvPr id="5" name="Picture 4">
            <a:extLst>
              <a:ext uri="{FF2B5EF4-FFF2-40B4-BE49-F238E27FC236}">
                <a16:creationId xmlns:a16="http://schemas.microsoft.com/office/drawing/2014/main" id="{BAD95F9A-FCBB-9CA3-3A4A-9F5D6FC47DA4}"/>
              </a:ext>
            </a:extLst>
          </p:cNvPr>
          <p:cNvPicPr>
            <a:picLocks noChangeAspect="1"/>
          </p:cNvPicPr>
          <p:nvPr/>
        </p:nvPicPr>
        <p:blipFill>
          <a:blip r:embed="rId3"/>
          <a:stretch>
            <a:fillRect/>
          </a:stretch>
        </p:blipFill>
        <p:spPr>
          <a:xfrm>
            <a:off x="2152179" y="1181276"/>
            <a:ext cx="6211241" cy="5376838"/>
          </a:xfrm>
          <a:prstGeom prst="rect">
            <a:avLst/>
          </a:prstGeom>
        </p:spPr>
      </p:pic>
    </p:spTree>
    <p:extLst>
      <p:ext uri="{BB962C8B-B14F-4D97-AF65-F5344CB8AC3E}">
        <p14:creationId xmlns:p14="http://schemas.microsoft.com/office/powerpoint/2010/main" val="1643549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AF1CD506-3110-E572-052B-D05D014BC5E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4A4264D-6EDC-87E1-5B25-850E7C8226FE}"/>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FLASK + PostgreSQL APP:</a:t>
            </a:r>
          </a:p>
        </p:txBody>
      </p:sp>
      <p:pic>
        <p:nvPicPr>
          <p:cNvPr id="5" name="Picture 4">
            <a:extLst>
              <a:ext uri="{FF2B5EF4-FFF2-40B4-BE49-F238E27FC236}">
                <a16:creationId xmlns:a16="http://schemas.microsoft.com/office/drawing/2014/main" id="{D1BE40D4-E79F-46C6-FFBE-5725E4C5DDAB}"/>
              </a:ext>
            </a:extLst>
          </p:cNvPr>
          <p:cNvPicPr>
            <a:picLocks noChangeAspect="1"/>
          </p:cNvPicPr>
          <p:nvPr/>
        </p:nvPicPr>
        <p:blipFill>
          <a:blip r:embed="rId3"/>
          <a:srcRect r="55220"/>
          <a:stretch>
            <a:fillRect/>
          </a:stretch>
        </p:blipFill>
        <p:spPr>
          <a:xfrm>
            <a:off x="118069" y="1412934"/>
            <a:ext cx="4031144" cy="1928027"/>
          </a:xfrm>
          <a:prstGeom prst="rect">
            <a:avLst/>
          </a:prstGeom>
        </p:spPr>
      </p:pic>
      <p:pic>
        <p:nvPicPr>
          <p:cNvPr id="7" name="Picture 6">
            <a:extLst>
              <a:ext uri="{FF2B5EF4-FFF2-40B4-BE49-F238E27FC236}">
                <a16:creationId xmlns:a16="http://schemas.microsoft.com/office/drawing/2014/main" id="{EE1F2357-7BF6-7376-53C4-236FFDEC709C}"/>
              </a:ext>
            </a:extLst>
          </p:cNvPr>
          <p:cNvPicPr>
            <a:picLocks noChangeAspect="1"/>
          </p:cNvPicPr>
          <p:nvPr/>
        </p:nvPicPr>
        <p:blipFill>
          <a:blip r:embed="rId4"/>
          <a:stretch>
            <a:fillRect/>
          </a:stretch>
        </p:blipFill>
        <p:spPr>
          <a:xfrm>
            <a:off x="4748981" y="1229030"/>
            <a:ext cx="5766619" cy="5417575"/>
          </a:xfrm>
          <a:prstGeom prst="rect">
            <a:avLst/>
          </a:prstGeom>
        </p:spPr>
      </p:pic>
    </p:spTree>
    <p:extLst>
      <p:ext uri="{BB962C8B-B14F-4D97-AF65-F5344CB8AC3E}">
        <p14:creationId xmlns:p14="http://schemas.microsoft.com/office/powerpoint/2010/main" val="3741721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E1E9632-1B41-3F6D-DF8C-0B59FCD5CE3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2F65B0F-DDD1-CBD9-08D1-02328F99A314}"/>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FLASK + PostgreSQL APP:</a:t>
            </a:r>
          </a:p>
        </p:txBody>
      </p:sp>
      <p:pic>
        <p:nvPicPr>
          <p:cNvPr id="3" name="Picture 2">
            <a:extLst>
              <a:ext uri="{FF2B5EF4-FFF2-40B4-BE49-F238E27FC236}">
                <a16:creationId xmlns:a16="http://schemas.microsoft.com/office/drawing/2014/main" id="{E48B984E-D0B8-455F-6185-08BACB8D92CC}"/>
              </a:ext>
            </a:extLst>
          </p:cNvPr>
          <p:cNvPicPr>
            <a:picLocks noChangeAspect="1"/>
          </p:cNvPicPr>
          <p:nvPr/>
        </p:nvPicPr>
        <p:blipFill>
          <a:blip r:embed="rId3"/>
          <a:srcRect r="26067"/>
          <a:stretch>
            <a:fillRect/>
          </a:stretch>
        </p:blipFill>
        <p:spPr>
          <a:xfrm>
            <a:off x="108984" y="1158522"/>
            <a:ext cx="5288926" cy="5458588"/>
          </a:xfrm>
          <a:prstGeom prst="rect">
            <a:avLst/>
          </a:prstGeom>
        </p:spPr>
      </p:pic>
      <p:pic>
        <p:nvPicPr>
          <p:cNvPr id="6" name="Picture 5">
            <a:extLst>
              <a:ext uri="{FF2B5EF4-FFF2-40B4-BE49-F238E27FC236}">
                <a16:creationId xmlns:a16="http://schemas.microsoft.com/office/drawing/2014/main" id="{CE0C6106-5657-4F7E-D928-5736E197183A}"/>
              </a:ext>
            </a:extLst>
          </p:cNvPr>
          <p:cNvPicPr>
            <a:picLocks noChangeAspect="1"/>
          </p:cNvPicPr>
          <p:nvPr/>
        </p:nvPicPr>
        <p:blipFill>
          <a:blip r:embed="rId4"/>
          <a:stretch>
            <a:fillRect/>
          </a:stretch>
        </p:blipFill>
        <p:spPr>
          <a:xfrm>
            <a:off x="5845478" y="1158522"/>
            <a:ext cx="5658264" cy="1234547"/>
          </a:xfrm>
          <a:prstGeom prst="rect">
            <a:avLst/>
          </a:prstGeom>
        </p:spPr>
      </p:pic>
      <p:pic>
        <p:nvPicPr>
          <p:cNvPr id="10" name="Picture 9">
            <a:extLst>
              <a:ext uri="{FF2B5EF4-FFF2-40B4-BE49-F238E27FC236}">
                <a16:creationId xmlns:a16="http://schemas.microsoft.com/office/drawing/2014/main" id="{0A564DD2-00F5-7310-4C68-9A044D3E5DCB}"/>
              </a:ext>
            </a:extLst>
          </p:cNvPr>
          <p:cNvPicPr>
            <a:picLocks noChangeAspect="1"/>
          </p:cNvPicPr>
          <p:nvPr/>
        </p:nvPicPr>
        <p:blipFill>
          <a:blip r:embed="rId5"/>
          <a:stretch>
            <a:fillRect/>
          </a:stretch>
        </p:blipFill>
        <p:spPr>
          <a:xfrm>
            <a:off x="5845478" y="2713324"/>
            <a:ext cx="5658264" cy="3825128"/>
          </a:xfrm>
          <a:prstGeom prst="rect">
            <a:avLst/>
          </a:prstGeom>
        </p:spPr>
      </p:pic>
    </p:spTree>
    <p:extLst>
      <p:ext uri="{BB962C8B-B14F-4D97-AF65-F5344CB8AC3E}">
        <p14:creationId xmlns:p14="http://schemas.microsoft.com/office/powerpoint/2010/main" val="1290663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596591D0-68C2-A3E5-4950-0CE58F27DC9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181982C-2C8D-6A04-A05B-3C4FB701C370}"/>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Docker Compose Limitation:</a:t>
            </a:r>
          </a:p>
        </p:txBody>
      </p:sp>
      <p:sp>
        <p:nvSpPr>
          <p:cNvPr id="9" name="Rectangle 8">
            <a:extLst>
              <a:ext uri="{FF2B5EF4-FFF2-40B4-BE49-F238E27FC236}">
                <a16:creationId xmlns:a16="http://schemas.microsoft.com/office/drawing/2014/main" id="{90B2C7C7-8A66-B9C5-9B51-DD9760B85E02}"/>
              </a:ext>
            </a:extLst>
          </p:cNvPr>
          <p:cNvSpPr/>
          <p:nvPr/>
        </p:nvSpPr>
        <p:spPr>
          <a:xfrm>
            <a:off x="148223" y="1170212"/>
            <a:ext cx="111760"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C2B58F1C-F568-1918-851E-B90A0605F5B5}"/>
              </a:ext>
            </a:extLst>
          </p:cNvPr>
          <p:cNvSpPr/>
          <p:nvPr/>
        </p:nvSpPr>
        <p:spPr>
          <a:xfrm>
            <a:off x="224422" y="1170212"/>
            <a:ext cx="11743155"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Well-suited for local development and small-scale </a:t>
            </a:r>
            <a:r>
              <a:rPr kumimoji="0" lang="en-US" sz="2000" b="1"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deplyments</a:t>
            </a:r>
            <a:r>
              <a:rPr lang="en-US" sz="2000" b="1" dirty="0">
                <a:solidFill>
                  <a:schemeClr val="bg1"/>
                </a:solidFill>
                <a:latin typeface="Arial" panose="020B0604020202020204" pitchFamily="34" charset="0"/>
                <a:cs typeface="Arial" panose="020B0604020202020204" pitchFamily="34" charset="0"/>
              </a:rPr>
              <a:t>.</a:t>
            </a:r>
            <a:endPar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7B8D1B1F-ECF4-2C0C-3B93-8ABC7322DF7A}"/>
              </a:ext>
            </a:extLst>
          </p:cNvPr>
          <p:cNvSpPr/>
          <p:nvPr/>
        </p:nvSpPr>
        <p:spPr>
          <a:xfrm>
            <a:off x="148223" y="2112403"/>
            <a:ext cx="111760"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4EDDA931-4887-280A-880C-077A436B17E6}"/>
              </a:ext>
            </a:extLst>
          </p:cNvPr>
          <p:cNvSpPr/>
          <p:nvPr/>
        </p:nvSpPr>
        <p:spPr>
          <a:xfrm>
            <a:off x="224422" y="2112403"/>
            <a:ext cx="11743155" cy="76674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prstClr val="white"/>
                </a:solidFill>
                <a:latin typeface="Arial" panose="020B0604020202020204" pitchFamily="34" charset="0"/>
                <a:cs typeface="Arial" panose="020B0604020202020204" pitchFamily="34" charset="0"/>
              </a:rPr>
              <a:t>Designed to run containers on a single host system.</a:t>
            </a: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75DE7CD1-762F-0311-D05E-D01B582CACF6}"/>
              </a:ext>
            </a:extLst>
          </p:cNvPr>
          <p:cNvSpPr/>
          <p:nvPr/>
        </p:nvSpPr>
        <p:spPr>
          <a:xfrm>
            <a:off x="148223" y="3054595"/>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A424AE8-AFD0-4F8E-787E-39B08A7661E2}"/>
              </a:ext>
            </a:extLst>
          </p:cNvPr>
          <p:cNvSpPr/>
          <p:nvPr/>
        </p:nvSpPr>
        <p:spPr>
          <a:xfrm>
            <a:off x="224422" y="3054595"/>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Engineers still need to operate the containers manually.</a:t>
            </a:r>
          </a:p>
        </p:txBody>
      </p:sp>
      <p:sp>
        <p:nvSpPr>
          <p:cNvPr id="15" name="Rectangle 14">
            <a:extLst>
              <a:ext uri="{FF2B5EF4-FFF2-40B4-BE49-F238E27FC236}">
                <a16:creationId xmlns:a16="http://schemas.microsoft.com/office/drawing/2014/main" id="{BF0C3E2B-1725-D585-FBCF-46349861F4E0}"/>
              </a:ext>
            </a:extLst>
          </p:cNvPr>
          <p:cNvSpPr/>
          <p:nvPr/>
        </p:nvSpPr>
        <p:spPr>
          <a:xfrm>
            <a:off x="148223" y="3842882"/>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C5930AEF-F4A8-D32D-D217-0AB1D42BAD35}"/>
              </a:ext>
            </a:extLst>
          </p:cNvPr>
          <p:cNvSpPr/>
          <p:nvPr/>
        </p:nvSpPr>
        <p:spPr>
          <a:xfrm>
            <a:off x="224422" y="3842882"/>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A02B93">
                    <a:lumMod val="60000"/>
                    <a:lumOff val="40000"/>
                  </a:srgbClr>
                </a:solidFill>
                <a:effectLst/>
                <a:uLnTx/>
                <a:uFillTx/>
                <a:latin typeface="Arial" panose="020B0604020202020204" pitchFamily="34" charset="0"/>
                <a:ea typeface="+mn-ea"/>
                <a:cs typeface="Arial" panose="020B0604020202020204" pitchFamily="34" charset="0"/>
              </a:rPr>
              <a:t>KUBERNETES TO THE RESCUE.</a:t>
            </a:r>
            <a:endParaRPr kumimoji="0" 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6D075CAE-4009-2A4F-C6FE-19078FD18BC1}"/>
              </a:ext>
            </a:extLst>
          </p:cNvPr>
          <p:cNvSpPr/>
          <p:nvPr/>
        </p:nvSpPr>
        <p:spPr>
          <a:xfrm>
            <a:off x="148223" y="4631169"/>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29A4585C-5FDB-4558-5EE2-401850DB1D75}"/>
              </a:ext>
            </a:extLst>
          </p:cNvPr>
          <p:cNvSpPr/>
          <p:nvPr/>
        </p:nvSpPr>
        <p:spPr>
          <a:xfrm>
            <a:off x="224422" y="4631169"/>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Can manage large-scale apps and containers deployed across multiple nodes.</a:t>
            </a:r>
          </a:p>
        </p:txBody>
      </p:sp>
      <p:sp>
        <p:nvSpPr>
          <p:cNvPr id="19" name="Rectangle 18">
            <a:extLst>
              <a:ext uri="{FF2B5EF4-FFF2-40B4-BE49-F238E27FC236}">
                <a16:creationId xmlns:a16="http://schemas.microsoft.com/office/drawing/2014/main" id="{4C5DAD70-2A10-B728-24F4-D7E3CCFD8B11}"/>
              </a:ext>
            </a:extLst>
          </p:cNvPr>
          <p:cNvSpPr/>
          <p:nvPr/>
        </p:nvSpPr>
        <p:spPr>
          <a:xfrm>
            <a:off x="148223" y="5381369"/>
            <a:ext cx="111760"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09F366AF-4055-DB47-9446-ACB267E42F3F}"/>
              </a:ext>
            </a:extLst>
          </p:cNvPr>
          <p:cNvSpPr/>
          <p:nvPr/>
        </p:nvSpPr>
        <p:spPr>
          <a:xfrm>
            <a:off x="224422" y="5381369"/>
            <a:ext cx="11743155" cy="61283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Has Auto-scaling and Auto-healing properties.</a:t>
            </a:r>
          </a:p>
        </p:txBody>
      </p:sp>
    </p:spTree>
    <p:extLst>
      <p:ext uri="{BB962C8B-B14F-4D97-AF65-F5344CB8AC3E}">
        <p14:creationId xmlns:p14="http://schemas.microsoft.com/office/powerpoint/2010/main" val="2905895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837F6C-06C6-755F-B4D7-CAFC7A28445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113E30-2BB6-5E16-2814-EA047662056B}"/>
              </a:ext>
            </a:extLst>
          </p:cNvPr>
          <p:cNvSpPr txBox="1">
            <a:spLocks/>
          </p:cNvSpPr>
          <p:nvPr/>
        </p:nvSpPr>
        <p:spPr>
          <a:xfrm>
            <a:off x="2285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References:</a:t>
            </a:r>
          </a:p>
        </p:txBody>
      </p:sp>
      <p:sp>
        <p:nvSpPr>
          <p:cNvPr id="16" name="TextBox 15">
            <a:extLst>
              <a:ext uri="{FF2B5EF4-FFF2-40B4-BE49-F238E27FC236}">
                <a16:creationId xmlns:a16="http://schemas.microsoft.com/office/drawing/2014/main" id="{55836550-7F6C-4741-41F6-84B197D95F7F}"/>
              </a:ext>
            </a:extLst>
          </p:cNvPr>
          <p:cNvSpPr txBox="1"/>
          <p:nvPr/>
        </p:nvSpPr>
        <p:spPr>
          <a:xfrm>
            <a:off x="228599" y="1535739"/>
            <a:ext cx="10774017"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https://docs.docker.com/</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3F5A99B-00D6-0B05-C9CF-23BB1D270C69}"/>
              </a:ext>
            </a:extLst>
          </p:cNvPr>
          <p:cNvSpPr txBox="1"/>
          <p:nvPr/>
        </p:nvSpPr>
        <p:spPr>
          <a:xfrm>
            <a:off x="228599" y="214602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https://docs.docker.com/compose/</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979D2C8-DAE6-BD0B-59EE-FE189E245BCF}"/>
              </a:ext>
            </a:extLst>
          </p:cNvPr>
          <p:cNvSpPr txBox="1"/>
          <p:nvPr/>
        </p:nvSpPr>
        <p:spPr>
          <a:xfrm>
            <a:off x="228599" y="2756311"/>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https://www.youtube.com/watch?v=DM65_JyGxCo</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A5C17B4-A69A-F872-B64D-43F88D85A73B}"/>
              </a:ext>
            </a:extLst>
          </p:cNvPr>
          <p:cNvSpPr txBox="1"/>
          <p:nvPr/>
        </p:nvSpPr>
        <p:spPr>
          <a:xfrm>
            <a:off x="228599" y="3301470"/>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https://www.youtube.com/watch?v=HG6yIjZapSA</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CAA1D9F-FC3E-8FE9-3D8C-32DA7F7F45E7}"/>
              </a:ext>
            </a:extLst>
          </p:cNvPr>
          <p:cNvSpPr txBox="1"/>
          <p:nvPr/>
        </p:nvSpPr>
        <p:spPr>
          <a:xfrm>
            <a:off x="228599" y="3846629"/>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https://www.youtube.com/watch?v=SXwC9fSwct8</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1EBF7B35-4788-A9BD-072F-EB666099CE22}"/>
              </a:ext>
            </a:extLst>
          </p:cNvPr>
          <p:cNvSpPr txBox="1">
            <a:spLocks/>
          </p:cNvSpPr>
          <p:nvPr/>
        </p:nvSpPr>
        <p:spPr>
          <a:xfrm>
            <a:off x="228599" y="455154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5400" b="1" dirty="0">
                <a:solidFill>
                  <a:prstClr val="black"/>
                </a:solidFill>
                <a:latin typeface="Times New Roman" panose="02020603050405020304" pitchFamily="18" charset="0"/>
                <a:cs typeface="Times New Roman" panose="02020603050405020304" pitchFamily="18" charset="0"/>
              </a:rPr>
              <a:t>Section Record</a:t>
            </a: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t>
            </a:r>
          </a:p>
        </p:txBody>
      </p:sp>
      <p:sp>
        <p:nvSpPr>
          <p:cNvPr id="6" name="TextBox 5">
            <a:extLst>
              <a:ext uri="{FF2B5EF4-FFF2-40B4-BE49-F238E27FC236}">
                <a16:creationId xmlns:a16="http://schemas.microsoft.com/office/drawing/2014/main" id="{93A58770-92D7-06B9-6562-07E3E0E6518F}"/>
              </a:ext>
            </a:extLst>
          </p:cNvPr>
          <p:cNvSpPr txBox="1"/>
          <p:nvPr/>
        </p:nvSpPr>
        <p:spPr>
          <a:xfrm>
            <a:off x="228599" y="6109669"/>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https://drive.google.com/file/d/1ohI4za_hLQKl-scnVjBSpX0Dd2LkR-ci/view?usp=sharing</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933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ACFB3-8B18-F186-25D2-C0E0C1E7154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8147A38C-CCA5-39B7-802B-57C179F5D6CE}"/>
              </a:ext>
            </a:extLst>
          </p:cNvPr>
          <p:cNvSpPr txBox="1">
            <a:spLocks/>
          </p:cNvSpPr>
          <p:nvPr/>
        </p:nvSpPr>
        <p:spPr>
          <a:xfrm>
            <a:off x="1524000" y="1293338"/>
            <a:ext cx="9144000" cy="32745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Aptos Display" panose="02110004020202020204"/>
                <a:ea typeface="+mj-ea"/>
                <a:cs typeface="+mj-cs"/>
              </a:rPr>
              <a:t>THANK YOU</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1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1363</TotalTime>
  <Words>1887</Words>
  <Application>Microsoft Office PowerPoint</Application>
  <PresentationFormat>Widescreen</PresentationFormat>
  <Paragraphs>149</Paragraphs>
  <Slides>25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Times New Roman</vt:lpstr>
      <vt:lpstr>Office Theme</vt:lpstr>
      <vt:lpstr>PowerPoint Presentation</vt:lpstr>
      <vt:lpstr>Using a container as a compiler:</vt:lpstr>
      <vt:lpstr>Docker Images:</vt:lpstr>
      <vt:lpstr>Build Docker Images:</vt:lpstr>
      <vt:lpstr>DockerFiles:</vt:lpstr>
      <vt:lpstr>Create A DockerFile:</vt:lpstr>
      <vt:lpstr>Create A DockerFile:</vt:lpstr>
      <vt:lpstr>Create A DockerFile:</vt:lpstr>
      <vt:lpstr>Create A DockerFile:</vt:lpstr>
      <vt:lpstr>Create A DockerFile:</vt:lpstr>
      <vt:lpstr>Create A DockerFile (Better Version):</vt:lpstr>
      <vt:lpstr>Create A DockerFile (Better Version):</vt:lpstr>
      <vt:lpstr>Using a container as a compiler:</vt:lpstr>
      <vt:lpstr>PowerPoint Presentation</vt:lpstr>
      <vt:lpstr>Clean Up Your Space:</vt:lpstr>
      <vt:lpstr>Run mongo-press:</vt:lpstr>
      <vt:lpstr>Docker Compose:</vt:lpstr>
      <vt:lpstr>Why Docker Compose:</vt:lpstr>
      <vt:lpstr>Docker Compose Core Concepts:</vt:lpstr>
      <vt:lpstr>Run mongo-press:</vt:lpstr>
      <vt:lpstr>FLASK + PostgreSQL APP:</vt:lpstr>
      <vt:lpstr>FLASK + PostgreSQL APP:</vt:lpstr>
      <vt:lpstr>Docker Compose Limitation: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alHasan 20367648</cp:lastModifiedBy>
  <cp:revision>346</cp:revision>
  <dcterms:created xsi:type="dcterms:W3CDTF">2026-03-07T15:17:43Z</dcterms:created>
  <dcterms:modified xsi:type="dcterms:W3CDTF">2026-03-24T21:49:40Z</dcterms:modified>
</cp:coreProperties>
</file>