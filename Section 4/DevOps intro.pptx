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97" r:id="rId2"/>
    <p:sldId id="300" r:id="rId3"/>
    <p:sldId id="298" r:id="rId4"/>
    <p:sldId id="299" r:id="rId5"/>
    <p:sldId id="301" r:id="rId6"/>
    <p:sldId id="302" r:id="rId7"/>
    <p:sldId id="303" r:id="rId8"/>
    <p:sldId id="304" r:id="rId9"/>
    <p:sldId id="316" r:id="rId10"/>
    <p:sldId id="317" r:id="rId11"/>
    <p:sldId id="314" r:id="rId12"/>
    <p:sldId id="315" r:id="rId13"/>
    <p:sldId id="305" r:id="rId14"/>
    <p:sldId id="306" r:id="rId15"/>
    <p:sldId id="307" r:id="rId16"/>
    <p:sldId id="308" r:id="rId17"/>
    <p:sldId id="309" r:id="rId18"/>
    <p:sldId id="310" r:id="rId19"/>
    <p:sldId id="311" r:id="rId20"/>
    <p:sldId id="312" r:id="rId21"/>
    <p:sldId id="313" r:id="rId22"/>
    <p:sldId id="274" r:id="rId23"/>
    <p:sldId id="27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902" autoAdjust="0"/>
  </p:normalViewPr>
  <p:slideViewPr>
    <p:cSldViewPr snapToGrid="0">
      <p:cViewPr>
        <p:scale>
          <a:sx n="77" d="100"/>
          <a:sy n="77" d="100"/>
        </p:scale>
        <p:origin x="883"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A9EE9C-81EC-44CC-8303-70501E2C4EC9}" type="doc">
      <dgm:prSet loTypeId="urn:microsoft.com/office/officeart/2005/8/layout/default" loCatId="list" qsTypeId="urn:microsoft.com/office/officeart/2005/8/quickstyle/simple3" qsCatId="simple" csTypeId="urn:microsoft.com/office/officeart/2005/8/colors/accent2_4" csCatId="accent2" phldr="1"/>
      <dgm:spPr/>
      <dgm:t>
        <a:bodyPr/>
        <a:lstStyle/>
        <a:p>
          <a:endParaRPr lang="en-US"/>
        </a:p>
      </dgm:t>
    </dgm:pt>
    <dgm:pt modelId="{4E0CAC25-57A2-4C5E-9489-E8CCC983C8A4}">
      <dgm:prSet phldrT="[Text]"/>
      <dgm:spPr/>
      <dgm:t>
        <a:bodyPr/>
        <a:lstStyle/>
        <a:p>
          <a:pPr>
            <a:buNone/>
          </a:pPr>
          <a:r>
            <a:rPr lang="en-US" b="1" i="0" dirty="0"/>
            <a:t>Accelerating time to market</a:t>
          </a:r>
          <a:endParaRPr lang="en-US" dirty="0"/>
        </a:p>
      </dgm:t>
    </dgm:pt>
    <dgm:pt modelId="{E9B864D3-B877-4C9D-9EED-699DD5EBB99F}" type="parTrans" cxnId="{B0A79697-D238-4A28-AC88-9134F4D63CCF}">
      <dgm:prSet/>
      <dgm:spPr/>
      <dgm:t>
        <a:bodyPr/>
        <a:lstStyle/>
        <a:p>
          <a:endParaRPr lang="en-US"/>
        </a:p>
      </dgm:t>
    </dgm:pt>
    <dgm:pt modelId="{A2110E5B-B32A-4226-8E3A-B4DCF33441DB}" type="sibTrans" cxnId="{B0A79697-D238-4A28-AC88-9134F4D63CCF}">
      <dgm:prSet/>
      <dgm:spPr/>
      <dgm:t>
        <a:bodyPr/>
        <a:lstStyle/>
        <a:p>
          <a:endParaRPr lang="en-US"/>
        </a:p>
      </dgm:t>
    </dgm:pt>
    <dgm:pt modelId="{FA8FBC87-8CCA-465B-A3E3-B2FAFA2AF606}">
      <dgm:prSet phldrT="[Text]"/>
      <dgm:spPr/>
      <dgm:t>
        <a:bodyPr/>
        <a:lstStyle/>
        <a:p>
          <a:pPr>
            <a:buNone/>
          </a:pPr>
          <a:r>
            <a:rPr lang="en-US" b="1" i="0" dirty="0"/>
            <a:t>Adapting to market dynamics and competition</a:t>
          </a:r>
          <a:endParaRPr lang="en-US" dirty="0"/>
        </a:p>
      </dgm:t>
    </dgm:pt>
    <dgm:pt modelId="{9D9A5EEF-5522-4952-B52B-387F83E6E8FF}" type="parTrans" cxnId="{5159A560-EF9D-4B21-AFDC-CBB7E69E7EA2}">
      <dgm:prSet/>
      <dgm:spPr/>
      <dgm:t>
        <a:bodyPr/>
        <a:lstStyle/>
        <a:p>
          <a:endParaRPr lang="en-US"/>
        </a:p>
      </dgm:t>
    </dgm:pt>
    <dgm:pt modelId="{1AC831AC-B573-4916-9736-565780F2EE5B}" type="sibTrans" cxnId="{5159A560-EF9D-4B21-AFDC-CBB7E69E7EA2}">
      <dgm:prSet/>
      <dgm:spPr/>
      <dgm:t>
        <a:bodyPr/>
        <a:lstStyle/>
        <a:p>
          <a:endParaRPr lang="en-US"/>
        </a:p>
      </dgm:t>
    </dgm:pt>
    <dgm:pt modelId="{1BBD192D-D196-4F9B-AB27-4650B2E337ED}">
      <dgm:prSet phldrT="[Text]"/>
      <dgm:spPr/>
      <dgm:t>
        <a:bodyPr/>
        <a:lstStyle/>
        <a:p>
          <a:pPr>
            <a:buNone/>
          </a:pPr>
          <a:r>
            <a:rPr lang="en-US" b="1" i="0" dirty="0"/>
            <a:t>Sustaining stability and reliability in operations</a:t>
          </a:r>
          <a:endParaRPr lang="en-US" dirty="0"/>
        </a:p>
      </dgm:t>
    </dgm:pt>
    <dgm:pt modelId="{C9EA72EE-D5A5-4167-B809-02A6D323B0B5}" type="parTrans" cxnId="{5DBEC710-DB64-4188-A43A-E8AD7307D604}">
      <dgm:prSet/>
      <dgm:spPr/>
      <dgm:t>
        <a:bodyPr/>
        <a:lstStyle/>
        <a:p>
          <a:endParaRPr lang="en-US"/>
        </a:p>
      </dgm:t>
    </dgm:pt>
    <dgm:pt modelId="{8145F2CF-526D-42FF-83FF-7CD71C2FFA5A}" type="sibTrans" cxnId="{5DBEC710-DB64-4188-A43A-E8AD7307D604}">
      <dgm:prSet/>
      <dgm:spPr/>
      <dgm:t>
        <a:bodyPr/>
        <a:lstStyle/>
        <a:p>
          <a:endParaRPr lang="en-US"/>
        </a:p>
      </dgm:t>
    </dgm:pt>
    <dgm:pt modelId="{38F10B2D-B87A-43AF-BBBD-C88F5CB31A75}">
      <dgm:prSet phldrT="[Text]"/>
      <dgm:spPr/>
      <dgm:t>
        <a:bodyPr/>
        <a:lstStyle/>
        <a:p>
          <a:pPr>
            <a:buNone/>
          </a:pPr>
          <a:r>
            <a:rPr lang="en-US" b="1" i="0" dirty="0"/>
            <a:t>Minimizing the mean time to recovery (MTTR)</a:t>
          </a:r>
          <a:endParaRPr lang="en-US" dirty="0"/>
        </a:p>
      </dgm:t>
    </dgm:pt>
    <dgm:pt modelId="{6D5BAA73-1F03-46DA-A6AF-676473E76255}" type="parTrans" cxnId="{C277EB3E-BF3F-48E3-A72F-77057D930F89}">
      <dgm:prSet/>
      <dgm:spPr/>
      <dgm:t>
        <a:bodyPr/>
        <a:lstStyle/>
        <a:p>
          <a:endParaRPr lang="en-US"/>
        </a:p>
      </dgm:t>
    </dgm:pt>
    <dgm:pt modelId="{C7A32C04-CD03-413B-8E90-ACB860BABD1B}" type="sibTrans" cxnId="{C277EB3E-BF3F-48E3-A72F-77057D930F89}">
      <dgm:prSet/>
      <dgm:spPr/>
      <dgm:t>
        <a:bodyPr/>
        <a:lstStyle/>
        <a:p>
          <a:endParaRPr lang="en-US"/>
        </a:p>
      </dgm:t>
    </dgm:pt>
    <dgm:pt modelId="{EBC0C358-FBA2-4F0C-A000-B078735CDE28}" type="pres">
      <dgm:prSet presAssocID="{FBA9EE9C-81EC-44CC-8303-70501E2C4EC9}" presName="diagram" presStyleCnt="0">
        <dgm:presLayoutVars>
          <dgm:dir/>
          <dgm:resizeHandles val="exact"/>
        </dgm:presLayoutVars>
      </dgm:prSet>
      <dgm:spPr/>
    </dgm:pt>
    <dgm:pt modelId="{57ECA8C4-172F-4AC7-89DB-19A07F82E6EB}" type="pres">
      <dgm:prSet presAssocID="{4E0CAC25-57A2-4C5E-9489-E8CCC983C8A4}" presName="node" presStyleLbl="node1" presStyleIdx="0" presStyleCnt="4">
        <dgm:presLayoutVars>
          <dgm:bulletEnabled val="1"/>
        </dgm:presLayoutVars>
      </dgm:prSet>
      <dgm:spPr/>
    </dgm:pt>
    <dgm:pt modelId="{37BC5F15-86A6-49DC-978C-7567DF058B1B}" type="pres">
      <dgm:prSet presAssocID="{A2110E5B-B32A-4226-8E3A-B4DCF33441DB}" presName="sibTrans" presStyleCnt="0"/>
      <dgm:spPr/>
    </dgm:pt>
    <dgm:pt modelId="{AD03565E-64C5-44BD-9EDB-561A318DD250}" type="pres">
      <dgm:prSet presAssocID="{FA8FBC87-8CCA-465B-A3E3-B2FAFA2AF606}" presName="node" presStyleLbl="node1" presStyleIdx="1" presStyleCnt="4">
        <dgm:presLayoutVars>
          <dgm:bulletEnabled val="1"/>
        </dgm:presLayoutVars>
      </dgm:prSet>
      <dgm:spPr/>
    </dgm:pt>
    <dgm:pt modelId="{A3414CB2-BA77-4ED6-A951-3D45E7B461E2}" type="pres">
      <dgm:prSet presAssocID="{1AC831AC-B573-4916-9736-565780F2EE5B}" presName="sibTrans" presStyleCnt="0"/>
      <dgm:spPr/>
    </dgm:pt>
    <dgm:pt modelId="{4EAF3B80-EF15-4249-9647-0C677733B7D7}" type="pres">
      <dgm:prSet presAssocID="{1BBD192D-D196-4F9B-AB27-4650B2E337ED}" presName="node" presStyleLbl="node1" presStyleIdx="2" presStyleCnt="4">
        <dgm:presLayoutVars>
          <dgm:bulletEnabled val="1"/>
        </dgm:presLayoutVars>
      </dgm:prSet>
      <dgm:spPr/>
    </dgm:pt>
    <dgm:pt modelId="{A3588CD7-CAF7-4569-A1EA-12F77DA91FDD}" type="pres">
      <dgm:prSet presAssocID="{8145F2CF-526D-42FF-83FF-7CD71C2FFA5A}" presName="sibTrans" presStyleCnt="0"/>
      <dgm:spPr/>
    </dgm:pt>
    <dgm:pt modelId="{84F74001-2AB8-4307-B3F4-E51705C87C99}" type="pres">
      <dgm:prSet presAssocID="{38F10B2D-B87A-43AF-BBBD-C88F5CB31A75}" presName="node" presStyleLbl="node1" presStyleIdx="3" presStyleCnt="4">
        <dgm:presLayoutVars>
          <dgm:bulletEnabled val="1"/>
        </dgm:presLayoutVars>
      </dgm:prSet>
      <dgm:spPr/>
    </dgm:pt>
  </dgm:ptLst>
  <dgm:cxnLst>
    <dgm:cxn modelId="{5DBEC710-DB64-4188-A43A-E8AD7307D604}" srcId="{FBA9EE9C-81EC-44CC-8303-70501E2C4EC9}" destId="{1BBD192D-D196-4F9B-AB27-4650B2E337ED}" srcOrd="2" destOrd="0" parTransId="{C9EA72EE-D5A5-4167-B809-02A6D323B0B5}" sibTransId="{8145F2CF-526D-42FF-83FF-7CD71C2FFA5A}"/>
    <dgm:cxn modelId="{0754D41C-CF12-4888-8E1C-27D5E5ECF1ED}" type="presOf" srcId="{4E0CAC25-57A2-4C5E-9489-E8CCC983C8A4}" destId="{57ECA8C4-172F-4AC7-89DB-19A07F82E6EB}" srcOrd="0" destOrd="0" presId="urn:microsoft.com/office/officeart/2005/8/layout/default"/>
    <dgm:cxn modelId="{C277EB3E-BF3F-48E3-A72F-77057D930F89}" srcId="{FBA9EE9C-81EC-44CC-8303-70501E2C4EC9}" destId="{38F10B2D-B87A-43AF-BBBD-C88F5CB31A75}" srcOrd="3" destOrd="0" parTransId="{6D5BAA73-1F03-46DA-A6AF-676473E76255}" sibTransId="{C7A32C04-CD03-413B-8E90-ACB860BABD1B}"/>
    <dgm:cxn modelId="{5159A560-EF9D-4B21-AFDC-CBB7E69E7EA2}" srcId="{FBA9EE9C-81EC-44CC-8303-70501E2C4EC9}" destId="{FA8FBC87-8CCA-465B-A3E3-B2FAFA2AF606}" srcOrd="1" destOrd="0" parTransId="{9D9A5EEF-5522-4952-B52B-387F83E6E8FF}" sibTransId="{1AC831AC-B573-4916-9736-565780F2EE5B}"/>
    <dgm:cxn modelId="{00F94947-18F5-467D-8E26-20D08920F593}" type="presOf" srcId="{38F10B2D-B87A-43AF-BBBD-C88F5CB31A75}" destId="{84F74001-2AB8-4307-B3F4-E51705C87C99}" srcOrd="0" destOrd="0" presId="urn:microsoft.com/office/officeart/2005/8/layout/default"/>
    <dgm:cxn modelId="{9D725469-D976-4C68-93E4-D4652D3D5A33}" type="presOf" srcId="{1BBD192D-D196-4F9B-AB27-4650B2E337ED}" destId="{4EAF3B80-EF15-4249-9647-0C677733B7D7}" srcOrd="0" destOrd="0" presId="urn:microsoft.com/office/officeart/2005/8/layout/default"/>
    <dgm:cxn modelId="{B162E682-B693-4CAB-AB4E-3C88568B72CF}" type="presOf" srcId="{FA8FBC87-8CCA-465B-A3E3-B2FAFA2AF606}" destId="{AD03565E-64C5-44BD-9EDB-561A318DD250}" srcOrd="0" destOrd="0" presId="urn:microsoft.com/office/officeart/2005/8/layout/default"/>
    <dgm:cxn modelId="{B0A79697-D238-4A28-AC88-9134F4D63CCF}" srcId="{FBA9EE9C-81EC-44CC-8303-70501E2C4EC9}" destId="{4E0CAC25-57A2-4C5E-9489-E8CCC983C8A4}" srcOrd="0" destOrd="0" parTransId="{E9B864D3-B877-4C9D-9EED-699DD5EBB99F}" sibTransId="{A2110E5B-B32A-4226-8E3A-B4DCF33441DB}"/>
    <dgm:cxn modelId="{4E1A2EB0-359D-444B-ADCE-AD4369818746}" type="presOf" srcId="{FBA9EE9C-81EC-44CC-8303-70501E2C4EC9}" destId="{EBC0C358-FBA2-4F0C-A000-B078735CDE28}" srcOrd="0" destOrd="0" presId="urn:microsoft.com/office/officeart/2005/8/layout/default"/>
    <dgm:cxn modelId="{BCBBF35F-944A-44E2-BC19-C8E9B17E921C}" type="presParOf" srcId="{EBC0C358-FBA2-4F0C-A000-B078735CDE28}" destId="{57ECA8C4-172F-4AC7-89DB-19A07F82E6EB}" srcOrd="0" destOrd="0" presId="urn:microsoft.com/office/officeart/2005/8/layout/default"/>
    <dgm:cxn modelId="{8CC2BCFD-D936-4075-AF14-9E2810A2B539}" type="presParOf" srcId="{EBC0C358-FBA2-4F0C-A000-B078735CDE28}" destId="{37BC5F15-86A6-49DC-978C-7567DF058B1B}" srcOrd="1" destOrd="0" presId="urn:microsoft.com/office/officeart/2005/8/layout/default"/>
    <dgm:cxn modelId="{F705FDB3-F3CD-4A06-B7BF-90D8FAB0810C}" type="presParOf" srcId="{EBC0C358-FBA2-4F0C-A000-B078735CDE28}" destId="{AD03565E-64C5-44BD-9EDB-561A318DD250}" srcOrd="2" destOrd="0" presId="urn:microsoft.com/office/officeart/2005/8/layout/default"/>
    <dgm:cxn modelId="{CE5573BA-3A06-4012-92A4-DE1438393F0E}" type="presParOf" srcId="{EBC0C358-FBA2-4F0C-A000-B078735CDE28}" destId="{A3414CB2-BA77-4ED6-A951-3D45E7B461E2}" srcOrd="3" destOrd="0" presId="urn:microsoft.com/office/officeart/2005/8/layout/default"/>
    <dgm:cxn modelId="{B1BB12A7-7599-4A2C-8700-2D336DCDFA5C}" type="presParOf" srcId="{EBC0C358-FBA2-4F0C-A000-B078735CDE28}" destId="{4EAF3B80-EF15-4249-9647-0C677733B7D7}" srcOrd="4" destOrd="0" presId="urn:microsoft.com/office/officeart/2005/8/layout/default"/>
    <dgm:cxn modelId="{29EF3C6D-1923-4003-89A4-83AF86256249}" type="presParOf" srcId="{EBC0C358-FBA2-4F0C-A000-B078735CDE28}" destId="{A3588CD7-CAF7-4569-A1EA-12F77DA91FDD}" srcOrd="5" destOrd="0" presId="urn:microsoft.com/office/officeart/2005/8/layout/default"/>
    <dgm:cxn modelId="{B63FA2A4-C58F-4B14-9DED-FE1D7BF60DF2}" type="presParOf" srcId="{EBC0C358-FBA2-4F0C-A000-B078735CDE28}" destId="{84F74001-2AB8-4307-B3F4-E51705C87C99}"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859249-1574-4314-99F7-399B4271CA2C}"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US"/>
        </a:p>
      </dgm:t>
    </dgm:pt>
    <dgm:pt modelId="{7959B719-1E24-4347-B8A2-D382A9A20926}">
      <dgm:prSet phldrT="[Text]" phldr="0" custT="1"/>
      <dgm:spPr/>
      <dgm:t>
        <a:bodyPr/>
        <a:lstStyle/>
        <a:p>
          <a:r>
            <a:rPr lang="en-US" sz="26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Test</a:t>
          </a:r>
        </a:p>
      </dgm:t>
    </dgm:pt>
    <dgm:pt modelId="{AB6A674D-72FC-46B4-8BE2-9ED89052C32E}" type="parTrans" cxnId="{D925AA89-1409-45CF-B8FD-3DE4BFE0ECC3}">
      <dgm:prSet/>
      <dgm:spPr/>
      <dgm:t>
        <a:bodyPr/>
        <a:lstStyle/>
        <a:p>
          <a:endParaRPr lang="en-US"/>
        </a:p>
      </dgm:t>
    </dgm:pt>
    <dgm:pt modelId="{A35BB1CE-F0B1-4529-912F-50EA8AB41FE2}" type="sibTrans" cxnId="{D925AA89-1409-45CF-B8FD-3DE4BFE0ECC3}">
      <dgm:prSet/>
      <dgm:spPr/>
      <dgm:t>
        <a:bodyPr/>
        <a:lstStyle/>
        <a:p>
          <a:endParaRPr lang="en-US"/>
        </a:p>
      </dgm:t>
    </dgm:pt>
    <dgm:pt modelId="{61CD79EC-1AAA-46F8-9A34-DABE3A35A179}">
      <dgm:prSet phldrT="[Text]" phldr="0" custT="1"/>
      <dgm:spPr/>
      <dgm:t>
        <a:bodyPr/>
        <a:lstStyle/>
        <a:p>
          <a:r>
            <a:rPr lang="en-US" sz="24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Deliver</a:t>
          </a:r>
        </a:p>
      </dgm:t>
    </dgm:pt>
    <dgm:pt modelId="{73BF061C-3633-4DFA-81C8-AE30D9A18E7E}" type="parTrans" cxnId="{B5B66D33-90F0-489D-823A-5F0F4128D985}">
      <dgm:prSet/>
      <dgm:spPr/>
      <dgm:t>
        <a:bodyPr/>
        <a:lstStyle/>
        <a:p>
          <a:endParaRPr lang="en-US"/>
        </a:p>
      </dgm:t>
    </dgm:pt>
    <dgm:pt modelId="{C9F499A1-84B6-4DB2-8E70-E8AB2EFE2AAA}" type="sibTrans" cxnId="{B5B66D33-90F0-489D-823A-5F0F4128D985}">
      <dgm:prSet/>
      <dgm:spPr/>
      <dgm:t>
        <a:bodyPr/>
        <a:lstStyle/>
        <a:p>
          <a:endParaRPr lang="en-US"/>
        </a:p>
      </dgm:t>
    </dgm:pt>
    <dgm:pt modelId="{FF569824-F77B-4FE0-99E3-03852C6B1B62}">
      <dgm:prSet phldrT="[Text]" phldr="0" custT="1"/>
      <dgm:spPr/>
      <dgm:t>
        <a:bodyPr/>
        <a:lstStyle/>
        <a:p>
          <a:r>
            <a:rPr lang="en-US" sz="24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Deploy</a:t>
          </a:r>
        </a:p>
      </dgm:t>
    </dgm:pt>
    <dgm:pt modelId="{69265530-84DC-4A97-BC41-C71A63CF28DD}" type="parTrans" cxnId="{EA44A847-F6A4-4BBA-B26F-DA885876D216}">
      <dgm:prSet/>
      <dgm:spPr/>
      <dgm:t>
        <a:bodyPr/>
        <a:lstStyle/>
        <a:p>
          <a:endParaRPr lang="en-US"/>
        </a:p>
      </dgm:t>
    </dgm:pt>
    <dgm:pt modelId="{3D28C3C4-E54C-4B8E-86FA-45A73F3BF89E}" type="sibTrans" cxnId="{EA44A847-F6A4-4BBA-B26F-DA885876D216}">
      <dgm:prSet/>
      <dgm:spPr/>
      <dgm:t>
        <a:bodyPr/>
        <a:lstStyle/>
        <a:p>
          <a:endParaRPr lang="en-US"/>
        </a:p>
      </dgm:t>
    </dgm:pt>
    <dgm:pt modelId="{FCFC13A8-F7CE-4A54-A46D-6095939E231C}">
      <dgm:prSet phldrT="[Text]" phldr="0" custT="1"/>
      <dgm:spPr/>
      <dgm:t>
        <a:bodyPr/>
        <a:lstStyle/>
        <a:p>
          <a:r>
            <a:rPr lang="en-US" sz="2400" b="1" dirty="0">
              <a:latin typeface="Arial" panose="020B0604020202020204" pitchFamily="34" charset="0"/>
              <a:cs typeface="Arial" panose="020B0604020202020204" pitchFamily="34" charset="0"/>
            </a:rPr>
            <a:t>Build</a:t>
          </a:r>
        </a:p>
      </dgm:t>
    </dgm:pt>
    <dgm:pt modelId="{36B0EED0-0F54-41AE-92E3-6EC040DE6AFD}" type="parTrans" cxnId="{67FD0441-B6D9-45FC-8CE8-63333668B00E}">
      <dgm:prSet/>
      <dgm:spPr/>
      <dgm:t>
        <a:bodyPr/>
        <a:lstStyle/>
        <a:p>
          <a:endParaRPr lang="en-US"/>
        </a:p>
      </dgm:t>
    </dgm:pt>
    <dgm:pt modelId="{883B320D-FD5B-41E0-9124-B68B622E2695}" type="sibTrans" cxnId="{67FD0441-B6D9-45FC-8CE8-63333668B00E}">
      <dgm:prSet/>
      <dgm:spPr/>
      <dgm:t>
        <a:bodyPr/>
        <a:lstStyle/>
        <a:p>
          <a:endParaRPr lang="en-US"/>
        </a:p>
      </dgm:t>
    </dgm:pt>
    <dgm:pt modelId="{0A2245D1-4654-4CC9-8B33-A12D28182944}" type="pres">
      <dgm:prSet presAssocID="{FD859249-1574-4314-99F7-399B4271CA2C}" presName="cycle" presStyleCnt="0">
        <dgm:presLayoutVars>
          <dgm:dir/>
          <dgm:resizeHandles val="exact"/>
        </dgm:presLayoutVars>
      </dgm:prSet>
      <dgm:spPr/>
    </dgm:pt>
    <dgm:pt modelId="{ABD5B8E8-C284-48A9-ADFA-026A7E17DE2B}" type="pres">
      <dgm:prSet presAssocID="{7959B719-1E24-4347-B8A2-D382A9A20926}" presName="dummy" presStyleCnt="0"/>
      <dgm:spPr/>
    </dgm:pt>
    <dgm:pt modelId="{9DFAEF68-7F6F-44C0-9B60-B6106E5425D2}" type="pres">
      <dgm:prSet presAssocID="{7959B719-1E24-4347-B8A2-D382A9A20926}" presName="node" presStyleLbl="revTx" presStyleIdx="0" presStyleCnt="4">
        <dgm:presLayoutVars>
          <dgm:bulletEnabled val="1"/>
        </dgm:presLayoutVars>
      </dgm:prSet>
      <dgm:spPr/>
    </dgm:pt>
    <dgm:pt modelId="{EC76D055-680D-4D58-BC65-9C84042A70FC}" type="pres">
      <dgm:prSet presAssocID="{A35BB1CE-F0B1-4529-912F-50EA8AB41FE2}" presName="sibTrans" presStyleLbl="node1" presStyleIdx="0" presStyleCnt="4"/>
      <dgm:spPr/>
    </dgm:pt>
    <dgm:pt modelId="{38FD3F36-0A53-4964-8023-AE09E98AED5D}" type="pres">
      <dgm:prSet presAssocID="{61CD79EC-1AAA-46F8-9A34-DABE3A35A179}" presName="dummy" presStyleCnt="0"/>
      <dgm:spPr/>
    </dgm:pt>
    <dgm:pt modelId="{3187B671-FFEA-46EE-96E7-B95BDE46DB00}" type="pres">
      <dgm:prSet presAssocID="{61CD79EC-1AAA-46F8-9A34-DABE3A35A179}" presName="node" presStyleLbl="revTx" presStyleIdx="1" presStyleCnt="4">
        <dgm:presLayoutVars>
          <dgm:bulletEnabled val="1"/>
        </dgm:presLayoutVars>
      </dgm:prSet>
      <dgm:spPr/>
    </dgm:pt>
    <dgm:pt modelId="{28590E39-2DF2-4D2A-8034-85EF9C22FE7C}" type="pres">
      <dgm:prSet presAssocID="{C9F499A1-84B6-4DB2-8E70-E8AB2EFE2AAA}" presName="sibTrans" presStyleLbl="node1" presStyleIdx="1" presStyleCnt="4"/>
      <dgm:spPr/>
    </dgm:pt>
    <dgm:pt modelId="{4AE1335F-9A69-4610-9A4A-C033DEFDFF43}" type="pres">
      <dgm:prSet presAssocID="{FF569824-F77B-4FE0-99E3-03852C6B1B62}" presName="dummy" presStyleCnt="0"/>
      <dgm:spPr/>
    </dgm:pt>
    <dgm:pt modelId="{5CB31159-5107-43DC-A68A-9D25777A94DD}" type="pres">
      <dgm:prSet presAssocID="{FF569824-F77B-4FE0-99E3-03852C6B1B62}" presName="node" presStyleLbl="revTx" presStyleIdx="2" presStyleCnt="4">
        <dgm:presLayoutVars>
          <dgm:bulletEnabled val="1"/>
        </dgm:presLayoutVars>
      </dgm:prSet>
      <dgm:spPr/>
    </dgm:pt>
    <dgm:pt modelId="{DC1E2B1E-1C4C-45B4-88DE-60CBEA6CB1F6}" type="pres">
      <dgm:prSet presAssocID="{3D28C3C4-E54C-4B8E-86FA-45A73F3BF89E}" presName="sibTrans" presStyleLbl="node1" presStyleIdx="2" presStyleCnt="4"/>
      <dgm:spPr/>
    </dgm:pt>
    <dgm:pt modelId="{F5252E42-2502-418E-8CF8-D48B926C92FC}" type="pres">
      <dgm:prSet presAssocID="{FCFC13A8-F7CE-4A54-A46D-6095939E231C}" presName="dummy" presStyleCnt="0"/>
      <dgm:spPr/>
    </dgm:pt>
    <dgm:pt modelId="{5883068F-9E30-4539-82AC-F25FA2961AE8}" type="pres">
      <dgm:prSet presAssocID="{FCFC13A8-F7CE-4A54-A46D-6095939E231C}" presName="node" presStyleLbl="revTx" presStyleIdx="3" presStyleCnt="4">
        <dgm:presLayoutVars>
          <dgm:bulletEnabled val="1"/>
        </dgm:presLayoutVars>
      </dgm:prSet>
      <dgm:spPr/>
    </dgm:pt>
    <dgm:pt modelId="{7835A40A-BF03-4499-8027-14C94229956B}" type="pres">
      <dgm:prSet presAssocID="{883B320D-FD5B-41E0-9124-B68B622E2695}" presName="sibTrans" presStyleLbl="node1" presStyleIdx="3" presStyleCnt="4"/>
      <dgm:spPr/>
    </dgm:pt>
  </dgm:ptLst>
  <dgm:cxnLst>
    <dgm:cxn modelId="{FF5B182A-C5FB-4987-A475-2D4E16B00BC2}" type="presOf" srcId="{883B320D-FD5B-41E0-9124-B68B622E2695}" destId="{7835A40A-BF03-4499-8027-14C94229956B}" srcOrd="0" destOrd="0" presId="urn:microsoft.com/office/officeart/2005/8/layout/cycle1"/>
    <dgm:cxn modelId="{B5B66D33-90F0-489D-823A-5F0F4128D985}" srcId="{FD859249-1574-4314-99F7-399B4271CA2C}" destId="{61CD79EC-1AAA-46F8-9A34-DABE3A35A179}" srcOrd="1" destOrd="0" parTransId="{73BF061C-3633-4DFA-81C8-AE30D9A18E7E}" sibTransId="{C9F499A1-84B6-4DB2-8E70-E8AB2EFE2AAA}"/>
    <dgm:cxn modelId="{67FD0441-B6D9-45FC-8CE8-63333668B00E}" srcId="{FD859249-1574-4314-99F7-399B4271CA2C}" destId="{FCFC13A8-F7CE-4A54-A46D-6095939E231C}" srcOrd="3" destOrd="0" parTransId="{36B0EED0-0F54-41AE-92E3-6EC040DE6AFD}" sibTransId="{883B320D-FD5B-41E0-9124-B68B622E2695}"/>
    <dgm:cxn modelId="{EA44A847-F6A4-4BBA-B26F-DA885876D216}" srcId="{FD859249-1574-4314-99F7-399B4271CA2C}" destId="{FF569824-F77B-4FE0-99E3-03852C6B1B62}" srcOrd="2" destOrd="0" parTransId="{69265530-84DC-4A97-BC41-C71A63CF28DD}" sibTransId="{3D28C3C4-E54C-4B8E-86FA-45A73F3BF89E}"/>
    <dgm:cxn modelId="{1E2AAF50-0005-4F32-84B9-B101095E7913}" type="presOf" srcId="{A35BB1CE-F0B1-4529-912F-50EA8AB41FE2}" destId="{EC76D055-680D-4D58-BC65-9C84042A70FC}" srcOrd="0" destOrd="0" presId="urn:microsoft.com/office/officeart/2005/8/layout/cycle1"/>
    <dgm:cxn modelId="{D925AA89-1409-45CF-B8FD-3DE4BFE0ECC3}" srcId="{FD859249-1574-4314-99F7-399B4271CA2C}" destId="{7959B719-1E24-4347-B8A2-D382A9A20926}" srcOrd="0" destOrd="0" parTransId="{AB6A674D-72FC-46B4-8BE2-9ED89052C32E}" sibTransId="{A35BB1CE-F0B1-4529-912F-50EA8AB41FE2}"/>
    <dgm:cxn modelId="{A8B0A595-6366-43FE-ABBE-57E8866D02C4}" type="presOf" srcId="{61CD79EC-1AAA-46F8-9A34-DABE3A35A179}" destId="{3187B671-FFEA-46EE-96E7-B95BDE46DB00}" srcOrd="0" destOrd="0" presId="urn:microsoft.com/office/officeart/2005/8/layout/cycle1"/>
    <dgm:cxn modelId="{8A55819E-EB0A-4399-98FA-82BAEEB41EE6}" type="presOf" srcId="{7959B719-1E24-4347-B8A2-D382A9A20926}" destId="{9DFAEF68-7F6F-44C0-9B60-B6106E5425D2}" srcOrd="0" destOrd="0" presId="urn:microsoft.com/office/officeart/2005/8/layout/cycle1"/>
    <dgm:cxn modelId="{19F491B8-04EA-48AC-9250-80E7CDCFF642}" type="presOf" srcId="{FCFC13A8-F7CE-4A54-A46D-6095939E231C}" destId="{5883068F-9E30-4539-82AC-F25FA2961AE8}" srcOrd="0" destOrd="0" presId="urn:microsoft.com/office/officeart/2005/8/layout/cycle1"/>
    <dgm:cxn modelId="{FD8BA3BA-80D6-4B68-ADBA-DFD41E6DB2B9}" type="presOf" srcId="{FD859249-1574-4314-99F7-399B4271CA2C}" destId="{0A2245D1-4654-4CC9-8B33-A12D28182944}" srcOrd="0" destOrd="0" presId="urn:microsoft.com/office/officeart/2005/8/layout/cycle1"/>
    <dgm:cxn modelId="{9E1F09C8-AA53-4918-A483-31942191CF0B}" type="presOf" srcId="{C9F499A1-84B6-4DB2-8E70-E8AB2EFE2AAA}" destId="{28590E39-2DF2-4D2A-8034-85EF9C22FE7C}" srcOrd="0" destOrd="0" presId="urn:microsoft.com/office/officeart/2005/8/layout/cycle1"/>
    <dgm:cxn modelId="{40AAA6E5-B5F3-44D3-81CE-CF1169D0B8BB}" type="presOf" srcId="{FF569824-F77B-4FE0-99E3-03852C6B1B62}" destId="{5CB31159-5107-43DC-A68A-9D25777A94DD}" srcOrd="0" destOrd="0" presId="urn:microsoft.com/office/officeart/2005/8/layout/cycle1"/>
    <dgm:cxn modelId="{01A89CF7-B5B0-4FDC-8A02-F272C988EDEF}" type="presOf" srcId="{3D28C3C4-E54C-4B8E-86FA-45A73F3BF89E}" destId="{DC1E2B1E-1C4C-45B4-88DE-60CBEA6CB1F6}" srcOrd="0" destOrd="0" presId="urn:microsoft.com/office/officeart/2005/8/layout/cycle1"/>
    <dgm:cxn modelId="{B7565FC1-D470-47D0-B8EA-0A5E635A7EFB}" type="presParOf" srcId="{0A2245D1-4654-4CC9-8B33-A12D28182944}" destId="{ABD5B8E8-C284-48A9-ADFA-026A7E17DE2B}" srcOrd="0" destOrd="0" presId="urn:microsoft.com/office/officeart/2005/8/layout/cycle1"/>
    <dgm:cxn modelId="{076D8177-FEB2-4ACC-AE58-8EB264824847}" type="presParOf" srcId="{0A2245D1-4654-4CC9-8B33-A12D28182944}" destId="{9DFAEF68-7F6F-44C0-9B60-B6106E5425D2}" srcOrd="1" destOrd="0" presId="urn:microsoft.com/office/officeart/2005/8/layout/cycle1"/>
    <dgm:cxn modelId="{B505F9EE-4F7C-4C6C-9679-ADA2EF80C65F}" type="presParOf" srcId="{0A2245D1-4654-4CC9-8B33-A12D28182944}" destId="{EC76D055-680D-4D58-BC65-9C84042A70FC}" srcOrd="2" destOrd="0" presId="urn:microsoft.com/office/officeart/2005/8/layout/cycle1"/>
    <dgm:cxn modelId="{EA752854-E25A-4D68-9F1B-0DA677A37E9E}" type="presParOf" srcId="{0A2245D1-4654-4CC9-8B33-A12D28182944}" destId="{38FD3F36-0A53-4964-8023-AE09E98AED5D}" srcOrd="3" destOrd="0" presId="urn:microsoft.com/office/officeart/2005/8/layout/cycle1"/>
    <dgm:cxn modelId="{DBEA43E0-933C-4F70-80A5-4DF3A8D17C24}" type="presParOf" srcId="{0A2245D1-4654-4CC9-8B33-A12D28182944}" destId="{3187B671-FFEA-46EE-96E7-B95BDE46DB00}" srcOrd="4" destOrd="0" presId="urn:microsoft.com/office/officeart/2005/8/layout/cycle1"/>
    <dgm:cxn modelId="{5D3D9BEB-7485-4F05-9628-1D50D1CBDF44}" type="presParOf" srcId="{0A2245D1-4654-4CC9-8B33-A12D28182944}" destId="{28590E39-2DF2-4D2A-8034-85EF9C22FE7C}" srcOrd="5" destOrd="0" presId="urn:microsoft.com/office/officeart/2005/8/layout/cycle1"/>
    <dgm:cxn modelId="{109E1F29-ED5A-451B-A901-881AD0B083BF}" type="presParOf" srcId="{0A2245D1-4654-4CC9-8B33-A12D28182944}" destId="{4AE1335F-9A69-4610-9A4A-C033DEFDFF43}" srcOrd="6" destOrd="0" presId="urn:microsoft.com/office/officeart/2005/8/layout/cycle1"/>
    <dgm:cxn modelId="{89DD3F2B-1956-4806-9C6E-9F363953A50E}" type="presParOf" srcId="{0A2245D1-4654-4CC9-8B33-A12D28182944}" destId="{5CB31159-5107-43DC-A68A-9D25777A94DD}" srcOrd="7" destOrd="0" presId="urn:microsoft.com/office/officeart/2005/8/layout/cycle1"/>
    <dgm:cxn modelId="{1580D241-FAF7-4519-BD97-80CCDA45A4CB}" type="presParOf" srcId="{0A2245D1-4654-4CC9-8B33-A12D28182944}" destId="{DC1E2B1E-1C4C-45B4-88DE-60CBEA6CB1F6}" srcOrd="8" destOrd="0" presId="urn:microsoft.com/office/officeart/2005/8/layout/cycle1"/>
    <dgm:cxn modelId="{923CB3FC-7A32-4916-A7CA-B23896094C06}" type="presParOf" srcId="{0A2245D1-4654-4CC9-8B33-A12D28182944}" destId="{F5252E42-2502-418E-8CF8-D48B926C92FC}" srcOrd="9" destOrd="0" presId="urn:microsoft.com/office/officeart/2005/8/layout/cycle1"/>
    <dgm:cxn modelId="{FCBFEBD9-91CC-498C-86ED-5D4B841A9E4C}" type="presParOf" srcId="{0A2245D1-4654-4CC9-8B33-A12D28182944}" destId="{5883068F-9E30-4539-82AC-F25FA2961AE8}" srcOrd="10" destOrd="0" presId="urn:microsoft.com/office/officeart/2005/8/layout/cycle1"/>
    <dgm:cxn modelId="{65128F1D-F71A-408B-A771-F87EF393BD6A}" type="presParOf" srcId="{0A2245D1-4654-4CC9-8B33-A12D28182944}" destId="{7835A40A-BF03-4499-8027-14C94229956B}" srcOrd="11"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ECA8C4-172F-4AC7-89DB-19A07F82E6EB}">
      <dsp:nvSpPr>
        <dsp:cNvPr id="0" name=""/>
        <dsp:cNvSpPr/>
      </dsp:nvSpPr>
      <dsp:spPr>
        <a:xfrm>
          <a:off x="719319" y="51"/>
          <a:ext cx="2921656" cy="1752993"/>
        </a:xfrm>
        <a:prstGeom prst="rect">
          <a:avLst/>
        </a:prstGeom>
        <a:gradFill rotWithShape="0">
          <a:gsLst>
            <a:gs pos="0">
              <a:schemeClr val="accent2">
                <a:shade val="50000"/>
                <a:hueOff val="0"/>
                <a:satOff val="0"/>
                <a:lumOff val="0"/>
                <a:alphaOff val="0"/>
                <a:lumMod val="110000"/>
                <a:satMod val="105000"/>
                <a:tint val="67000"/>
              </a:schemeClr>
            </a:gs>
            <a:gs pos="50000">
              <a:schemeClr val="accent2">
                <a:shade val="50000"/>
                <a:hueOff val="0"/>
                <a:satOff val="0"/>
                <a:lumOff val="0"/>
                <a:alphaOff val="0"/>
                <a:lumMod val="105000"/>
                <a:satMod val="103000"/>
                <a:tint val="73000"/>
              </a:schemeClr>
            </a:gs>
            <a:gs pos="100000">
              <a:schemeClr val="accent2">
                <a:shade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dirty="0"/>
            <a:t>Accelerating time to market</a:t>
          </a:r>
          <a:endParaRPr lang="en-US" sz="2700" kern="1200" dirty="0"/>
        </a:p>
      </dsp:txBody>
      <dsp:txXfrm>
        <a:off x="719319" y="51"/>
        <a:ext cx="2921656" cy="1752993"/>
      </dsp:txXfrm>
    </dsp:sp>
    <dsp:sp modelId="{AD03565E-64C5-44BD-9EDB-561A318DD250}">
      <dsp:nvSpPr>
        <dsp:cNvPr id="0" name=""/>
        <dsp:cNvSpPr/>
      </dsp:nvSpPr>
      <dsp:spPr>
        <a:xfrm>
          <a:off x="3933140" y="51"/>
          <a:ext cx="2921656" cy="1752993"/>
        </a:xfrm>
        <a:prstGeom prst="rect">
          <a:avLst/>
        </a:prstGeom>
        <a:gradFill rotWithShape="0">
          <a:gsLst>
            <a:gs pos="0">
              <a:schemeClr val="accent2">
                <a:shade val="50000"/>
                <a:hueOff val="-274425"/>
                <a:satOff val="2186"/>
                <a:lumOff val="23372"/>
                <a:alphaOff val="0"/>
                <a:lumMod val="110000"/>
                <a:satMod val="105000"/>
                <a:tint val="67000"/>
              </a:schemeClr>
            </a:gs>
            <a:gs pos="50000">
              <a:schemeClr val="accent2">
                <a:shade val="50000"/>
                <a:hueOff val="-274425"/>
                <a:satOff val="2186"/>
                <a:lumOff val="23372"/>
                <a:alphaOff val="0"/>
                <a:lumMod val="105000"/>
                <a:satMod val="103000"/>
                <a:tint val="73000"/>
              </a:schemeClr>
            </a:gs>
            <a:gs pos="100000">
              <a:schemeClr val="accent2">
                <a:shade val="50000"/>
                <a:hueOff val="-274425"/>
                <a:satOff val="2186"/>
                <a:lumOff val="2337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dirty="0"/>
            <a:t>Adapting to market dynamics and competition</a:t>
          </a:r>
          <a:endParaRPr lang="en-US" sz="2700" kern="1200" dirty="0"/>
        </a:p>
      </dsp:txBody>
      <dsp:txXfrm>
        <a:off x="3933140" y="51"/>
        <a:ext cx="2921656" cy="1752993"/>
      </dsp:txXfrm>
    </dsp:sp>
    <dsp:sp modelId="{4EAF3B80-EF15-4249-9647-0C677733B7D7}">
      <dsp:nvSpPr>
        <dsp:cNvPr id="0" name=""/>
        <dsp:cNvSpPr/>
      </dsp:nvSpPr>
      <dsp:spPr>
        <a:xfrm>
          <a:off x="719319" y="2045210"/>
          <a:ext cx="2921656" cy="1752993"/>
        </a:xfrm>
        <a:prstGeom prst="rect">
          <a:avLst/>
        </a:prstGeom>
        <a:gradFill rotWithShape="0">
          <a:gsLst>
            <a:gs pos="0">
              <a:schemeClr val="accent2">
                <a:shade val="50000"/>
                <a:hueOff val="-548849"/>
                <a:satOff val="4372"/>
                <a:lumOff val="46744"/>
                <a:alphaOff val="0"/>
                <a:lumMod val="110000"/>
                <a:satMod val="105000"/>
                <a:tint val="67000"/>
              </a:schemeClr>
            </a:gs>
            <a:gs pos="50000">
              <a:schemeClr val="accent2">
                <a:shade val="50000"/>
                <a:hueOff val="-548849"/>
                <a:satOff val="4372"/>
                <a:lumOff val="46744"/>
                <a:alphaOff val="0"/>
                <a:lumMod val="105000"/>
                <a:satMod val="103000"/>
                <a:tint val="73000"/>
              </a:schemeClr>
            </a:gs>
            <a:gs pos="100000">
              <a:schemeClr val="accent2">
                <a:shade val="50000"/>
                <a:hueOff val="-548849"/>
                <a:satOff val="4372"/>
                <a:lumOff val="4674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dirty="0"/>
            <a:t>Sustaining stability and reliability in operations</a:t>
          </a:r>
          <a:endParaRPr lang="en-US" sz="2700" kern="1200" dirty="0"/>
        </a:p>
      </dsp:txBody>
      <dsp:txXfrm>
        <a:off x="719319" y="2045210"/>
        <a:ext cx="2921656" cy="1752993"/>
      </dsp:txXfrm>
    </dsp:sp>
    <dsp:sp modelId="{84F74001-2AB8-4307-B3F4-E51705C87C99}">
      <dsp:nvSpPr>
        <dsp:cNvPr id="0" name=""/>
        <dsp:cNvSpPr/>
      </dsp:nvSpPr>
      <dsp:spPr>
        <a:xfrm>
          <a:off x="3933140" y="2045210"/>
          <a:ext cx="2921656" cy="1752993"/>
        </a:xfrm>
        <a:prstGeom prst="rect">
          <a:avLst/>
        </a:prstGeom>
        <a:gradFill rotWithShape="0">
          <a:gsLst>
            <a:gs pos="0">
              <a:schemeClr val="accent2">
                <a:shade val="50000"/>
                <a:hueOff val="-274425"/>
                <a:satOff val="2186"/>
                <a:lumOff val="23372"/>
                <a:alphaOff val="0"/>
                <a:lumMod val="110000"/>
                <a:satMod val="105000"/>
                <a:tint val="67000"/>
              </a:schemeClr>
            </a:gs>
            <a:gs pos="50000">
              <a:schemeClr val="accent2">
                <a:shade val="50000"/>
                <a:hueOff val="-274425"/>
                <a:satOff val="2186"/>
                <a:lumOff val="23372"/>
                <a:alphaOff val="0"/>
                <a:lumMod val="105000"/>
                <a:satMod val="103000"/>
                <a:tint val="73000"/>
              </a:schemeClr>
            </a:gs>
            <a:gs pos="100000">
              <a:schemeClr val="accent2">
                <a:shade val="50000"/>
                <a:hueOff val="-274425"/>
                <a:satOff val="2186"/>
                <a:lumOff val="2337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dirty="0"/>
            <a:t>Minimizing the mean time to recovery (MTTR)</a:t>
          </a:r>
          <a:endParaRPr lang="en-US" sz="2700" kern="1200" dirty="0"/>
        </a:p>
      </dsp:txBody>
      <dsp:txXfrm>
        <a:off x="3933140" y="2045210"/>
        <a:ext cx="2921656" cy="17529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FAEF68-7F6F-44C0-9B60-B6106E5425D2}">
      <dsp:nvSpPr>
        <dsp:cNvPr id="0" name=""/>
        <dsp:cNvSpPr/>
      </dsp:nvSpPr>
      <dsp:spPr>
        <a:xfrm>
          <a:off x="4095578" y="69023"/>
          <a:ext cx="1090200" cy="109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Test</a:t>
          </a:r>
        </a:p>
      </dsp:txBody>
      <dsp:txXfrm>
        <a:off x="4095578" y="69023"/>
        <a:ext cx="1090200" cy="1090200"/>
      </dsp:txXfrm>
    </dsp:sp>
    <dsp:sp modelId="{EC76D055-680D-4D58-BC65-9C84042A70FC}">
      <dsp:nvSpPr>
        <dsp:cNvPr id="0" name=""/>
        <dsp:cNvSpPr/>
      </dsp:nvSpPr>
      <dsp:spPr>
        <a:xfrm>
          <a:off x="2175650" y="401"/>
          <a:ext cx="3078751" cy="3078751"/>
        </a:xfrm>
        <a:prstGeom prst="circularArrow">
          <a:avLst>
            <a:gd name="adj1" fmla="val 6905"/>
            <a:gd name="adj2" fmla="val 465589"/>
            <a:gd name="adj3" fmla="val 548419"/>
            <a:gd name="adj4" fmla="val 20585992"/>
            <a:gd name="adj5" fmla="val 8056"/>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87B671-FFEA-46EE-96E7-B95BDE46DB00}">
      <dsp:nvSpPr>
        <dsp:cNvPr id="0" name=""/>
        <dsp:cNvSpPr/>
      </dsp:nvSpPr>
      <dsp:spPr>
        <a:xfrm>
          <a:off x="4095578" y="1920329"/>
          <a:ext cx="1090200" cy="109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Deliver</a:t>
          </a:r>
        </a:p>
      </dsp:txBody>
      <dsp:txXfrm>
        <a:off x="4095578" y="1920329"/>
        <a:ext cx="1090200" cy="1090200"/>
      </dsp:txXfrm>
    </dsp:sp>
    <dsp:sp modelId="{28590E39-2DF2-4D2A-8034-85EF9C22FE7C}">
      <dsp:nvSpPr>
        <dsp:cNvPr id="0" name=""/>
        <dsp:cNvSpPr/>
      </dsp:nvSpPr>
      <dsp:spPr>
        <a:xfrm>
          <a:off x="2175650" y="401"/>
          <a:ext cx="3078751" cy="3078751"/>
        </a:xfrm>
        <a:prstGeom prst="circularArrow">
          <a:avLst>
            <a:gd name="adj1" fmla="val 6905"/>
            <a:gd name="adj2" fmla="val 465589"/>
            <a:gd name="adj3" fmla="val 5948419"/>
            <a:gd name="adj4" fmla="val 4385992"/>
            <a:gd name="adj5" fmla="val 8056"/>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B31159-5107-43DC-A68A-9D25777A94DD}">
      <dsp:nvSpPr>
        <dsp:cNvPr id="0" name=""/>
        <dsp:cNvSpPr/>
      </dsp:nvSpPr>
      <dsp:spPr>
        <a:xfrm>
          <a:off x="2244272" y="1920329"/>
          <a:ext cx="1090200" cy="109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Deploy</a:t>
          </a:r>
        </a:p>
      </dsp:txBody>
      <dsp:txXfrm>
        <a:off x="2244272" y="1920329"/>
        <a:ext cx="1090200" cy="1090200"/>
      </dsp:txXfrm>
    </dsp:sp>
    <dsp:sp modelId="{DC1E2B1E-1C4C-45B4-88DE-60CBEA6CB1F6}">
      <dsp:nvSpPr>
        <dsp:cNvPr id="0" name=""/>
        <dsp:cNvSpPr/>
      </dsp:nvSpPr>
      <dsp:spPr>
        <a:xfrm>
          <a:off x="2175650" y="401"/>
          <a:ext cx="3078751" cy="3078751"/>
        </a:xfrm>
        <a:prstGeom prst="circularArrow">
          <a:avLst>
            <a:gd name="adj1" fmla="val 6905"/>
            <a:gd name="adj2" fmla="val 465589"/>
            <a:gd name="adj3" fmla="val 11348419"/>
            <a:gd name="adj4" fmla="val 9785992"/>
            <a:gd name="adj5" fmla="val 8056"/>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83068F-9E30-4539-82AC-F25FA2961AE8}">
      <dsp:nvSpPr>
        <dsp:cNvPr id="0" name=""/>
        <dsp:cNvSpPr/>
      </dsp:nvSpPr>
      <dsp:spPr>
        <a:xfrm>
          <a:off x="2244272" y="69023"/>
          <a:ext cx="1090200" cy="109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Build</a:t>
          </a:r>
        </a:p>
      </dsp:txBody>
      <dsp:txXfrm>
        <a:off x="2244272" y="69023"/>
        <a:ext cx="1090200" cy="1090200"/>
      </dsp:txXfrm>
    </dsp:sp>
    <dsp:sp modelId="{7835A40A-BF03-4499-8027-14C94229956B}">
      <dsp:nvSpPr>
        <dsp:cNvPr id="0" name=""/>
        <dsp:cNvSpPr/>
      </dsp:nvSpPr>
      <dsp:spPr>
        <a:xfrm>
          <a:off x="2175650" y="401"/>
          <a:ext cx="3078751" cy="3078751"/>
        </a:xfrm>
        <a:prstGeom prst="circularArrow">
          <a:avLst>
            <a:gd name="adj1" fmla="val 6905"/>
            <a:gd name="adj2" fmla="val 465589"/>
            <a:gd name="adj3" fmla="val 16748419"/>
            <a:gd name="adj4" fmla="val 15185992"/>
            <a:gd name="adj5" fmla="val 8056"/>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9D4E11-9C44-4A69-B08E-8C90E25E9E99}"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7DA465-4BEF-420A-80B9-168D75A79793}" type="slidenum">
              <a:rPr lang="en-US" smtClean="0"/>
              <a:t>‹#›</a:t>
            </a:fld>
            <a:endParaRPr lang="en-US"/>
          </a:p>
        </p:txBody>
      </p:sp>
    </p:spTree>
    <p:extLst>
      <p:ext uri="{BB962C8B-B14F-4D97-AF65-F5344CB8AC3E}">
        <p14:creationId xmlns:p14="http://schemas.microsoft.com/office/powerpoint/2010/main" val="1074369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68DE3-6FF2-9D5A-EFF1-050BA54EF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5C585-7995-B5C5-C1D3-461DA14720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656FD-CB5F-FDAA-95D0-D994AF7095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DD9953-28FC-D6B4-2515-F6D605FB9799}"/>
              </a:ext>
            </a:extLst>
          </p:cNvPr>
          <p:cNvSpPr>
            <a:spLocks noGrp="1"/>
          </p:cNvSpPr>
          <p:nvPr>
            <p:ph type="sldNum" sz="quarter" idx="5"/>
          </p:nvPr>
        </p:nvSpPr>
        <p:spPr/>
        <p:txBody>
          <a:bodyPr/>
          <a:lstStyle/>
          <a:p>
            <a:fld id="{5D7DA465-4BEF-420A-80B9-168D75A79793}" type="slidenum">
              <a:rPr lang="en-US" smtClean="0"/>
              <a:t>1</a:t>
            </a:fld>
            <a:endParaRPr lang="en-US"/>
          </a:p>
        </p:txBody>
      </p:sp>
    </p:spTree>
    <p:extLst>
      <p:ext uri="{BB962C8B-B14F-4D97-AF65-F5344CB8AC3E}">
        <p14:creationId xmlns:p14="http://schemas.microsoft.com/office/powerpoint/2010/main" val="1083705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EC3BE-AF79-90A5-D688-A20604B8E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29007D-ABBF-C643-B40C-66F4ED5A27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741FEC-397B-4AF5-0C81-772EF6696D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6BFE1D-8650-F4CB-E788-96286BB860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0310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BCE27-3374-76AD-8810-31BECD2FED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A8577-21EA-BB82-FF33-3EE8C35231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52A84-39F9-E58B-9D49-EA69908245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CFECF9-1F20-4AA3-4365-FBF9E17C87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03628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C3AD0-107C-B2CB-4460-C14F801AC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E520C-772C-B325-AB9C-89E2BE207F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FBAD74-9154-78D3-FDC7-9A30069DF8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E2E160-657C-4B00-812F-D686B70665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22968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DF68E-CF55-AD90-EF38-D0B1158E35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BD059A-09E9-F733-C1A4-A55A21790B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DF4BC2-0024-A86A-ECE5-ECF44EBAD1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DBE2D6-A5EE-CCE4-7A81-BD07B34D21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42189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95D1D-6388-EAEE-7505-09A53897F9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B245F-DECE-2811-0227-B1D8A3FCF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3A02DC-D8B6-5E80-CBF6-CE6DBE12D4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E83D57-75BB-68AC-1DAB-5000977BF7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587086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A12F4-0094-F34D-A1D2-8EF6B24A30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AEADD-F150-5CA5-8DBB-2193BDEA5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66FC8D-85C2-22B7-3FBA-38CF172E25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C32AFE-DE98-ABF8-66F0-7028611477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52569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9F3E8-4505-C14F-F684-8D3DEB792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77F557-38C1-BC5F-3083-460AFFFDC4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D480C2-74BE-2963-C883-F4F9CBC436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7B95A7-C039-76E2-0119-EDD85151FA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447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4AA5C-1F48-C620-2681-5B7BA2833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B479F9-B0D9-DC07-6D20-49EE77CF3F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BD8DB8-F7C5-B109-65E9-E47C1200CD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F20F04-FB33-4414-02D8-02268A21D1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22860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01F83-2395-E0B3-6CE7-A9884DD8C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1717F8-7EC1-9285-C506-3E1B1B5E9C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EEA0EC-0925-C572-8D22-5867AB5EB0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2AB028-3BA8-9C8C-11E2-16E387DCD1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65822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50421-25CE-E0EA-D3FC-1184CCAFD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59000-1F0C-4691-D160-1D57BFF5FF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EBB35C-90EA-99E6-985F-5B26BFDD7B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E8AD49-FD50-1C10-3C20-3371CC361E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89999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9E004-5CE4-B328-0ECD-5B2AF4EC3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D2866B-1BD3-DBC7-1AD2-BA68AC13C9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F51186-2D0A-48CD-71A1-12E6517901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9C460E-A2D7-DEFB-B825-BAD0C52C95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97375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1402B-A6FA-A6EB-2DB9-C6E17AF787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FB888-B9A6-E1CA-716B-9993942B0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62011C-D19C-0E4E-0665-A476975937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401E5-1BEE-2C65-D9F7-202E4A1304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39581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E9F4E-4431-2782-A0D9-D098539AB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45425-1C93-2430-28F2-524604A168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B4E24E-74E4-A040-7C5F-823ABE37F4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A6040A-16EA-7846-6269-CB7F691C60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99814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47FE1-425D-306D-F28A-1A4CEE6371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8975B-2ACB-895B-5856-DDC5CDCD24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3B9C55-2E64-08EB-386A-2589B90783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5D1AA8-C617-531D-21FB-74A193462A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976532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B8DDB-2441-9C9D-E1CA-1CCCB5E15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4B7BD-4A59-E8BE-B095-B362F9C9D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0C7E0E-B588-A63E-60D4-37837833B4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97753A-6EBA-D97C-4BCD-0DE516F149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598904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AE49D-C1E7-8342-6536-BDAA3CB06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EB3E8-CE0C-5BC6-A4F4-E312E3850E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A7ED5F-19EE-5691-D201-0168C63662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0B62B2-2083-9FFC-077D-9DD0B1FA0C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1109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C08C1-AEEF-1816-A2B1-483DDF3415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0FC56-66F9-9D45-BC19-8F033019E7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B1CC7B-A33E-3448-EED3-A481D0F0CA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337886-9B84-D0F2-5FD1-5265F17233F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97136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11027-5171-DE0E-0F8A-1DA68503A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0552AA-6CF4-3E66-4F70-EE577D7C60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DB1648-4488-1869-931A-5D22A6E755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48A456-83AB-C402-FB8D-38B0E6DDB0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151402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92DCB-4B21-B6EB-0DAB-4A40A6ACE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B1B1B-895B-1533-2F64-E2BFFAA694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F9DF85-D655-A849-0576-7CF3048D76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4C86F7-0B84-5ACE-FC4B-6683E7A5D9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37803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217C4-DEFA-6A4D-2AFD-CB3769E29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52603-8FEF-1088-31B5-B4CCF37385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46C096-872E-AA12-2D8D-9A92341A07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965F7C-D076-0746-E989-9BDF82483F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907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4E41E-1CE8-1561-B13D-1BD6BCD14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1187A-759F-BF6B-E1AE-42DD7499C9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1F3D5-FA1B-49DF-0530-1B6738FA3C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1DF6A2-B53C-488B-B509-C05204B38D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337868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BE3CA-8603-956C-FE73-7961D0B26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846B5-91CF-4276-E2CE-F7F9C245F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140E9-E8A5-6367-59AC-BA157806A3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579D7A-7931-B939-A2D4-E5BC257D41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6859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D1C8-A001-3671-67CF-2C51F676FF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06ADB7-3594-8E87-3AC3-2D28C93859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E6A22E-43AD-3FAF-B032-45E551E13188}"/>
              </a:ext>
            </a:extLst>
          </p:cNvPr>
          <p:cNvSpPr>
            <a:spLocks noGrp="1"/>
          </p:cNvSpPr>
          <p:nvPr>
            <p:ph type="dt" sz="half" idx="10"/>
          </p:nvPr>
        </p:nvSpPr>
        <p:spPr/>
        <p:txBody>
          <a:bodyPr/>
          <a:lstStyle/>
          <a:p>
            <a:fld id="{26C75AD8-6727-4031-AB70-90E6355DAEBF}" type="datetimeFigureOut">
              <a:rPr lang="en-US" smtClean="0"/>
              <a:t>3/31/2026</a:t>
            </a:fld>
            <a:endParaRPr lang="en-US"/>
          </a:p>
        </p:txBody>
      </p:sp>
      <p:sp>
        <p:nvSpPr>
          <p:cNvPr id="5" name="Footer Placeholder 4">
            <a:extLst>
              <a:ext uri="{FF2B5EF4-FFF2-40B4-BE49-F238E27FC236}">
                <a16:creationId xmlns:a16="http://schemas.microsoft.com/office/drawing/2014/main" id="{0BBC8F42-3300-56C2-9C00-53BF0F0E38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7F0A59-56B7-BB1A-9165-4BEE4A08108A}"/>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859535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494C1-D301-D617-62A6-B5B215F6BF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4752BD-C41C-9957-4390-1752AB7588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0A4FB9-FBC8-8247-109F-FCD90198CD24}"/>
              </a:ext>
            </a:extLst>
          </p:cNvPr>
          <p:cNvSpPr>
            <a:spLocks noGrp="1"/>
          </p:cNvSpPr>
          <p:nvPr>
            <p:ph type="dt" sz="half" idx="10"/>
          </p:nvPr>
        </p:nvSpPr>
        <p:spPr/>
        <p:txBody>
          <a:bodyPr/>
          <a:lstStyle/>
          <a:p>
            <a:fld id="{26C75AD8-6727-4031-AB70-90E6355DAEBF}" type="datetimeFigureOut">
              <a:rPr lang="en-US" smtClean="0"/>
              <a:t>3/31/2026</a:t>
            </a:fld>
            <a:endParaRPr lang="en-US"/>
          </a:p>
        </p:txBody>
      </p:sp>
      <p:sp>
        <p:nvSpPr>
          <p:cNvPr id="5" name="Footer Placeholder 4">
            <a:extLst>
              <a:ext uri="{FF2B5EF4-FFF2-40B4-BE49-F238E27FC236}">
                <a16:creationId xmlns:a16="http://schemas.microsoft.com/office/drawing/2014/main" id="{6B37133C-F31A-8484-CA70-C9E5DE128C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A77AC4-2595-519D-729F-7AAFDEC9E04C}"/>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905348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1F4A0-31B1-C2F4-E91B-0FD417FCD7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C96E0D-9544-C6F5-25D3-66053C1F2D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F691AA-ECA0-DC27-6FA8-C5EF02D64C69}"/>
              </a:ext>
            </a:extLst>
          </p:cNvPr>
          <p:cNvSpPr>
            <a:spLocks noGrp="1"/>
          </p:cNvSpPr>
          <p:nvPr>
            <p:ph type="dt" sz="half" idx="10"/>
          </p:nvPr>
        </p:nvSpPr>
        <p:spPr/>
        <p:txBody>
          <a:bodyPr/>
          <a:lstStyle/>
          <a:p>
            <a:fld id="{26C75AD8-6727-4031-AB70-90E6355DAEBF}" type="datetimeFigureOut">
              <a:rPr lang="en-US" smtClean="0"/>
              <a:t>3/31/2026</a:t>
            </a:fld>
            <a:endParaRPr lang="en-US"/>
          </a:p>
        </p:txBody>
      </p:sp>
      <p:sp>
        <p:nvSpPr>
          <p:cNvPr id="5" name="Footer Placeholder 4">
            <a:extLst>
              <a:ext uri="{FF2B5EF4-FFF2-40B4-BE49-F238E27FC236}">
                <a16:creationId xmlns:a16="http://schemas.microsoft.com/office/drawing/2014/main" id="{9AB9868D-E9E0-0F4D-E947-F2C221722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DC8033-3552-934C-4037-60C0EFB5BE63}"/>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01859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47608-5968-371C-3C82-5455182A3E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31BF24-E95D-63EB-26FE-0465E2C56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682935-2122-CBB1-0F37-A5EE2DFA24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AE2240-CDE3-B77F-97CF-45E873FB02BD}"/>
              </a:ext>
            </a:extLst>
          </p:cNvPr>
          <p:cNvSpPr>
            <a:spLocks noGrp="1"/>
          </p:cNvSpPr>
          <p:nvPr>
            <p:ph type="dt" sz="half" idx="10"/>
          </p:nvPr>
        </p:nvSpPr>
        <p:spPr/>
        <p:txBody>
          <a:bodyPr/>
          <a:lstStyle/>
          <a:p>
            <a:fld id="{26C75AD8-6727-4031-AB70-90E6355DAEBF}" type="datetimeFigureOut">
              <a:rPr lang="en-US" smtClean="0"/>
              <a:t>3/31/2026</a:t>
            </a:fld>
            <a:endParaRPr lang="en-US"/>
          </a:p>
        </p:txBody>
      </p:sp>
      <p:sp>
        <p:nvSpPr>
          <p:cNvPr id="6" name="Footer Placeholder 5">
            <a:extLst>
              <a:ext uri="{FF2B5EF4-FFF2-40B4-BE49-F238E27FC236}">
                <a16:creationId xmlns:a16="http://schemas.microsoft.com/office/drawing/2014/main" id="{F6D94A1D-3E47-96F1-2345-515C088590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EA3D5B-3399-9627-0440-B288CF47E434}"/>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759701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0E29B-86DA-D02F-196C-283013B6F7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30789D-FA88-CEBC-F410-CF39B79ED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7D52B0-C28B-3777-C4D4-40BF0213CA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F9CC55-B453-1C2B-573F-6B6CB3B15D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468186-E574-08D3-B1C9-0944A1F534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216783-CACF-23C2-6B18-CBE2E7EC5B77}"/>
              </a:ext>
            </a:extLst>
          </p:cNvPr>
          <p:cNvSpPr>
            <a:spLocks noGrp="1"/>
          </p:cNvSpPr>
          <p:nvPr>
            <p:ph type="dt" sz="half" idx="10"/>
          </p:nvPr>
        </p:nvSpPr>
        <p:spPr/>
        <p:txBody>
          <a:bodyPr/>
          <a:lstStyle/>
          <a:p>
            <a:fld id="{26C75AD8-6727-4031-AB70-90E6355DAEBF}" type="datetimeFigureOut">
              <a:rPr lang="en-US" smtClean="0"/>
              <a:t>3/31/2026</a:t>
            </a:fld>
            <a:endParaRPr lang="en-US"/>
          </a:p>
        </p:txBody>
      </p:sp>
      <p:sp>
        <p:nvSpPr>
          <p:cNvPr id="8" name="Footer Placeholder 7">
            <a:extLst>
              <a:ext uri="{FF2B5EF4-FFF2-40B4-BE49-F238E27FC236}">
                <a16:creationId xmlns:a16="http://schemas.microsoft.com/office/drawing/2014/main" id="{D2085B0D-F54E-AFCC-2A11-1E72F2E6D7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500F25-0CF2-543D-A790-97EBF24FECC7}"/>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82313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D5F0B-55E3-79B5-0FA9-EBB6E04766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FFC90D-4E31-68F9-3649-43E5A1734B4A}"/>
              </a:ext>
            </a:extLst>
          </p:cNvPr>
          <p:cNvSpPr>
            <a:spLocks noGrp="1"/>
          </p:cNvSpPr>
          <p:nvPr>
            <p:ph type="dt" sz="half" idx="10"/>
          </p:nvPr>
        </p:nvSpPr>
        <p:spPr/>
        <p:txBody>
          <a:bodyPr/>
          <a:lstStyle/>
          <a:p>
            <a:fld id="{26C75AD8-6727-4031-AB70-90E6355DAEBF}" type="datetimeFigureOut">
              <a:rPr lang="en-US" smtClean="0"/>
              <a:t>3/31/2026</a:t>
            </a:fld>
            <a:endParaRPr lang="en-US"/>
          </a:p>
        </p:txBody>
      </p:sp>
      <p:sp>
        <p:nvSpPr>
          <p:cNvPr id="4" name="Footer Placeholder 3">
            <a:extLst>
              <a:ext uri="{FF2B5EF4-FFF2-40B4-BE49-F238E27FC236}">
                <a16:creationId xmlns:a16="http://schemas.microsoft.com/office/drawing/2014/main" id="{700AE31B-8154-AFEA-99DC-23C1433AF9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69E499-67B5-6818-9470-20D3245F9A36}"/>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3685595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7925F9-8836-2731-2415-E9048D534C4B}"/>
              </a:ext>
            </a:extLst>
          </p:cNvPr>
          <p:cNvSpPr>
            <a:spLocks noGrp="1"/>
          </p:cNvSpPr>
          <p:nvPr>
            <p:ph type="dt" sz="half" idx="10"/>
          </p:nvPr>
        </p:nvSpPr>
        <p:spPr/>
        <p:txBody>
          <a:bodyPr/>
          <a:lstStyle/>
          <a:p>
            <a:fld id="{26C75AD8-6727-4031-AB70-90E6355DAEBF}" type="datetimeFigureOut">
              <a:rPr lang="en-US" smtClean="0"/>
              <a:t>3/31/2026</a:t>
            </a:fld>
            <a:endParaRPr lang="en-US"/>
          </a:p>
        </p:txBody>
      </p:sp>
      <p:sp>
        <p:nvSpPr>
          <p:cNvPr id="3" name="Footer Placeholder 2">
            <a:extLst>
              <a:ext uri="{FF2B5EF4-FFF2-40B4-BE49-F238E27FC236}">
                <a16:creationId xmlns:a16="http://schemas.microsoft.com/office/drawing/2014/main" id="{9BAA7D79-5525-8E0A-0872-9D9A4FEC20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E29F34-711B-8DB9-3D9E-025C13C503CF}"/>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015498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04517-18A4-4FA1-97C2-5B72718091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C8E9F1-DBBE-1648-ACC4-3E85183E1D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F3CECB-5FCC-3498-F84D-6562D492B5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C0641B-8EC0-21D6-9666-AE48C289A1AD}"/>
              </a:ext>
            </a:extLst>
          </p:cNvPr>
          <p:cNvSpPr>
            <a:spLocks noGrp="1"/>
          </p:cNvSpPr>
          <p:nvPr>
            <p:ph type="dt" sz="half" idx="10"/>
          </p:nvPr>
        </p:nvSpPr>
        <p:spPr/>
        <p:txBody>
          <a:bodyPr/>
          <a:lstStyle/>
          <a:p>
            <a:fld id="{26C75AD8-6727-4031-AB70-90E6355DAEBF}" type="datetimeFigureOut">
              <a:rPr lang="en-US" smtClean="0"/>
              <a:t>3/31/2026</a:t>
            </a:fld>
            <a:endParaRPr lang="en-US"/>
          </a:p>
        </p:txBody>
      </p:sp>
      <p:sp>
        <p:nvSpPr>
          <p:cNvPr id="6" name="Footer Placeholder 5">
            <a:extLst>
              <a:ext uri="{FF2B5EF4-FFF2-40B4-BE49-F238E27FC236}">
                <a16:creationId xmlns:a16="http://schemas.microsoft.com/office/drawing/2014/main" id="{62C6EC1D-46D6-41E6-7401-40A89E8C8A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ED9433-9223-BF6C-24AE-02969CC0B71C}"/>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623848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83CE3-9F07-2E7E-069E-328F6972B6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B286A0-D003-72DE-EB76-122BE1FE4F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88D15B-F664-F0A4-7CFF-958E87B2DB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4D774E-F9F3-66A9-0A07-35536838A1A0}"/>
              </a:ext>
            </a:extLst>
          </p:cNvPr>
          <p:cNvSpPr>
            <a:spLocks noGrp="1"/>
          </p:cNvSpPr>
          <p:nvPr>
            <p:ph type="dt" sz="half" idx="10"/>
          </p:nvPr>
        </p:nvSpPr>
        <p:spPr/>
        <p:txBody>
          <a:bodyPr/>
          <a:lstStyle/>
          <a:p>
            <a:fld id="{26C75AD8-6727-4031-AB70-90E6355DAEBF}" type="datetimeFigureOut">
              <a:rPr lang="en-US" smtClean="0"/>
              <a:t>3/31/2026</a:t>
            </a:fld>
            <a:endParaRPr lang="en-US"/>
          </a:p>
        </p:txBody>
      </p:sp>
      <p:sp>
        <p:nvSpPr>
          <p:cNvPr id="6" name="Footer Placeholder 5">
            <a:extLst>
              <a:ext uri="{FF2B5EF4-FFF2-40B4-BE49-F238E27FC236}">
                <a16:creationId xmlns:a16="http://schemas.microsoft.com/office/drawing/2014/main" id="{E7A2903F-F711-F7FC-F01D-8A4675E3DD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683C8B-BC4A-059A-1B5E-FF9EB1F99B6B}"/>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552953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C62A8-46E6-27A3-37F3-237FB7B930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04F02E-5074-7FEC-E1B9-F4B2E32493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4666A9-AD1B-D42A-C4C0-676F40089DFE}"/>
              </a:ext>
            </a:extLst>
          </p:cNvPr>
          <p:cNvSpPr>
            <a:spLocks noGrp="1"/>
          </p:cNvSpPr>
          <p:nvPr>
            <p:ph type="dt" sz="half" idx="10"/>
          </p:nvPr>
        </p:nvSpPr>
        <p:spPr/>
        <p:txBody>
          <a:bodyPr/>
          <a:lstStyle/>
          <a:p>
            <a:fld id="{26C75AD8-6727-4031-AB70-90E6355DAEBF}" type="datetimeFigureOut">
              <a:rPr lang="en-US" smtClean="0"/>
              <a:t>3/31/2026</a:t>
            </a:fld>
            <a:endParaRPr lang="en-US"/>
          </a:p>
        </p:txBody>
      </p:sp>
      <p:sp>
        <p:nvSpPr>
          <p:cNvPr id="5" name="Footer Placeholder 4">
            <a:extLst>
              <a:ext uri="{FF2B5EF4-FFF2-40B4-BE49-F238E27FC236}">
                <a16:creationId xmlns:a16="http://schemas.microsoft.com/office/drawing/2014/main" id="{000DA104-5DED-DF4E-392A-C03E4B6513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128105-952B-B1DC-CD82-38EBC3A06A12}"/>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231022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FD01F3-4BEC-41B7-2BDE-7E06C9873E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D4BC3B-3D9C-977F-788E-ACC7E9CE96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1A111A-89BC-DF66-0463-F43333A7866A}"/>
              </a:ext>
            </a:extLst>
          </p:cNvPr>
          <p:cNvSpPr>
            <a:spLocks noGrp="1"/>
          </p:cNvSpPr>
          <p:nvPr>
            <p:ph type="dt" sz="half" idx="10"/>
          </p:nvPr>
        </p:nvSpPr>
        <p:spPr/>
        <p:txBody>
          <a:bodyPr/>
          <a:lstStyle/>
          <a:p>
            <a:fld id="{26C75AD8-6727-4031-AB70-90E6355DAEBF}" type="datetimeFigureOut">
              <a:rPr lang="en-US" smtClean="0"/>
              <a:t>3/31/2026</a:t>
            </a:fld>
            <a:endParaRPr lang="en-US"/>
          </a:p>
        </p:txBody>
      </p:sp>
      <p:sp>
        <p:nvSpPr>
          <p:cNvPr id="5" name="Footer Placeholder 4">
            <a:extLst>
              <a:ext uri="{FF2B5EF4-FFF2-40B4-BE49-F238E27FC236}">
                <a16:creationId xmlns:a16="http://schemas.microsoft.com/office/drawing/2014/main" id="{47A8A549-0BFE-FAB8-9B87-43E0207B6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7CB065-A3F6-F2FF-4F8F-7C9EFA2036A0}"/>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914562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AAF0B-97C5-A7E9-99FB-069DFA8522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E799F4-0586-FCF1-7796-FFBE5F944C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4A3930-F78A-5717-2B13-9C168BAE5E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C75AD8-6727-4031-AB70-90E6355DAEBF}" type="datetimeFigureOut">
              <a:rPr lang="en-US" smtClean="0"/>
              <a:t>3/31/2026</a:t>
            </a:fld>
            <a:endParaRPr lang="en-US"/>
          </a:p>
        </p:txBody>
      </p:sp>
      <p:sp>
        <p:nvSpPr>
          <p:cNvPr id="5" name="Footer Placeholder 4">
            <a:extLst>
              <a:ext uri="{FF2B5EF4-FFF2-40B4-BE49-F238E27FC236}">
                <a16:creationId xmlns:a16="http://schemas.microsoft.com/office/drawing/2014/main" id="{6905B497-83F6-BD21-E492-D78C7AD337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5A1A65-CA88-36B2-EBE7-D29EF1CC43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22EBA9-F5D8-4B2D-AD8E-964F40FFF1DD}" type="slidenum">
              <a:rPr lang="en-US" smtClean="0"/>
              <a:t>‹#›</a:t>
            </a:fld>
            <a:endParaRPr lang="en-US"/>
          </a:p>
        </p:txBody>
      </p:sp>
    </p:spTree>
    <p:extLst>
      <p:ext uri="{BB962C8B-B14F-4D97-AF65-F5344CB8AC3E}">
        <p14:creationId xmlns:p14="http://schemas.microsoft.com/office/powerpoint/2010/main" val="2542503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hyperlink" Target="https://pieces.app/blog/best-ci-cd-tools"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5B660-5CF1-7004-8575-67B0D31DBE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096E6D0-4E13-D250-4177-9B0712E675F5}"/>
              </a:ext>
            </a:extLst>
          </p:cNvPr>
          <p:cNvPicPr>
            <a:picLocks noChangeAspect="1"/>
          </p:cNvPicPr>
          <p:nvPr/>
        </p:nvPicPr>
        <p:blipFill>
          <a:blip r:embed="rId3">
            <a:extLst>
              <a:ext uri="{28A0092B-C50C-407E-A947-70E740481C1C}">
                <a14:useLocalDpi xmlns:a14="http://schemas.microsoft.com/office/drawing/2010/main" val="0"/>
              </a:ext>
            </a:extLst>
          </a:blip>
          <a:srcRect b="5797"/>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A1AEF84B-FCE9-809F-2941-DF76330E671F}"/>
              </a:ext>
            </a:extLst>
          </p:cNvPr>
          <p:cNvSpPr txBox="1"/>
          <p:nvPr/>
        </p:nvSpPr>
        <p:spPr>
          <a:xfrm>
            <a:off x="0" y="235842"/>
            <a:ext cx="6169306" cy="15696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DevOps: The Idea OF Continuous Delivery</a:t>
            </a:r>
          </a:p>
        </p:txBody>
      </p:sp>
    </p:spTree>
    <p:extLst>
      <p:ext uri="{BB962C8B-B14F-4D97-AF65-F5344CB8AC3E}">
        <p14:creationId xmlns:p14="http://schemas.microsoft.com/office/powerpoint/2010/main" val="4971135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99B9FE2B-7D01-1CFD-B146-1E547C14C6B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32FE1C4-8A16-298E-408C-0E8715F8696E}"/>
              </a:ext>
            </a:extLst>
          </p:cNvPr>
          <p:cNvSpPr>
            <a:spLocks noGrp="1"/>
          </p:cNvSpPr>
          <p:nvPr>
            <p:ph type="title"/>
          </p:nvPr>
        </p:nvSpPr>
        <p:spPr>
          <a:xfrm>
            <a:off x="0" y="117984"/>
            <a:ext cx="10515600" cy="1325563"/>
          </a:xfrm>
        </p:spPr>
        <p:txBody>
          <a:bodyPr/>
          <a:lstStyle/>
          <a:p>
            <a:r>
              <a:rPr lang="en-US" b="1" dirty="0"/>
              <a:t>What challenges are associated with a traditional application lifecycle?</a:t>
            </a:r>
          </a:p>
        </p:txBody>
      </p:sp>
      <p:sp>
        <p:nvSpPr>
          <p:cNvPr id="9" name="Rectangle 8">
            <a:extLst>
              <a:ext uri="{FF2B5EF4-FFF2-40B4-BE49-F238E27FC236}">
                <a16:creationId xmlns:a16="http://schemas.microsoft.com/office/drawing/2014/main" id="{C7A42855-5928-CA2C-B4AE-E712C60B2CB5}"/>
              </a:ext>
            </a:extLst>
          </p:cNvPr>
          <p:cNvSpPr/>
          <p:nvPr/>
        </p:nvSpPr>
        <p:spPr>
          <a:xfrm>
            <a:off x="148223" y="1789642"/>
            <a:ext cx="111760" cy="125560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062DD26E-9CE9-ECDB-E9DD-18D9890C7496}"/>
              </a:ext>
            </a:extLst>
          </p:cNvPr>
          <p:cNvSpPr/>
          <p:nvPr/>
        </p:nvSpPr>
        <p:spPr>
          <a:xfrm>
            <a:off x="224422" y="1789642"/>
            <a:ext cx="11743155" cy="125560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traditional application lifecycle tends to separate developing software from the process of operationalizing it, which involves delivering it to its intended recipients and ensuring that it functions in the optimal manner. This siloed approach leads to many inefficiencies.</a:t>
            </a:r>
          </a:p>
        </p:txBody>
      </p:sp>
      <p:sp>
        <p:nvSpPr>
          <p:cNvPr id="13" name="Rectangle 12">
            <a:extLst>
              <a:ext uri="{FF2B5EF4-FFF2-40B4-BE49-F238E27FC236}">
                <a16:creationId xmlns:a16="http://schemas.microsoft.com/office/drawing/2014/main" id="{EA08A939-29D1-92F8-479E-7F2C6DACA5D9}"/>
              </a:ext>
            </a:extLst>
          </p:cNvPr>
          <p:cNvSpPr/>
          <p:nvPr/>
        </p:nvSpPr>
        <p:spPr>
          <a:xfrm>
            <a:off x="148223" y="3319936"/>
            <a:ext cx="111760" cy="125560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E0315022-71C4-183C-ACAB-72C9A679A39D}"/>
              </a:ext>
            </a:extLst>
          </p:cNvPr>
          <p:cNvSpPr/>
          <p:nvPr/>
        </p:nvSpPr>
        <p:spPr>
          <a:xfrm>
            <a:off x="224422" y="3319936"/>
            <a:ext cx="11743155" cy="125560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For one, developers and operational teams have commonly different objectives. The former focuses on innovation and continuous enhancements to its software. The primary objective of the latter is to maintain the stability and security of the environment they support.</a:t>
            </a:r>
          </a:p>
        </p:txBody>
      </p:sp>
      <p:sp>
        <p:nvSpPr>
          <p:cNvPr id="15" name="Rectangle 14">
            <a:extLst>
              <a:ext uri="{FF2B5EF4-FFF2-40B4-BE49-F238E27FC236}">
                <a16:creationId xmlns:a16="http://schemas.microsoft.com/office/drawing/2014/main" id="{F2394576-F5A2-3E40-9766-2E9DCDAD8605}"/>
              </a:ext>
            </a:extLst>
          </p:cNvPr>
          <p:cNvSpPr/>
          <p:nvPr/>
        </p:nvSpPr>
        <p:spPr>
          <a:xfrm>
            <a:off x="148223" y="4850230"/>
            <a:ext cx="111760" cy="142275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69E0B620-6EDE-C6A8-6791-18CC9ACA60A0}"/>
              </a:ext>
            </a:extLst>
          </p:cNvPr>
          <p:cNvSpPr/>
          <p:nvPr/>
        </p:nvSpPr>
        <p:spPr>
          <a:xfrm>
            <a:off x="224422" y="4850230"/>
            <a:ext cx="11743155" cy="142275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In addition, traditional operational practices are frequently based on an outdated, largely manual approach, which is inherently slow and vulnerable to human errors. This impedes the pace of innovation and increases the level of risk associated with the deployment of new or updated versions of applications.</a:t>
            </a:r>
          </a:p>
        </p:txBody>
      </p:sp>
    </p:spTree>
    <p:extLst>
      <p:ext uri="{BB962C8B-B14F-4D97-AF65-F5344CB8AC3E}">
        <p14:creationId xmlns:p14="http://schemas.microsoft.com/office/powerpoint/2010/main" val="6265504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08EC126F-08B6-6256-1EFE-1BA515995DE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624D663-6587-042A-E9A6-FAAA141C5CD9}"/>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What is DevOps:</a:t>
            </a:r>
          </a:p>
        </p:txBody>
      </p:sp>
      <p:sp>
        <p:nvSpPr>
          <p:cNvPr id="9" name="Rectangle 8">
            <a:extLst>
              <a:ext uri="{FF2B5EF4-FFF2-40B4-BE49-F238E27FC236}">
                <a16:creationId xmlns:a16="http://schemas.microsoft.com/office/drawing/2014/main" id="{6195AD05-2DAE-DD12-9201-C20DF0CB0487}"/>
              </a:ext>
            </a:extLst>
          </p:cNvPr>
          <p:cNvSpPr/>
          <p:nvPr/>
        </p:nvSpPr>
        <p:spPr>
          <a:xfrm>
            <a:off x="148223" y="1268530"/>
            <a:ext cx="111760"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5962D4C0-3E61-4759-8EDE-9DB2BE2FB5FE}"/>
              </a:ext>
            </a:extLst>
          </p:cNvPr>
          <p:cNvSpPr/>
          <p:nvPr/>
        </p:nvSpPr>
        <p:spPr>
          <a:xfrm>
            <a:off x="224422" y="1268530"/>
            <a:ext cx="11743155"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DevOps is a software development methodology that accelerates the delivery of high-performance applications and services by combining and automating the work of software development (Dev) and IT operations (Ops) teams. [IBM]</a:t>
            </a:r>
          </a:p>
        </p:txBody>
      </p:sp>
      <p:sp>
        <p:nvSpPr>
          <p:cNvPr id="6" name="Rectangle 5">
            <a:extLst>
              <a:ext uri="{FF2B5EF4-FFF2-40B4-BE49-F238E27FC236}">
                <a16:creationId xmlns:a16="http://schemas.microsoft.com/office/drawing/2014/main" id="{7D8ADF08-59F6-0311-B3EF-460279BC9439}"/>
              </a:ext>
            </a:extLst>
          </p:cNvPr>
          <p:cNvSpPr/>
          <p:nvPr/>
        </p:nvSpPr>
        <p:spPr>
          <a:xfrm>
            <a:off x="148223" y="2332475"/>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F0919276-09CF-E7FF-85CF-61545615DFAC}"/>
              </a:ext>
            </a:extLst>
          </p:cNvPr>
          <p:cNvSpPr/>
          <p:nvPr/>
        </p:nvSpPr>
        <p:spPr>
          <a:xfrm>
            <a:off x="224422" y="2332475"/>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DevOps is a concept that aims to address the challenges associated with traditional application lifecycle. [Microsoft]</a:t>
            </a:r>
          </a:p>
        </p:txBody>
      </p:sp>
      <p:sp>
        <p:nvSpPr>
          <p:cNvPr id="11" name="Rectangle 10">
            <a:extLst>
              <a:ext uri="{FF2B5EF4-FFF2-40B4-BE49-F238E27FC236}">
                <a16:creationId xmlns:a16="http://schemas.microsoft.com/office/drawing/2014/main" id="{E7CA5E66-156D-8FD7-E0EA-50372C37A9EA}"/>
              </a:ext>
            </a:extLst>
          </p:cNvPr>
          <p:cNvSpPr/>
          <p:nvPr/>
        </p:nvSpPr>
        <p:spPr>
          <a:xfrm>
            <a:off x="148223" y="3179244"/>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161091FD-07B4-A8B5-38D8-44D17333561B}"/>
              </a:ext>
            </a:extLst>
          </p:cNvPr>
          <p:cNvSpPr/>
          <p:nvPr/>
        </p:nvSpPr>
        <p:spPr>
          <a:xfrm>
            <a:off x="224422" y="3179244"/>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"DevOps is the union of people, process, and products to enable continuous delivery of value to our end users." - Donovan Brown</a:t>
            </a:r>
          </a:p>
        </p:txBody>
      </p:sp>
      <p:sp>
        <p:nvSpPr>
          <p:cNvPr id="2" name="Rectangle 1">
            <a:extLst>
              <a:ext uri="{FF2B5EF4-FFF2-40B4-BE49-F238E27FC236}">
                <a16:creationId xmlns:a16="http://schemas.microsoft.com/office/drawing/2014/main" id="{92217FE4-1AE5-04A4-5324-DE05D8F65A63}"/>
              </a:ext>
            </a:extLst>
          </p:cNvPr>
          <p:cNvSpPr/>
          <p:nvPr/>
        </p:nvSpPr>
        <p:spPr>
          <a:xfrm>
            <a:off x="148223" y="4026013"/>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82550853-87B1-3796-6A2C-0A268C996EF8}"/>
              </a:ext>
            </a:extLst>
          </p:cNvPr>
          <p:cNvSpPr/>
          <p:nvPr/>
        </p:nvSpPr>
        <p:spPr>
          <a:xfrm>
            <a:off x="224422" y="4026013"/>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DevOps is a set of principles, practices, and values that are meant to enhance cross-team synergies, with the common goal of optimizing software delivery. [Microsoft]</a:t>
            </a:r>
          </a:p>
        </p:txBody>
      </p:sp>
      <p:sp>
        <p:nvSpPr>
          <p:cNvPr id="4" name="Rectangle 3">
            <a:extLst>
              <a:ext uri="{FF2B5EF4-FFF2-40B4-BE49-F238E27FC236}">
                <a16:creationId xmlns:a16="http://schemas.microsoft.com/office/drawing/2014/main" id="{5C81A794-1303-7A01-2FDA-718699E88B34}"/>
              </a:ext>
            </a:extLst>
          </p:cNvPr>
          <p:cNvSpPr/>
          <p:nvPr/>
        </p:nvSpPr>
        <p:spPr>
          <a:xfrm>
            <a:off x="148223" y="4872782"/>
            <a:ext cx="111760" cy="130187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5BE0CD73-2350-F55E-A085-BA20A3C04582}"/>
              </a:ext>
            </a:extLst>
          </p:cNvPr>
          <p:cNvSpPr/>
          <p:nvPr/>
        </p:nvSpPr>
        <p:spPr>
          <a:xfrm>
            <a:off x="224422" y="4872782"/>
            <a:ext cx="11743155" cy="130187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hallmarks of DevOps are continuous integration and continuous delivery (CI/CD), which support smaller, faster software updates. With CI/CD, small chunks of new code are merged into the code base at frequent intervals, and then automatically integrated, tested, and prepared for deployment to the production environment.</a:t>
            </a:r>
          </a:p>
        </p:txBody>
      </p:sp>
    </p:spTree>
    <p:extLst>
      <p:ext uri="{BB962C8B-B14F-4D97-AF65-F5344CB8AC3E}">
        <p14:creationId xmlns:p14="http://schemas.microsoft.com/office/powerpoint/2010/main" val="1345515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D96C2515-2EFF-5B1A-3699-C5F449FFC69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3EFF36E-1B26-6836-82CA-0951BEAFE868}"/>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What is DevOps:</a:t>
            </a:r>
          </a:p>
        </p:txBody>
      </p:sp>
      <p:pic>
        <p:nvPicPr>
          <p:cNvPr id="1026" name="Picture 2" descr="Screenshot of the DevOps toolchain and application lifecycle.">
            <a:extLst>
              <a:ext uri="{FF2B5EF4-FFF2-40B4-BE49-F238E27FC236}">
                <a16:creationId xmlns:a16="http://schemas.microsoft.com/office/drawing/2014/main" id="{1C5BF585-0149-4478-826D-9339768689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321338"/>
            <a:ext cx="10515601" cy="5257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76060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CC786A22-C9C5-168C-CCF0-1DC30C16884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FE64B8C-BAFD-10CD-6A3E-ED97CE0E7ED9}"/>
              </a:ext>
            </a:extLst>
          </p:cNvPr>
          <p:cNvSpPr>
            <a:spLocks noGrp="1"/>
          </p:cNvSpPr>
          <p:nvPr>
            <p:ph type="title"/>
          </p:nvPr>
        </p:nvSpPr>
        <p:spPr>
          <a:xfrm>
            <a:off x="0" y="0"/>
            <a:ext cx="11523406" cy="1325563"/>
          </a:xfrm>
        </p:spPr>
        <p:txBody>
          <a:bodyPr/>
          <a:lstStyle/>
          <a:p>
            <a:r>
              <a:rPr lang="en-US" b="1" dirty="0"/>
              <a:t>What are the key elements of DevOps culture?</a:t>
            </a:r>
          </a:p>
        </p:txBody>
      </p:sp>
      <p:pic>
        <p:nvPicPr>
          <p:cNvPr id="2050" name="Picture 2" descr="Diagram showing the key elements of DevOps culture.">
            <a:extLst>
              <a:ext uri="{FF2B5EF4-FFF2-40B4-BE49-F238E27FC236}">
                <a16:creationId xmlns:a16="http://schemas.microsoft.com/office/drawing/2014/main" id="{EDB0F4FC-4B2C-E0EF-5EA1-1A20F625F5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1935" y="1197744"/>
            <a:ext cx="9488129" cy="545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39924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E69A8E70-CFD8-EB1C-997A-EDC1343B850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886C860-5123-37AC-1C50-1589659D661C}"/>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DevOps goals and benefits:</a:t>
            </a:r>
          </a:p>
        </p:txBody>
      </p:sp>
      <p:sp>
        <p:nvSpPr>
          <p:cNvPr id="4" name="Rectangle 3">
            <a:extLst>
              <a:ext uri="{FF2B5EF4-FFF2-40B4-BE49-F238E27FC236}">
                <a16:creationId xmlns:a16="http://schemas.microsoft.com/office/drawing/2014/main" id="{FA9DFC84-AA72-313D-D6EB-A4A5F7CAE345}"/>
              </a:ext>
            </a:extLst>
          </p:cNvPr>
          <p:cNvSpPr/>
          <p:nvPr/>
        </p:nvSpPr>
        <p:spPr>
          <a:xfrm>
            <a:off x="148223" y="5285734"/>
            <a:ext cx="111760" cy="130187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B432AB9D-DA08-52B9-173D-1A0330796FB9}"/>
              </a:ext>
            </a:extLst>
          </p:cNvPr>
          <p:cNvSpPr/>
          <p:nvPr/>
        </p:nvSpPr>
        <p:spPr>
          <a:xfrm>
            <a:off x="224422" y="5285734"/>
            <a:ext cx="11743155" cy="130187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It's important to note that DevOps benefits extend beyond the lifecycle of traditional applications. Its scope includes, for example, such areas as machine learning (with operations applied to implementing machine learning models) and infrastructure (with Infrastructure as Code applied to deployment of underlying platform services).</a:t>
            </a:r>
          </a:p>
        </p:txBody>
      </p:sp>
      <p:graphicFrame>
        <p:nvGraphicFramePr>
          <p:cNvPr id="13" name="Diagram 12">
            <a:extLst>
              <a:ext uri="{FF2B5EF4-FFF2-40B4-BE49-F238E27FC236}">
                <a16:creationId xmlns:a16="http://schemas.microsoft.com/office/drawing/2014/main" id="{04FB1F1C-EFE6-DCC9-DA83-474FD7553C5E}"/>
              </a:ext>
            </a:extLst>
          </p:cNvPr>
          <p:cNvGraphicFramePr/>
          <p:nvPr>
            <p:extLst>
              <p:ext uri="{D42A27DB-BD31-4B8C-83A1-F6EECF244321}">
                <p14:modId xmlns:p14="http://schemas.microsoft.com/office/powerpoint/2010/main" val="545812010"/>
              </p:ext>
            </p:extLst>
          </p:nvPr>
        </p:nvGraphicFramePr>
        <p:xfrm>
          <a:off x="2308941" y="1248697"/>
          <a:ext cx="7574116" cy="3798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65746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6046E119-CDAA-3D4A-961A-9C2A076CE7E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D5DAB6D-39E7-5F62-9933-E48B293567A5}"/>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DevOps Lifecycle:</a:t>
            </a:r>
          </a:p>
        </p:txBody>
      </p:sp>
      <p:sp>
        <p:nvSpPr>
          <p:cNvPr id="4" name="Rectangle 3">
            <a:extLst>
              <a:ext uri="{FF2B5EF4-FFF2-40B4-BE49-F238E27FC236}">
                <a16:creationId xmlns:a16="http://schemas.microsoft.com/office/drawing/2014/main" id="{B0E92065-816A-55BC-54DA-148F162DD0A7}"/>
              </a:ext>
            </a:extLst>
          </p:cNvPr>
          <p:cNvSpPr/>
          <p:nvPr/>
        </p:nvSpPr>
        <p:spPr>
          <a:xfrm>
            <a:off x="148223" y="1325564"/>
            <a:ext cx="111760" cy="115216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B9B40F43-7D38-D052-9C8E-4D461C549F12}"/>
              </a:ext>
            </a:extLst>
          </p:cNvPr>
          <p:cNvSpPr/>
          <p:nvPr/>
        </p:nvSpPr>
        <p:spPr>
          <a:xfrm>
            <a:off x="224422" y="1325564"/>
            <a:ext cx="11743155" cy="115216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DevOps lifecycle is designed to optimize the rapid delivery of high-quality software. It includes a series of iterative, automated workflows that run within a larger automated and iterative development lifecycle.</a:t>
            </a:r>
          </a:p>
        </p:txBody>
      </p:sp>
      <p:pic>
        <p:nvPicPr>
          <p:cNvPr id="3" name="Picture 2">
            <a:extLst>
              <a:ext uri="{FF2B5EF4-FFF2-40B4-BE49-F238E27FC236}">
                <a16:creationId xmlns:a16="http://schemas.microsoft.com/office/drawing/2014/main" id="{BBE34A89-65A4-C467-C7E4-B5FF90DEAB07}"/>
              </a:ext>
            </a:extLst>
          </p:cNvPr>
          <p:cNvPicPr>
            <a:picLocks noChangeAspect="1"/>
          </p:cNvPicPr>
          <p:nvPr/>
        </p:nvPicPr>
        <p:blipFill>
          <a:blip r:embed="rId3"/>
          <a:srcRect l="10740" r="4773"/>
          <a:stretch>
            <a:fillRect/>
          </a:stretch>
        </p:blipFill>
        <p:spPr>
          <a:xfrm>
            <a:off x="1745224" y="2648149"/>
            <a:ext cx="8701549" cy="4037786"/>
          </a:xfrm>
          <a:prstGeom prst="rect">
            <a:avLst/>
          </a:prstGeom>
        </p:spPr>
      </p:pic>
    </p:spTree>
    <p:extLst>
      <p:ext uri="{BB962C8B-B14F-4D97-AF65-F5344CB8AC3E}">
        <p14:creationId xmlns:p14="http://schemas.microsoft.com/office/powerpoint/2010/main" val="17538971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9DE7C86A-6883-FAB6-7DAC-791E3DB4179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7B6972E-F292-3C3A-5313-F30C58D904ED}"/>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DevOps Lifecycle:</a:t>
            </a:r>
          </a:p>
        </p:txBody>
      </p:sp>
      <p:sp>
        <p:nvSpPr>
          <p:cNvPr id="6" name="Rectangle 5">
            <a:extLst>
              <a:ext uri="{FF2B5EF4-FFF2-40B4-BE49-F238E27FC236}">
                <a16:creationId xmlns:a16="http://schemas.microsoft.com/office/drawing/2014/main" id="{CCD10B2B-2976-8B00-49A1-93BDF1D2EAE7}"/>
              </a:ext>
            </a:extLst>
          </p:cNvPr>
          <p:cNvSpPr/>
          <p:nvPr/>
        </p:nvSpPr>
        <p:spPr>
          <a:xfrm>
            <a:off x="148223" y="1325563"/>
            <a:ext cx="111760" cy="184042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7DA03C3C-B482-9FD2-F3DF-B7BFF6ACD0C8}"/>
              </a:ext>
            </a:extLst>
          </p:cNvPr>
          <p:cNvSpPr/>
          <p:nvPr/>
        </p:nvSpPr>
        <p:spPr>
          <a:xfrm>
            <a:off x="224422" y="1325563"/>
            <a:ext cx="11743155" cy="184042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accent5">
                    <a:lumMod val="60000"/>
                    <a:lumOff val="40000"/>
                  </a:schemeClr>
                </a:solidFill>
                <a:latin typeface="Arial" panose="020B0604020202020204" pitchFamily="34" charset="0"/>
                <a:cs typeface="Arial" panose="020B0604020202020204" pitchFamily="34" charset="0"/>
              </a:rPr>
              <a:t>Building</a:t>
            </a:r>
            <a:r>
              <a:rPr lang="en-US" b="1" dirty="0">
                <a:solidFill>
                  <a:prstClr val="white"/>
                </a:solidFill>
                <a:latin typeface="Arial" panose="020B0604020202020204" pitchFamily="34" charset="0"/>
                <a:cs typeface="Arial" panose="020B0604020202020204" pitchFamily="34" charset="0"/>
              </a:rPr>
              <a:t>. New code is integrated into the existing code base, then tested and packaged for release and deployment. Activities that are often automated at this stage include merging code changes into a master copy; placing the updated code into a repository; and compiling, testing, and packaging code into an executable file. </a:t>
            </a:r>
            <a:r>
              <a:rPr lang="en-US" b="1" dirty="0">
                <a:solidFill>
                  <a:schemeClr val="accent5">
                    <a:lumMod val="60000"/>
                    <a:lumOff val="40000"/>
                  </a:schemeClr>
                </a:solidFill>
                <a:latin typeface="Arial" panose="020B0604020202020204" pitchFamily="34" charset="0"/>
                <a:cs typeface="Arial" panose="020B0604020202020204" pitchFamily="34" charset="0"/>
              </a:rPr>
              <a:t>In DevOps, the output of the build phase is often stored in a binary repository. Unlike a source code repository, a binary repository stores packaged outputs, such as libraries and executable files, to be reused in other phases of the development lifecycle.</a:t>
            </a:r>
          </a:p>
        </p:txBody>
      </p:sp>
      <p:sp>
        <p:nvSpPr>
          <p:cNvPr id="9" name="Rectangle 8">
            <a:extLst>
              <a:ext uri="{FF2B5EF4-FFF2-40B4-BE49-F238E27FC236}">
                <a16:creationId xmlns:a16="http://schemas.microsoft.com/office/drawing/2014/main" id="{EC08EB64-8C39-5324-BC50-B16B464A5781}"/>
              </a:ext>
            </a:extLst>
          </p:cNvPr>
          <p:cNvSpPr/>
          <p:nvPr/>
        </p:nvSpPr>
        <p:spPr>
          <a:xfrm>
            <a:off x="148223" y="3282182"/>
            <a:ext cx="111760" cy="100468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71F51AC3-2DFA-A10D-57E3-289DC6CFFC83}"/>
              </a:ext>
            </a:extLst>
          </p:cNvPr>
          <p:cNvSpPr/>
          <p:nvPr/>
        </p:nvSpPr>
        <p:spPr>
          <a:xfrm>
            <a:off x="224422" y="3282182"/>
            <a:ext cx="11743155" cy="100468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accent5">
                    <a:lumMod val="60000"/>
                    <a:lumOff val="40000"/>
                  </a:schemeClr>
                </a:solidFill>
                <a:latin typeface="Arial" panose="020B0604020202020204" pitchFamily="34" charset="0"/>
                <a:cs typeface="Arial" panose="020B0604020202020204" pitchFamily="34" charset="0"/>
              </a:rPr>
              <a:t>Deploy</a:t>
            </a:r>
            <a:r>
              <a:rPr lang="en-US" b="1" dirty="0">
                <a:solidFill>
                  <a:prstClr val="white"/>
                </a:solidFill>
                <a:latin typeface="Arial" panose="020B0604020202020204" pitchFamily="34" charset="0"/>
                <a:cs typeface="Arial" panose="020B0604020202020204" pitchFamily="34" charset="0"/>
              </a:rPr>
              <a:t>. At this stage, the project moves to a production environment where users can access the updated application. Many organizations deploy first to a subset of end users to ensure that the application works properly. When stability is established, the application can be deployed to everyone.</a:t>
            </a:r>
            <a:endParaRPr lang="en-US"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77D160EA-5DD6-8373-01A2-39055C7BD040}"/>
              </a:ext>
            </a:extLst>
          </p:cNvPr>
          <p:cNvSpPr/>
          <p:nvPr/>
        </p:nvSpPr>
        <p:spPr>
          <a:xfrm>
            <a:off x="148223" y="4403060"/>
            <a:ext cx="111760" cy="11293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ABE29D13-64AD-4634-A628-36EFBFBA5C4A}"/>
              </a:ext>
            </a:extLst>
          </p:cNvPr>
          <p:cNvSpPr/>
          <p:nvPr/>
        </p:nvSpPr>
        <p:spPr>
          <a:xfrm>
            <a:off x="224422" y="4403060"/>
            <a:ext cx="11743155" cy="11293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accent5">
                    <a:lumMod val="60000"/>
                    <a:lumOff val="40000"/>
                  </a:schemeClr>
                </a:solidFill>
                <a:latin typeface="Arial" panose="020B0604020202020204" pitchFamily="34" charset="0"/>
                <a:cs typeface="Arial" panose="020B0604020202020204" pitchFamily="34" charset="0"/>
              </a:rPr>
              <a:t>Operate</a:t>
            </a:r>
            <a:r>
              <a:rPr lang="en-US" b="1" dirty="0">
                <a:solidFill>
                  <a:prstClr val="white"/>
                </a:solidFill>
                <a:latin typeface="Arial" panose="020B0604020202020204" pitchFamily="34" charset="0"/>
                <a:cs typeface="Arial" panose="020B0604020202020204" pitchFamily="34" charset="0"/>
              </a:rPr>
              <a:t>. In this stage, DevOps teams check that new features are running smoothly and are available to users with no interruptions in service. They use automated observability and management tools to continuously monitor and optimize operations to make sure that network, storage, platform, compute and security postures are all working properly.</a:t>
            </a:r>
            <a:endParaRPr lang="en-US"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70ECA92A-45B4-D57E-E0A6-D85B3DB7E75E}"/>
              </a:ext>
            </a:extLst>
          </p:cNvPr>
          <p:cNvSpPr/>
          <p:nvPr/>
        </p:nvSpPr>
        <p:spPr>
          <a:xfrm>
            <a:off x="148223" y="5648632"/>
            <a:ext cx="111760" cy="11293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678AC774-FD6A-952C-C4F7-A5EAFB10FE4B}"/>
              </a:ext>
            </a:extLst>
          </p:cNvPr>
          <p:cNvSpPr/>
          <p:nvPr/>
        </p:nvSpPr>
        <p:spPr>
          <a:xfrm>
            <a:off x="224422" y="5648632"/>
            <a:ext cx="11743155" cy="11293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accent5">
                    <a:lumMod val="60000"/>
                    <a:lumOff val="40000"/>
                  </a:schemeClr>
                </a:solidFill>
                <a:latin typeface="Arial" panose="020B0604020202020204" pitchFamily="34" charset="0"/>
                <a:cs typeface="Arial" panose="020B0604020202020204" pitchFamily="34" charset="0"/>
              </a:rPr>
              <a:t>Monitor</a:t>
            </a:r>
            <a:r>
              <a:rPr lang="en-US" b="1" dirty="0">
                <a:solidFill>
                  <a:prstClr val="white"/>
                </a:solidFill>
                <a:latin typeface="Arial" panose="020B0604020202020204" pitchFamily="34" charset="0"/>
                <a:cs typeface="Arial" panose="020B0604020202020204" pitchFamily="34" charset="0"/>
              </a:rPr>
              <a:t>. At this stage, teams collect and analyze feedback from users and lessons from previous workflows to inform improvements in processes and products moving forward. This continuous monitoring of features, functions, performance, and business value informs the planning for the next release of new features and enhancements.</a:t>
            </a:r>
            <a:endParaRPr lang="en-US" b="1" dirty="0">
              <a:solidFill>
                <a:schemeClr val="accent5">
                  <a:lumMod val="60000"/>
                  <a:lumOff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18432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E1075A8E-94E7-9002-A953-724D8A47234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9C1292A-209B-773B-CDBD-7824F1EA6944}"/>
              </a:ext>
            </a:extLst>
          </p:cNvPr>
          <p:cNvPicPr>
            <a:picLocks noChangeAspect="1"/>
          </p:cNvPicPr>
          <p:nvPr/>
        </p:nvPicPr>
        <p:blipFill>
          <a:blip r:embed="rId3"/>
          <a:stretch>
            <a:fillRect/>
          </a:stretch>
        </p:blipFill>
        <p:spPr>
          <a:xfrm>
            <a:off x="219815" y="241808"/>
            <a:ext cx="11752370" cy="6374385"/>
          </a:xfrm>
          <a:prstGeom prst="rect">
            <a:avLst/>
          </a:prstGeom>
        </p:spPr>
      </p:pic>
    </p:spTree>
    <p:extLst>
      <p:ext uri="{BB962C8B-B14F-4D97-AF65-F5344CB8AC3E}">
        <p14:creationId xmlns:p14="http://schemas.microsoft.com/office/powerpoint/2010/main" val="31558308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1D153233-1834-F533-57EA-B015C4CB1E6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CDD0BC4-F2D6-B777-1A65-47EADC05F180}"/>
              </a:ext>
            </a:extLst>
          </p:cNvPr>
          <p:cNvPicPr>
            <a:picLocks noChangeAspect="1"/>
          </p:cNvPicPr>
          <p:nvPr/>
        </p:nvPicPr>
        <p:blipFill>
          <a:blip r:embed="rId3"/>
          <a:stretch>
            <a:fillRect/>
          </a:stretch>
        </p:blipFill>
        <p:spPr>
          <a:xfrm>
            <a:off x="88367" y="1466796"/>
            <a:ext cx="12015266" cy="3924408"/>
          </a:xfrm>
          <a:prstGeom prst="rect">
            <a:avLst/>
          </a:prstGeom>
        </p:spPr>
      </p:pic>
    </p:spTree>
    <p:extLst>
      <p:ext uri="{BB962C8B-B14F-4D97-AF65-F5344CB8AC3E}">
        <p14:creationId xmlns:p14="http://schemas.microsoft.com/office/powerpoint/2010/main" val="30602934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F4BCCAA3-668F-E6C6-2FA3-87F584FD854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0087CF4-433B-16DB-5DA2-3E0014A1EE33}"/>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CI/CD:</a:t>
            </a:r>
          </a:p>
        </p:txBody>
      </p:sp>
      <p:sp>
        <p:nvSpPr>
          <p:cNvPr id="9" name="Rectangle 8">
            <a:extLst>
              <a:ext uri="{FF2B5EF4-FFF2-40B4-BE49-F238E27FC236}">
                <a16:creationId xmlns:a16="http://schemas.microsoft.com/office/drawing/2014/main" id="{3EE7FCCF-2E01-B15C-6D3F-1A85A234D254}"/>
              </a:ext>
            </a:extLst>
          </p:cNvPr>
          <p:cNvSpPr/>
          <p:nvPr/>
        </p:nvSpPr>
        <p:spPr>
          <a:xfrm>
            <a:off x="148223" y="1268530"/>
            <a:ext cx="111760"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6B2B332D-28FE-3A4D-F4E7-9AD88FCF4DAD}"/>
              </a:ext>
            </a:extLst>
          </p:cNvPr>
          <p:cNvSpPr/>
          <p:nvPr/>
        </p:nvSpPr>
        <p:spPr>
          <a:xfrm>
            <a:off x="224422" y="1268530"/>
            <a:ext cx="11743155"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Software development is moving fast, and every engineering team says they are shipping 10x faster with the help of AI. With speed, it is important to maintain the quality of software and ensure no inconsistencies or bugs are slipping through. </a:t>
            </a:r>
          </a:p>
        </p:txBody>
      </p:sp>
      <p:sp>
        <p:nvSpPr>
          <p:cNvPr id="6" name="Rectangle 5">
            <a:extLst>
              <a:ext uri="{FF2B5EF4-FFF2-40B4-BE49-F238E27FC236}">
                <a16:creationId xmlns:a16="http://schemas.microsoft.com/office/drawing/2014/main" id="{26FE12BC-3FA6-8F1F-11A3-4EDF46A85075}"/>
              </a:ext>
            </a:extLst>
          </p:cNvPr>
          <p:cNvSpPr/>
          <p:nvPr/>
        </p:nvSpPr>
        <p:spPr>
          <a:xfrm>
            <a:off x="148223" y="2332475"/>
            <a:ext cx="111760"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55D6BAAD-E71A-AAC5-FF15-CA8477ACC218}"/>
              </a:ext>
            </a:extLst>
          </p:cNvPr>
          <p:cNvSpPr/>
          <p:nvPr/>
        </p:nvSpPr>
        <p:spPr>
          <a:xfrm>
            <a:off x="224422" y="2332475"/>
            <a:ext cx="11743155"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There are these bugs in production that happen because something wasn’t tested, merged incorrectly, or pushed a little too confidently on a Friday evening. It ended up allowing the software to be pushed out despite containing problematic content data.</a:t>
            </a:r>
          </a:p>
        </p:txBody>
      </p:sp>
      <p:sp>
        <p:nvSpPr>
          <p:cNvPr id="11" name="Rectangle 10">
            <a:extLst>
              <a:ext uri="{FF2B5EF4-FFF2-40B4-BE49-F238E27FC236}">
                <a16:creationId xmlns:a16="http://schemas.microsoft.com/office/drawing/2014/main" id="{DD257FD2-3834-E9E7-16A0-77F80881D75F}"/>
              </a:ext>
            </a:extLst>
          </p:cNvPr>
          <p:cNvSpPr/>
          <p:nvPr/>
        </p:nvSpPr>
        <p:spPr>
          <a:xfrm>
            <a:off x="148223" y="3429000"/>
            <a:ext cx="111760" cy="89938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F64B8569-B33A-4ED9-397D-373CA8A5EEA5}"/>
              </a:ext>
            </a:extLst>
          </p:cNvPr>
          <p:cNvSpPr/>
          <p:nvPr/>
        </p:nvSpPr>
        <p:spPr>
          <a:xfrm>
            <a:off x="224422" y="3429000"/>
            <a:ext cx="11743155" cy="89938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CI/CD stands for Continuous Integration and Continuous Delivery/Deployment. but at its core, it’s just about making sure code changes are merged, tested, and delivered in a way that doesn’t make developers (or users) panic.</a:t>
            </a:r>
          </a:p>
        </p:txBody>
      </p:sp>
      <p:sp>
        <p:nvSpPr>
          <p:cNvPr id="13" name="Rectangle 12">
            <a:extLst>
              <a:ext uri="{FF2B5EF4-FFF2-40B4-BE49-F238E27FC236}">
                <a16:creationId xmlns:a16="http://schemas.microsoft.com/office/drawing/2014/main" id="{46C1C94E-7845-25E0-7EEC-16A46BA1ECEE}"/>
              </a:ext>
            </a:extLst>
          </p:cNvPr>
          <p:cNvSpPr/>
          <p:nvPr/>
        </p:nvSpPr>
        <p:spPr>
          <a:xfrm>
            <a:off x="148223" y="4461930"/>
            <a:ext cx="111760" cy="127294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4011C1BF-F6A6-B0F3-0693-6866311AC77E}"/>
              </a:ext>
            </a:extLst>
          </p:cNvPr>
          <p:cNvSpPr/>
          <p:nvPr/>
        </p:nvSpPr>
        <p:spPr>
          <a:xfrm>
            <a:off x="224422" y="4461930"/>
            <a:ext cx="11743155" cy="127294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Continuous Integration (CI) is the habit of automatically checking and merging code changes into a shared repo.  So instead of everyone working in silos and hoping things don’t break when merged, every push triggers a set of actions: tests run, linters catch sloppy code, and issues are flagged early. </a:t>
            </a:r>
          </a:p>
        </p:txBody>
      </p:sp>
      <p:sp>
        <p:nvSpPr>
          <p:cNvPr id="15" name="Rectangle 14">
            <a:extLst>
              <a:ext uri="{FF2B5EF4-FFF2-40B4-BE49-F238E27FC236}">
                <a16:creationId xmlns:a16="http://schemas.microsoft.com/office/drawing/2014/main" id="{66D42669-B64E-9549-1AA8-BBA7E3D87671}"/>
              </a:ext>
            </a:extLst>
          </p:cNvPr>
          <p:cNvSpPr/>
          <p:nvPr/>
        </p:nvSpPr>
        <p:spPr>
          <a:xfrm>
            <a:off x="148223" y="5868426"/>
            <a:ext cx="111760" cy="89938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BB0FF315-18F2-524B-C1F8-4BCEB314C1FC}"/>
              </a:ext>
            </a:extLst>
          </p:cNvPr>
          <p:cNvSpPr/>
          <p:nvPr/>
        </p:nvSpPr>
        <p:spPr>
          <a:xfrm>
            <a:off x="224422" y="5868426"/>
            <a:ext cx="11743155" cy="89938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Continuous Delivery (CD) takes that validated code and gets it ready for release, automatically.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It doesn’t push it to production without human approval, but it makes sure that when you're ready to ship, everything is packaged, tested, and waiting. </a:t>
            </a:r>
          </a:p>
        </p:txBody>
      </p:sp>
    </p:spTree>
    <p:extLst>
      <p:ext uri="{BB962C8B-B14F-4D97-AF65-F5344CB8AC3E}">
        <p14:creationId xmlns:p14="http://schemas.microsoft.com/office/powerpoint/2010/main" val="42128261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5B402361-2AA5-E8A4-F536-15F253CEDF0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85C7BCD-A709-98CC-4A25-1339482BC9B3}"/>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CI/CD Pipelines:</a:t>
            </a:r>
          </a:p>
        </p:txBody>
      </p:sp>
      <p:sp>
        <p:nvSpPr>
          <p:cNvPr id="9" name="Rectangle 8">
            <a:extLst>
              <a:ext uri="{FF2B5EF4-FFF2-40B4-BE49-F238E27FC236}">
                <a16:creationId xmlns:a16="http://schemas.microsoft.com/office/drawing/2014/main" id="{5B2DB8C2-CD4A-1B8D-D3BD-E50684A27C87}"/>
              </a:ext>
            </a:extLst>
          </p:cNvPr>
          <p:cNvSpPr/>
          <p:nvPr/>
        </p:nvSpPr>
        <p:spPr>
          <a:xfrm>
            <a:off x="148223" y="1268530"/>
            <a:ext cx="111760"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A8093AE4-B5AA-4325-AD18-B5FFB723E4B9}"/>
              </a:ext>
            </a:extLst>
          </p:cNvPr>
          <p:cNvSpPr/>
          <p:nvPr/>
        </p:nvSpPr>
        <p:spPr>
          <a:xfrm>
            <a:off x="224422" y="1268530"/>
            <a:ext cx="11743155"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continuous integration/continuous delivery (CI/CD) pipeline is an automated DevOps workflow that streamlines the software delivery process.</a:t>
            </a:r>
          </a:p>
        </p:txBody>
      </p:sp>
      <p:sp>
        <p:nvSpPr>
          <p:cNvPr id="6" name="Rectangle 5">
            <a:extLst>
              <a:ext uri="{FF2B5EF4-FFF2-40B4-BE49-F238E27FC236}">
                <a16:creationId xmlns:a16="http://schemas.microsoft.com/office/drawing/2014/main" id="{938DD3C0-C2B6-879C-13CD-BFAEFEB6D64E}"/>
              </a:ext>
            </a:extLst>
          </p:cNvPr>
          <p:cNvSpPr/>
          <p:nvPr/>
        </p:nvSpPr>
        <p:spPr>
          <a:xfrm>
            <a:off x="148223" y="2332475"/>
            <a:ext cx="111760" cy="134500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E97FB166-0D98-60A2-AD83-6CA59D890E3E}"/>
              </a:ext>
            </a:extLst>
          </p:cNvPr>
          <p:cNvSpPr/>
          <p:nvPr/>
        </p:nvSpPr>
        <p:spPr>
          <a:xfrm>
            <a:off x="224422" y="2332475"/>
            <a:ext cx="11743155" cy="134500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 vital characteristic of the CI/CD pipeline is the use of automation to help ensure code quality. As the software changes progress through the pipeline, automated tests identify dependencies and other issues earlier, push code changes to different environments and deliver applications to production environments.</a:t>
            </a:r>
          </a:p>
        </p:txBody>
      </p:sp>
      <p:graphicFrame>
        <p:nvGraphicFramePr>
          <p:cNvPr id="2" name="Diagram 1">
            <a:extLst>
              <a:ext uri="{FF2B5EF4-FFF2-40B4-BE49-F238E27FC236}">
                <a16:creationId xmlns:a16="http://schemas.microsoft.com/office/drawing/2014/main" id="{44C129B6-43D5-2A93-92DA-E64F517DA448}"/>
              </a:ext>
            </a:extLst>
          </p:cNvPr>
          <p:cNvGraphicFramePr/>
          <p:nvPr>
            <p:extLst>
              <p:ext uri="{D42A27DB-BD31-4B8C-83A1-F6EECF244321}">
                <p14:modId xmlns:p14="http://schemas.microsoft.com/office/powerpoint/2010/main" val="4042008598"/>
              </p:ext>
            </p:extLst>
          </p:nvPr>
        </p:nvGraphicFramePr>
        <p:xfrm>
          <a:off x="1932609" y="3778446"/>
          <a:ext cx="7430052" cy="30795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857551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6D620E70-8AF1-8CB2-108D-67D89A70DAE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7DED7BD-A77E-EA9A-BC58-2266E6F1A96D}"/>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29BAD587-B0C5-7533-6A99-574D7007B114}"/>
              </a:ext>
            </a:extLst>
          </p:cNvPr>
          <p:cNvPicPr>
            <a:picLocks noChangeAspect="1"/>
          </p:cNvPicPr>
          <p:nvPr/>
        </p:nvPicPr>
        <p:blipFill>
          <a:blip r:embed="rId3"/>
          <a:srcRect l="4253" t="24064"/>
          <a:stretch>
            <a:fillRect/>
          </a:stretch>
        </p:blipFill>
        <p:spPr>
          <a:xfrm>
            <a:off x="151969" y="1244075"/>
            <a:ext cx="10068339" cy="1325563"/>
          </a:xfrm>
          <a:prstGeom prst="rect">
            <a:avLst/>
          </a:prstGeom>
        </p:spPr>
      </p:pic>
      <p:cxnSp>
        <p:nvCxnSpPr>
          <p:cNvPr id="22" name="Straight Arrow Connector 21">
            <a:extLst>
              <a:ext uri="{FF2B5EF4-FFF2-40B4-BE49-F238E27FC236}">
                <a16:creationId xmlns:a16="http://schemas.microsoft.com/office/drawing/2014/main" id="{BAC57E76-689E-E971-424B-C41310F17613}"/>
              </a:ext>
            </a:extLst>
          </p:cNvPr>
          <p:cNvCxnSpPr>
            <a:cxnSpLocks/>
          </p:cNvCxnSpPr>
          <p:nvPr/>
        </p:nvCxnSpPr>
        <p:spPr>
          <a:xfrm>
            <a:off x="1480500" y="2445026"/>
            <a:ext cx="0" cy="131730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64326F1A-F417-4677-9554-28183DFD681A}"/>
              </a:ext>
            </a:extLst>
          </p:cNvPr>
          <p:cNvSpPr/>
          <p:nvPr/>
        </p:nvSpPr>
        <p:spPr>
          <a:xfrm>
            <a:off x="72456" y="3915076"/>
            <a:ext cx="4605994" cy="2146852"/>
          </a:xfrm>
          <a:prstGeom prst="rect">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Every DevOps workflow starts with source control. Git lets your whole team work on the same codebase without stepping on each other — and it gives you a full history so you can always roll back.</a:t>
            </a:r>
          </a:p>
        </p:txBody>
      </p:sp>
      <p:pic>
        <p:nvPicPr>
          <p:cNvPr id="25" name="Picture 24">
            <a:extLst>
              <a:ext uri="{FF2B5EF4-FFF2-40B4-BE49-F238E27FC236}">
                <a16:creationId xmlns:a16="http://schemas.microsoft.com/office/drawing/2014/main" id="{93DC2B88-8C65-F4BB-0DBE-B0F2C9C10C43}"/>
              </a:ext>
            </a:extLst>
          </p:cNvPr>
          <p:cNvPicPr>
            <a:picLocks noChangeAspect="1"/>
          </p:cNvPicPr>
          <p:nvPr/>
        </p:nvPicPr>
        <p:blipFill>
          <a:blip r:embed="rId4"/>
          <a:stretch>
            <a:fillRect/>
          </a:stretch>
        </p:blipFill>
        <p:spPr>
          <a:xfrm>
            <a:off x="4790664" y="2951922"/>
            <a:ext cx="7156170" cy="3588026"/>
          </a:xfrm>
          <a:prstGeom prst="rect">
            <a:avLst/>
          </a:prstGeom>
        </p:spPr>
      </p:pic>
    </p:spTree>
    <p:extLst>
      <p:ext uri="{BB962C8B-B14F-4D97-AF65-F5344CB8AC3E}">
        <p14:creationId xmlns:p14="http://schemas.microsoft.com/office/powerpoint/2010/main" val="18591785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C9EE70FC-F9C0-890E-5248-403874350BF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215E641-8608-200E-676A-86E413FF1B3C}"/>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8B67B8C6-575F-E041-E479-E71D13CD730C}"/>
              </a:ext>
            </a:extLst>
          </p:cNvPr>
          <p:cNvPicPr>
            <a:picLocks noChangeAspect="1"/>
          </p:cNvPicPr>
          <p:nvPr/>
        </p:nvPicPr>
        <p:blipFill>
          <a:blip r:embed="rId3"/>
          <a:srcRect l="4253" t="24064"/>
          <a:stretch>
            <a:fillRect/>
          </a:stretch>
        </p:blipFill>
        <p:spPr>
          <a:xfrm>
            <a:off x="151969" y="1244075"/>
            <a:ext cx="10068339" cy="1325563"/>
          </a:xfrm>
          <a:prstGeom prst="rect">
            <a:avLst/>
          </a:prstGeom>
        </p:spPr>
      </p:pic>
      <p:cxnSp>
        <p:nvCxnSpPr>
          <p:cNvPr id="22" name="Straight Arrow Connector 21">
            <a:extLst>
              <a:ext uri="{FF2B5EF4-FFF2-40B4-BE49-F238E27FC236}">
                <a16:creationId xmlns:a16="http://schemas.microsoft.com/office/drawing/2014/main" id="{119D94D8-F4DB-7EE0-112B-82A8B46A66F4}"/>
              </a:ext>
            </a:extLst>
          </p:cNvPr>
          <p:cNvCxnSpPr>
            <a:cxnSpLocks/>
          </p:cNvCxnSpPr>
          <p:nvPr/>
        </p:nvCxnSpPr>
        <p:spPr>
          <a:xfrm>
            <a:off x="1480500" y="2445026"/>
            <a:ext cx="0" cy="131730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324FE722-AA54-87EB-90F0-A815CB18B99B}"/>
              </a:ext>
            </a:extLst>
          </p:cNvPr>
          <p:cNvSpPr/>
          <p:nvPr/>
        </p:nvSpPr>
        <p:spPr>
          <a:xfrm>
            <a:off x="72456" y="3915076"/>
            <a:ext cx="4605994" cy="2146852"/>
          </a:xfrm>
          <a:prstGeom prst="rect">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Every DevOps workflow starts with source control. Git lets your whole team work on the same codebase without stepping on each other — and it gives you a full history so you can always roll back.</a:t>
            </a:r>
          </a:p>
        </p:txBody>
      </p:sp>
      <p:pic>
        <p:nvPicPr>
          <p:cNvPr id="3" name="Picture 2">
            <a:extLst>
              <a:ext uri="{FF2B5EF4-FFF2-40B4-BE49-F238E27FC236}">
                <a16:creationId xmlns:a16="http://schemas.microsoft.com/office/drawing/2014/main" id="{A4927606-4FDD-613D-5BC2-E4747BEB6991}"/>
              </a:ext>
            </a:extLst>
          </p:cNvPr>
          <p:cNvPicPr>
            <a:picLocks noChangeAspect="1"/>
          </p:cNvPicPr>
          <p:nvPr/>
        </p:nvPicPr>
        <p:blipFill>
          <a:blip r:embed="rId4"/>
          <a:stretch>
            <a:fillRect/>
          </a:stretch>
        </p:blipFill>
        <p:spPr>
          <a:xfrm>
            <a:off x="5056969" y="2569638"/>
            <a:ext cx="6983061" cy="4303641"/>
          </a:xfrm>
          <a:prstGeom prst="rect">
            <a:avLst/>
          </a:prstGeom>
        </p:spPr>
      </p:pic>
    </p:spTree>
    <p:extLst>
      <p:ext uri="{BB962C8B-B14F-4D97-AF65-F5344CB8AC3E}">
        <p14:creationId xmlns:p14="http://schemas.microsoft.com/office/powerpoint/2010/main" val="19670690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005C8E5B-512D-2AD3-AAFB-11D912F6B344}"/>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2F1F6D1-3B0A-88C3-3DC6-0E87ED61A1C0}"/>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150971C2-5BB1-A1F2-16D5-2A3D0B500B3B}"/>
              </a:ext>
            </a:extLst>
          </p:cNvPr>
          <p:cNvPicPr>
            <a:picLocks noChangeAspect="1"/>
          </p:cNvPicPr>
          <p:nvPr/>
        </p:nvPicPr>
        <p:blipFill>
          <a:blip r:embed="rId3"/>
          <a:srcRect l="4253" t="24064"/>
          <a:stretch>
            <a:fillRect/>
          </a:stretch>
        </p:blipFill>
        <p:spPr>
          <a:xfrm>
            <a:off x="151969" y="1244075"/>
            <a:ext cx="10068339" cy="1325563"/>
          </a:xfrm>
          <a:prstGeom prst="rect">
            <a:avLst/>
          </a:prstGeom>
        </p:spPr>
      </p:pic>
      <p:cxnSp>
        <p:nvCxnSpPr>
          <p:cNvPr id="22" name="Straight Arrow Connector 21">
            <a:extLst>
              <a:ext uri="{FF2B5EF4-FFF2-40B4-BE49-F238E27FC236}">
                <a16:creationId xmlns:a16="http://schemas.microsoft.com/office/drawing/2014/main" id="{4F415290-F768-3AD1-8050-014A809A5D3E}"/>
              </a:ext>
            </a:extLst>
          </p:cNvPr>
          <p:cNvCxnSpPr>
            <a:cxnSpLocks/>
            <a:endCxn id="23" idx="0"/>
          </p:cNvCxnSpPr>
          <p:nvPr/>
        </p:nvCxnSpPr>
        <p:spPr>
          <a:xfrm flipH="1">
            <a:off x="2454966" y="2425147"/>
            <a:ext cx="2553925" cy="1766251"/>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CB7E45F3-8010-5A2D-AEDA-E29D536CCEB8}"/>
              </a:ext>
            </a:extLst>
          </p:cNvPr>
          <p:cNvSpPr/>
          <p:nvPr/>
        </p:nvSpPr>
        <p:spPr>
          <a:xfrm>
            <a:off x="151969" y="4191398"/>
            <a:ext cx="4605994" cy="2507575"/>
          </a:xfrm>
          <a:prstGeom prst="rect">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Docker wraps your app and all its dependencies — runtime, libraries, OS packages — into a single portable unit called an image. When you run an image, you get a container: an isolated process with its own filesystem, networking, and process space.</a:t>
            </a:r>
          </a:p>
        </p:txBody>
      </p:sp>
      <p:pic>
        <p:nvPicPr>
          <p:cNvPr id="6" name="Picture 5">
            <a:extLst>
              <a:ext uri="{FF2B5EF4-FFF2-40B4-BE49-F238E27FC236}">
                <a16:creationId xmlns:a16="http://schemas.microsoft.com/office/drawing/2014/main" id="{C74BBE80-E151-D542-C093-76051FB85997}"/>
              </a:ext>
            </a:extLst>
          </p:cNvPr>
          <p:cNvPicPr>
            <a:picLocks noChangeAspect="1"/>
          </p:cNvPicPr>
          <p:nvPr/>
        </p:nvPicPr>
        <p:blipFill>
          <a:blip r:embed="rId4"/>
          <a:stretch>
            <a:fillRect/>
          </a:stretch>
        </p:blipFill>
        <p:spPr>
          <a:xfrm>
            <a:off x="5188226" y="2683566"/>
            <a:ext cx="6773127" cy="4015407"/>
          </a:xfrm>
          <a:prstGeom prst="rect">
            <a:avLst/>
          </a:prstGeom>
        </p:spPr>
      </p:pic>
    </p:spTree>
    <p:extLst>
      <p:ext uri="{BB962C8B-B14F-4D97-AF65-F5344CB8AC3E}">
        <p14:creationId xmlns:p14="http://schemas.microsoft.com/office/powerpoint/2010/main" val="12475622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EB5D0510-93EE-4D00-5CBA-D9ED17790F7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8101472-5C17-F43E-0EDF-050A340524DE}"/>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51DEA2C9-5AFC-D1A4-51AA-7E6A4B1A389A}"/>
              </a:ext>
            </a:extLst>
          </p:cNvPr>
          <p:cNvPicPr>
            <a:picLocks noChangeAspect="1"/>
          </p:cNvPicPr>
          <p:nvPr/>
        </p:nvPicPr>
        <p:blipFill>
          <a:blip r:embed="rId3"/>
          <a:srcRect l="4253" t="24064"/>
          <a:stretch>
            <a:fillRect/>
          </a:stretch>
        </p:blipFill>
        <p:spPr>
          <a:xfrm>
            <a:off x="151969" y="1244075"/>
            <a:ext cx="10068339" cy="1325563"/>
          </a:xfrm>
          <a:prstGeom prst="rect">
            <a:avLst/>
          </a:prstGeom>
        </p:spPr>
      </p:pic>
      <p:cxnSp>
        <p:nvCxnSpPr>
          <p:cNvPr id="22" name="Straight Arrow Connector 21">
            <a:extLst>
              <a:ext uri="{FF2B5EF4-FFF2-40B4-BE49-F238E27FC236}">
                <a16:creationId xmlns:a16="http://schemas.microsoft.com/office/drawing/2014/main" id="{91D1C553-0FD3-3588-CF27-17D1FD003DD9}"/>
              </a:ext>
            </a:extLst>
          </p:cNvPr>
          <p:cNvCxnSpPr>
            <a:cxnSpLocks/>
            <a:endCxn id="23" idx="0"/>
          </p:cNvCxnSpPr>
          <p:nvPr/>
        </p:nvCxnSpPr>
        <p:spPr>
          <a:xfrm flipH="1">
            <a:off x="2454966" y="2425147"/>
            <a:ext cx="2553925" cy="1766251"/>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D8869D40-C9C8-77B1-B468-50D1BF118AC7}"/>
              </a:ext>
            </a:extLst>
          </p:cNvPr>
          <p:cNvSpPr/>
          <p:nvPr/>
        </p:nvSpPr>
        <p:spPr>
          <a:xfrm>
            <a:off x="151969" y="4191398"/>
            <a:ext cx="4605994" cy="2507575"/>
          </a:xfrm>
          <a:prstGeom prst="rect">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Docker wraps your app and all its dependencies — runtime, libraries, OS packages — into a single portable unit called an image. When you run an image, you get a container: an isolated process with its own filesystem, networking, and process space.</a:t>
            </a:r>
          </a:p>
        </p:txBody>
      </p:sp>
      <p:pic>
        <p:nvPicPr>
          <p:cNvPr id="3" name="Picture 2">
            <a:extLst>
              <a:ext uri="{FF2B5EF4-FFF2-40B4-BE49-F238E27FC236}">
                <a16:creationId xmlns:a16="http://schemas.microsoft.com/office/drawing/2014/main" id="{7CED2089-F27A-29BB-9053-280C6A6BD4E6}"/>
              </a:ext>
            </a:extLst>
          </p:cNvPr>
          <p:cNvPicPr>
            <a:picLocks noChangeAspect="1"/>
          </p:cNvPicPr>
          <p:nvPr/>
        </p:nvPicPr>
        <p:blipFill>
          <a:blip r:embed="rId4"/>
          <a:stretch>
            <a:fillRect/>
          </a:stretch>
        </p:blipFill>
        <p:spPr>
          <a:xfrm>
            <a:off x="5138530" y="2599455"/>
            <a:ext cx="6901501" cy="4195439"/>
          </a:xfrm>
          <a:prstGeom prst="rect">
            <a:avLst/>
          </a:prstGeom>
        </p:spPr>
      </p:pic>
    </p:spTree>
    <p:extLst>
      <p:ext uri="{BB962C8B-B14F-4D97-AF65-F5344CB8AC3E}">
        <p14:creationId xmlns:p14="http://schemas.microsoft.com/office/powerpoint/2010/main" val="20984913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20B31052-7D8F-9A1D-0AC9-E682DAE2153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F80198B-0BC7-6EA0-3473-FB693B548B12}"/>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CD53CE49-4545-1B55-4CA4-A67226799F6F}"/>
              </a:ext>
            </a:extLst>
          </p:cNvPr>
          <p:cNvPicPr>
            <a:picLocks noChangeAspect="1"/>
          </p:cNvPicPr>
          <p:nvPr/>
        </p:nvPicPr>
        <p:blipFill>
          <a:blip r:embed="rId3"/>
          <a:srcRect l="4253" t="24064"/>
          <a:stretch>
            <a:fillRect/>
          </a:stretch>
        </p:blipFill>
        <p:spPr>
          <a:xfrm>
            <a:off x="151969" y="1244075"/>
            <a:ext cx="10068339" cy="1325563"/>
          </a:xfrm>
          <a:prstGeom prst="rect">
            <a:avLst/>
          </a:prstGeom>
        </p:spPr>
      </p:pic>
      <p:cxnSp>
        <p:nvCxnSpPr>
          <p:cNvPr id="22" name="Straight Arrow Connector 21">
            <a:extLst>
              <a:ext uri="{FF2B5EF4-FFF2-40B4-BE49-F238E27FC236}">
                <a16:creationId xmlns:a16="http://schemas.microsoft.com/office/drawing/2014/main" id="{8415ACF8-1014-73B4-8834-15885D09DF4D}"/>
              </a:ext>
            </a:extLst>
          </p:cNvPr>
          <p:cNvCxnSpPr>
            <a:cxnSpLocks/>
            <a:endCxn id="23" idx="0"/>
          </p:cNvCxnSpPr>
          <p:nvPr/>
        </p:nvCxnSpPr>
        <p:spPr>
          <a:xfrm flipH="1">
            <a:off x="2454966" y="2425147"/>
            <a:ext cx="2553925" cy="1766251"/>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B13D61CE-2481-6CF9-0521-7406F0E42185}"/>
              </a:ext>
            </a:extLst>
          </p:cNvPr>
          <p:cNvSpPr/>
          <p:nvPr/>
        </p:nvSpPr>
        <p:spPr>
          <a:xfrm>
            <a:off x="151969" y="4191398"/>
            <a:ext cx="4605994" cy="2507575"/>
          </a:xfrm>
          <a:prstGeom prst="rect">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Docker wraps your app and all its dependencies — runtime, libraries, OS packages — into a single portable unit called an image. When you run an image, you get a container: an isolated process with its own filesystem, networking, and process space.</a:t>
            </a:r>
          </a:p>
        </p:txBody>
      </p:sp>
      <p:pic>
        <p:nvPicPr>
          <p:cNvPr id="4" name="Picture 3">
            <a:extLst>
              <a:ext uri="{FF2B5EF4-FFF2-40B4-BE49-F238E27FC236}">
                <a16:creationId xmlns:a16="http://schemas.microsoft.com/office/drawing/2014/main" id="{0C192AC4-824D-F9BA-CF36-28A8E80DF47F}"/>
              </a:ext>
            </a:extLst>
          </p:cNvPr>
          <p:cNvPicPr>
            <a:picLocks noChangeAspect="1"/>
          </p:cNvPicPr>
          <p:nvPr/>
        </p:nvPicPr>
        <p:blipFill>
          <a:blip r:embed="rId4"/>
          <a:stretch>
            <a:fillRect/>
          </a:stretch>
        </p:blipFill>
        <p:spPr>
          <a:xfrm>
            <a:off x="5008891" y="2592766"/>
            <a:ext cx="7031139" cy="4175782"/>
          </a:xfrm>
          <a:prstGeom prst="rect">
            <a:avLst/>
          </a:prstGeom>
        </p:spPr>
      </p:pic>
    </p:spTree>
    <p:extLst>
      <p:ext uri="{BB962C8B-B14F-4D97-AF65-F5344CB8AC3E}">
        <p14:creationId xmlns:p14="http://schemas.microsoft.com/office/powerpoint/2010/main" val="25819583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A4F8E00B-18AD-BC98-80E2-29FA5230763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A5C7F6C-3B45-EDC0-DBE8-2F47D374E572}"/>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325C4167-8AD9-F7EA-DE89-FDA51E045475}"/>
              </a:ext>
            </a:extLst>
          </p:cNvPr>
          <p:cNvPicPr>
            <a:picLocks noChangeAspect="1"/>
          </p:cNvPicPr>
          <p:nvPr/>
        </p:nvPicPr>
        <p:blipFill>
          <a:blip r:embed="rId3"/>
          <a:srcRect l="4253" t="24064"/>
          <a:stretch>
            <a:fillRect/>
          </a:stretch>
        </p:blipFill>
        <p:spPr>
          <a:xfrm>
            <a:off x="1990708" y="1147970"/>
            <a:ext cx="10068339" cy="1325563"/>
          </a:xfrm>
          <a:prstGeom prst="rect">
            <a:avLst/>
          </a:prstGeom>
        </p:spPr>
      </p:pic>
      <p:cxnSp>
        <p:nvCxnSpPr>
          <p:cNvPr id="22" name="Straight Arrow Connector 21">
            <a:extLst>
              <a:ext uri="{FF2B5EF4-FFF2-40B4-BE49-F238E27FC236}">
                <a16:creationId xmlns:a16="http://schemas.microsoft.com/office/drawing/2014/main" id="{6ACD3FA5-9E6D-7850-3052-1D7A15612FAD}"/>
              </a:ext>
            </a:extLst>
          </p:cNvPr>
          <p:cNvCxnSpPr>
            <a:cxnSpLocks/>
          </p:cNvCxnSpPr>
          <p:nvPr/>
        </p:nvCxnSpPr>
        <p:spPr>
          <a:xfrm>
            <a:off x="10495723" y="2355574"/>
            <a:ext cx="19877" cy="1265929"/>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15BAE980-CB3B-393B-1AAC-06CC75C3037B}"/>
              </a:ext>
            </a:extLst>
          </p:cNvPr>
          <p:cNvSpPr/>
          <p:nvPr/>
        </p:nvSpPr>
        <p:spPr>
          <a:xfrm>
            <a:off x="7583556" y="3789949"/>
            <a:ext cx="4485430" cy="2988019"/>
          </a:xfrm>
          <a:prstGeom prst="rect">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Real apps have multiple services — a web server, a database, a cache, and a background worker. Running and connecting them manually with Docker run is painful. Docker Compose lets you define the entire environment in one YAML file and bring it all up with a single command.</a:t>
            </a:r>
          </a:p>
        </p:txBody>
      </p:sp>
      <p:pic>
        <p:nvPicPr>
          <p:cNvPr id="13" name="Picture 12">
            <a:extLst>
              <a:ext uri="{FF2B5EF4-FFF2-40B4-BE49-F238E27FC236}">
                <a16:creationId xmlns:a16="http://schemas.microsoft.com/office/drawing/2014/main" id="{5216486B-B868-4158-2DDF-B115FF0FDD13}"/>
              </a:ext>
            </a:extLst>
          </p:cNvPr>
          <p:cNvPicPr>
            <a:picLocks noChangeAspect="1"/>
          </p:cNvPicPr>
          <p:nvPr/>
        </p:nvPicPr>
        <p:blipFill>
          <a:blip r:embed="rId4"/>
          <a:stretch>
            <a:fillRect/>
          </a:stretch>
        </p:blipFill>
        <p:spPr>
          <a:xfrm>
            <a:off x="123014" y="2533168"/>
            <a:ext cx="7331075" cy="4046536"/>
          </a:xfrm>
          <a:prstGeom prst="rect">
            <a:avLst/>
          </a:prstGeom>
        </p:spPr>
      </p:pic>
    </p:spTree>
    <p:extLst>
      <p:ext uri="{BB962C8B-B14F-4D97-AF65-F5344CB8AC3E}">
        <p14:creationId xmlns:p14="http://schemas.microsoft.com/office/powerpoint/2010/main" val="12293272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7E35A109-06C6-FDDC-BF5E-58E3112F55A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F31EF25-DA90-4EFF-73BA-2CDD5D89F559}"/>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1F55BC2E-0B76-9799-AE99-F8351AE9B444}"/>
              </a:ext>
            </a:extLst>
          </p:cNvPr>
          <p:cNvPicPr>
            <a:picLocks noChangeAspect="1"/>
          </p:cNvPicPr>
          <p:nvPr/>
        </p:nvPicPr>
        <p:blipFill>
          <a:blip r:embed="rId3"/>
          <a:srcRect l="4253" t="24064"/>
          <a:stretch>
            <a:fillRect/>
          </a:stretch>
        </p:blipFill>
        <p:spPr>
          <a:xfrm>
            <a:off x="1990708" y="1147970"/>
            <a:ext cx="10068339" cy="1325563"/>
          </a:xfrm>
          <a:prstGeom prst="rect">
            <a:avLst/>
          </a:prstGeom>
        </p:spPr>
      </p:pic>
      <p:cxnSp>
        <p:nvCxnSpPr>
          <p:cNvPr id="22" name="Straight Arrow Connector 21">
            <a:extLst>
              <a:ext uri="{FF2B5EF4-FFF2-40B4-BE49-F238E27FC236}">
                <a16:creationId xmlns:a16="http://schemas.microsoft.com/office/drawing/2014/main" id="{8FC6567D-9B14-5537-8376-E0B147161669}"/>
              </a:ext>
            </a:extLst>
          </p:cNvPr>
          <p:cNvCxnSpPr>
            <a:cxnSpLocks/>
          </p:cNvCxnSpPr>
          <p:nvPr/>
        </p:nvCxnSpPr>
        <p:spPr>
          <a:xfrm>
            <a:off x="10495723" y="2355574"/>
            <a:ext cx="19877" cy="1265929"/>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BA2B5298-2FB8-EF11-742A-2EBF2D318D22}"/>
              </a:ext>
            </a:extLst>
          </p:cNvPr>
          <p:cNvSpPr/>
          <p:nvPr/>
        </p:nvSpPr>
        <p:spPr>
          <a:xfrm>
            <a:off x="7583556" y="3789949"/>
            <a:ext cx="4485430" cy="2988019"/>
          </a:xfrm>
          <a:prstGeom prst="rect">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Real apps have multiple services — a web server, a database, a cache, and a background worker. Running and connecting them manually with Docker run is painful. Docker Compose lets you define the entire environment in one YAML file and bring it all up with a single command.</a:t>
            </a:r>
          </a:p>
        </p:txBody>
      </p:sp>
      <p:pic>
        <p:nvPicPr>
          <p:cNvPr id="3" name="Picture 2">
            <a:extLst>
              <a:ext uri="{FF2B5EF4-FFF2-40B4-BE49-F238E27FC236}">
                <a16:creationId xmlns:a16="http://schemas.microsoft.com/office/drawing/2014/main" id="{DC1C4959-CC2E-FCAD-9B42-D53FF95DD456}"/>
              </a:ext>
            </a:extLst>
          </p:cNvPr>
          <p:cNvPicPr>
            <a:picLocks noChangeAspect="1"/>
          </p:cNvPicPr>
          <p:nvPr/>
        </p:nvPicPr>
        <p:blipFill>
          <a:blip r:embed="rId4"/>
          <a:stretch>
            <a:fillRect/>
          </a:stretch>
        </p:blipFill>
        <p:spPr>
          <a:xfrm>
            <a:off x="-1" y="2355574"/>
            <a:ext cx="6500193" cy="4422394"/>
          </a:xfrm>
          <a:prstGeom prst="rect">
            <a:avLst/>
          </a:prstGeom>
        </p:spPr>
      </p:pic>
    </p:spTree>
    <p:extLst>
      <p:ext uri="{BB962C8B-B14F-4D97-AF65-F5344CB8AC3E}">
        <p14:creationId xmlns:p14="http://schemas.microsoft.com/office/powerpoint/2010/main" val="42457848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741642BE-5D52-ABCC-6922-418C4CA9079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8A4232B-D59B-D629-3829-6CA3275A2957}"/>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E9671C9F-9833-8684-8DC3-9A1E5921F3CA}"/>
              </a:ext>
            </a:extLst>
          </p:cNvPr>
          <p:cNvPicPr>
            <a:picLocks noChangeAspect="1"/>
          </p:cNvPicPr>
          <p:nvPr/>
        </p:nvPicPr>
        <p:blipFill>
          <a:blip r:embed="rId3"/>
          <a:srcRect l="4253" t="24064"/>
          <a:stretch>
            <a:fillRect/>
          </a:stretch>
        </p:blipFill>
        <p:spPr>
          <a:xfrm>
            <a:off x="1990708" y="1147970"/>
            <a:ext cx="10068339" cy="1325563"/>
          </a:xfrm>
          <a:prstGeom prst="rect">
            <a:avLst/>
          </a:prstGeom>
        </p:spPr>
      </p:pic>
      <p:cxnSp>
        <p:nvCxnSpPr>
          <p:cNvPr id="22" name="Straight Arrow Connector 21">
            <a:extLst>
              <a:ext uri="{FF2B5EF4-FFF2-40B4-BE49-F238E27FC236}">
                <a16:creationId xmlns:a16="http://schemas.microsoft.com/office/drawing/2014/main" id="{611708C7-2A0D-CA1D-CC84-9BF14CB92670}"/>
              </a:ext>
            </a:extLst>
          </p:cNvPr>
          <p:cNvCxnSpPr>
            <a:cxnSpLocks/>
          </p:cNvCxnSpPr>
          <p:nvPr/>
        </p:nvCxnSpPr>
        <p:spPr>
          <a:xfrm>
            <a:off x="10495723" y="2355574"/>
            <a:ext cx="19877" cy="1265929"/>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FADFEEEF-548F-9F54-C8F5-9616BD5304D7}"/>
              </a:ext>
            </a:extLst>
          </p:cNvPr>
          <p:cNvSpPr/>
          <p:nvPr/>
        </p:nvSpPr>
        <p:spPr>
          <a:xfrm>
            <a:off x="7583556" y="3789949"/>
            <a:ext cx="4485430" cy="2988019"/>
          </a:xfrm>
          <a:prstGeom prst="rect">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Real apps have multiple services — a web server, a database, a cache, and a background worker. Running and connecting them manually with Docker run is painful. Docker Compose lets you define the entire environment in one YAML file and bring it all up with a single command.</a:t>
            </a:r>
          </a:p>
        </p:txBody>
      </p:sp>
      <p:pic>
        <p:nvPicPr>
          <p:cNvPr id="4" name="Picture 3">
            <a:extLst>
              <a:ext uri="{FF2B5EF4-FFF2-40B4-BE49-F238E27FC236}">
                <a16:creationId xmlns:a16="http://schemas.microsoft.com/office/drawing/2014/main" id="{D181418B-EC0F-6EF9-8E8A-5B5074AC693C}"/>
              </a:ext>
            </a:extLst>
          </p:cNvPr>
          <p:cNvPicPr>
            <a:picLocks noChangeAspect="1"/>
          </p:cNvPicPr>
          <p:nvPr/>
        </p:nvPicPr>
        <p:blipFill>
          <a:blip r:embed="rId4"/>
          <a:stretch>
            <a:fillRect/>
          </a:stretch>
        </p:blipFill>
        <p:spPr>
          <a:xfrm>
            <a:off x="0" y="2224638"/>
            <a:ext cx="6301409" cy="4633362"/>
          </a:xfrm>
          <a:prstGeom prst="rect">
            <a:avLst/>
          </a:prstGeom>
        </p:spPr>
      </p:pic>
    </p:spTree>
    <p:extLst>
      <p:ext uri="{BB962C8B-B14F-4D97-AF65-F5344CB8AC3E}">
        <p14:creationId xmlns:p14="http://schemas.microsoft.com/office/powerpoint/2010/main" val="3912941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729FBCB7-942A-6BE0-9108-4D914C44B88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B5728D3-7752-682F-FFD0-5DB4D9EF7B1F}"/>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12F4D801-6BBE-EB34-8795-2250EAB41470}"/>
              </a:ext>
            </a:extLst>
          </p:cNvPr>
          <p:cNvPicPr>
            <a:picLocks noChangeAspect="1"/>
          </p:cNvPicPr>
          <p:nvPr/>
        </p:nvPicPr>
        <p:blipFill>
          <a:blip r:embed="rId3"/>
          <a:srcRect l="4253" t="24064"/>
          <a:stretch>
            <a:fillRect/>
          </a:stretch>
        </p:blipFill>
        <p:spPr>
          <a:xfrm>
            <a:off x="803412" y="1263554"/>
            <a:ext cx="10068339" cy="1082082"/>
          </a:xfrm>
          <a:prstGeom prst="rect">
            <a:avLst/>
          </a:prstGeom>
        </p:spPr>
      </p:pic>
      <p:pic>
        <p:nvPicPr>
          <p:cNvPr id="3" name="Picture 2">
            <a:extLst>
              <a:ext uri="{FF2B5EF4-FFF2-40B4-BE49-F238E27FC236}">
                <a16:creationId xmlns:a16="http://schemas.microsoft.com/office/drawing/2014/main" id="{AC470180-D111-7222-EB1A-2C2303546E45}"/>
              </a:ext>
            </a:extLst>
          </p:cNvPr>
          <p:cNvPicPr>
            <a:picLocks noChangeAspect="1"/>
          </p:cNvPicPr>
          <p:nvPr/>
        </p:nvPicPr>
        <p:blipFill>
          <a:blip r:embed="rId4"/>
          <a:stretch>
            <a:fillRect/>
          </a:stretch>
        </p:blipFill>
        <p:spPr>
          <a:xfrm>
            <a:off x="894522" y="2499665"/>
            <a:ext cx="9799982" cy="4268883"/>
          </a:xfrm>
          <a:prstGeom prst="rect">
            <a:avLst/>
          </a:prstGeom>
        </p:spPr>
      </p:pic>
    </p:spTree>
    <p:extLst>
      <p:ext uri="{BB962C8B-B14F-4D97-AF65-F5344CB8AC3E}">
        <p14:creationId xmlns:p14="http://schemas.microsoft.com/office/powerpoint/2010/main" val="13614323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20837F6C-06C6-755F-B4D7-CAFC7A284458}"/>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AF113E30-2BB6-5E16-2814-EA047662056B}"/>
              </a:ext>
            </a:extLst>
          </p:cNvPr>
          <p:cNvSpPr txBox="1">
            <a:spLocks/>
          </p:cNvSpPr>
          <p:nvPr/>
        </p:nvSpPr>
        <p:spPr>
          <a:xfrm>
            <a:off x="228599"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5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References:</a:t>
            </a:r>
          </a:p>
        </p:txBody>
      </p:sp>
      <p:sp>
        <p:nvSpPr>
          <p:cNvPr id="16" name="TextBox 15">
            <a:extLst>
              <a:ext uri="{FF2B5EF4-FFF2-40B4-BE49-F238E27FC236}">
                <a16:creationId xmlns:a16="http://schemas.microsoft.com/office/drawing/2014/main" id="{55836550-7F6C-4741-41F6-84B197D95F7F}"/>
              </a:ext>
            </a:extLst>
          </p:cNvPr>
          <p:cNvSpPr txBox="1"/>
          <p:nvPr/>
        </p:nvSpPr>
        <p:spPr>
          <a:xfrm>
            <a:off x="228599" y="1535739"/>
            <a:ext cx="10774017"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https://learn.microsoft.com/en-gb/training/paths/devops-foundations-core-principles-practices/</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83F5A99B-00D6-0B05-C9CF-23BB1D270C69}"/>
              </a:ext>
            </a:extLst>
          </p:cNvPr>
          <p:cNvSpPr txBox="1"/>
          <p:nvPr/>
        </p:nvSpPr>
        <p:spPr>
          <a:xfrm>
            <a:off x="228599" y="2146025"/>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https://www.ibm.com/think/topics/devops</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979D2C8-DAE6-BD0B-59EE-FE189E245BCF}"/>
              </a:ext>
            </a:extLst>
          </p:cNvPr>
          <p:cNvSpPr txBox="1"/>
          <p:nvPr/>
        </p:nvSpPr>
        <p:spPr>
          <a:xfrm>
            <a:off x="228599" y="2756311"/>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https://www.ibm.com/think/topics/ci-cd-pipeline</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9A5C17B4-A69A-F872-B64D-43F88D85A73B}"/>
              </a:ext>
            </a:extLst>
          </p:cNvPr>
          <p:cNvSpPr txBox="1"/>
          <p:nvPr/>
        </p:nvSpPr>
        <p:spPr>
          <a:xfrm>
            <a:off x="228599" y="3301470"/>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hlinkClick r:id="rId3"/>
              </a:rPr>
              <a:t>https://pieces.app/blog/best-ci-cd-tools</a:t>
            </a:r>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   VERY IMPORTANT!!!!</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7CAA1D9F-FC3E-8FE9-3D8C-32DA7F7F45E7}"/>
              </a:ext>
            </a:extLst>
          </p:cNvPr>
          <p:cNvSpPr txBox="1"/>
          <p:nvPr/>
        </p:nvSpPr>
        <p:spPr>
          <a:xfrm>
            <a:off x="228599" y="3846629"/>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https://learn.microsoft.com/en-us/training/modules/introduction-to-devops/</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93319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BACFB3-8B18-F186-25D2-C0E0C1E7154A}"/>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Rectangle 2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itle 1">
            <a:extLst>
              <a:ext uri="{FF2B5EF4-FFF2-40B4-BE49-F238E27FC236}">
                <a16:creationId xmlns:a16="http://schemas.microsoft.com/office/drawing/2014/main" id="{8147A38C-CCA5-39B7-802B-57C179F5D6CE}"/>
              </a:ext>
            </a:extLst>
          </p:cNvPr>
          <p:cNvSpPr txBox="1">
            <a:spLocks/>
          </p:cNvSpPr>
          <p:nvPr/>
        </p:nvSpPr>
        <p:spPr>
          <a:xfrm>
            <a:off x="1524000" y="1293338"/>
            <a:ext cx="9144000" cy="32745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7200" b="1" i="0" u="none" strike="noStrike" kern="1200" cap="none" spc="0" normalizeH="0" baseline="0" noProof="0" dirty="0">
                <a:ln>
                  <a:noFill/>
                </a:ln>
                <a:solidFill>
                  <a:prstClr val="black"/>
                </a:solidFill>
                <a:effectLst/>
                <a:uLnTx/>
                <a:uFillTx/>
                <a:latin typeface="Aptos Display" panose="02110004020202020204"/>
                <a:ea typeface="+mj-ea"/>
                <a:cs typeface="+mj-cs"/>
              </a:rPr>
              <a:t>THANK YOU</a:t>
            </a:r>
          </a:p>
        </p:txBody>
      </p:sp>
      <p:cxnSp>
        <p:nvCxnSpPr>
          <p:cNvPr id="26" name="Straight Connector 25">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6714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1530</TotalTime>
  <Words>1609</Words>
  <Application>Microsoft Office PowerPoint</Application>
  <PresentationFormat>Widescreen</PresentationFormat>
  <Paragraphs>87</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Calibri</vt:lpstr>
      <vt:lpstr>Times New Roman</vt:lpstr>
      <vt:lpstr>Office Theme</vt:lpstr>
      <vt:lpstr>PowerPoint Presentation</vt:lpstr>
      <vt:lpstr>What challenges are associated with a traditional application lifecycle?</vt:lpstr>
      <vt:lpstr>What is DevOps:</vt:lpstr>
      <vt:lpstr>What is DevOps:</vt:lpstr>
      <vt:lpstr>What are the key elements of DevOps culture?</vt:lpstr>
      <vt:lpstr>DevOps goals and benefits:</vt:lpstr>
      <vt:lpstr>DevOps Lifecycle:</vt:lpstr>
      <vt:lpstr>DevOps Lifecycle:</vt:lpstr>
      <vt:lpstr>PowerPoint Presentation</vt:lpstr>
      <vt:lpstr>PowerPoint Presentation</vt:lpstr>
      <vt:lpstr>CI/CD:</vt:lpstr>
      <vt:lpstr>CI/CD Pipelines:</vt:lpstr>
      <vt:lpstr>Building Our CI/CD pipeline:</vt:lpstr>
      <vt:lpstr>Building Our CI/CD pipeline:</vt:lpstr>
      <vt:lpstr>Building Our CI/CD pipeline:</vt:lpstr>
      <vt:lpstr>Building Our CI/CD pipeline:</vt:lpstr>
      <vt:lpstr>Building Our CI/CD pipeline:</vt:lpstr>
      <vt:lpstr>Building Our CI/CD pipeline:</vt:lpstr>
      <vt:lpstr>Building Our CI/CD pipeline:</vt:lpstr>
      <vt:lpstr>Building Our CI/CD pipeline:</vt:lpstr>
      <vt:lpstr>Building Our CI/CD pipeline: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alHasan 20367648</dc:creator>
  <cp:lastModifiedBy>alHasan 20367648</cp:lastModifiedBy>
  <cp:revision>468</cp:revision>
  <dcterms:created xsi:type="dcterms:W3CDTF">2026-03-07T15:17:43Z</dcterms:created>
  <dcterms:modified xsi:type="dcterms:W3CDTF">2026-03-31T06:21:37Z</dcterms:modified>
</cp:coreProperties>
</file>