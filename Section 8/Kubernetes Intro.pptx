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341" r:id="rId3"/>
    <p:sldId id="342" r:id="rId4"/>
    <p:sldId id="343" r:id="rId5"/>
    <p:sldId id="344" r:id="rId6"/>
    <p:sldId id="346" r:id="rId7"/>
    <p:sldId id="347" r:id="rId8"/>
    <p:sldId id="348" r:id="rId9"/>
    <p:sldId id="349" r:id="rId10"/>
    <p:sldId id="350" r:id="rId11"/>
    <p:sldId id="353" r:id="rId12"/>
    <p:sldId id="354" r:id="rId13"/>
    <p:sldId id="355" r:id="rId14"/>
    <p:sldId id="340" r:id="rId15"/>
    <p:sldId id="27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902" autoAdjust="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06:25:10.7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923 715 24575,'-36'-2'0,"1"-2"0,-1-1 0,-37-11 0,-4 0 0,58 11 0,0 0 0,0-1 0,-18-9 0,18 7 0,0 0 0,-34-7 0,41 12 0,1 0 0,-1-2 0,1 1 0,0-1 0,0-1 0,1 1 0,-1-2 0,1 0 0,-16-14 0,-5-8 0,-38-46 0,64 70 0,-12-18 0,1 0 0,1-2 0,1 1 0,1-2 0,-17-48 0,19 45 0,-1 0 0,-2 1 0,-1 0 0,-24-35 0,10 28-1365,3 8-5461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06:25:11.4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24575,'0'5'0,"5"5"0,1 7 0,0 4 0,-1 4 0,-2 11 0,-1 5 0,-1 8 0,0 2 0,-1 0 0,-5 6 0,-2-2 0,6-10 0,2-13-8191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06:25:12.4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24575,'9'5'0,"4"5"0,8 2 0,5-1 0,3 2 0,2-2 0,0-2 0,-1-3 0,3 3 0,7-1 0,0-1 0,3 7 0,-6 1-8191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06:25:15.9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1 508 24575,'0'0'0,"0"1"0,0 0 0,0 0 0,0 0 0,0 0 0,0 0 0,0 0 0,0-1 0,0 1 0,0 0 0,1 0 0,-1 0 0,0 0 0,1-1 0,-1 1 0,0 0 0,1 0 0,-1 0 0,1-1 0,-1 1 0,1 0 0,0-1 0,-1 1 0,1-1 0,0 1 0,-1-1 0,2 1 0,-1 0 0,0-1 0,1 0 0,-1 0 0,0 0 0,1 0 0,-1 0 0,0-1 0,0 1 0,1 0 0,-1 0 0,0-1 0,0 1 0,1-1 0,-1 1 0,0-1 0,1 0 0,4-3 0,1-1 0,-1 1 0,0-1 0,-1 0 0,7-8 0,29-45 0,-34 45 0,1 2 0,0-1 0,1 1 0,0 0 0,0 1 0,1 0 0,20-15 0,107-54 0,-44 28 0,21-24 0,-95 63-227,-1-2-1,-1 0 1,0 0-1,-1-2 1,16-19-1,-18 17-6598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06:25:17.4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24575,'8'1'0,"1"1"0,-1-1 0,0 1 0,0 1 0,0 0 0,0 0 0,8 4 0,26 10 0,-9-9 0,-8-2 0,0 1 0,-1 0 0,1 2 0,-1 1 0,-1 1 0,31 19 0,-51-28 3,-1-1 0,0 0 0,0 1 0,0 0-1,0-1 1,-1 1 0,1 0 0,0 0 0,-1 0-1,1 0 1,-1 0 0,0 0 0,0 0 0,0 1 0,0-1-1,0 0 1,0 1 0,0-1 0,-1 1 0,1-1-1,-1 1 1,0 3 0,-1-1-57,0 1 1,-1-1-1,1 1 0,-1-1 1,-1 1-1,1-1 0,-6 9 1,-4 8-948,3-2-5825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9D4E11-9C44-4A69-B08E-8C90E25E9E99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7DA465-4BEF-420A-80B9-168D75A797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3697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7DA465-4BEF-420A-80B9-168D75A7979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2047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1CD14-D954-08A6-6E4D-0AACA8C78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87CEAA-185C-E4D8-A498-C2A356C34C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FE0011-BBCC-F5EC-9413-70C4E18085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7A86E3-5AE5-8242-CAB4-D4DA939DE2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DA465-4BEF-420A-80B9-168D75A7979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04511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3C007-E809-6FB3-6C36-0FA5DDAF2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FE72B1-A15E-CFCC-280A-919679E947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3E7134-12F2-F44C-4615-04B5A6B97B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5EA708-5DB8-E545-6C5C-FF45138148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DA465-4BEF-420A-80B9-168D75A7979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20005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641A2-FC9C-C8AD-1675-DDCA0AFE8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75C9D1-87EC-1290-9035-7065F033F9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EC1774-C6C5-FCD1-5CB2-73D998D777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989D72-23BC-59CE-16CF-E54B800C18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DA465-4BEF-420A-80B9-168D75A7979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94597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CAA30-E0FB-B03D-76FE-82F7E5F8A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25B906-7EF1-7948-473B-1044CD6A96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59AF6C-BC31-4178-716F-A6AA4E6AD7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FB7501-FCA4-406C-5864-3B5E89EAD8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DA465-4BEF-420A-80B9-168D75A7979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29689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B9A00-1C0B-2515-64A3-0332300B4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24F981-13B4-BF14-B4EF-6FF72C53C6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73AF1A-EB94-412D-79FF-8E78D389A2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569D2B-5520-7E0F-6E98-465DA4403A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DA465-4BEF-420A-80B9-168D75A7979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46189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92D2C-9126-1627-594D-47E7769DF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C43DD8-3465-E92B-AE16-14C1998E90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E43B95-7579-8DE2-9FD7-40A633FC52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59AB1C-2592-E423-FFA6-45E5B26D71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DA465-4BEF-420A-80B9-168D75A7979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66323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1C36F-7C95-3910-A1BE-FA2D74CF7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5E71B1-4E11-622B-9A0B-03E8F069A9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D048E8-ECA0-512B-5D86-01151D9638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303917-2A2A-59A4-3EAD-70DD3FAD1E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DA465-4BEF-420A-80B9-168D75A7979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12613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6B82F-91AC-3500-305B-9E2D3E636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7946F6-D52C-DC7E-DDE3-757F435208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732C99-FD97-7623-9DC5-D0B0908809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ABB82D-3B51-832B-FC86-8E1CF3C33C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DA465-4BEF-420A-80B9-168D75A7979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99431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69FB9-3349-74D8-13A4-A99718168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DBCCDA-14EC-1A55-9C3D-534CE69AEC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8D3347-E24B-1A7F-6A2F-68B42945D0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C669F2-197A-F5FE-A686-BDF8646611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DA465-4BEF-420A-80B9-168D75A7979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650624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89574-1F71-4256-E209-2066DBCD1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0B6138-42BF-356D-0F37-F9525A9859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9B5C28-734A-CC5E-9B45-0024276505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4D9D96-1D1E-0355-785D-CD31151D67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DA465-4BEF-420A-80B9-168D75A7979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18162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4B4D5-A3C2-84E2-16E5-D6ADF8A77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069C24-73CB-8676-21C5-53A8D499A8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20ACD9-151C-28EF-237E-2CF2A63523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D7699-C0D1-9F67-B688-44DFD11577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DA465-4BEF-420A-80B9-168D75A7979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29271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082D1-C06C-FD7F-AA8D-119B77249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1F57A8-B442-2A4F-0DC6-5903AB9CDB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8E8ADD-B169-7282-6C3C-3F49C31C65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8EDE3D-5A4C-DA3C-8BA3-E7D2BB5A2A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DA465-4BEF-420A-80B9-168D75A7979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4462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54594-8402-5F1A-4944-8B900FFF6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5390CA-D78F-E306-ABFA-F80C727B19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CEDECD-1832-DF1D-40B3-E8416C0EED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48C278-F3E9-41AA-CEDB-F33EABF330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4E50753-C76C-40FB-A654-1A38D8FDFA2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79279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BE3CA-8603-956C-FE73-7961D0B26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2846B5-91CF-4276-E2CE-F7F9C245FB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5140E9-E8A5-6367-59AC-BA157806A3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579D7A-7931-B939-A2D4-E5BC257D41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4E50753-C76C-40FB-A654-1A38D8FDFA2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68598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AD1C8-A001-3671-67CF-2C51F676FF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06ADB7-3594-8E87-3AC3-2D28C93859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E6A22E-43AD-3FAF-B032-45E551E13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75AD8-6727-4031-AB70-90E6355DAEBF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BC8F42-3300-56C2-9C00-53BF0F0E3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7F0A59-56B7-BB1A-9165-4BEE4A081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2EBA9-F5D8-4B2D-AD8E-964F40FFF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5356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494C1-D301-D617-62A6-B5B215F6B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4752BD-C41C-9957-4390-1752AB758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0A4FB9-FBC8-8247-109F-FCD90198C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75AD8-6727-4031-AB70-90E6355DAEBF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37133C-F31A-8484-CA70-C9E5DE128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A77AC4-2595-519D-729F-7AAFDEC9E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2EBA9-F5D8-4B2D-AD8E-964F40FFF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348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1F4A0-31B1-C2F4-E91B-0FD417FCD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C96E0D-9544-C6F5-25D3-66053C1F2D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F691AA-ECA0-DC27-6FA8-C5EF02D64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75AD8-6727-4031-AB70-90E6355DAEBF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B9868D-E9E0-0F4D-E947-F2C221722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DC8033-3552-934C-4037-60C0EFB5B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2EBA9-F5D8-4B2D-AD8E-964F40FFF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599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47608-5968-371C-3C82-5455182A3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1BF24-E95D-63EB-26FE-0465E2C565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682935-2122-CBB1-0F37-A5EE2DFA24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AE2240-CDE3-B77F-97CF-45E873FB0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75AD8-6727-4031-AB70-90E6355DAEBF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D94A1D-3E47-96F1-2345-515C08859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EA3D5B-3399-9627-0440-B288CF47E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2EBA9-F5D8-4B2D-AD8E-964F40FFF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701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0E29B-86DA-D02F-196C-283013B6F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30789D-FA88-CEBC-F410-CF39B79EDC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7D52B0-C28B-3777-C4D4-40BF0213CA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F9CC55-B453-1C2B-573F-6B6CB3B15D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468186-E574-08D3-B1C9-0944A1F534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216783-CACF-23C2-6B18-CBE2E7EC5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75AD8-6727-4031-AB70-90E6355DAEBF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085B0D-F54E-AFCC-2A11-1E72F2E6D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500F25-0CF2-543D-A790-97EBF24FE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2EBA9-F5D8-4B2D-AD8E-964F40FFF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138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D5F0B-55E3-79B5-0FA9-EBB6E0476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FFC90D-4E31-68F9-3649-43E5A1734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75AD8-6727-4031-AB70-90E6355DAEBF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0AE31B-8154-AFEA-99DC-23C1433AF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69E499-67B5-6818-9470-20D3245F9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2EBA9-F5D8-4B2D-AD8E-964F40FFF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595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7925F9-8836-2731-2415-E9048D534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75AD8-6727-4031-AB70-90E6355DAEBF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AA7D79-5525-8E0A-0872-9D9A4FEC2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E29F34-711B-8DB9-3D9E-025C13C50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2EBA9-F5D8-4B2D-AD8E-964F40FFF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498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04517-18A4-4FA1-97C2-5B7271809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C8E9F1-DBBE-1648-ACC4-3E85183E1D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F3CECB-5FCC-3498-F84D-6562D492B5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C0641B-8EC0-21D6-9666-AE48C289A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75AD8-6727-4031-AB70-90E6355DAEBF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C6EC1D-46D6-41E6-7401-40A89E8C8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ED9433-9223-BF6C-24AE-02969CC0B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2EBA9-F5D8-4B2D-AD8E-964F40FFF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848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83CE3-9F07-2E7E-069E-328F6972B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B286A0-D003-72DE-EB76-122BE1FE4F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D15B-F664-F0A4-7CFF-958E87B2DB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4D774E-F9F3-66A9-0A07-35536838A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75AD8-6727-4031-AB70-90E6355DAEBF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A2903F-F711-F7FC-F01D-8A4675E3D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683C8B-BC4A-059A-1B5E-FF9EB1F99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2EBA9-F5D8-4B2D-AD8E-964F40FFF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953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C62A8-46E6-27A3-37F3-237FB7B93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04F02E-5074-7FEC-E1B9-F4B2E32493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4666A9-AD1B-D42A-C4C0-676F40089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75AD8-6727-4031-AB70-90E6355DAEBF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0DA104-5DED-DF4E-392A-C03E4B651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128105-952B-B1DC-CD82-38EBC3A06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2EBA9-F5D8-4B2D-AD8E-964F40FFF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022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FD01F3-4BEC-41B7-2BDE-7E06C9873E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D4BC3B-3D9C-977F-788E-ACC7E9CE96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1A111A-89BC-DF66-0463-F43333A78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75AD8-6727-4031-AB70-90E6355DAEBF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A8A549-0BFE-FAB8-9B87-43E0207B6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7CB065-A3F6-F2FF-4F8F-7C9EFA203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2EBA9-F5D8-4B2D-AD8E-964F40FFF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562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6AAF0B-97C5-A7E9-99FB-069DFA852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E799F4-0586-FCF1-7796-FFBE5F944C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4A3930-F78A-5717-2B13-9C168BAE5E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C75AD8-6727-4031-AB70-90E6355DAEBF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05B497-83F6-BD21-E492-D78C7AD337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5A1A65-CA88-36B2-EBE7-D29EF1CC43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22EBA9-F5D8-4B2D-AD8E-964F40FFF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503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13" Type="http://schemas.openxmlformats.org/officeDocument/2006/relationships/image" Target="../media/image12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12" Type="http://schemas.openxmlformats.org/officeDocument/2006/relationships/customXml" Target="../ink/ink4.xml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.xml"/><Relationship Id="rId11" Type="http://schemas.openxmlformats.org/officeDocument/2006/relationships/image" Target="../media/image11.png"/><Relationship Id="rId5" Type="http://schemas.openxmlformats.org/officeDocument/2006/relationships/image" Target="../media/image8.png"/><Relationship Id="rId15" Type="http://schemas.openxmlformats.org/officeDocument/2006/relationships/image" Target="../media/image13.png"/><Relationship Id="rId10" Type="http://schemas.openxmlformats.org/officeDocument/2006/relationships/customXml" Target="../ink/ink3.xml"/><Relationship Id="rId4" Type="http://schemas.openxmlformats.org/officeDocument/2006/relationships/image" Target="../media/image7.png"/><Relationship Id="rId9" Type="http://schemas.openxmlformats.org/officeDocument/2006/relationships/image" Target="../media/image10.png"/><Relationship Id="rId14" Type="http://schemas.openxmlformats.org/officeDocument/2006/relationships/customXml" Target="../ink/ink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3BC73A15-B3DA-284C-F8FF-F92DAA0060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67" t="8498" r="9872"/>
          <a:stretch>
            <a:fillRect/>
          </a:stretch>
        </p:blipFill>
        <p:spPr>
          <a:xfrm>
            <a:off x="-150472" y="-1"/>
            <a:ext cx="8053987" cy="6275193"/>
          </a:xfrm>
          <a:prstGeom prst="rect">
            <a:avLst/>
          </a:prstGeom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8C3DC4F-1360-A13C-86B1-D4CAA1B3F0FE}"/>
              </a:ext>
            </a:extLst>
          </p:cNvPr>
          <p:cNvSpPr/>
          <p:nvPr/>
        </p:nvSpPr>
        <p:spPr>
          <a:xfrm>
            <a:off x="-150472" y="-2"/>
            <a:ext cx="12191998" cy="6857999"/>
          </a:xfrm>
          <a:custGeom>
            <a:avLst/>
            <a:gdLst>
              <a:gd name="csX0" fmla="*/ 707924 w 12191998"/>
              <a:gd name="csY0" fmla="*/ 0 h 6857999"/>
              <a:gd name="csX1" fmla="*/ 812799 w 12191998"/>
              <a:gd name="csY1" fmla="*/ 0 h 6857999"/>
              <a:gd name="csX2" fmla="*/ 812799 w 12191998"/>
              <a:gd name="csY2" fmla="*/ 4913671 h 6857999"/>
              <a:gd name="csX3" fmla="*/ 1166761 w 12191998"/>
              <a:gd name="csY3" fmla="*/ 5267633 h 6857999"/>
              <a:gd name="csX4" fmla="*/ 1166760 w 12191998"/>
              <a:gd name="csY4" fmla="*/ 5267634 h 6857999"/>
              <a:gd name="csX5" fmla="*/ 1520722 w 12191998"/>
              <a:gd name="csY5" fmla="*/ 4913672 h 6857999"/>
              <a:gd name="csX6" fmla="*/ 1520723 w 12191998"/>
              <a:gd name="csY6" fmla="*/ 0 h 6857999"/>
              <a:gd name="csX7" fmla="*/ 1625599 w 12191998"/>
              <a:gd name="csY7" fmla="*/ 0 h 6857999"/>
              <a:gd name="csX8" fmla="*/ 1625599 w 12191998"/>
              <a:gd name="csY8" fmla="*/ 5480830 h 6857999"/>
              <a:gd name="csX9" fmla="*/ 1979561 w 12191998"/>
              <a:gd name="csY9" fmla="*/ 5834792 h 6857999"/>
              <a:gd name="csX10" fmla="*/ 1979560 w 12191998"/>
              <a:gd name="csY10" fmla="*/ 5834793 h 6857999"/>
              <a:gd name="csX11" fmla="*/ 2333523 w 12191998"/>
              <a:gd name="csY11" fmla="*/ 5480831 h 6857999"/>
              <a:gd name="csX12" fmla="*/ 2333523 w 12191998"/>
              <a:gd name="csY12" fmla="*/ 0 h 6857999"/>
              <a:gd name="csX13" fmla="*/ 2438399 w 12191998"/>
              <a:gd name="csY13" fmla="*/ 0 h 6857999"/>
              <a:gd name="csX14" fmla="*/ 2438399 w 12191998"/>
              <a:gd name="csY14" fmla="*/ 4913670 h 6857999"/>
              <a:gd name="csX15" fmla="*/ 2792361 w 12191998"/>
              <a:gd name="csY15" fmla="*/ 5267632 h 6857999"/>
              <a:gd name="csX16" fmla="*/ 2792360 w 12191998"/>
              <a:gd name="csY16" fmla="*/ 5267633 h 6857999"/>
              <a:gd name="csX17" fmla="*/ 3146323 w 12191998"/>
              <a:gd name="csY17" fmla="*/ 4913671 h 6857999"/>
              <a:gd name="csX18" fmla="*/ 3146323 w 12191998"/>
              <a:gd name="csY18" fmla="*/ 0 h 6857999"/>
              <a:gd name="csX19" fmla="*/ 3245059 w 12191998"/>
              <a:gd name="csY19" fmla="*/ 0 h 6857999"/>
              <a:gd name="csX20" fmla="*/ 3245059 w 12191998"/>
              <a:gd name="csY20" fmla="*/ 5480830 h 6857999"/>
              <a:gd name="csX21" fmla="*/ 3599021 w 12191998"/>
              <a:gd name="csY21" fmla="*/ 5834792 h 6857999"/>
              <a:gd name="csX22" fmla="*/ 3599020 w 12191998"/>
              <a:gd name="csY22" fmla="*/ 5834793 h 6857999"/>
              <a:gd name="csX23" fmla="*/ 3952982 w 12191998"/>
              <a:gd name="csY23" fmla="*/ 5480831 h 6857999"/>
              <a:gd name="csX24" fmla="*/ 3952983 w 12191998"/>
              <a:gd name="csY24" fmla="*/ 0 h 6857999"/>
              <a:gd name="csX25" fmla="*/ 4051719 w 12191998"/>
              <a:gd name="csY25" fmla="*/ 0 h 6857999"/>
              <a:gd name="csX26" fmla="*/ 4051719 w 12191998"/>
              <a:gd name="csY26" fmla="*/ 4913670 h 6857999"/>
              <a:gd name="csX27" fmla="*/ 4405680 w 12191998"/>
              <a:gd name="csY27" fmla="*/ 5267632 h 6857999"/>
              <a:gd name="csX28" fmla="*/ 4405680 w 12191998"/>
              <a:gd name="csY28" fmla="*/ 5267633 h 6857999"/>
              <a:gd name="csX29" fmla="*/ 4759641 w 12191998"/>
              <a:gd name="csY29" fmla="*/ 4913671 h 6857999"/>
              <a:gd name="csX30" fmla="*/ 4759642 w 12191998"/>
              <a:gd name="csY30" fmla="*/ 0 h 6857999"/>
              <a:gd name="csX31" fmla="*/ 4870658 w 12191998"/>
              <a:gd name="csY31" fmla="*/ 0 h 6857999"/>
              <a:gd name="csX32" fmla="*/ 4870658 w 12191998"/>
              <a:gd name="csY32" fmla="*/ 5480830 h 6857999"/>
              <a:gd name="csX33" fmla="*/ 5224620 w 12191998"/>
              <a:gd name="csY33" fmla="*/ 5834792 h 6857999"/>
              <a:gd name="csX34" fmla="*/ 5224619 w 12191998"/>
              <a:gd name="csY34" fmla="*/ 5834793 h 6857999"/>
              <a:gd name="csX35" fmla="*/ 5578581 w 12191998"/>
              <a:gd name="csY35" fmla="*/ 5480831 h 6857999"/>
              <a:gd name="csX36" fmla="*/ 5578582 w 12191998"/>
              <a:gd name="csY36" fmla="*/ 0 h 6857999"/>
              <a:gd name="csX37" fmla="*/ 5686528 w 12191998"/>
              <a:gd name="csY37" fmla="*/ 0 h 6857999"/>
              <a:gd name="csX38" fmla="*/ 5686528 w 12191998"/>
              <a:gd name="csY38" fmla="*/ 4913669 h 6857999"/>
              <a:gd name="csX39" fmla="*/ 6040490 w 12191998"/>
              <a:gd name="csY39" fmla="*/ 5267631 h 6857999"/>
              <a:gd name="csX40" fmla="*/ 6040489 w 12191998"/>
              <a:gd name="csY40" fmla="*/ 5267632 h 6857999"/>
              <a:gd name="csX41" fmla="*/ 6394451 w 12191998"/>
              <a:gd name="csY41" fmla="*/ 4913670 h 6857999"/>
              <a:gd name="csX42" fmla="*/ 6394452 w 12191998"/>
              <a:gd name="csY42" fmla="*/ 0 h 6857999"/>
              <a:gd name="csX43" fmla="*/ 6502398 w 12191998"/>
              <a:gd name="csY43" fmla="*/ 0 h 6857999"/>
              <a:gd name="csX44" fmla="*/ 6502398 w 12191998"/>
              <a:gd name="csY44" fmla="*/ 4913669 h 6857999"/>
              <a:gd name="csX45" fmla="*/ 6856360 w 12191998"/>
              <a:gd name="csY45" fmla="*/ 5267631 h 6857999"/>
              <a:gd name="csX46" fmla="*/ 6856359 w 12191998"/>
              <a:gd name="csY46" fmla="*/ 5267632 h 6857999"/>
              <a:gd name="csX47" fmla="*/ 7210321 w 12191998"/>
              <a:gd name="csY47" fmla="*/ 4913670 h 6857999"/>
              <a:gd name="csX48" fmla="*/ 7210322 w 12191998"/>
              <a:gd name="csY48" fmla="*/ 0 h 6857999"/>
              <a:gd name="csX49" fmla="*/ 12191998 w 12191998"/>
              <a:gd name="csY49" fmla="*/ 0 h 6857999"/>
              <a:gd name="csX50" fmla="*/ 12191998 w 12191998"/>
              <a:gd name="csY50" fmla="*/ 6857999 h 6857999"/>
              <a:gd name="csX51" fmla="*/ 0 w 12191998"/>
              <a:gd name="csY51" fmla="*/ 6857999 h 6857999"/>
              <a:gd name="csX52" fmla="*/ 0 w 12191998"/>
              <a:gd name="csY52" fmla="*/ 5480831 h 6857999"/>
              <a:gd name="csX53" fmla="*/ 353962 w 12191998"/>
              <a:gd name="csY53" fmla="*/ 5834793 h 6857999"/>
              <a:gd name="csX54" fmla="*/ 353961 w 12191998"/>
              <a:gd name="csY54" fmla="*/ 5834794 h 6857999"/>
              <a:gd name="csX55" fmla="*/ 707923 w 12191998"/>
              <a:gd name="csY55" fmla="*/ 5480832 h 68579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</a:cxnLst>
            <a:rect l="l" t="t" r="r" b="b"/>
            <a:pathLst>
              <a:path w="12191998" h="6857999">
                <a:moveTo>
                  <a:pt x="707924" y="0"/>
                </a:moveTo>
                <a:lnTo>
                  <a:pt x="812799" y="0"/>
                </a:lnTo>
                <a:lnTo>
                  <a:pt x="812799" y="4913671"/>
                </a:lnTo>
                <a:cubicBezTo>
                  <a:pt x="812799" y="5109159"/>
                  <a:pt x="971273" y="5267633"/>
                  <a:pt x="1166761" y="5267633"/>
                </a:cubicBezTo>
                <a:lnTo>
                  <a:pt x="1166760" y="5267634"/>
                </a:lnTo>
                <a:cubicBezTo>
                  <a:pt x="1362248" y="5267634"/>
                  <a:pt x="1520722" y="5109160"/>
                  <a:pt x="1520722" y="4913672"/>
                </a:cubicBezTo>
                <a:lnTo>
                  <a:pt x="1520723" y="0"/>
                </a:lnTo>
                <a:lnTo>
                  <a:pt x="1625599" y="0"/>
                </a:lnTo>
                <a:lnTo>
                  <a:pt x="1625599" y="5480830"/>
                </a:lnTo>
                <a:cubicBezTo>
                  <a:pt x="1625599" y="5676318"/>
                  <a:pt x="1784073" y="5834792"/>
                  <a:pt x="1979561" y="5834792"/>
                </a:cubicBezTo>
                <a:lnTo>
                  <a:pt x="1979560" y="5834793"/>
                </a:lnTo>
                <a:cubicBezTo>
                  <a:pt x="2175049" y="5834793"/>
                  <a:pt x="2333523" y="5676319"/>
                  <a:pt x="2333523" y="5480831"/>
                </a:cubicBezTo>
                <a:lnTo>
                  <a:pt x="2333523" y="0"/>
                </a:lnTo>
                <a:lnTo>
                  <a:pt x="2438399" y="0"/>
                </a:lnTo>
                <a:lnTo>
                  <a:pt x="2438399" y="4913670"/>
                </a:lnTo>
                <a:cubicBezTo>
                  <a:pt x="2438399" y="5109158"/>
                  <a:pt x="2596873" y="5267632"/>
                  <a:pt x="2792361" y="5267632"/>
                </a:cubicBezTo>
                <a:lnTo>
                  <a:pt x="2792360" y="5267633"/>
                </a:lnTo>
                <a:cubicBezTo>
                  <a:pt x="2987848" y="5267633"/>
                  <a:pt x="3146323" y="5109159"/>
                  <a:pt x="3146323" y="4913671"/>
                </a:cubicBezTo>
                <a:lnTo>
                  <a:pt x="3146323" y="0"/>
                </a:lnTo>
                <a:lnTo>
                  <a:pt x="3245059" y="0"/>
                </a:lnTo>
                <a:lnTo>
                  <a:pt x="3245059" y="5480830"/>
                </a:lnTo>
                <a:cubicBezTo>
                  <a:pt x="3245059" y="5676318"/>
                  <a:pt x="3403533" y="5834792"/>
                  <a:pt x="3599021" y="5834792"/>
                </a:cubicBezTo>
                <a:lnTo>
                  <a:pt x="3599020" y="5834793"/>
                </a:lnTo>
                <a:cubicBezTo>
                  <a:pt x="3794508" y="5834793"/>
                  <a:pt x="3952982" y="5676319"/>
                  <a:pt x="3952982" y="5480831"/>
                </a:cubicBezTo>
                <a:lnTo>
                  <a:pt x="3952983" y="0"/>
                </a:lnTo>
                <a:lnTo>
                  <a:pt x="4051719" y="0"/>
                </a:lnTo>
                <a:lnTo>
                  <a:pt x="4051719" y="4913670"/>
                </a:lnTo>
                <a:cubicBezTo>
                  <a:pt x="4051719" y="5109158"/>
                  <a:pt x="4210192" y="5267632"/>
                  <a:pt x="4405680" y="5267632"/>
                </a:cubicBezTo>
                <a:lnTo>
                  <a:pt x="4405680" y="5267633"/>
                </a:lnTo>
                <a:cubicBezTo>
                  <a:pt x="4601168" y="5267633"/>
                  <a:pt x="4759641" y="5109159"/>
                  <a:pt x="4759641" y="4913671"/>
                </a:cubicBezTo>
                <a:lnTo>
                  <a:pt x="4759642" y="0"/>
                </a:lnTo>
                <a:lnTo>
                  <a:pt x="4870658" y="0"/>
                </a:lnTo>
                <a:lnTo>
                  <a:pt x="4870658" y="5480830"/>
                </a:lnTo>
                <a:cubicBezTo>
                  <a:pt x="4870658" y="5676318"/>
                  <a:pt x="5029133" y="5834792"/>
                  <a:pt x="5224620" y="5834792"/>
                </a:cubicBezTo>
                <a:lnTo>
                  <a:pt x="5224619" y="5834793"/>
                </a:lnTo>
                <a:cubicBezTo>
                  <a:pt x="5420108" y="5834793"/>
                  <a:pt x="5578581" y="5676319"/>
                  <a:pt x="5578581" y="5480831"/>
                </a:cubicBezTo>
                <a:lnTo>
                  <a:pt x="5578582" y="0"/>
                </a:lnTo>
                <a:lnTo>
                  <a:pt x="5686528" y="0"/>
                </a:lnTo>
                <a:lnTo>
                  <a:pt x="5686528" y="4913669"/>
                </a:lnTo>
                <a:cubicBezTo>
                  <a:pt x="5686528" y="5109157"/>
                  <a:pt x="5845003" y="5267631"/>
                  <a:pt x="6040490" y="5267631"/>
                </a:cubicBezTo>
                <a:lnTo>
                  <a:pt x="6040489" y="5267632"/>
                </a:lnTo>
                <a:cubicBezTo>
                  <a:pt x="6235977" y="5267632"/>
                  <a:pt x="6394451" y="5109158"/>
                  <a:pt x="6394451" y="4913670"/>
                </a:cubicBezTo>
                <a:lnTo>
                  <a:pt x="6394452" y="0"/>
                </a:lnTo>
                <a:lnTo>
                  <a:pt x="6502398" y="0"/>
                </a:lnTo>
                <a:lnTo>
                  <a:pt x="6502398" y="4913669"/>
                </a:lnTo>
                <a:cubicBezTo>
                  <a:pt x="6502398" y="5109157"/>
                  <a:pt x="6660872" y="5267631"/>
                  <a:pt x="6856360" y="5267631"/>
                </a:cubicBezTo>
                <a:lnTo>
                  <a:pt x="6856359" y="5267632"/>
                </a:lnTo>
                <a:cubicBezTo>
                  <a:pt x="7051847" y="5267632"/>
                  <a:pt x="7210321" y="5109158"/>
                  <a:pt x="7210321" y="4913670"/>
                </a:cubicBezTo>
                <a:lnTo>
                  <a:pt x="7210322" y="0"/>
                </a:lnTo>
                <a:lnTo>
                  <a:pt x="12191998" y="0"/>
                </a:lnTo>
                <a:lnTo>
                  <a:pt x="12191998" y="6857999"/>
                </a:lnTo>
                <a:lnTo>
                  <a:pt x="0" y="6857999"/>
                </a:lnTo>
                <a:lnTo>
                  <a:pt x="0" y="5480831"/>
                </a:lnTo>
                <a:cubicBezTo>
                  <a:pt x="0" y="5676319"/>
                  <a:pt x="158474" y="5834793"/>
                  <a:pt x="353962" y="5834793"/>
                </a:cubicBezTo>
                <a:lnTo>
                  <a:pt x="353961" y="5834794"/>
                </a:lnTo>
                <a:cubicBezTo>
                  <a:pt x="549449" y="5834794"/>
                  <a:pt x="707923" y="5676320"/>
                  <a:pt x="707923" y="548083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C31E734-B70C-3F96-2B91-5A7BC4397B15}"/>
              </a:ext>
            </a:extLst>
          </p:cNvPr>
          <p:cNvSpPr txBox="1"/>
          <p:nvPr/>
        </p:nvSpPr>
        <p:spPr>
          <a:xfrm>
            <a:off x="6450957" y="1548936"/>
            <a:ext cx="616930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Understand Kubernetes</a:t>
            </a:r>
            <a:endParaRPr kumimoji="0" lang="en-US" sz="4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40062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7000">
              <a:srgbClr val="DDE8EA"/>
            </a:gs>
            <a:gs pos="100000">
              <a:schemeClr val="accent1">
                <a:lumMod val="45000"/>
                <a:lumOff val="55000"/>
              </a:schemeClr>
            </a:gs>
            <a:gs pos="93000">
              <a:schemeClr val="accent1">
                <a:lumMod val="30000"/>
                <a:lumOff val="70000"/>
                <a:alpha val="6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74535F-4BE6-A1F7-8738-F5CF0E999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3EAEF33C-6AAE-550A-0777-92EA78CFA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7984"/>
            <a:ext cx="11434916" cy="1325563"/>
          </a:xfrm>
        </p:spPr>
        <p:txBody>
          <a:bodyPr/>
          <a:lstStyle/>
          <a:p>
            <a:r>
              <a:rPr lang="en-US" b="1" dirty="0"/>
              <a:t>Kubernetes defined (Since 2014, by Google):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3B4157F-988C-DDC3-6350-DCE39A634F95}"/>
              </a:ext>
            </a:extLst>
          </p:cNvPr>
          <p:cNvSpPr/>
          <p:nvPr/>
        </p:nvSpPr>
        <p:spPr>
          <a:xfrm>
            <a:off x="148223" y="1345220"/>
            <a:ext cx="111760" cy="97227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00D5A9B-ED6C-13EA-0036-7ECB72091C4A}"/>
              </a:ext>
            </a:extLst>
          </p:cNvPr>
          <p:cNvSpPr/>
          <p:nvPr/>
        </p:nvSpPr>
        <p:spPr>
          <a:xfrm>
            <a:off x="224422" y="1345220"/>
            <a:ext cx="11743155" cy="97227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Kubernetes, also known as k8s or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kube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is an open-source container orchestration platform for scheduling and automating the deployment, management and scaling of containerized applications.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4A41BE0-CBFA-3A59-0A41-D47266337D38}"/>
              </a:ext>
            </a:extLst>
          </p:cNvPr>
          <p:cNvSpPr/>
          <p:nvPr/>
        </p:nvSpPr>
        <p:spPr>
          <a:xfrm>
            <a:off x="148223" y="2424976"/>
            <a:ext cx="111760" cy="97227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474AFAC-2DF7-6365-64C0-6B5233F4F892}"/>
              </a:ext>
            </a:extLst>
          </p:cNvPr>
          <p:cNvSpPr/>
          <p:nvPr/>
        </p:nvSpPr>
        <p:spPr>
          <a:xfrm>
            <a:off x="224422" y="2424976"/>
            <a:ext cx="11743155" cy="97227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As containers proliferated, today, an organization might have hundreds or thousands of them. Operations teams are needed to schedule and automate container deployment, networking, scalability, and availability. Enter container orchestration.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9F12AA1-3004-97A7-5822-462F4AC37FA9}"/>
              </a:ext>
            </a:extLst>
          </p:cNvPr>
          <p:cNvSpPr/>
          <p:nvPr/>
        </p:nvSpPr>
        <p:spPr>
          <a:xfrm>
            <a:off x="148223" y="3504732"/>
            <a:ext cx="111760" cy="97227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B07C104-E67A-0132-5091-4A7C55E24AD6}"/>
              </a:ext>
            </a:extLst>
          </p:cNvPr>
          <p:cNvSpPr/>
          <p:nvPr/>
        </p:nvSpPr>
        <p:spPr>
          <a:xfrm>
            <a:off x="224422" y="3504732"/>
            <a:ext cx="11743155" cy="97227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 a Cloud Native Computing Foundation (CNCF) report, Kubernetes is the second largest open-source project in the world (after Linux) and the primary container orchestration tool for 71% of Fortune 100 companies.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F0CD67D-95F3-813B-8DA0-749EA6FEC0D7}"/>
              </a:ext>
            </a:extLst>
          </p:cNvPr>
          <p:cNvSpPr/>
          <p:nvPr/>
        </p:nvSpPr>
        <p:spPr>
          <a:xfrm>
            <a:off x="148223" y="4584488"/>
            <a:ext cx="111760" cy="97227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2AB9B2E-85B5-EEC3-6974-39731333EF23}"/>
              </a:ext>
            </a:extLst>
          </p:cNvPr>
          <p:cNvSpPr/>
          <p:nvPr/>
        </p:nvSpPr>
        <p:spPr>
          <a:xfrm>
            <a:off x="224422" y="4584488"/>
            <a:ext cx="11743155" cy="97227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 2018, Kubernetes was the CNCF’s first graduate project, becoming one of the fastest-growing open-source projects in history. While other container orchestration options, most notably Docker Swarm and Apache Mesos, gained some traction early on, Kubernetes quickly became the most widely adopted.</a:t>
            </a:r>
          </a:p>
        </p:txBody>
      </p:sp>
    </p:spTree>
    <p:extLst>
      <p:ext uri="{BB962C8B-B14F-4D97-AF65-F5344CB8AC3E}">
        <p14:creationId xmlns:p14="http://schemas.microsoft.com/office/powerpoint/2010/main" val="27663724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7000">
              <a:srgbClr val="DDE8EA"/>
            </a:gs>
            <a:gs pos="100000">
              <a:schemeClr val="accent1">
                <a:lumMod val="45000"/>
                <a:lumOff val="55000"/>
              </a:schemeClr>
            </a:gs>
            <a:gs pos="93000">
              <a:schemeClr val="accent1">
                <a:lumMod val="30000"/>
                <a:lumOff val="70000"/>
                <a:alpha val="6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BB4FC5-E7E3-E979-8555-C36D77177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C007C997-84B0-A4F6-D818-FED584349D60}"/>
              </a:ext>
            </a:extLst>
          </p:cNvPr>
          <p:cNvSpPr/>
          <p:nvPr/>
        </p:nvSpPr>
        <p:spPr>
          <a:xfrm>
            <a:off x="148223" y="224350"/>
            <a:ext cx="111760" cy="646158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698569-4314-8149-7D03-7F7214A8A144}"/>
              </a:ext>
            </a:extLst>
          </p:cNvPr>
          <p:cNvSpPr/>
          <p:nvPr/>
        </p:nvSpPr>
        <p:spPr>
          <a:xfrm>
            <a:off x="224422" y="224350"/>
            <a:ext cx="11743155" cy="646158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Kubernetes schedules and automates container-related tasks throughout the application lifecycle:</a:t>
            </a:r>
            <a:b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br>
              <a:rPr kumimoji="0" lang="en-US" sz="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endParaRPr kumimoji="0" lang="en-US" sz="1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Deployment: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Deploy a specified number of containers to a specified host and keep them running in a desired state.</a:t>
            </a:r>
            <a:b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endParaRPr kumimoji="0" lang="en-US" sz="105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Rollouts: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 rollout is a change to a deployment. Kubernetes lets you initiate, pause, resume, or roll back rollouts.</a:t>
            </a:r>
            <a:b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Service discovery: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Kubernetes can automatically expose a container to the internet or to other containers by using a domain name system (DNS) name or IP address.</a:t>
            </a:r>
            <a:b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endParaRPr kumimoji="0" lang="en-US" sz="105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Storage provisioning: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Set Kubernetes to mount persistent local or cloud storage for your containers as needed.</a:t>
            </a:r>
            <a:b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Load balancing: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Based on CPU usage or custom metrics, Kubernetes load balancing can distribute the workload across the network to maintain performance and stability.</a:t>
            </a:r>
            <a:b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endParaRPr kumimoji="0" lang="en-US" sz="105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Autoscaling: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When traffic spikes, Kubernetes autoscaling can spin up new clusters as needed to handle the additional workload.</a:t>
            </a:r>
            <a:b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Self-healing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for high availability: 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When a container fails, Kubernetes can restart or replace it automatically to prevent downtime. It can also take down containers that don’t meet your health check requirements.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95833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7000">
              <a:srgbClr val="DDE8EA"/>
            </a:gs>
            <a:gs pos="100000">
              <a:schemeClr val="accent1">
                <a:lumMod val="45000"/>
                <a:lumOff val="55000"/>
              </a:schemeClr>
            </a:gs>
            <a:gs pos="93000">
              <a:schemeClr val="accent1">
                <a:lumMod val="30000"/>
                <a:lumOff val="70000"/>
                <a:alpha val="6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C2D104-8EB9-9575-99F7-C4079F475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4E47856-D7F9-A0C5-42BD-5F2202AC9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57319"/>
            <a:ext cx="11434916" cy="1325563"/>
          </a:xfrm>
        </p:spPr>
        <p:txBody>
          <a:bodyPr/>
          <a:lstStyle/>
          <a:p>
            <a:r>
              <a:rPr lang="en-US" b="1" dirty="0"/>
              <a:t>Kubernetes architecture and components: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E0131D-B935-CBA3-3461-A5215AC53B85}"/>
              </a:ext>
            </a:extLst>
          </p:cNvPr>
          <p:cNvSpPr/>
          <p:nvPr/>
        </p:nvSpPr>
        <p:spPr>
          <a:xfrm>
            <a:off x="3549446" y="2278622"/>
            <a:ext cx="3785420" cy="37878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A6A7B5-E8CD-D405-20FD-2A3D446C1E6C}"/>
              </a:ext>
            </a:extLst>
          </p:cNvPr>
          <p:cNvSpPr/>
          <p:nvPr/>
        </p:nvSpPr>
        <p:spPr>
          <a:xfrm>
            <a:off x="4581832" y="3320838"/>
            <a:ext cx="2271252" cy="71038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My APP [Container]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FA65B9A-4BA0-CB3C-1A3F-A6657D6E2D3F}"/>
              </a:ext>
            </a:extLst>
          </p:cNvPr>
          <p:cNvSpPr/>
          <p:nvPr/>
        </p:nvSpPr>
        <p:spPr>
          <a:xfrm>
            <a:off x="4581832" y="4785846"/>
            <a:ext cx="2138517" cy="1054512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DB [container]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0FAA8A-844A-E305-EA4B-A69631CA1127}"/>
              </a:ext>
            </a:extLst>
          </p:cNvPr>
          <p:cNvSpPr txBox="1"/>
          <p:nvPr/>
        </p:nvSpPr>
        <p:spPr>
          <a:xfrm>
            <a:off x="4886632" y="6102368"/>
            <a:ext cx="11110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NODE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713710C-B653-04DA-B9EE-22790052197B}"/>
              </a:ext>
            </a:extLst>
          </p:cNvPr>
          <p:cNvCxnSpPr>
            <a:cxnSpLocks/>
          </p:cNvCxnSpPr>
          <p:nvPr/>
        </p:nvCxnSpPr>
        <p:spPr>
          <a:xfrm flipV="1">
            <a:off x="6853084" y="3062631"/>
            <a:ext cx="727587" cy="61339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1481F93-5143-B2F3-EBBA-1046D03B0C0E}"/>
              </a:ext>
            </a:extLst>
          </p:cNvPr>
          <p:cNvSpPr txBox="1"/>
          <p:nvPr/>
        </p:nvSpPr>
        <p:spPr>
          <a:xfrm>
            <a:off x="7757652" y="2484097"/>
            <a:ext cx="431636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Pod: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the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smallest unit of K8S and is ephemeral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Usually meant to run one app container.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4641870-089F-0335-9CDF-A864B8A4FCEA}"/>
              </a:ext>
            </a:extLst>
          </p:cNvPr>
          <p:cNvCxnSpPr>
            <a:cxnSpLocks/>
          </p:cNvCxnSpPr>
          <p:nvPr/>
        </p:nvCxnSpPr>
        <p:spPr>
          <a:xfrm flipV="1">
            <a:off x="6395884" y="3284970"/>
            <a:ext cx="1361768" cy="161662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DE494404-E2B0-AA0B-FBD7-3A5073835F81}"/>
              </a:ext>
            </a:extLst>
          </p:cNvPr>
          <p:cNvSpPr txBox="1"/>
          <p:nvPr/>
        </p:nvSpPr>
        <p:spPr>
          <a:xfrm>
            <a:off x="7757652" y="3640472"/>
            <a:ext cx="431636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K8S offers out of the box a virtual network which means that each pod gets its own IP address not the container.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43BF830-9985-2C03-FF9E-E736FDB6ED1F}"/>
              </a:ext>
            </a:extLst>
          </p:cNvPr>
          <p:cNvSpPr/>
          <p:nvPr/>
        </p:nvSpPr>
        <p:spPr>
          <a:xfrm>
            <a:off x="4218039" y="5574887"/>
            <a:ext cx="363793" cy="40066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IP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B4EA8AF-14D0-2279-3AFA-C28929FD36C9}"/>
              </a:ext>
            </a:extLst>
          </p:cNvPr>
          <p:cNvSpPr/>
          <p:nvPr/>
        </p:nvSpPr>
        <p:spPr>
          <a:xfrm>
            <a:off x="4218039" y="3613347"/>
            <a:ext cx="363793" cy="40066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IP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61FF721-3656-C970-90DA-0FD8461CB378}"/>
              </a:ext>
            </a:extLst>
          </p:cNvPr>
          <p:cNvSpPr txBox="1"/>
          <p:nvPr/>
        </p:nvSpPr>
        <p:spPr>
          <a:xfrm>
            <a:off x="7757651" y="4963911"/>
            <a:ext cx="43163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But the pod is ephemeral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1222090-D089-B216-7BF3-EAEC07D23E30}"/>
              </a:ext>
            </a:extLst>
          </p:cNvPr>
          <p:cNvSpPr/>
          <p:nvPr/>
        </p:nvSpPr>
        <p:spPr>
          <a:xfrm>
            <a:off x="3549447" y="3191224"/>
            <a:ext cx="1042218" cy="400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Service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01AE78B-4F49-762F-B578-86447AFE5438}"/>
              </a:ext>
            </a:extLst>
          </p:cNvPr>
          <p:cNvSpPr/>
          <p:nvPr/>
        </p:nvSpPr>
        <p:spPr>
          <a:xfrm>
            <a:off x="3549447" y="5112769"/>
            <a:ext cx="1042218" cy="400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Service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4A7D759-67F9-DE1A-C56A-FCCEC96BE40C}"/>
              </a:ext>
            </a:extLst>
          </p:cNvPr>
          <p:cNvSpPr txBox="1"/>
          <p:nvPr/>
        </p:nvSpPr>
        <p:spPr>
          <a:xfrm>
            <a:off x="0" y="1969770"/>
            <a:ext cx="3303641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Service: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Permanent IP address. Lifecycle of pod and service not connected, so even if the pod dies, the service and its IP address will stay.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35D0112-45F1-3EED-CC5B-070E8E10E2C1}"/>
              </a:ext>
            </a:extLst>
          </p:cNvPr>
          <p:cNvCxnSpPr>
            <a:cxnSpLocks/>
          </p:cNvCxnSpPr>
          <p:nvPr/>
        </p:nvCxnSpPr>
        <p:spPr>
          <a:xfrm flipH="1" flipV="1">
            <a:off x="3067664" y="3276567"/>
            <a:ext cx="476868" cy="13594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9926B15-CD9A-45D7-38DF-C100284EC976}"/>
              </a:ext>
            </a:extLst>
          </p:cNvPr>
          <p:cNvCxnSpPr>
            <a:cxnSpLocks/>
          </p:cNvCxnSpPr>
          <p:nvPr/>
        </p:nvCxnSpPr>
        <p:spPr>
          <a:xfrm flipH="1" flipV="1">
            <a:off x="2580970" y="3561315"/>
            <a:ext cx="963562" cy="175178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46" name="Group 45">
            <a:extLst>
              <a:ext uri="{FF2B5EF4-FFF2-40B4-BE49-F238E27FC236}">
                <a16:creationId xmlns:a16="http://schemas.microsoft.com/office/drawing/2014/main" id="{DA4E4802-CC22-4BC3-B010-9544DD01263F}"/>
              </a:ext>
            </a:extLst>
          </p:cNvPr>
          <p:cNvGrpSpPr/>
          <p:nvPr/>
        </p:nvGrpSpPr>
        <p:grpSpPr>
          <a:xfrm>
            <a:off x="3303641" y="1573157"/>
            <a:ext cx="4188538" cy="1453376"/>
            <a:chOff x="3303641" y="1927119"/>
            <a:chExt cx="4188538" cy="1453376"/>
          </a:xfrm>
        </p:grpSpPr>
        <p:sp>
          <p:nvSpPr>
            <p:cNvPr id="42" name="Left Bracket 41">
              <a:extLst>
                <a:ext uri="{FF2B5EF4-FFF2-40B4-BE49-F238E27FC236}">
                  <a16:creationId xmlns:a16="http://schemas.microsoft.com/office/drawing/2014/main" id="{F16883FF-DF49-CB84-59AB-2BE49394D9B4}"/>
                </a:ext>
              </a:extLst>
            </p:cNvPr>
            <p:cNvSpPr/>
            <p:nvPr/>
          </p:nvSpPr>
          <p:spPr>
            <a:xfrm rot="5400000">
              <a:off x="5083278" y="971594"/>
              <a:ext cx="629264" cy="4188538"/>
            </a:xfrm>
            <a:prstGeom prst="leftBracket">
              <a:avLst/>
            </a:prstGeom>
            <a:ln w="381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A7032787-D935-AE9C-12C1-83E372BA1141}"/>
                </a:ext>
              </a:extLst>
            </p:cNvPr>
            <p:cNvCxnSpPr>
              <a:stCxn id="42" idx="1"/>
            </p:cNvCxnSpPr>
            <p:nvPr/>
          </p:nvCxnSpPr>
          <p:spPr>
            <a:xfrm flipV="1">
              <a:off x="5397910" y="1927119"/>
              <a:ext cx="0" cy="824112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66019FE2-3505-20F5-C38E-C3296768FE67}"/>
              </a:ext>
            </a:extLst>
          </p:cNvPr>
          <p:cNvSpPr txBox="1"/>
          <p:nvPr/>
        </p:nvSpPr>
        <p:spPr>
          <a:xfrm>
            <a:off x="3441290" y="832055"/>
            <a:ext cx="43163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Ingress: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Acts like the domain and the bundle of the services.</a:t>
            </a:r>
          </a:p>
        </p:txBody>
      </p:sp>
    </p:spTree>
    <p:extLst>
      <p:ext uri="{BB962C8B-B14F-4D97-AF65-F5344CB8AC3E}">
        <p14:creationId xmlns:p14="http://schemas.microsoft.com/office/powerpoint/2010/main" val="42655750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00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11" grpId="0" animBg="1"/>
      <p:bldP spid="12" grpId="0"/>
      <p:bldP spid="18" grpId="0"/>
      <p:bldP spid="21" grpId="0"/>
      <p:bldP spid="22" grpId="0" animBg="1"/>
      <p:bldP spid="25" grpId="0" animBg="1"/>
      <p:bldP spid="26" grpId="0"/>
      <p:bldP spid="27" grpId="0" animBg="1"/>
      <p:bldP spid="28" grpId="0" animBg="1"/>
      <p:bldP spid="29" grpId="0"/>
      <p:bldP spid="4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7000">
              <a:srgbClr val="DDE8EA"/>
            </a:gs>
            <a:gs pos="100000">
              <a:schemeClr val="accent1">
                <a:lumMod val="45000"/>
                <a:lumOff val="55000"/>
              </a:schemeClr>
            </a:gs>
            <a:gs pos="93000">
              <a:schemeClr val="accent1">
                <a:lumMod val="30000"/>
                <a:lumOff val="70000"/>
                <a:alpha val="6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85E4E9-6A0D-3F20-F06C-6269DCF81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1CD3161-B603-6B52-13DC-2A5EAC4DA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57319"/>
            <a:ext cx="11434916" cy="1325563"/>
          </a:xfrm>
        </p:spPr>
        <p:txBody>
          <a:bodyPr/>
          <a:lstStyle/>
          <a:p>
            <a:r>
              <a:rPr lang="en-US" b="1" dirty="0"/>
              <a:t>Kubernetes architecture and components: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6126AA8-D929-F7AA-79D5-548BC744A6B0}"/>
              </a:ext>
            </a:extLst>
          </p:cNvPr>
          <p:cNvSpPr/>
          <p:nvPr/>
        </p:nvSpPr>
        <p:spPr>
          <a:xfrm>
            <a:off x="4424519" y="2278622"/>
            <a:ext cx="3785420" cy="37878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AF1AAC-2235-380A-8AB7-2591B7FCA899}"/>
              </a:ext>
            </a:extLst>
          </p:cNvPr>
          <p:cNvSpPr/>
          <p:nvPr/>
        </p:nvSpPr>
        <p:spPr>
          <a:xfrm>
            <a:off x="5456905" y="3104534"/>
            <a:ext cx="2271252" cy="71038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My APP [Container]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43DF8B4-6190-326E-D525-0AD695DC103B}"/>
              </a:ext>
            </a:extLst>
          </p:cNvPr>
          <p:cNvSpPr/>
          <p:nvPr/>
        </p:nvSpPr>
        <p:spPr>
          <a:xfrm>
            <a:off x="5456905" y="4549878"/>
            <a:ext cx="2138517" cy="1054512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DB [container]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6B0776-EAA8-61B8-6750-651432B2D962}"/>
              </a:ext>
            </a:extLst>
          </p:cNvPr>
          <p:cNvSpPr txBox="1"/>
          <p:nvPr/>
        </p:nvSpPr>
        <p:spPr>
          <a:xfrm>
            <a:off x="5761705" y="6102368"/>
            <a:ext cx="11110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NODE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2D0FFAC-66F0-FAEC-8C2F-855ED2784D7D}"/>
              </a:ext>
            </a:extLst>
          </p:cNvPr>
          <p:cNvCxnSpPr>
            <a:cxnSpLocks/>
          </p:cNvCxnSpPr>
          <p:nvPr/>
        </p:nvCxnSpPr>
        <p:spPr>
          <a:xfrm>
            <a:off x="7708492" y="2972750"/>
            <a:ext cx="1327353" cy="22277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76939F1-99A4-1A3F-F966-06A6AD0B4083}"/>
              </a:ext>
            </a:extLst>
          </p:cNvPr>
          <p:cNvSpPr txBox="1"/>
          <p:nvPr/>
        </p:nvSpPr>
        <p:spPr>
          <a:xfrm>
            <a:off x="9035846" y="2906046"/>
            <a:ext cx="293492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Config Map: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External configuration of your app.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B61B5C1-AC83-ADDB-CBFC-92FA6405672B}"/>
              </a:ext>
            </a:extLst>
          </p:cNvPr>
          <p:cNvCxnSpPr>
            <a:cxnSpLocks/>
          </p:cNvCxnSpPr>
          <p:nvPr/>
        </p:nvCxnSpPr>
        <p:spPr>
          <a:xfrm>
            <a:off x="7769946" y="4013469"/>
            <a:ext cx="1378971" cy="31334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1AE91F08-B106-84FC-F357-3ABF906A88ED}"/>
              </a:ext>
            </a:extLst>
          </p:cNvPr>
          <p:cNvSpPr/>
          <p:nvPr/>
        </p:nvSpPr>
        <p:spPr>
          <a:xfrm>
            <a:off x="5093112" y="5338919"/>
            <a:ext cx="363793" cy="40066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IP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257909A-EC69-1412-7E4D-99FA204E8FC0}"/>
              </a:ext>
            </a:extLst>
          </p:cNvPr>
          <p:cNvSpPr/>
          <p:nvPr/>
        </p:nvSpPr>
        <p:spPr>
          <a:xfrm>
            <a:off x="5093112" y="3397043"/>
            <a:ext cx="363793" cy="40066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IP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D18ED42-CF0D-7107-8D34-2938C9F7FE88}"/>
              </a:ext>
            </a:extLst>
          </p:cNvPr>
          <p:cNvSpPr/>
          <p:nvPr/>
        </p:nvSpPr>
        <p:spPr>
          <a:xfrm>
            <a:off x="4424520" y="2974920"/>
            <a:ext cx="1042218" cy="400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Service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DDABCF2-4B9E-B017-53B2-DC55F73CBC57}"/>
              </a:ext>
            </a:extLst>
          </p:cNvPr>
          <p:cNvSpPr/>
          <p:nvPr/>
        </p:nvSpPr>
        <p:spPr>
          <a:xfrm>
            <a:off x="4424520" y="4876801"/>
            <a:ext cx="1042218" cy="400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Service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C6764499-E013-5714-9788-F3D030AEA8A8}"/>
              </a:ext>
            </a:extLst>
          </p:cNvPr>
          <p:cNvGrpSpPr/>
          <p:nvPr/>
        </p:nvGrpSpPr>
        <p:grpSpPr>
          <a:xfrm>
            <a:off x="4178714" y="1573157"/>
            <a:ext cx="4188538" cy="1453376"/>
            <a:chOff x="3303641" y="1927119"/>
            <a:chExt cx="4188538" cy="1453376"/>
          </a:xfrm>
        </p:grpSpPr>
        <p:sp>
          <p:nvSpPr>
            <p:cNvPr id="42" name="Left Bracket 41">
              <a:extLst>
                <a:ext uri="{FF2B5EF4-FFF2-40B4-BE49-F238E27FC236}">
                  <a16:creationId xmlns:a16="http://schemas.microsoft.com/office/drawing/2014/main" id="{EDE2F9A6-7FF7-3087-3061-EBF07FC0D522}"/>
                </a:ext>
              </a:extLst>
            </p:cNvPr>
            <p:cNvSpPr/>
            <p:nvPr/>
          </p:nvSpPr>
          <p:spPr>
            <a:xfrm rot="5400000">
              <a:off x="5083278" y="971594"/>
              <a:ext cx="629264" cy="4188538"/>
            </a:xfrm>
            <a:prstGeom prst="leftBracket">
              <a:avLst/>
            </a:prstGeom>
            <a:ln w="381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16BA0D1D-B57C-70D6-F4C6-952FB427003D}"/>
                </a:ext>
              </a:extLst>
            </p:cNvPr>
            <p:cNvCxnSpPr>
              <a:stCxn id="42" idx="1"/>
            </p:cNvCxnSpPr>
            <p:nvPr/>
          </p:nvCxnSpPr>
          <p:spPr>
            <a:xfrm flipV="1">
              <a:off x="5397910" y="1927119"/>
              <a:ext cx="0" cy="824112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BAF85DC3-325D-B8CC-61A3-E1BC69AE1FF7}"/>
              </a:ext>
            </a:extLst>
          </p:cNvPr>
          <p:cNvSpPr txBox="1"/>
          <p:nvPr/>
        </p:nvSpPr>
        <p:spPr>
          <a:xfrm>
            <a:off x="4316363" y="832055"/>
            <a:ext cx="43163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Ingress: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Acts like the domain and the bundle of the services.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23AC2E8-6E41-2DEF-FCF4-15916622167C}"/>
              </a:ext>
            </a:extLst>
          </p:cNvPr>
          <p:cNvSpPr/>
          <p:nvPr/>
        </p:nvSpPr>
        <p:spPr>
          <a:xfrm>
            <a:off x="6661358" y="2676795"/>
            <a:ext cx="1042218" cy="4006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Config Map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9321D8-1EBA-2FD9-A0DD-61A34793E135}"/>
              </a:ext>
            </a:extLst>
          </p:cNvPr>
          <p:cNvSpPr/>
          <p:nvPr/>
        </p:nvSpPr>
        <p:spPr>
          <a:xfrm>
            <a:off x="6671190" y="3813137"/>
            <a:ext cx="1042218" cy="4006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Secret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671693-BE3E-762E-506F-3765231AA8C3}"/>
              </a:ext>
            </a:extLst>
          </p:cNvPr>
          <p:cNvSpPr txBox="1"/>
          <p:nvPr/>
        </p:nvSpPr>
        <p:spPr>
          <a:xfrm>
            <a:off x="9148917" y="4004509"/>
            <a:ext cx="293492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Secret: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Used to store secret</a:t>
            </a:r>
            <a:r>
              <a:rPr kumimoji="0" lang="en-US" sz="2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data like DB credentials. Base64 encoded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367EFDD-DBE4-CB88-1644-3637F3DA44AC}"/>
              </a:ext>
            </a:extLst>
          </p:cNvPr>
          <p:cNvSpPr/>
          <p:nvPr/>
        </p:nvSpPr>
        <p:spPr>
          <a:xfrm>
            <a:off x="5953434" y="5644368"/>
            <a:ext cx="1042218" cy="400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Data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E752CBF-C00F-E7DF-4287-2DFFD05E3E68}"/>
              </a:ext>
            </a:extLst>
          </p:cNvPr>
          <p:cNvCxnSpPr>
            <a:cxnSpLocks/>
            <a:stCxn id="17" idx="1"/>
          </p:cNvCxnSpPr>
          <p:nvPr/>
        </p:nvCxnSpPr>
        <p:spPr>
          <a:xfrm flipH="1">
            <a:off x="3991899" y="5844701"/>
            <a:ext cx="1961535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7FEEAC60-19EB-35F5-17E0-2A802A02C7EA}"/>
              </a:ext>
            </a:extLst>
          </p:cNvPr>
          <p:cNvSpPr txBox="1"/>
          <p:nvPr/>
        </p:nvSpPr>
        <p:spPr>
          <a:xfrm>
            <a:off x="2" y="4436420"/>
            <a:ext cx="431636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Volumes: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attaches a physical storage</a:t>
            </a:r>
            <a:r>
              <a:rPr kumimoji="0" lang="en-US" sz="2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on a hard drive to your pod and that storage can on local or remote.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4" name="Cloud 33">
            <a:extLst>
              <a:ext uri="{FF2B5EF4-FFF2-40B4-BE49-F238E27FC236}">
                <a16:creationId xmlns:a16="http://schemas.microsoft.com/office/drawing/2014/main" id="{E2B29365-D9F8-C986-FC5D-0F110E4AA978}"/>
              </a:ext>
            </a:extLst>
          </p:cNvPr>
          <p:cNvSpPr/>
          <p:nvPr/>
        </p:nvSpPr>
        <p:spPr>
          <a:xfrm>
            <a:off x="34414" y="1729082"/>
            <a:ext cx="3986987" cy="1384995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K8S doesn’t manage data persistence</a:t>
            </a:r>
          </a:p>
        </p:txBody>
      </p:sp>
    </p:spTree>
    <p:extLst>
      <p:ext uri="{BB962C8B-B14F-4D97-AF65-F5344CB8AC3E}">
        <p14:creationId xmlns:p14="http://schemas.microsoft.com/office/powerpoint/2010/main" val="34762760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" grpId="0" animBg="1"/>
      <p:bldP spid="7" grpId="0" animBg="1"/>
      <p:bldP spid="10" grpId="0"/>
      <p:bldP spid="17" grpId="0" animBg="1"/>
      <p:bldP spid="30" grpId="0"/>
      <p:bldP spid="3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7000">
              <a:srgbClr val="DDE8EA"/>
            </a:gs>
            <a:gs pos="100000">
              <a:schemeClr val="accent1">
                <a:lumMod val="45000"/>
                <a:lumOff val="55000"/>
              </a:schemeClr>
            </a:gs>
            <a:gs pos="93000">
              <a:schemeClr val="accent1">
                <a:lumMod val="30000"/>
                <a:lumOff val="70000"/>
                <a:alpha val="6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E34E13-4F20-F85F-4484-30AABB279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8B250B38-17DA-CBE0-81CE-4E207BB20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57319"/>
            <a:ext cx="11434916" cy="1325563"/>
          </a:xfrm>
        </p:spPr>
        <p:txBody>
          <a:bodyPr/>
          <a:lstStyle/>
          <a:p>
            <a:r>
              <a:rPr lang="en-US" b="1" dirty="0"/>
              <a:t>Kubernetes architecture and components: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902E19-4A4B-A7BF-53D0-44F6B77E6EF5}"/>
              </a:ext>
            </a:extLst>
          </p:cNvPr>
          <p:cNvSpPr/>
          <p:nvPr/>
        </p:nvSpPr>
        <p:spPr>
          <a:xfrm>
            <a:off x="6862917" y="1990025"/>
            <a:ext cx="3785420" cy="37878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775F12-0499-0563-2782-173ECF4D498F}"/>
              </a:ext>
            </a:extLst>
          </p:cNvPr>
          <p:cNvSpPr/>
          <p:nvPr/>
        </p:nvSpPr>
        <p:spPr>
          <a:xfrm>
            <a:off x="7777315" y="2781701"/>
            <a:ext cx="2271252" cy="71038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My APP [Container]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5715D77-59D1-213E-8AAE-600421A67E17}"/>
              </a:ext>
            </a:extLst>
          </p:cNvPr>
          <p:cNvSpPr/>
          <p:nvPr/>
        </p:nvSpPr>
        <p:spPr>
          <a:xfrm>
            <a:off x="7777315" y="4227045"/>
            <a:ext cx="2138517" cy="1054512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DB [container]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530B95-C60B-6268-8C90-9CEAAA2A04C0}"/>
              </a:ext>
            </a:extLst>
          </p:cNvPr>
          <p:cNvSpPr txBox="1"/>
          <p:nvPr/>
        </p:nvSpPr>
        <p:spPr>
          <a:xfrm>
            <a:off x="8200103" y="5813771"/>
            <a:ext cx="13371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NODE 1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0B927BA-311E-1FEF-035D-A0432A5176C0}"/>
              </a:ext>
            </a:extLst>
          </p:cNvPr>
          <p:cNvSpPr/>
          <p:nvPr/>
        </p:nvSpPr>
        <p:spPr>
          <a:xfrm>
            <a:off x="7413522" y="5016086"/>
            <a:ext cx="363793" cy="40066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IP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6CFE4F0-4761-6181-4B2C-18CA28360E9B}"/>
              </a:ext>
            </a:extLst>
          </p:cNvPr>
          <p:cNvSpPr/>
          <p:nvPr/>
        </p:nvSpPr>
        <p:spPr>
          <a:xfrm>
            <a:off x="7413522" y="3074210"/>
            <a:ext cx="363793" cy="40066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74E9989-87B3-51C0-487A-76DCB88BB0B6}"/>
              </a:ext>
            </a:extLst>
          </p:cNvPr>
          <p:cNvSpPr/>
          <p:nvPr/>
        </p:nvSpPr>
        <p:spPr>
          <a:xfrm>
            <a:off x="8981768" y="2353962"/>
            <a:ext cx="1042218" cy="4006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Config Map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386262-BE8D-DBB9-DEDC-E06845B9E5E5}"/>
              </a:ext>
            </a:extLst>
          </p:cNvPr>
          <p:cNvSpPr/>
          <p:nvPr/>
        </p:nvSpPr>
        <p:spPr>
          <a:xfrm>
            <a:off x="8991600" y="3490304"/>
            <a:ext cx="1042218" cy="4006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Secret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00E5CE6-8F41-6C1C-39B0-7BAE283148AE}"/>
              </a:ext>
            </a:extLst>
          </p:cNvPr>
          <p:cNvSpPr/>
          <p:nvPr/>
        </p:nvSpPr>
        <p:spPr>
          <a:xfrm>
            <a:off x="8273844" y="5321535"/>
            <a:ext cx="1042218" cy="400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570D811-CA4A-51CE-3888-9457790F546B}"/>
              </a:ext>
            </a:extLst>
          </p:cNvPr>
          <p:cNvSpPr/>
          <p:nvPr/>
        </p:nvSpPr>
        <p:spPr>
          <a:xfrm>
            <a:off x="2878395" y="1990025"/>
            <a:ext cx="3785420" cy="37878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1C59B1C-0E1B-2CE7-5866-7F6829EFF2F2}"/>
              </a:ext>
            </a:extLst>
          </p:cNvPr>
          <p:cNvSpPr/>
          <p:nvPr/>
        </p:nvSpPr>
        <p:spPr>
          <a:xfrm>
            <a:off x="3586313" y="2678333"/>
            <a:ext cx="2271252" cy="71038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My APP [Container]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A4C849D-9F28-91AD-3DDB-41556E67C979}"/>
              </a:ext>
            </a:extLst>
          </p:cNvPr>
          <p:cNvSpPr/>
          <p:nvPr/>
        </p:nvSpPr>
        <p:spPr>
          <a:xfrm>
            <a:off x="3586313" y="4123677"/>
            <a:ext cx="2138517" cy="1054512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DB [container]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F77043-18B0-3696-D231-9284C5CAA2C2}"/>
              </a:ext>
            </a:extLst>
          </p:cNvPr>
          <p:cNvSpPr txBox="1"/>
          <p:nvPr/>
        </p:nvSpPr>
        <p:spPr>
          <a:xfrm>
            <a:off x="4215581" y="5813771"/>
            <a:ext cx="13371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NODE 2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6685C09-18C9-71DC-A9B0-C05DAFF1CBA9}"/>
              </a:ext>
            </a:extLst>
          </p:cNvPr>
          <p:cNvSpPr/>
          <p:nvPr/>
        </p:nvSpPr>
        <p:spPr>
          <a:xfrm>
            <a:off x="4790766" y="2250594"/>
            <a:ext cx="1042218" cy="4006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Config Map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86E3C1A-1D58-FA8F-6BF7-619167CE1662}"/>
              </a:ext>
            </a:extLst>
          </p:cNvPr>
          <p:cNvSpPr/>
          <p:nvPr/>
        </p:nvSpPr>
        <p:spPr>
          <a:xfrm>
            <a:off x="4800598" y="3386936"/>
            <a:ext cx="1042218" cy="4006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Secret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F6DC746-ABDF-BF8C-697E-6C8E3AFF1823}"/>
              </a:ext>
            </a:extLst>
          </p:cNvPr>
          <p:cNvSpPr/>
          <p:nvPr/>
        </p:nvSpPr>
        <p:spPr>
          <a:xfrm>
            <a:off x="4082842" y="5218167"/>
            <a:ext cx="1042218" cy="400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256E4C3-809D-F557-AB32-40A0D72D3DE0}"/>
              </a:ext>
            </a:extLst>
          </p:cNvPr>
          <p:cNvSpPr/>
          <p:nvPr/>
        </p:nvSpPr>
        <p:spPr>
          <a:xfrm>
            <a:off x="5899354" y="5081224"/>
            <a:ext cx="363793" cy="40066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IP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3FB47BF-1CFE-51DB-9790-B0DC70A74502}"/>
              </a:ext>
            </a:extLst>
          </p:cNvPr>
          <p:cNvSpPr/>
          <p:nvPr/>
        </p:nvSpPr>
        <p:spPr>
          <a:xfrm>
            <a:off x="5899354" y="3131147"/>
            <a:ext cx="363793" cy="40066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IP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5BFE358-A76A-0798-0CA5-7A7FFACAF30D}"/>
              </a:ext>
            </a:extLst>
          </p:cNvPr>
          <p:cNvSpPr/>
          <p:nvPr/>
        </p:nvSpPr>
        <p:spPr>
          <a:xfrm>
            <a:off x="6118121" y="2736227"/>
            <a:ext cx="1295399" cy="400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Service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C1ED918-88D4-4C8F-BCEC-AEE6710C3C04}"/>
              </a:ext>
            </a:extLst>
          </p:cNvPr>
          <p:cNvSpPr/>
          <p:nvPr/>
        </p:nvSpPr>
        <p:spPr>
          <a:xfrm>
            <a:off x="6118121" y="4655151"/>
            <a:ext cx="1295399" cy="400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Service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54D960C-FAE7-4B58-38B9-2AA5F1AAD313}"/>
              </a:ext>
            </a:extLst>
          </p:cNvPr>
          <p:cNvSpPr txBox="1"/>
          <p:nvPr/>
        </p:nvSpPr>
        <p:spPr>
          <a:xfrm>
            <a:off x="9833" y="1080097"/>
            <a:ext cx="43163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The replica is connected to the same service.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97FC8B8-CC09-7D64-AD2F-12CD0FBDB4A3}"/>
              </a:ext>
            </a:extLst>
          </p:cNvPr>
          <p:cNvSpPr txBox="1"/>
          <p:nvPr/>
        </p:nvSpPr>
        <p:spPr>
          <a:xfrm>
            <a:off x="9834" y="1950458"/>
            <a:ext cx="286856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Service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has two functionalities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: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Permanent IP</a:t>
            </a:r>
          </a:p>
          <a:p>
            <a:pPr marL="342900" marR="0" lvl="0" indent="-34290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Load balancer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01C95088-B61E-7B54-53B5-A37D0FA1944F}"/>
              </a:ext>
            </a:extLst>
          </p:cNvPr>
          <p:cNvCxnSpPr>
            <a:cxnSpLocks/>
          </p:cNvCxnSpPr>
          <p:nvPr/>
        </p:nvCxnSpPr>
        <p:spPr>
          <a:xfrm flipV="1">
            <a:off x="3928603" y="1613608"/>
            <a:ext cx="1016409" cy="102090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27011CB1-D447-4A19-C513-99F82A7A5EF5}"/>
              </a:ext>
            </a:extLst>
          </p:cNvPr>
          <p:cNvCxnSpPr>
            <a:cxnSpLocks/>
            <a:stCxn id="5" idx="0"/>
          </p:cNvCxnSpPr>
          <p:nvPr/>
        </p:nvCxnSpPr>
        <p:spPr>
          <a:xfrm flipH="1" flipV="1">
            <a:off x="7371732" y="1787983"/>
            <a:ext cx="1541209" cy="99371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D1F78EAA-A959-D5B0-C9E0-6F5EBEFBF004}"/>
              </a:ext>
            </a:extLst>
          </p:cNvPr>
          <p:cNvSpPr txBox="1"/>
          <p:nvPr/>
        </p:nvSpPr>
        <p:spPr>
          <a:xfrm>
            <a:off x="4704736" y="848832"/>
            <a:ext cx="54126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Deployment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: define blueprints for pods and  make any number of replica. 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40CFED-070B-B24E-D9AB-9BFFC005AAE6}"/>
              </a:ext>
            </a:extLst>
          </p:cNvPr>
          <p:cNvSpPr txBox="1"/>
          <p:nvPr/>
        </p:nvSpPr>
        <p:spPr>
          <a:xfrm>
            <a:off x="40556" y="3461957"/>
            <a:ext cx="286856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Database can’t be replicated</a:t>
            </a:r>
            <a:r>
              <a:rPr kumimoji="0" lang="en-US" sz="2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vid deployment; you’re accessing the same shared data.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BEEA7CB-F9A1-00D5-ED08-491F1A28378F}"/>
              </a:ext>
            </a:extLst>
          </p:cNvPr>
          <p:cNvCxnSpPr>
            <a:cxnSpLocks/>
          </p:cNvCxnSpPr>
          <p:nvPr/>
        </p:nvCxnSpPr>
        <p:spPr>
          <a:xfrm>
            <a:off x="5142885" y="5488821"/>
            <a:ext cx="878457" cy="52034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2434975-9D25-882B-4D9A-40204150E885}"/>
              </a:ext>
            </a:extLst>
          </p:cNvPr>
          <p:cNvCxnSpPr>
            <a:cxnSpLocks/>
          </p:cNvCxnSpPr>
          <p:nvPr/>
        </p:nvCxnSpPr>
        <p:spPr>
          <a:xfrm flipH="1">
            <a:off x="7591119" y="5539786"/>
            <a:ext cx="657831" cy="44015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Cloud 19">
            <a:extLst>
              <a:ext uri="{FF2B5EF4-FFF2-40B4-BE49-F238E27FC236}">
                <a16:creationId xmlns:a16="http://schemas.microsoft.com/office/drawing/2014/main" id="{4179A1C7-424F-663F-E802-10A55C43BDB4}"/>
              </a:ext>
            </a:extLst>
          </p:cNvPr>
          <p:cNvSpPr/>
          <p:nvPr/>
        </p:nvSpPr>
        <p:spPr>
          <a:xfrm>
            <a:off x="5842816" y="6009168"/>
            <a:ext cx="1897626" cy="848832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Volume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A64F4A2-8A8A-74E2-A8D7-24A9703FD15E}"/>
              </a:ext>
            </a:extLst>
          </p:cNvPr>
          <p:cNvSpPr/>
          <p:nvPr/>
        </p:nvSpPr>
        <p:spPr>
          <a:xfrm>
            <a:off x="5612990" y="3874004"/>
            <a:ext cx="2809567" cy="56449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Statefulset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17593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48" grpId="0" animBg="1"/>
      <p:bldP spid="49" grpId="0"/>
      <p:bldP spid="50" grpId="0"/>
      <p:bldP spid="58" grpId="0"/>
      <p:bldP spid="3" grpId="0"/>
      <p:bldP spid="20" grpId="0" animBg="1"/>
      <p:bldP spid="2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7000">
              <a:srgbClr val="DDE8EA"/>
            </a:gs>
            <a:gs pos="100000">
              <a:schemeClr val="accent1">
                <a:lumMod val="45000"/>
                <a:lumOff val="55000"/>
              </a:schemeClr>
            </a:gs>
            <a:gs pos="93000">
              <a:schemeClr val="accent1">
                <a:lumMod val="30000"/>
                <a:lumOff val="70000"/>
                <a:alpha val="6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BE0B0D-5168-60F5-8B63-0EE1A6B00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761E008F-0F95-A153-1AA4-98F612E53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57319"/>
            <a:ext cx="11798710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Kubernetes architecture explained (Worker Process):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E402AAD-CB1A-4823-5720-D5B67FD898F7}"/>
              </a:ext>
            </a:extLst>
          </p:cNvPr>
          <p:cNvSpPr/>
          <p:nvPr/>
        </p:nvSpPr>
        <p:spPr>
          <a:xfrm>
            <a:off x="285136" y="1275732"/>
            <a:ext cx="3254477" cy="37878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90E1CF6-AF8F-920F-448B-9E94EF485F72}"/>
              </a:ext>
            </a:extLst>
          </p:cNvPr>
          <p:cNvSpPr/>
          <p:nvPr/>
        </p:nvSpPr>
        <p:spPr>
          <a:xfrm>
            <a:off x="427704" y="1661647"/>
            <a:ext cx="1125794" cy="71038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Pod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9DCEA75-7737-86C8-E0BF-210F1427628A}"/>
              </a:ext>
            </a:extLst>
          </p:cNvPr>
          <p:cNvSpPr/>
          <p:nvPr/>
        </p:nvSpPr>
        <p:spPr>
          <a:xfrm>
            <a:off x="707922" y="3655137"/>
            <a:ext cx="2138517" cy="1054512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DB [container]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7C1A148-CC4B-0512-6D79-269368245C32}"/>
              </a:ext>
            </a:extLst>
          </p:cNvPr>
          <p:cNvSpPr txBox="1"/>
          <p:nvPr/>
        </p:nvSpPr>
        <p:spPr>
          <a:xfrm>
            <a:off x="285136" y="5171098"/>
            <a:ext cx="33527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Worker/Server/Node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CC27F27-7B8B-DD53-2031-0344ACC59C81}"/>
              </a:ext>
            </a:extLst>
          </p:cNvPr>
          <p:cNvSpPr txBox="1"/>
          <p:nvPr/>
        </p:nvSpPr>
        <p:spPr>
          <a:xfrm>
            <a:off x="3741174" y="1168244"/>
            <a:ext cx="82935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Each node</a:t>
            </a:r>
            <a:r>
              <a:rPr kumimoji="0" lang="en-US" sz="24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has multiple pods on it besides DB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13ACE0B-407A-7AB6-4913-1EA2516F1D08}"/>
              </a:ext>
            </a:extLst>
          </p:cNvPr>
          <p:cNvSpPr/>
          <p:nvPr/>
        </p:nvSpPr>
        <p:spPr>
          <a:xfrm>
            <a:off x="990601" y="2492482"/>
            <a:ext cx="1125794" cy="71038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Pod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158DB9C-0ECD-2CFF-BA8E-726150877B51}"/>
              </a:ext>
            </a:extLst>
          </p:cNvPr>
          <p:cNvSpPr/>
          <p:nvPr/>
        </p:nvSpPr>
        <p:spPr>
          <a:xfrm>
            <a:off x="2180304" y="1755053"/>
            <a:ext cx="1125794" cy="71038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Pod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283D16C-DF7A-C700-EF00-37B1218F6552}"/>
              </a:ext>
            </a:extLst>
          </p:cNvPr>
          <p:cNvSpPr txBox="1"/>
          <p:nvPr/>
        </p:nvSpPr>
        <p:spPr>
          <a:xfrm>
            <a:off x="3741174" y="1755053"/>
            <a:ext cx="82935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Three processes</a:t>
            </a:r>
            <a:r>
              <a:rPr kumimoji="0" lang="en-US" sz="24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must be installed on every node to schedule and manage those pods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C6B2FBF-6EE7-0B13-0F58-150F90A7B7E0}"/>
              </a:ext>
            </a:extLst>
          </p:cNvPr>
          <p:cNvSpPr/>
          <p:nvPr/>
        </p:nvSpPr>
        <p:spPr>
          <a:xfrm>
            <a:off x="3637935" y="2684206"/>
            <a:ext cx="2930013" cy="83099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Container Runtime Process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0D716BE-ED12-2A96-F348-AC5EE1CBA1E4}"/>
              </a:ext>
            </a:extLst>
          </p:cNvPr>
          <p:cNvSpPr/>
          <p:nvPr/>
        </p:nvSpPr>
        <p:spPr>
          <a:xfrm>
            <a:off x="3637935" y="3738047"/>
            <a:ext cx="2930013" cy="151237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Kubelet process interacts with both the container and node, it starts the pod with a container inside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3AA3B11-F58B-5F45-FD8D-AEF6AB565A2D}"/>
              </a:ext>
            </a:extLst>
          </p:cNvPr>
          <p:cNvSpPr/>
          <p:nvPr/>
        </p:nvSpPr>
        <p:spPr>
          <a:xfrm>
            <a:off x="6951405" y="2711194"/>
            <a:ext cx="4650660" cy="151237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Kube Proxy forwards the requests and makes sure that the communication also works in a performant way, with low overhead</a:t>
            </a:r>
          </a:p>
        </p:txBody>
      </p:sp>
    </p:spTree>
    <p:extLst>
      <p:ext uri="{BB962C8B-B14F-4D97-AF65-F5344CB8AC3E}">
        <p14:creationId xmlns:p14="http://schemas.microsoft.com/office/powerpoint/2010/main" val="3373460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8" grpId="0" animBg="1"/>
      <p:bldP spid="19" grpId="0" animBg="1"/>
      <p:bldP spid="21" grpId="0"/>
      <p:bldP spid="26" grpId="0"/>
      <p:bldP spid="28" grpId="0" animBg="1"/>
      <p:bldP spid="30" grpId="0" animBg="1"/>
      <p:bldP spid="34" grpId="0"/>
      <p:bldP spid="36" grpId="0" animBg="1"/>
      <p:bldP spid="37" grpId="0" animBg="1"/>
      <p:bldP spid="3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7000">
              <a:srgbClr val="DDE8EA"/>
            </a:gs>
            <a:gs pos="100000">
              <a:schemeClr val="accent1">
                <a:lumMod val="45000"/>
                <a:lumOff val="55000"/>
              </a:schemeClr>
            </a:gs>
            <a:gs pos="93000">
              <a:schemeClr val="accent1">
                <a:lumMod val="30000"/>
                <a:lumOff val="70000"/>
                <a:alpha val="6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F5D636-C5B2-8289-658A-2BA17C978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3C96348C-0D4F-AA50-A049-692749BEC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57319"/>
            <a:ext cx="11798710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Kubernetes architecture explained (Master Process):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53CC20B-3ECF-2B3F-912D-1384EAABD8C1}"/>
              </a:ext>
            </a:extLst>
          </p:cNvPr>
          <p:cNvSpPr/>
          <p:nvPr/>
        </p:nvSpPr>
        <p:spPr>
          <a:xfrm>
            <a:off x="276064" y="852600"/>
            <a:ext cx="3254477" cy="37878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5EF343-2159-EE1D-3735-612317F51897}"/>
              </a:ext>
            </a:extLst>
          </p:cNvPr>
          <p:cNvSpPr txBox="1"/>
          <p:nvPr/>
        </p:nvSpPr>
        <p:spPr>
          <a:xfrm>
            <a:off x="1268362" y="4768476"/>
            <a:ext cx="33527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Master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56381C8-1BBD-E8FE-B7A7-A03E7B40DA8B}"/>
              </a:ext>
            </a:extLst>
          </p:cNvPr>
          <p:cNvSpPr txBox="1"/>
          <p:nvPr/>
        </p:nvSpPr>
        <p:spPr>
          <a:xfrm>
            <a:off x="3741174" y="1066101"/>
            <a:ext cx="82935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API/</a:t>
            </a:r>
            <a:r>
              <a:rPr lang="en-US" sz="24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Cluster gateway and responsible for authentication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137635B-827D-2C79-892D-063ABFFDB080}"/>
              </a:ext>
            </a:extLst>
          </p:cNvPr>
          <p:cNvSpPr/>
          <p:nvPr/>
        </p:nvSpPr>
        <p:spPr>
          <a:xfrm>
            <a:off x="405581" y="1030538"/>
            <a:ext cx="2930013" cy="5327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API Server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86A474-E978-CDC2-3C51-48D3D3A910C0}"/>
              </a:ext>
            </a:extLst>
          </p:cNvPr>
          <p:cNvSpPr txBox="1"/>
          <p:nvPr/>
        </p:nvSpPr>
        <p:spPr>
          <a:xfrm>
            <a:off x="3741174" y="1890040"/>
            <a:ext cx="82935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Schedule</a:t>
            </a:r>
            <a:r>
              <a:rPr kumimoji="0" lang="en-US" sz="24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requests based on resource allocation.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BEBE09-CDA9-4E7E-C80A-E2EECAA058D4}"/>
              </a:ext>
            </a:extLst>
          </p:cNvPr>
          <p:cNvSpPr/>
          <p:nvPr/>
        </p:nvSpPr>
        <p:spPr>
          <a:xfrm>
            <a:off x="405581" y="1854477"/>
            <a:ext cx="2930013" cy="5327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Scheduler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B2D36FD-C3BF-2CCC-1498-B36CBED781E7}"/>
              </a:ext>
            </a:extLst>
          </p:cNvPr>
          <p:cNvGrpSpPr/>
          <p:nvPr/>
        </p:nvGrpSpPr>
        <p:grpSpPr>
          <a:xfrm>
            <a:off x="4113662" y="4761970"/>
            <a:ext cx="1828795" cy="2059858"/>
            <a:chOff x="4316364" y="3070122"/>
            <a:chExt cx="3254477" cy="378787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83A43D0-FF50-B60E-8F7C-A2735B4480AE}"/>
                </a:ext>
              </a:extLst>
            </p:cNvPr>
            <p:cNvSpPr/>
            <p:nvPr/>
          </p:nvSpPr>
          <p:spPr>
            <a:xfrm>
              <a:off x="4316364" y="3070122"/>
              <a:ext cx="3254477" cy="378787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826BCEF-30D8-029A-921F-603BC4FF9F04}"/>
                </a:ext>
              </a:extLst>
            </p:cNvPr>
            <p:cNvSpPr/>
            <p:nvPr/>
          </p:nvSpPr>
          <p:spPr>
            <a:xfrm>
              <a:off x="4458932" y="3456037"/>
              <a:ext cx="1125794" cy="710381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b="1" dirty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Pod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251B71D6-9C80-945B-D58B-B35B49DBE82E}"/>
                </a:ext>
              </a:extLst>
            </p:cNvPr>
            <p:cNvSpPr/>
            <p:nvPr/>
          </p:nvSpPr>
          <p:spPr>
            <a:xfrm>
              <a:off x="4739150" y="5449527"/>
              <a:ext cx="2138517" cy="1054512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DB [container]</a:t>
              </a:r>
              <a:endPara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7B721CE-6768-DFFD-0733-5D86AC9D9043}"/>
                </a:ext>
              </a:extLst>
            </p:cNvPr>
            <p:cNvSpPr/>
            <p:nvPr/>
          </p:nvSpPr>
          <p:spPr>
            <a:xfrm>
              <a:off x="5021829" y="4286872"/>
              <a:ext cx="1125794" cy="710381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b="1" dirty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Pod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E7B3937-E8F1-6A17-01F7-FEF59468D2D5}"/>
                </a:ext>
              </a:extLst>
            </p:cNvPr>
            <p:cNvSpPr/>
            <p:nvPr/>
          </p:nvSpPr>
          <p:spPr>
            <a:xfrm>
              <a:off x="6211532" y="3549443"/>
              <a:ext cx="1125794" cy="710381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b="1" dirty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Pod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CF0CE8A-A646-290B-735C-4B34B7F2EDDC}"/>
              </a:ext>
            </a:extLst>
          </p:cNvPr>
          <p:cNvGrpSpPr/>
          <p:nvPr/>
        </p:nvGrpSpPr>
        <p:grpSpPr>
          <a:xfrm>
            <a:off x="6294679" y="4758679"/>
            <a:ext cx="1828795" cy="2059858"/>
            <a:chOff x="4316364" y="3070122"/>
            <a:chExt cx="3254477" cy="3787878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647F3C9-D5EB-193C-D3F7-5907A64A5CDE}"/>
                </a:ext>
              </a:extLst>
            </p:cNvPr>
            <p:cNvSpPr/>
            <p:nvPr/>
          </p:nvSpPr>
          <p:spPr>
            <a:xfrm>
              <a:off x="4316364" y="3070122"/>
              <a:ext cx="3254477" cy="378787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BDBC229-A90A-5B75-25A7-77DC876B92BC}"/>
                </a:ext>
              </a:extLst>
            </p:cNvPr>
            <p:cNvSpPr/>
            <p:nvPr/>
          </p:nvSpPr>
          <p:spPr>
            <a:xfrm>
              <a:off x="4458932" y="3456037"/>
              <a:ext cx="1125794" cy="710381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b="1" dirty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Pod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C99F002B-38B4-3668-646F-ED933152B9D1}"/>
                </a:ext>
              </a:extLst>
            </p:cNvPr>
            <p:cNvSpPr/>
            <p:nvPr/>
          </p:nvSpPr>
          <p:spPr>
            <a:xfrm>
              <a:off x="4739150" y="5449527"/>
              <a:ext cx="2138517" cy="1054512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DB [container]</a:t>
              </a:r>
              <a:endPara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F103E24-7A99-34A5-FDE5-4D4F625F42EA}"/>
                </a:ext>
              </a:extLst>
            </p:cNvPr>
            <p:cNvSpPr/>
            <p:nvPr/>
          </p:nvSpPr>
          <p:spPr>
            <a:xfrm>
              <a:off x="5021829" y="4286872"/>
              <a:ext cx="1125794" cy="710381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b="1" dirty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Pod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656F206-C9AF-1510-D25F-6C9097BD389E}"/>
                </a:ext>
              </a:extLst>
            </p:cNvPr>
            <p:cNvSpPr/>
            <p:nvPr/>
          </p:nvSpPr>
          <p:spPr>
            <a:xfrm>
              <a:off x="6211532" y="3549443"/>
              <a:ext cx="1125794" cy="710381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b="1" dirty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Pod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EE5371D4-5173-F306-81F1-D268E1320EF5}"/>
              </a:ext>
            </a:extLst>
          </p:cNvPr>
          <p:cNvSpPr/>
          <p:nvPr/>
        </p:nvSpPr>
        <p:spPr>
          <a:xfrm>
            <a:off x="8173104" y="6417872"/>
            <a:ext cx="1042218" cy="4006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60%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D399E42-3CDD-2EFF-8132-C58F078D56B2}"/>
              </a:ext>
            </a:extLst>
          </p:cNvPr>
          <p:cNvSpPr/>
          <p:nvPr/>
        </p:nvSpPr>
        <p:spPr>
          <a:xfrm>
            <a:off x="2952656" y="6417872"/>
            <a:ext cx="1042218" cy="4006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30%</a:t>
            </a:r>
          </a:p>
        </p:txBody>
      </p:sp>
      <p:sp>
        <p:nvSpPr>
          <p:cNvPr id="35" name="Connecteur droit avec flèche 34">
            <a:extLst>
              <a:ext uri="{FF2B5EF4-FFF2-40B4-BE49-F238E27FC236}">
                <a16:creationId xmlns:a16="http://schemas.microsoft.com/office/drawing/2014/main" id="{2CCAB03A-D2A3-4EC3-B4B3-D69A6967C6B6}"/>
              </a:ext>
            </a:extLst>
          </p:cNvPr>
          <p:cNvSpPr/>
          <p:nvPr/>
        </p:nvSpPr>
        <p:spPr>
          <a:xfrm rot="474179">
            <a:off x="3565220" y="4551660"/>
            <a:ext cx="2926080" cy="0"/>
          </a:xfrm>
          <a:prstGeom prst="straightConnector1">
            <a:avLst/>
          </a:prstGeom>
          <a:solidFill>
            <a:srgbClr val="E71224">
              <a:alpha val="5000"/>
            </a:srgbClr>
          </a:solidFill>
          <a:ln w="18000">
            <a:solidFill>
              <a:srgbClr val="E712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none" rtlCol="0" anchor="ctr" anchorCtr="1"/>
          <a:lstStyle/>
          <a:p>
            <a:endParaRPr lang="de-DE">
              <a:solidFill>
                <a:srgbClr val="E71224"/>
              </a:solidFill>
            </a:endParaRPr>
          </a:p>
        </p:txBody>
      </p:sp>
      <p:sp>
        <p:nvSpPr>
          <p:cNvPr id="29" name="Connecteur : en arc 28">
            <a:extLst>
              <a:ext uri="{FF2B5EF4-FFF2-40B4-BE49-F238E27FC236}">
                <a16:creationId xmlns:a16="http://schemas.microsoft.com/office/drawing/2014/main" id="{6D397F11-BE73-4112-A1EB-C6BC94794770}"/>
              </a:ext>
            </a:extLst>
          </p:cNvPr>
          <p:cNvSpPr/>
          <p:nvPr/>
        </p:nvSpPr>
        <p:spPr>
          <a:xfrm rot="5400000" flipV="1">
            <a:off x="2932740" y="4588740"/>
            <a:ext cx="1097280" cy="1280160"/>
          </a:xfrm>
          <a:prstGeom prst="curvedConnector2">
            <a:avLst/>
          </a:prstGeom>
          <a:solidFill>
            <a:srgbClr val="E71224">
              <a:alpha val="5000"/>
            </a:srgbClr>
          </a:solidFill>
          <a:ln w="18000">
            <a:solidFill>
              <a:srgbClr val="E712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none" rtlCol="0" anchor="ctr" anchorCtr="1"/>
          <a:lstStyle/>
          <a:p>
            <a:endParaRPr lang="de-DE">
              <a:solidFill>
                <a:srgbClr val="E71224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54E32CE-DBD3-9D7E-EE94-01CFDA09E40D}"/>
              </a:ext>
            </a:extLst>
          </p:cNvPr>
          <p:cNvSpPr txBox="1"/>
          <p:nvPr/>
        </p:nvSpPr>
        <p:spPr>
          <a:xfrm>
            <a:off x="3741174" y="2678416"/>
            <a:ext cx="82935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Fault</a:t>
            </a:r>
            <a:r>
              <a:rPr kumimoji="0" lang="en-US" sz="24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partition/tolerance and detects cluster state.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36EB8BB-D946-71A2-2525-7E12342F6B32}"/>
              </a:ext>
            </a:extLst>
          </p:cNvPr>
          <p:cNvSpPr/>
          <p:nvPr/>
        </p:nvSpPr>
        <p:spPr>
          <a:xfrm>
            <a:off x="405581" y="2642853"/>
            <a:ext cx="2930013" cy="5327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Controller Manager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0C673A6-3EBC-2F60-BD5F-990D213B26A4}"/>
              </a:ext>
            </a:extLst>
          </p:cNvPr>
          <p:cNvSpPr txBox="1"/>
          <p:nvPr/>
        </p:nvSpPr>
        <p:spPr>
          <a:xfrm>
            <a:off x="3741174" y="3435023"/>
            <a:ext cx="82935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Cluster</a:t>
            </a:r>
            <a:r>
              <a:rPr kumimoji="0" lang="en-US" sz="24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brain. Stores the cluster state; everything depends on its data.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8F6351B-E9E3-0641-6A4C-D23D3EEEF1D4}"/>
              </a:ext>
            </a:extLst>
          </p:cNvPr>
          <p:cNvSpPr/>
          <p:nvPr/>
        </p:nvSpPr>
        <p:spPr>
          <a:xfrm>
            <a:off x="405581" y="3399460"/>
            <a:ext cx="2930013" cy="5327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etcd</a:t>
            </a:r>
            <a:endParaRPr 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97342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21" grpId="0"/>
      <p:bldP spid="26" grpId="0"/>
      <p:bldP spid="36" grpId="0" animBg="1"/>
      <p:bldP spid="2" grpId="0"/>
      <p:bldP spid="3" grpId="0" animBg="1"/>
      <p:bldP spid="25" grpId="0" animBg="1"/>
      <p:bldP spid="27" grpId="0" animBg="1"/>
      <p:bldP spid="35" grpId="0" animBg="1"/>
      <p:bldP spid="29" grpId="0" animBg="1"/>
      <p:bldP spid="32" grpId="0"/>
      <p:bldP spid="33" grpId="0" animBg="1"/>
      <p:bldP spid="41" grpId="0"/>
      <p:bldP spid="4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7000">
              <a:srgbClr val="DDE8EA"/>
            </a:gs>
            <a:gs pos="100000">
              <a:schemeClr val="accent1">
                <a:lumMod val="45000"/>
                <a:lumOff val="55000"/>
              </a:schemeClr>
            </a:gs>
            <a:gs pos="93000">
              <a:schemeClr val="accent1">
                <a:lumMod val="30000"/>
                <a:lumOff val="70000"/>
                <a:alpha val="6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9EE9F4-4653-48F7-02EE-409187E66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1A0C09D0-BE73-3722-D5A0-86AB9AA76B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429" y="334297"/>
            <a:ext cx="11407141" cy="6189406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AA0B9366-9983-2063-9268-6BC969E3060C}"/>
              </a:ext>
            </a:extLst>
          </p:cNvPr>
          <p:cNvSpPr txBox="1"/>
          <p:nvPr/>
        </p:nvSpPr>
        <p:spPr>
          <a:xfrm>
            <a:off x="496529" y="1187908"/>
            <a:ext cx="82935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1) Get new bare server.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17DC644-D8F6-93CE-49E0-A168F821C6D2}"/>
              </a:ext>
            </a:extLst>
          </p:cNvPr>
          <p:cNvSpPr txBox="1"/>
          <p:nvPr/>
        </p:nvSpPr>
        <p:spPr>
          <a:xfrm>
            <a:off x="496529" y="1797508"/>
            <a:ext cx="82935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2) Install all master/worker processes.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896B380-E037-83FA-FEFF-11167A28C81F}"/>
              </a:ext>
            </a:extLst>
          </p:cNvPr>
          <p:cNvSpPr txBox="1"/>
          <p:nvPr/>
        </p:nvSpPr>
        <p:spPr>
          <a:xfrm>
            <a:off x="496529" y="2395029"/>
            <a:ext cx="82935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3) Add it to the cluster.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11363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30" grpId="0"/>
      <p:bldP spid="3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38C8AC-57E0-4565-BDC1-88AA1AD14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Triangle 8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1EFB7A-BC9F-CCAC-1D2A-D1A7D0952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1" y="1008993"/>
            <a:ext cx="9231410" cy="354204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115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Minikube</a:t>
            </a:r>
            <a:r>
              <a:rPr lang="en-US" sz="115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and </a:t>
            </a:r>
            <a:r>
              <a:rPr lang="en-US" sz="115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Kubectl</a:t>
            </a:r>
            <a:endParaRPr lang="en-US" sz="115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6943323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7000">
              <a:srgbClr val="DDE8EA"/>
            </a:gs>
            <a:gs pos="100000">
              <a:schemeClr val="accent1">
                <a:lumMod val="45000"/>
                <a:lumOff val="55000"/>
              </a:schemeClr>
            </a:gs>
            <a:gs pos="93000">
              <a:schemeClr val="accent1">
                <a:lumMod val="30000"/>
                <a:lumOff val="70000"/>
                <a:alpha val="6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2BE678-6B0B-8F60-63E1-86D96745F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8DC86EF3-A5C6-8152-12A7-2DB3B3C8600F}"/>
              </a:ext>
            </a:extLst>
          </p:cNvPr>
          <p:cNvSpPr/>
          <p:nvPr/>
        </p:nvSpPr>
        <p:spPr>
          <a:xfrm>
            <a:off x="148223" y="342328"/>
            <a:ext cx="111760" cy="97227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476B81-DA42-E88E-F514-0169CF4F0F35}"/>
              </a:ext>
            </a:extLst>
          </p:cNvPr>
          <p:cNvSpPr/>
          <p:nvPr/>
        </p:nvSpPr>
        <p:spPr>
          <a:xfrm>
            <a:off x="224422" y="342328"/>
            <a:ext cx="11743155" cy="97227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Minikube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enables master and node processes to run on one machine to test a local cluster setup. It creates a virtual box.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FDC764B-1604-B5F8-D35E-882031ACE8D7}"/>
              </a:ext>
            </a:extLst>
          </p:cNvPr>
          <p:cNvSpPr/>
          <p:nvPr/>
        </p:nvSpPr>
        <p:spPr>
          <a:xfrm>
            <a:off x="148223" y="1443541"/>
            <a:ext cx="111760" cy="97227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9B91F2-AF40-5152-C399-698FCC431E07}"/>
              </a:ext>
            </a:extLst>
          </p:cNvPr>
          <p:cNvSpPr/>
          <p:nvPr/>
        </p:nvSpPr>
        <p:spPr>
          <a:xfrm>
            <a:off x="224422" y="1443541"/>
            <a:ext cx="11743155" cy="97227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Kubectl is a command-line tool for a K8S cluster to create, delete, and configure components. It also works with cloud cluster.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BF18559-4B38-E0E8-9203-420AA7EE9B89}"/>
              </a:ext>
            </a:extLst>
          </p:cNvPr>
          <p:cNvSpPr/>
          <p:nvPr/>
        </p:nvSpPr>
        <p:spPr>
          <a:xfrm>
            <a:off x="148223" y="2544754"/>
            <a:ext cx="111760" cy="55240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BB7D3D-0021-73DB-4587-2232ED287F8F}"/>
              </a:ext>
            </a:extLst>
          </p:cNvPr>
          <p:cNvSpPr/>
          <p:nvPr/>
        </p:nvSpPr>
        <p:spPr>
          <a:xfrm>
            <a:off x="224422" y="2544754"/>
            <a:ext cx="11743155" cy="55240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Create and start the cluster, but make sure that the docker engine is running.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81D082-842D-17D2-FA67-7F6DDB148E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223" y="3226099"/>
            <a:ext cx="5131700" cy="38103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77112EC-309F-30B5-0869-130DD86F0912}"/>
              </a:ext>
            </a:extLst>
          </p:cNvPr>
          <p:cNvSpPr/>
          <p:nvPr/>
        </p:nvSpPr>
        <p:spPr>
          <a:xfrm>
            <a:off x="148223" y="3760840"/>
            <a:ext cx="111760" cy="55240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4FE2A76-7C0D-8015-4E88-A406A6076972}"/>
              </a:ext>
            </a:extLst>
          </p:cNvPr>
          <p:cNvSpPr/>
          <p:nvPr/>
        </p:nvSpPr>
        <p:spPr>
          <a:xfrm>
            <a:off x="224422" y="3760840"/>
            <a:ext cx="11743155" cy="55240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Get status of the nodes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A9C34C1-AD67-CB08-A101-3E2B2999CB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223" y="4351452"/>
            <a:ext cx="5131700" cy="70448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CC6790D-9290-DBF5-21D9-ED5BB02BB388}"/>
              </a:ext>
            </a:extLst>
          </p:cNvPr>
          <p:cNvSpPr/>
          <p:nvPr/>
        </p:nvSpPr>
        <p:spPr>
          <a:xfrm>
            <a:off x="148223" y="5325148"/>
            <a:ext cx="111760" cy="55240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A1536A-5521-AA84-3E0B-44BC3077E6CF}"/>
              </a:ext>
            </a:extLst>
          </p:cNvPr>
          <p:cNvSpPr/>
          <p:nvPr/>
        </p:nvSpPr>
        <p:spPr>
          <a:xfrm>
            <a:off x="224422" y="5325148"/>
            <a:ext cx="11743155" cy="55240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Get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minikube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status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2C46D44-1ABB-2D93-E917-24D48E3DE4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84824" y="5140821"/>
            <a:ext cx="3810330" cy="1676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1515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7000">
              <a:srgbClr val="DDE8EA"/>
            </a:gs>
            <a:gs pos="100000">
              <a:schemeClr val="accent1">
                <a:lumMod val="45000"/>
                <a:lumOff val="55000"/>
              </a:schemeClr>
            </a:gs>
            <a:gs pos="93000">
              <a:schemeClr val="accent1">
                <a:lumMod val="30000"/>
                <a:lumOff val="70000"/>
                <a:alpha val="6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95561D-F2EC-F5BC-B7AF-8A9328C6E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B43B466-CF2C-B7B7-E77F-5D60AF5C4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434916" cy="1325563"/>
          </a:xfrm>
        </p:spPr>
        <p:txBody>
          <a:bodyPr/>
          <a:lstStyle/>
          <a:p>
            <a:r>
              <a:rPr lang="en-US" b="1" dirty="0"/>
              <a:t>Get the status of different components, create and edit pods: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663E8F2-40FE-7BFC-6EDB-C8AAF5D659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2" y="1325563"/>
            <a:ext cx="4703202" cy="77854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55300C3-C7C3-4246-ED49-23320B890E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2746" y="1326796"/>
            <a:ext cx="7174482" cy="77730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77ED106-C9C1-89F2-F288-A172F91B53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767" y="2935301"/>
            <a:ext cx="10078064" cy="909631"/>
          </a:xfrm>
          <a:prstGeom prst="rect">
            <a:avLst/>
          </a:prstGeom>
        </p:spPr>
      </p:pic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08D552A-EF33-41B8-3488-6064F0FA0B27}"/>
              </a:ext>
            </a:extLst>
          </p:cNvPr>
          <p:cNvSpPr/>
          <p:nvPr/>
        </p:nvSpPr>
        <p:spPr>
          <a:xfrm>
            <a:off x="5604387" y="2886141"/>
            <a:ext cx="1465008" cy="50107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CABE83D-C112-2489-0026-FB62344A3D5C}"/>
              </a:ext>
            </a:extLst>
          </p:cNvPr>
          <p:cNvSpPr/>
          <p:nvPr/>
        </p:nvSpPr>
        <p:spPr>
          <a:xfrm>
            <a:off x="7138220" y="2886141"/>
            <a:ext cx="1465008" cy="50107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0B931AB-1605-3AB2-72E2-3B4DE847635B}"/>
              </a:ext>
            </a:extLst>
          </p:cNvPr>
          <p:cNvSpPr txBox="1"/>
          <p:nvPr/>
        </p:nvSpPr>
        <p:spPr>
          <a:xfrm>
            <a:off x="462117" y="2185425"/>
            <a:ext cx="70005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Deployment</a:t>
            </a:r>
            <a:r>
              <a:rPr kumimoji="0" lang="en-US" sz="2000" b="1" i="0" u="none" strike="noStrike" kern="120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is the blueprint for creating pods. It’s an abstraction layer underneath the pod is created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C34FED9-4AE8-74BB-7A6A-3836B937F0A3}"/>
              </a:ext>
            </a:extLst>
          </p:cNvPr>
          <p:cNvGrpSpPr/>
          <p:nvPr/>
        </p:nvGrpSpPr>
        <p:grpSpPr>
          <a:xfrm>
            <a:off x="6469490" y="2634867"/>
            <a:ext cx="344520" cy="265680"/>
            <a:chOff x="6469490" y="2634867"/>
            <a:chExt cx="344520" cy="265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079FABE-2993-7A24-D381-C24266544F57}"/>
                    </a:ext>
                  </a:extLst>
                </p14:cNvPr>
                <p14:cNvContentPartPr/>
                <p14:nvPr/>
              </p14:nvContentPartPr>
              <p14:xfrm>
                <a:off x="6481730" y="2643147"/>
                <a:ext cx="332280" cy="2574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079FABE-2993-7A24-D381-C24266544F5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472730" y="2634507"/>
                  <a:ext cx="34992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75F10B2-65C4-ADE4-D9C7-869961B0BC01}"/>
                    </a:ext>
                  </a:extLst>
                </p14:cNvPr>
                <p14:cNvContentPartPr/>
                <p14:nvPr/>
              </p14:nvContentPartPr>
              <p14:xfrm>
                <a:off x="6469490" y="2634867"/>
                <a:ext cx="10440" cy="1785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75F10B2-65C4-ADE4-D9C7-869961B0BC0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460490" y="2626227"/>
                  <a:ext cx="2808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4E8FB29-D692-EC1E-F621-EC1BE77FDDFE}"/>
                    </a:ext>
                  </a:extLst>
                </p14:cNvPr>
                <p14:cNvContentPartPr/>
                <p14:nvPr/>
              </p14:nvContentPartPr>
              <p14:xfrm>
                <a:off x="6488930" y="2644947"/>
                <a:ext cx="138240" cy="471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4E8FB29-D692-EC1E-F621-EC1BE77FDDF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480290" y="2635947"/>
                  <a:ext cx="155880" cy="6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928DBE2E-C176-6709-7947-D0CF7A1EA92B}"/>
              </a:ext>
            </a:extLst>
          </p:cNvPr>
          <p:cNvGrpSpPr/>
          <p:nvPr/>
        </p:nvGrpSpPr>
        <p:grpSpPr>
          <a:xfrm>
            <a:off x="7737770" y="2674107"/>
            <a:ext cx="313560" cy="214920"/>
            <a:chOff x="7737770" y="2674107"/>
            <a:chExt cx="313560" cy="214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3C44AAD1-E479-1E4F-A464-56E25ECE50CC}"/>
                    </a:ext>
                  </a:extLst>
                </p14:cNvPr>
                <p14:cNvContentPartPr/>
                <p14:nvPr/>
              </p14:nvContentPartPr>
              <p14:xfrm>
                <a:off x="7737770" y="2698227"/>
                <a:ext cx="245880" cy="1908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3C44AAD1-E479-1E4F-A464-56E25ECE50C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729130" y="2689227"/>
                  <a:ext cx="26352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281C75B-3F55-1FED-C4E7-F23F9A95B3ED}"/>
                    </a:ext>
                  </a:extLst>
                </p14:cNvPr>
                <p14:cNvContentPartPr/>
                <p14:nvPr/>
              </p14:nvContentPartPr>
              <p14:xfrm>
                <a:off x="7914890" y="2674107"/>
                <a:ext cx="136440" cy="982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281C75B-3F55-1FED-C4E7-F23F9A95B3E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906250" y="2665107"/>
                  <a:ext cx="154080" cy="1159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EB9C8673-B7D6-44E9-7E81-10C53F601EE2}"/>
              </a:ext>
            </a:extLst>
          </p:cNvPr>
          <p:cNvSpPr txBox="1"/>
          <p:nvPr/>
        </p:nvSpPr>
        <p:spPr>
          <a:xfrm>
            <a:off x="7541342" y="2249417"/>
            <a:ext cx="70005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Deployment name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BCF90ACA-E180-D965-0E57-4C682DDBB806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06516" y="3964690"/>
            <a:ext cx="6111770" cy="909631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0BF5CB36-E104-5303-72D5-D675319C7DF3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89988" y="5294963"/>
            <a:ext cx="5906012" cy="909631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C84F373C-2B27-258E-0BA3-320C76A1684D}"/>
              </a:ext>
            </a:extLst>
          </p:cNvPr>
          <p:cNvSpPr txBox="1"/>
          <p:nvPr/>
        </p:nvSpPr>
        <p:spPr>
          <a:xfrm>
            <a:off x="6151611" y="5395835"/>
            <a:ext cx="59912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It will open an auto-generated</a:t>
            </a:r>
            <a:r>
              <a:rPr kumimoji="0" lang="en-US" sz="2000" b="1" i="0" u="none" strike="noStrike" kern="120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configuration file with default values that you could change.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1149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37" grpId="0"/>
      <p:bldP spid="4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7000">
              <a:srgbClr val="DDE8EA"/>
            </a:gs>
            <a:gs pos="100000">
              <a:schemeClr val="accent1">
                <a:lumMod val="45000"/>
                <a:lumOff val="55000"/>
              </a:schemeClr>
            </a:gs>
            <a:gs pos="93000">
              <a:schemeClr val="accent1">
                <a:lumMod val="30000"/>
                <a:lumOff val="70000"/>
                <a:alpha val="6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51E68B-6F38-BDE5-134C-C6897F38F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673CE8E7-7289-EF76-D0FF-BE136B440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434916" cy="1325563"/>
          </a:xfrm>
        </p:spPr>
        <p:txBody>
          <a:bodyPr/>
          <a:lstStyle/>
          <a:p>
            <a:r>
              <a:rPr lang="en-US" b="1" dirty="0"/>
              <a:t>Configuration files: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1F6D6E7-0D00-0542-A12F-A1CCA9E4FB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123" y="1140544"/>
            <a:ext cx="11576754" cy="566329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CE16390-10D9-1BED-8710-109B99952E1B}"/>
              </a:ext>
            </a:extLst>
          </p:cNvPr>
          <p:cNvSpPr txBox="1"/>
          <p:nvPr/>
        </p:nvSpPr>
        <p:spPr>
          <a:xfrm>
            <a:off x="4630993" y="4176539"/>
            <a:ext cx="70005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Kubectl apply</a:t>
            </a:r>
            <a:r>
              <a:rPr kumimoji="0" lang="en-US" sz="2000" b="1" i="0" u="none" strike="noStrike" kern="120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–f nginx-</a:t>
            </a:r>
            <a:r>
              <a:rPr kumimoji="0" lang="en-US" sz="2000" b="1" i="0" u="none" strike="noStrike" kern="1200" cap="none" spc="0" normalizeH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deployment.yaml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A4D9EA-9B13-2475-51AA-C0BD68D4F13B}"/>
              </a:ext>
            </a:extLst>
          </p:cNvPr>
          <p:cNvSpPr txBox="1"/>
          <p:nvPr/>
        </p:nvSpPr>
        <p:spPr>
          <a:xfrm>
            <a:off x="4630993" y="5909566"/>
            <a:ext cx="70005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Kubectl apply</a:t>
            </a:r>
            <a:r>
              <a:rPr kumimoji="0" lang="en-US" sz="2000" b="1" i="0" u="none" strike="noStrike" kern="120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get pod –o </a:t>
            </a:r>
            <a:r>
              <a:rPr kumimoji="0" lang="en-US" sz="2000" b="1" i="0" u="none" strike="noStrike" kern="1200" cap="none" spc="0" normalizeH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wi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4AE8F3-CD7D-26AD-80BC-1945A874D5D9}"/>
              </a:ext>
            </a:extLst>
          </p:cNvPr>
          <p:cNvSpPr txBox="1"/>
          <p:nvPr/>
        </p:nvSpPr>
        <p:spPr>
          <a:xfrm>
            <a:off x="4630993" y="5415407"/>
            <a:ext cx="70005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Kubectl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describe service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Service_Name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7037F9-5C7E-5411-B3EE-AE96CD8A771C}"/>
              </a:ext>
            </a:extLst>
          </p:cNvPr>
          <p:cNvSpPr txBox="1"/>
          <p:nvPr/>
        </p:nvSpPr>
        <p:spPr>
          <a:xfrm>
            <a:off x="4630993" y="4768218"/>
            <a:ext cx="70005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Kubectl apply</a:t>
            </a:r>
            <a:r>
              <a:rPr kumimoji="0" lang="en-US" sz="2000" b="1" i="0" u="none" strike="noStrike" kern="120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–f nginx-</a:t>
            </a:r>
            <a:r>
              <a:rPr kumimoji="0" lang="en-US" sz="2000" b="1" i="0" u="none" strike="noStrike" kern="1200" cap="none" spc="0" normalizeH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service.yaml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698508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7000">
              <a:srgbClr val="DDE8EA"/>
            </a:gs>
            <a:gs pos="100000">
              <a:schemeClr val="accent1">
                <a:lumMod val="45000"/>
                <a:lumOff val="55000"/>
              </a:schemeClr>
            </a:gs>
            <a:gs pos="93000">
              <a:schemeClr val="accent1">
                <a:lumMod val="30000"/>
                <a:lumOff val="70000"/>
                <a:alpha val="6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0F37D3-577F-0DA7-CF7C-068711124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9BCB5FE7-682D-7A09-9F6A-D2D927B555C9}"/>
              </a:ext>
            </a:extLst>
          </p:cNvPr>
          <p:cNvSpPr txBox="1">
            <a:spLocks/>
          </p:cNvSpPr>
          <p:nvPr/>
        </p:nvSpPr>
        <p:spPr>
          <a:xfrm>
            <a:off x="228599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References: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CF4AA3A-BAB0-6391-42CB-E84A66C01057}"/>
              </a:ext>
            </a:extLst>
          </p:cNvPr>
          <p:cNvSpPr txBox="1"/>
          <p:nvPr/>
        </p:nvSpPr>
        <p:spPr>
          <a:xfrm>
            <a:off x="228599" y="1535739"/>
            <a:ext cx="107740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1" u="sng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https://learn.microsoft.com/en-us/azure/architecture/guide/architecture-styles/microservices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4EFC203-0C78-240D-4A22-3B0F95623C42}"/>
              </a:ext>
            </a:extLst>
          </p:cNvPr>
          <p:cNvSpPr txBox="1"/>
          <p:nvPr/>
        </p:nvSpPr>
        <p:spPr>
          <a:xfrm>
            <a:off x="228599" y="2146025"/>
            <a:ext cx="116487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1" u="sng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https://cloud.google.com/learn/what-is-microservices-architecture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C98DC9-9191-A8B9-CD69-424513FDDEEA}"/>
              </a:ext>
            </a:extLst>
          </p:cNvPr>
          <p:cNvSpPr txBox="1"/>
          <p:nvPr/>
        </p:nvSpPr>
        <p:spPr>
          <a:xfrm>
            <a:off x="228599" y="2756311"/>
            <a:ext cx="116487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1" u="sng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https://www.ibm.com/think/topics/microservices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BFC62B-2760-8A50-D424-7F81522A3D64}"/>
              </a:ext>
            </a:extLst>
          </p:cNvPr>
          <p:cNvSpPr txBox="1"/>
          <p:nvPr/>
        </p:nvSpPr>
        <p:spPr>
          <a:xfrm>
            <a:off x="228599" y="3366597"/>
            <a:ext cx="116487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1" u="sng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https://www.ibm.com/think/topics/rest-apis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39FF81-FC4D-31D9-FCF8-FE53414B3295}"/>
              </a:ext>
            </a:extLst>
          </p:cNvPr>
          <p:cNvSpPr txBox="1"/>
          <p:nvPr/>
        </p:nvSpPr>
        <p:spPr>
          <a:xfrm>
            <a:off x="228599" y="3976883"/>
            <a:ext cx="116487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1" u="sng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https://www.ibm.com/think/topics/api-gateway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363982-3206-8B67-1C97-C1CDA91585BF}"/>
              </a:ext>
            </a:extLst>
          </p:cNvPr>
          <p:cNvSpPr txBox="1"/>
          <p:nvPr/>
        </p:nvSpPr>
        <p:spPr>
          <a:xfrm>
            <a:off x="228599" y="4587169"/>
            <a:ext cx="116487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1" u="sng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https://www.ibm.com/think/topics/kubernetes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07F6F6-E72E-3EF6-F5EE-445ADC632D82}"/>
              </a:ext>
            </a:extLst>
          </p:cNvPr>
          <p:cNvSpPr txBox="1"/>
          <p:nvPr/>
        </p:nvSpPr>
        <p:spPr>
          <a:xfrm>
            <a:off x="228599" y="5197455"/>
            <a:ext cx="116487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1" u="sng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https://www.youtube.com/watch?v=X48VuDVv0do</a:t>
            </a:r>
          </a:p>
        </p:txBody>
      </p:sp>
    </p:spTree>
    <p:extLst>
      <p:ext uri="{BB962C8B-B14F-4D97-AF65-F5344CB8AC3E}">
        <p14:creationId xmlns:p14="http://schemas.microsoft.com/office/powerpoint/2010/main" val="6628191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BACFB3-8B18-F186-25D2-C0E0C1E71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8147A38C-CCA5-39B7-802B-57C179F5D6CE}"/>
              </a:ext>
            </a:extLst>
          </p:cNvPr>
          <p:cNvSpPr txBox="1">
            <a:spLocks/>
          </p:cNvSpPr>
          <p:nvPr/>
        </p:nvSpPr>
        <p:spPr>
          <a:xfrm>
            <a:off x="1524000" y="1293338"/>
            <a:ext cx="9144000" cy="32745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THANK YOU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67148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1454</TotalTime>
  <Words>1088</Words>
  <Application>Microsoft Office PowerPoint</Application>
  <PresentationFormat>Widescreen</PresentationFormat>
  <Paragraphs>143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Times New Roman</vt:lpstr>
      <vt:lpstr>Office Theme</vt:lpstr>
      <vt:lpstr>PowerPoint Presentation</vt:lpstr>
      <vt:lpstr>Kubernetes defined (Since 2014, by Google):</vt:lpstr>
      <vt:lpstr>PowerPoint Presentation</vt:lpstr>
      <vt:lpstr>Kubernetes architecture and components:</vt:lpstr>
      <vt:lpstr>Kubernetes architecture and components:</vt:lpstr>
      <vt:lpstr>Kubernetes architecture and components:</vt:lpstr>
      <vt:lpstr>Kubernetes architecture explained (Worker Process):</vt:lpstr>
      <vt:lpstr>Kubernetes architecture explained (Master Process):</vt:lpstr>
      <vt:lpstr>PowerPoint Presentation</vt:lpstr>
      <vt:lpstr>Minikube and Kubectl</vt:lpstr>
      <vt:lpstr>PowerPoint Presentation</vt:lpstr>
      <vt:lpstr>Get the status of different components, create and edit pods:</vt:lpstr>
      <vt:lpstr>Configuration files: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alHasan 20367648</dc:creator>
  <cp:lastModifiedBy>alHasan 20367648</cp:lastModifiedBy>
  <cp:revision>478</cp:revision>
  <dcterms:created xsi:type="dcterms:W3CDTF">2026-03-07T15:17:43Z</dcterms:created>
  <dcterms:modified xsi:type="dcterms:W3CDTF">2026-04-30T06:34:27Z</dcterms:modified>
</cp:coreProperties>
</file>