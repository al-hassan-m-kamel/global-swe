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97" r:id="rId2"/>
    <p:sldId id="300" r:id="rId3"/>
    <p:sldId id="318" r:id="rId4"/>
    <p:sldId id="319" r:id="rId5"/>
    <p:sldId id="320" r:id="rId6"/>
    <p:sldId id="298" r:id="rId7"/>
    <p:sldId id="299" r:id="rId8"/>
    <p:sldId id="301" r:id="rId9"/>
    <p:sldId id="302" r:id="rId10"/>
    <p:sldId id="303" r:id="rId11"/>
    <p:sldId id="304" r:id="rId12"/>
    <p:sldId id="316" r:id="rId13"/>
    <p:sldId id="317" r:id="rId14"/>
    <p:sldId id="314" r:id="rId15"/>
    <p:sldId id="315" r:id="rId16"/>
    <p:sldId id="305" r:id="rId17"/>
    <p:sldId id="306" r:id="rId18"/>
    <p:sldId id="307" r:id="rId19"/>
    <p:sldId id="308" r:id="rId20"/>
    <p:sldId id="309" r:id="rId21"/>
    <p:sldId id="310" r:id="rId22"/>
    <p:sldId id="311" r:id="rId23"/>
    <p:sldId id="312" r:id="rId24"/>
    <p:sldId id="313" r:id="rId25"/>
    <p:sldId id="274" r:id="rId26"/>
    <p:sldId id="273"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902" autoAdjust="0"/>
  </p:normalViewPr>
  <p:slideViewPr>
    <p:cSldViewPr snapToGrid="0">
      <p:cViewPr varScale="1">
        <p:scale>
          <a:sx n="82" d="100"/>
          <a:sy n="82" d="100"/>
        </p:scale>
        <p:origin x="864"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BA9EE9C-81EC-44CC-8303-70501E2C4EC9}" type="doc">
      <dgm:prSet loTypeId="urn:microsoft.com/office/officeart/2005/8/layout/default" loCatId="list" qsTypeId="urn:microsoft.com/office/officeart/2005/8/quickstyle/simple3" qsCatId="simple" csTypeId="urn:microsoft.com/office/officeart/2005/8/colors/accent2_4" csCatId="accent2" phldr="1"/>
      <dgm:spPr/>
      <dgm:t>
        <a:bodyPr/>
        <a:lstStyle/>
        <a:p>
          <a:endParaRPr lang="en-US"/>
        </a:p>
      </dgm:t>
    </dgm:pt>
    <dgm:pt modelId="{4E0CAC25-57A2-4C5E-9489-E8CCC983C8A4}">
      <dgm:prSet phldrT="[Text]"/>
      <dgm:spPr/>
      <dgm:t>
        <a:bodyPr/>
        <a:lstStyle/>
        <a:p>
          <a:pPr>
            <a:buNone/>
          </a:pPr>
          <a:r>
            <a:rPr lang="en-US" b="1" i="0" dirty="0"/>
            <a:t>Accelerating time to market</a:t>
          </a:r>
          <a:endParaRPr lang="en-US" dirty="0"/>
        </a:p>
      </dgm:t>
    </dgm:pt>
    <dgm:pt modelId="{E9B864D3-B877-4C9D-9EED-699DD5EBB99F}" type="parTrans" cxnId="{B0A79697-D238-4A28-AC88-9134F4D63CCF}">
      <dgm:prSet/>
      <dgm:spPr/>
      <dgm:t>
        <a:bodyPr/>
        <a:lstStyle/>
        <a:p>
          <a:endParaRPr lang="en-US"/>
        </a:p>
      </dgm:t>
    </dgm:pt>
    <dgm:pt modelId="{A2110E5B-B32A-4226-8E3A-B4DCF33441DB}" type="sibTrans" cxnId="{B0A79697-D238-4A28-AC88-9134F4D63CCF}">
      <dgm:prSet/>
      <dgm:spPr/>
      <dgm:t>
        <a:bodyPr/>
        <a:lstStyle/>
        <a:p>
          <a:endParaRPr lang="en-US"/>
        </a:p>
      </dgm:t>
    </dgm:pt>
    <dgm:pt modelId="{FA8FBC87-8CCA-465B-A3E3-B2FAFA2AF606}">
      <dgm:prSet phldrT="[Text]"/>
      <dgm:spPr/>
      <dgm:t>
        <a:bodyPr/>
        <a:lstStyle/>
        <a:p>
          <a:pPr>
            <a:buNone/>
          </a:pPr>
          <a:r>
            <a:rPr lang="en-US" b="1" i="0" dirty="0"/>
            <a:t>Adapting to market dynamics and competition</a:t>
          </a:r>
          <a:endParaRPr lang="en-US" dirty="0"/>
        </a:p>
      </dgm:t>
    </dgm:pt>
    <dgm:pt modelId="{9D9A5EEF-5522-4952-B52B-387F83E6E8FF}" type="parTrans" cxnId="{5159A560-EF9D-4B21-AFDC-CBB7E69E7EA2}">
      <dgm:prSet/>
      <dgm:spPr/>
      <dgm:t>
        <a:bodyPr/>
        <a:lstStyle/>
        <a:p>
          <a:endParaRPr lang="en-US"/>
        </a:p>
      </dgm:t>
    </dgm:pt>
    <dgm:pt modelId="{1AC831AC-B573-4916-9736-565780F2EE5B}" type="sibTrans" cxnId="{5159A560-EF9D-4B21-AFDC-CBB7E69E7EA2}">
      <dgm:prSet/>
      <dgm:spPr/>
      <dgm:t>
        <a:bodyPr/>
        <a:lstStyle/>
        <a:p>
          <a:endParaRPr lang="en-US"/>
        </a:p>
      </dgm:t>
    </dgm:pt>
    <dgm:pt modelId="{1BBD192D-D196-4F9B-AB27-4650B2E337ED}">
      <dgm:prSet phldrT="[Text]"/>
      <dgm:spPr/>
      <dgm:t>
        <a:bodyPr/>
        <a:lstStyle/>
        <a:p>
          <a:pPr>
            <a:buNone/>
          </a:pPr>
          <a:r>
            <a:rPr lang="en-US" b="1" i="0" dirty="0"/>
            <a:t>Sustaining stability and reliability in operations</a:t>
          </a:r>
          <a:endParaRPr lang="en-US" dirty="0"/>
        </a:p>
      </dgm:t>
    </dgm:pt>
    <dgm:pt modelId="{C9EA72EE-D5A5-4167-B809-02A6D323B0B5}" type="parTrans" cxnId="{5DBEC710-DB64-4188-A43A-E8AD7307D604}">
      <dgm:prSet/>
      <dgm:spPr/>
      <dgm:t>
        <a:bodyPr/>
        <a:lstStyle/>
        <a:p>
          <a:endParaRPr lang="en-US"/>
        </a:p>
      </dgm:t>
    </dgm:pt>
    <dgm:pt modelId="{8145F2CF-526D-42FF-83FF-7CD71C2FFA5A}" type="sibTrans" cxnId="{5DBEC710-DB64-4188-A43A-E8AD7307D604}">
      <dgm:prSet/>
      <dgm:spPr/>
      <dgm:t>
        <a:bodyPr/>
        <a:lstStyle/>
        <a:p>
          <a:endParaRPr lang="en-US"/>
        </a:p>
      </dgm:t>
    </dgm:pt>
    <dgm:pt modelId="{38F10B2D-B87A-43AF-BBBD-C88F5CB31A75}">
      <dgm:prSet phldrT="[Text]"/>
      <dgm:spPr/>
      <dgm:t>
        <a:bodyPr/>
        <a:lstStyle/>
        <a:p>
          <a:pPr>
            <a:buNone/>
          </a:pPr>
          <a:r>
            <a:rPr lang="en-US" b="1" i="0" dirty="0"/>
            <a:t>Minimizing the mean time to recovery (MTTR)</a:t>
          </a:r>
          <a:endParaRPr lang="en-US" dirty="0"/>
        </a:p>
      </dgm:t>
    </dgm:pt>
    <dgm:pt modelId="{6D5BAA73-1F03-46DA-A6AF-676473E76255}" type="parTrans" cxnId="{C277EB3E-BF3F-48E3-A72F-77057D930F89}">
      <dgm:prSet/>
      <dgm:spPr/>
      <dgm:t>
        <a:bodyPr/>
        <a:lstStyle/>
        <a:p>
          <a:endParaRPr lang="en-US"/>
        </a:p>
      </dgm:t>
    </dgm:pt>
    <dgm:pt modelId="{C7A32C04-CD03-413B-8E90-ACB860BABD1B}" type="sibTrans" cxnId="{C277EB3E-BF3F-48E3-A72F-77057D930F89}">
      <dgm:prSet/>
      <dgm:spPr/>
      <dgm:t>
        <a:bodyPr/>
        <a:lstStyle/>
        <a:p>
          <a:endParaRPr lang="en-US"/>
        </a:p>
      </dgm:t>
    </dgm:pt>
    <dgm:pt modelId="{EBC0C358-FBA2-4F0C-A000-B078735CDE28}" type="pres">
      <dgm:prSet presAssocID="{FBA9EE9C-81EC-44CC-8303-70501E2C4EC9}" presName="diagram" presStyleCnt="0">
        <dgm:presLayoutVars>
          <dgm:dir/>
          <dgm:resizeHandles val="exact"/>
        </dgm:presLayoutVars>
      </dgm:prSet>
      <dgm:spPr/>
    </dgm:pt>
    <dgm:pt modelId="{57ECA8C4-172F-4AC7-89DB-19A07F82E6EB}" type="pres">
      <dgm:prSet presAssocID="{4E0CAC25-57A2-4C5E-9489-E8CCC983C8A4}" presName="node" presStyleLbl="node1" presStyleIdx="0" presStyleCnt="4">
        <dgm:presLayoutVars>
          <dgm:bulletEnabled val="1"/>
        </dgm:presLayoutVars>
      </dgm:prSet>
      <dgm:spPr/>
    </dgm:pt>
    <dgm:pt modelId="{37BC5F15-86A6-49DC-978C-7567DF058B1B}" type="pres">
      <dgm:prSet presAssocID="{A2110E5B-B32A-4226-8E3A-B4DCF33441DB}" presName="sibTrans" presStyleCnt="0"/>
      <dgm:spPr/>
    </dgm:pt>
    <dgm:pt modelId="{AD03565E-64C5-44BD-9EDB-561A318DD250}" type="pres">
      <dgm:prSet presAssocID="{FA8FBC87-8CCA-465B-A3E3-B2FAFA2AF606}" presName="node" presStyleLbl="node1" presStyleIdx="1" presStyleCnt="4">
        <dgm:presLayoutVars>
          <dgm:bulletEnabled val="1"/>
        </dgm:presLayoutVars>
      </dgm:prSet>
      <dgm:spPr/>
    </dgm:pt>
    <dgm:pt modelId="{A3414CB2-BA77-4ED6-A951-3D45E7B461E2}" type="pres">
      <dgm:prSet presAssocID="{1AC831AC-B573-4916-9736-565780F2EE5B}" presName="sibTrans" presStyleCnt="0"/>
      <dgm:spPr/>
    </dgm:pt>
    <dgm:pt modelId="{4EAF3B80-EF15-4249-9647-0C677733B7D7}" type="pres">
      <dgm:prSet presAssocID="{1BBD192D-D196-4F9B-AB27-4650B2E337ED}" presName="node" presStyleLbl="node1" presStyleIdx="2" presStyleCnt="4">
        <dgm:presLayoutVars>
          <dgm:bulletEnabled val="1"/>
        </dgm:presLayoutVars>
      </dgm:prSet>
      <dgm:spPr/>
    </dgm:pt>
    <dgm:pt modelId="{A3588CD7-CAF7-4569-A1EA-12F77DA91FDD}" type="pres">
      <dgm:prSet presAssocID="{8145F2CF-526D-42FF-83FF-7CD71C2FFA5A}" presName="sibTrans" presStyleCnt="0"/>
      <dgm:spPr/>
    </dgm:pt>
    <dgm:pt modelId="{84F74001-2AB8-4307-B3F4-E51705C87C99}" type="pres">
      <dgm:prSet presAssocID="{38F10B2D-B87A-43AF-BBBD-C88F5CB31A75}" presName="node" presStyleLbl="node1" presStyleIdx="3" presStyleCnt="4">
        <dgm:presLayoutVars>
          <dgm:bulletEnabled val="1"/>
        </dgm:presLayoutVars>
      </dgm:prSet>
      <dgm:spPr/>
    </dgm:pt>
  </dgm:ptLst>
  <dgm:cxnLst>
    <dgm:cxn modelId="{5DBEC710-DB64-4188-A43A-E8AD7307D604}" srcId="{FBA9EE9C-81EC-44CC-8303-70501E2C4EC9}" destId="{1BBD192D-D196-4F9B-AB27-4650B2E337ED}" srcOrd="2" destOrd="0" parTransId="{C9EA72EE-D5A5-4167-B809-02A6D323B0B5}" sibTransId="{8145F2CF-526D-42FF-83FF-7CD71C2FFA5A}"/>
    <dgm:cxn modelId="{0754D41C-CF12-4888-8E1C-27D5E5ECF1ED}" type="presOf" srcId="{4E0CAC25-57A2-4C5E-9489-E8CCC983C8A4}" destId="{57ECA8C4-172F-4AC7-89DB-19A07F82E6EB}" srcOrd="0" destOrd="0" presId="urn:microsoft.com/office/officeart/2005/8/layout/default"/>
    <dgm:cxn modelId="{C277EB3E-BF3F-48E3-A72F-77057D930F89}" srcId="{FBA9EE9C-81EC-44CC-8303-70501E2C4EC9}" destId="{38F10B2D-B87A-43AF-BBBD-C88F5CB31A75}" srcOrd="3" destOrd="0" parTransId="{6D5BAA73-1F03-46DA-A6AF-676473E76255}" sibTransId="{C7A32C04-CD03-413B-8E90-ACB860BABD1B}"/>
    <dgm:cxn modelId="{5159A560-EF9D-4B21-AFDC-CBB7E69E7EA2}" srcId="{FBA9EE9C-81EC-44CC-8303-70501E2C4EC9}" destId="{FA8FBC87-8CCA-465B-A3E3-B2FAFA2AF606}" srcOrd="1" destOrd="0" parTransId="{9D9A5EEF-5522-4952-B52B-387F83E6E8FF}" sibTransId="{1AC831AC-B573-4916-9736-565780F2EE5B}"/>
    <dgm:cxn modelId="{00F94947-18F5-467D-8E26-20D08920F593}" type="presOf" srcId="{38F10B2D-B87A-43AF-BBBD-C88F5CB31A75}" destId="{84F74001-2AB8-4307-B3F4-E51705C87C99}" srcOrd="0" destOrd="0" presId="urn:microsoft.com/office/officeart/2005/8/layout/default"/>
    <dgm:cxn modelId="{9D725469-D976-4C68-93E4-D4652D3D5A33}" type="presOf" srcId="{1BBD192D-D196-4F9B-AB27-4650B2E337ED}" destId="{4EAF3B80-EF15-4249-9647-0C677733B7D7}" srcOrd="0" destOrd="0" presId="urn:microsoft.com/office/officeart/2005/8/layout/default"/>
    <dgm:cxn modelId="{B162E682-B693-4CAB-AB4E-3C88568B72CF}" type="presOf" srcId="{FA8FBC87-8CCA-465B-A3E3-B2FAFA2AF606}" destId="{AD03565E-64C5-44BD-9EDB-561A318DD250}" srcOrd="0" destOrd="0" presId="urn:microsoft.com/office/officeart/2005/8/layout/default"/>
    <dgm:cxn modelId="{B0A79697-D238-4A28-AC88-9134F4D63CCF}" srcId="{FBA9EE9C-81EC-44CC-8303-70501E2C4EC9}" destId="{4E0CAC25-57A2-4C5E-9489-E8CCC983C8A4}" srcOrd="0" destOrd="0" parTransId="{E9B864D3-B877-4C9D-9EED-699DD5EBB99F}" sibTransId="{A2110E5B-B32A-4226-8E3A-B4DCF33441DB}"/>
    <dgm:cxn modelId="{4E1A2EB0-359D-444B-ADCE-AD4369818746}" type="presOf" srcId="{FBA9EE9C-81EC-44CC-8303-70501E2C4EC9}" destId="{EBC0C358-FBA2-4F0C-A000-B078735CDE28}" srcOrd="0" destOrd="0" presId="urn:microsoft.com/office/officeart/2005/8/layout/default"/>
    <dgm:cxn modelId="{BCBBF35F-944A-44E2-BC19-C8E9B17E921C}" type="presParOf" srcId="{EBC0C358-FBA2-4F0C-A000-B078735CDE28}" destId="{57ECA8C4-172F-4AC7-89DB-19A07F82E6EB}" srcOrd="0" destOrd="0" presId="urn:microsoft.com/office/officeart/2005/8/layout/default"/>
    <dgm:cxn modelId="{8CC2BCFD-D936-4075-AF14-9E2810A2B539}" type="presParOf" srcId="{EBC0C358-FBA2-4F0C-A000-B078735CDE28}" destId="{37BC5F15-86A6-49DC-978C-7567DF058B1B}" srcOrd="1" destOrd="0" presId="urn:microsoft.com/office/officeart/2005/8/layout/default"/>
    <dgm:cxn modelId="{F705FDB3-F3CD-4A06-B7BF-90D8FAB0810C}" type="presParOf" srcId="{EBC0C358-FBA2-4F0C-A000-B078735CDE28}" destId="{AD03565E-64C5-44BD-9EDB-561A318DD250}" srcOrd="2" destOrd="0" presId="urn:microsoft.com/office/officeart/2005/8/layout/default"/>
    <dgm:cxn modelId="{CE5573BA-3A06-4012-92A4-DE1438393F0E}" type="presParOf" srcId="{EBC0C358-FBA2-4F0C-A000-B078735CDE28}" destId="{A3414CB2-BA77-4ED6-A951-3D45E7B461E2}" srcOrd="3" destOrd="0" presId="urn:microsoft.com/office/officeart/2005/8/layout/default"/>
    <dgm:cxn modelId="{B1BB12A7-7599-4A2C-8700-2D336DCDFA5C}" type="presParOf" srcId="{EBC0C358-FBA2-4F0C-A000-B078735CDE28}" destId="{4EAF3B80-EF15-4249-9647-0C677733B7D7}" srcOrd="4" destOrd="0" presId="urn:microsoft.com/office/officeart/2005/8/layout/default"/>
    <dgm:cxn modelId="{29EF3C6D-1923-4003-89A4-83AF86256249}" type="presParOf" srcId="{EBC0C358-FBA2-4F0C-A000-B078735CDE28}" destId="{A3588CD7-CAF7-4569-A1EA-12F77DA91FDD}" srcOrd="5" destOrd="0" presId="urn:microsoft.com/office/officeart/2005/8/layout/default"/>
    <dgm:cxn modelId="{B63FA2A4-C58F-4B14-9DED-FE1D7BF60DF2}" type="presParOf" srcId="{EBC0C358-FBA2-4F0C-A000-B078735CDE28}" destId="{84F74001-2AB8-4307-B3F4-E51705C87C99}" srcOrd="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D859249-1574-4314-99F7-399B4271CA2C}" type="doc">
      <dgm:prSet loTypeId="urn:microsoft.com/office/officeart/2005/8/layout/cycle1" loCatId="cycle" qsTypeId="urn:microsoft.com/office/officeart/2005/8/quickstyle/simple1" qsCatId="simple" csTypeId="urn:microsoft.com/office/officeart/2005/8/colors/accent1_2" csCatId="accent1" phldr="1"/>
      <dgm:spPr/>
      <dgm:t>
        <a:bodyPr/>
        <a:lstStyle/>
        <a:p>
          <a:endParaRPr lang="en-US"/>
        </a:p>
      </dgm:t>
    </dgm:pt>
    <dgm:pt modelId="{7959B719-1E24-4347-B8A2-D382A9A20926}">
      <dgm:prSet phldrT="[Text]" phldr="0" custT="1"/>
      <dgm:spPr/>
      <dgm:t>
        <a:bodyPr/>
        <a:lstStyle/>
        <a:p>
          <a:r>
            <a:rPr lang="en-US" sz="2600" b="1" kern="1200" dirty="0">
              <a:solidFill>
                <a:prstClr val="black">
                  <a:hueOff val="0"/>
                  <a:satOff val="0"/>
                  <a:lumOff val="0"/>
                  <a:alphaOff val="0"/>
                </a:prstClr>
              </a:solidFill>
              <a:latin typeface="Arial" panose="020B0604020202020204" pitchFamily="34" charset="0"/>
              <a:ea typeface="+mn-ea"/>
              <a:cs typeface="Arial" panose="020B0604020202020204" pitchFamily="34" charset="0"/>
            </a:rPr>
            <a:t>Test</a:t>
          </a:r>
        </a:p>
      </dgm:t>
    </dgm:pt>
    <dgm:pt modelId="{AB6A674D-72FC-46B4-8BE2-9ED89052C32E}" type="parTrans" cxnId="{D925AA89-1409-45CF-B8FD-3DE4BFE0ECC3}">
      <dgm:prSet/>
      <dgm:spPr/>
      <dgm:t>
        <a:bodyPr/>
        <a:lstStyle/>
        <a:p>
          <a:endParaRPr lang="en-US"/>
        </a:p>
      </dgm:t>
    </dgm:pt>
    <dgm:pt modelId="{A35BB1CE-F0B1-4529-912F-50EA8AB41FE2}" type="sibTrans" cxnId="{D925AA89-1409-45CF-B8FD-3DE4BFE0ECC3}">
      <dgm:prSet/>
      <dgm:spPr/>
      <dgm:t>
        <a:bodyPr/>
        <a:lstStyle/>
        <a:p>
          <a:endParaRPr lang="en-US"/>
        </a:p>
      </dgm:t>
    </dgm:pt>
    <dgm:pt modelId="{61CD79EC-1AAA-46F8-9A34-DABE3A35A179}">
      <dgm:prSet phldrT="[Text]" phldr="0" custT="1"/>
      <dgm:spPr/>
      <dgm:t>
        <a:bodyPr/>
        <a:lstStyle/>
        <a:p>
          <a:r>
            <a:rPr lang="en-US" sz="2400" b="1" kern="1200" dirty="0">
              <a:solidFill>
                <a:prstClr val="black">
                  <a:hueOff val="0"/>
                  <a:satOff val="0"/>
                  <a:lumOff val="0"/>
                  <a:alphaOff val="0"/>
                </a:prstClr>
              </a:solidFill>
              <a:latin typeface="Arial" panose="020B0604020202020204" pitchFamily="34" charset="0"/>
              <a:ea typeface="+mn-ea"/>
              <a:cs typeface="Arial" panose="020B0604020202020204" pitchFamily="34" charset="0"/>
            </a:rPr>
            <a:t>Deliver</a:t>
          </a:r>
        </a:p>
      </dgm:t>
    </dgm:pt>
    <dgm:pt modelId="{73BF061C-3633-4DFA-81C8-AE30D9A18E7E}" type="parTrans" cxnId="{B5B66D33-90F0-489D-823A-5F0F4128D985}">
      <dgm:prSet/>
      <dgm:spPr/>
      <dgm:t>
        <a:bodyPr/>
        <a:lstStyle/>
        <a:p>
          <a:endParaRPr lang="en-US"/>
        </a:p>
      </dgm:t>
    </dgm:pt>
    <dgm:pt modelId="{C9F499A1-84B6-4DB2-8E70-E8AB2EFE2AAA}" type="sibTrans" cxnId="{B5B66D33-90F0-489D-823A-5F0F4128D985}">
      <dgm:prSet/>
      <dgm:spPr/>
      <dgm:t>
        <a:bodyPr/>
        <a:lstStyle/>
        <a:p>
          <a:endParaRPr lang="en-US"/>
        </a:p>
      </dgm:t>
    </dgm:pt>
    <dgm:pt modelId="{FF569824-F77B-4FE0-99E3-03852C6B1B62}">
      <dgm:prSet phldrT="[Text]" phldr="0" custT="1"/>
      <dgm:spPr/>
      <dgm:t>
        <a:bodyPr/>
        <a:lstStyle/>
        <a:p>
          <a:r>
            <a:rPr lang="en-US" sz="2400" b="1" kern="1200" dirty="0">
              <a:solidFill>
                <a:prstClr val="black">
                  <a:hueOff val="0"/>
                  <a:satOff val="0"/>
                  <a:lumOff val="0"/>
                  <a:alphaOff val="0"/>
                </a:prstClr>
              </a:solidFill>
              <a:latin typeface="Arial" panose="020B0604020202020204" pitchFamily="34" charset="0"/>
              <a:ea typeface="+mn-ea"/>
              <a:cs typeface="Arial" panose="020B0604020202020204" pitchFamily="34" charset="0"/>
            </a:rPr>
            <a:t>Deploy</a:t>
          </a:r>
        </a:p>
      </dgm:t>
    </dgm:pt>
    <dgm:pt modelId="{69265530-84DC-4A97-BC41-C71A63CF28DD}" type="parTrans" cxnId="{EA44A847-F6A4-4BBA-B26F-DA885876D216}">
      <dgm:prSet/>
      <dgm:spPr/>
      <dgm:t>
        <a:bodyPr/>
        <a:lstStyle/>
        <a:p>
          <a:endParaRPr lang="en-US"/>
        </a:p>
      </dgm:t>
    </dgm:pt>
    <dgm:pt modelId="{3D28C3C4-E54C-4B8E-86FA-45A73F3BF89E}" type="sibTrans" cxnId="{EA44A847-F6A4-4BBA-B26F-DA885876D216}">
      <dgm:prSet/>
      <dgm:spPr/>
      <dgm:t>
        <a:bodyPr/>
        <a:lstStyle/>
        <a:p>
          <a:endParaRPr lang="en-US"/>
        </a:p>
      </dgm:t>
    </dgm:pt>
    <dgm:pt modelId="{FCFC13A8-F7CE-4A54-A46D-6095939E231C}">
      <dgm:prSet phldrT="[Text]" phldr="0" custT="1"/>
      <dgm:spPr/>
      <dgm:t>
        <a:bodyPr/>
        <a:lstStyle/>
        <a:p>
          <a:r>
            <a:rPr lang="en-US" sz="2400" b="1" dirty="0">
              <a:latin typeface="Arial" panose="020B0604020202020204" pitchFamily="34" charset="0"/>
              <a:cs typeface="Arial" panose="020B0604020202020204" pitchFamily="34" charset="0"/>
            </a:rPr>
            <a:t>Build</a:t>
          </a:r>
        </a:p>
      </dgm:t>
    </dgm:pt>
    <dgm:pt modelId="{36B0EED0-0F54-41AE-92E3-6EC040DE6AFD}" type="parTrans" cxnId="{67FD0441-B6D9-45FC-8CE8-63333668B00E}">
      <dgm:prSet/>
      <dgm:spPr/>
      <dgm:t>
        <a:bodyPr/>
        <a:lstStyle/>
        <a:p>
          <a:endParaRPr lang="en-US"/>
        </a:p>
      </dgm:t>
    </dgm:pt>
    <dgm:pt modelId="{883B320D-FD5B-41E0-9124-B68B622E2695}" type="sibTrans" cxnId="{67FD0441-B6D9-45FC-8CE8-63333668B00E}">
      <dgm:prSet/>
      <dgm:spPr/>
      <dgm:t>
        <a:bodyPr/>
        <a:lstStyle/>
        <a:p>
          <a:endParaRPr lang="en-US"/>
        </a:p>
      </dgm:t>
    </dgm:pt>
    <dgm:pt modelId="{0A2245D1-4654-4CC9-8B33-A12D28182944}" type="pres">
      <dgm:prSet presAssocID="{FD859249-1574-4314-99F7-399B4271CA2C}" presName="cycle" presStyleCnt="0">
        <dgm:presLayoutVars>
          <dgm:dir/>
          <dgm:resizeHandles val="exact"/>
        </dgm:presLayoutVars>
      </dgm:prSet>
      <dgm:spPr/>
    </dgm:pt>
    <dgm:pt modelId="{ABD5B8E8-C284-48A9-ADFA-026A7E17DE2B}" type="pres">
      <dgm:prSet presAssocID="{7959B719-1E24-4347-B8A2-D382A9A20926}" presName="dummy" presStyleCnt="0"/>
      <dgm:spPr/>
    </dgm:pt>
    <dgm:pt modelId="{9DFAEF68-7F6F-44C0-9B60-B6106E5425D2}" type="pres">
      <dgm:prSet presAssocID="{7959B719-1E24-4347-B8A2-D382A9A20926}" presName="node" presStyleLbl="revTx" presStyleIdx="0" presStyleCnt="4">
        <dgm:presLayoutVars>
          <dgm:bulletEnabled val="1"/>
        </dgm:presLayoutVars>
      </dgm:prSet>
      <dgm:spPr/>
    </dgm:pt>
    <dgm:pt modelId="{EC76D055-680D-4D58-BC65-9C84042A70FC}" type="pres">
      <dgm:prSet presAssocID="{A35BB1CE-F0B1-4529-912F-50EA8AB41FE2}" presName="sibTrans" presStyleLbl="node1" presStyleIdx="0" presStyleCnt="4"/>
      <dgm:spPr/>
    </dgm:pt>
    <dgm:pt modelId="{38FD3F36-0A53-4964-8023-AE09E98AED5D}" type="pres">
      <dgm:prSet presAssocID="{61CD79EC-1AAA-46F8-9A34-DABE3A35A179}" presName="dummy" presStyleCnt="0"/>
      <dgm:spPr/>
    </dgm:pt>
    <dgm:pt modelId="{3187B671-FFEA-46EE-96E7-B95BDE46DB00}" type="pres">
      <dgm:prSet presAssocID="{61CD79EC-1AAA-46F8-9A34-DABE3A35A179}" presName="node" presStyleLbl="revTx" presStyleIdx="1" presStyleCnt="4">
        <dgm:presLayoutVars>
          <dgm:bulletEnabled val="1"/>
        </dgm:presLayoutVars>
      </dgm:prSet>
      <dgm:spPr/>
    </dgm:pt>
    <dgm:pt modelId="{28590E39-2DF2-4D2A-8034-85EF9C22FE7C}" type="pres">
      <dgm:prSet presAssocID="{C9F499A1-84B6-4DB2-8E70-E8AB2EFE2AAA}" presName="sibTrans" presStyleLbl="node1" presStyleIdx="1" presStyleCnt="4"/>
      <dgm:spPr/>
    </dgm:pt>
    <dgm:pt modelId="{4AE1335F-9A69-4610-9A4A-C033DEFDFF43}" type="pres">
      <dgm:prSet presAssocID="{FF569824-F77B-4FE0-99E3-03852C6B1B62}" presName="dummy" presStyleCnt="0"/>
      <dgm:spPr/>
    </dgm:pt>
    <dgm:pt modelId="{5CB31159-5107-43DC-A68A-9D25777A94DD}" type="pres">
      <dgm:prSet presAssocID="{FF569824-F77B-4FE0-99E3-03852C6B1B62}" presName="node" presStyleLbl="revTx" presStyleIdx="2" presStyleCnt="4">
        <dgm:presLayoutVars>
          <dgm:bulletEnabled val="1"/>
        </dgm:presLayoutVars>
      </dgm:prSet>
      <dgm:spPr/>
    </dgm:pt>
    <dgm:pt modelId="{DC1E2B1E-1C4C-45B4-88DE-60CBEA6CB1F6}" type="pres">
      <dgm:prSet presAssocID="{3D28C3C4-E54C-4B8E-86FA-45A73F3BF89E}" presName="sibTrans" presStyleLbl="node1" presStyleIdx="2" presStyleCnt="4"/>
      <dgm:spPr/>
    </dgm:pt>
    <dgm:pt modelId="{F5252E42-2502-418E-8CF8-D48B926C92FC}" type="pres">
      <dgm:prSet presAssocID="{FCFC13A8-F7CE-4A54-A46D-6095939E231C}" presName="dummy" presStyleCnt="0"/>
      <dgm:spPr/>
    </dgm:pt>
    <dgm:pt modelId="{5883068F-9E30-4539-82AC-F25FA2961AE8}" type="pres">
      <dgm:prSet presAssocID="{FCFC13A8-F7CE-4A54-A46D-6095939E231C}" presName="node" presStyleLbl="revTx" presStyleIdx="3" presStyleCnt="4">
        <dgm:presLayoutVars>
          <dgm:bulletEnabled val="1"/>
        </dgm:presLayoutVars>
      </dgm:prSet>
      <dgm:spPr/>
    </dgm:pt>
    <dgm:pt modelId="{7835A40A-BF03-4499-8027-14C94229956B}" type="pres">
      <dgm:prSet presAssocID="{883B320D-FD5B-41E0-9124-B68B622E2695}" presName="sibTrans" presStyleLbl="node1" presStyleIdx="3" presStyleCnt="4"/>
      <dgm:spPr/>
    </dgm:pt>
  </dgm:ptLst>
  <dgm:cxnLst>
    <dgm:cxn modelId="{FF5B182A-C5FB-4987-A475-2D4E16B00BC2}" type="presOf" srcId="{883B320D-FD5B-41E0-9124-B68B622E2695}" destId="{7835A40A-BF03-4499-8027-14C94229956B}" srcOrd="0" destOrd="0" presId="urn:microsoft.com/office/officeart/2005/8/layout/cycle1"/>
    <dgm:cxn modelId="{B5B66D33-90F0-489D-823A-5F0F4128D985}" srcId="{FD859249-1574-4314-99F7-399B4271CA2C}" destId="{61CD79EC-1AAA-46F8-9A34-DABE3A35A179}" srcOrd="1" destOrd="0" parTransId="{73BF061C-3633-4DFA-81C8-AE30D9A18E7E}" sibTransId="{C9F499A1-84B6-4DB2-8E70-E8AB2EFE2AAA}"/>
    <dgm:cxn modelId="{67FD0441-B6D9-45FC-8CE8-63333668B00E}" srcId="{FD859249-1574-4314-99F7-399B4271CA2C}" destId="{FCFC13A8-F7CE-4A54-A46D-6095939E231C}" srcOrd="3" destOrd="0" parTransId="{36B0EED0-0F54-41AE-92E3-6EC040DE6AFD}" sibTransId="{883B320D-FD5B-41E0-9124-B68B622E2695}"/>
    <dgm:cxn modelId="{EA44A847-F6A4-4BBA-B26F-DA885876D216}" srcId="{FD859249-1574-4314-99F7-399B4271CA2C}" destId="{FF569824-F77B-4FE0-99E3-03852C6B1B62}" srcOrd="2" destOrd="0" parTransId="{69265530-84DC-4A97-BC41-C71A63CF28DD}" sibTransId="{3D28C3C4-E54C-4B8E-86FA-45A73F3BF89E}"/>
    <dgm:cxn modelId="{1E2AAF50-0005-4F32-84B9-B101095E7913}" type="presOf" srcId="{A35BB1CE-F0B1-4529-912F-50EA8AB41FE2}" destId="{EC76D055-680D-4D58-BC65-9C84042A70FC}" srcOrd="0" destOrd="0" presId="urn:microsoft.com/office/officeart/2005/8/layout/cycle1"/>
    <dgm:cxn modelId="{D925AA89-1409-45CF-B8FD-3DE4BFE0ECC3}" srcId="{FD859249-1574-4314-99F7-399B4271CA2C}" destId="{7959B719-1E24-4347-B8A2-D382A9A20926}" srcOrd="0" destOrd="0" parTransId="{AB6A674D-72FC-46B4-8BE2-9ED89052C32E}" sibTransId="{A35BB1CE-F0B1-4529-912F-50EA8AB41FE2}"/>
    <dgm:cxn modelId="{A8B0A595-6366-43FE-ABBE-57E8866D02C4}" type="presOf" srcId="{61CD79EC-1AAA-46F8-9A34-DABE3A35A179}" destId="{3187B671-FFEA-46EE-96E7-B95BDE46DB00}" srcOrd="0" destOrd="0" presId="urn:microsoft.com/office/officeart/2005/8/layout/cycle1"/>
    <dgm:cxn modelId="{8A55819E-EB0A-4399-98FA-82BAEEB41EE6}" type="presOf" srcId="{7959B719-1E24-4347-B8A2-D382A9A20926}" destId="{9DFAEF68-7F6F-44C0-9B60-B6106E5425D2}" srcOrd="0" destOrd="0" presId="urn:microsoft.com/office/officeart/2005/8/layout/cycle1"/>
    <dgm:cxn modelId="{19F491B8-04EA-48AC-9250-80E7CDCFF642}" type="presOf" srcId="{FCFC13A8-F7CE-4A54-A46D-6095939E231C}" destId="{5883068F-9E30-4539-82AC-F25FA2961AE8}" srcOrd="0" destOrd="0" presId="urn:microsoft.com/office/officeart/2005/8/layout/cycle1"/>
    <dgm:cxn modelId="{FD8BA3BA-80D6-4B68-ADBA-DFD41E6DB2B9}" type="presOf" srcId="{FD859249-1574-4314-99F7-399B4271CA2C}" destId="{0A2245D1-4654-4CC9-8B33-A12D28182944}" srcOrd="0" destOrd="0" presId="urn:microsoft.com/office/officeart/2005/8/layout/cycle1"/>
    <dgm:cxn modelId="{9E1F09C8-AA53-4918-A483-31942191CF0B}" type="presOf" srcId="{C9F499A1-84B6-4DB2-8E70-E8AB2EFE2AAA}" destId="{28590E39-2DF2-4D2A-8034-85EF9C22FE7C}" srcOrd="0" destOrd="0" presId="urn:microsoft.com/office/officeart/2005/8/layout/cycle1"/>
    <dgm:cxn modelId="{40AAA6E5-B5F3-44D3-81CE-CF1169D0B8BB}" type="presOf" srcId="{FF569824-F77B-4FE0-99E3-03852C6B1B62}" destId="{5CB31159-5107-43DC-A68A-9D25777A94DD}" srcOrd="0" destOrd="0" presId="urn:microsoft.com/office/officeart/2005/8/layout/cycle1"/>
    <dgm:cxn modelId="{01A89CF7-B5B0-4FDC-8A02-F272C988EDEF}" type="presOf" srcId="{3D28C3C4-E54C-4B8E-86FA-45A73F3BF89E}" destId="{DC1E2B1E-1C4C-45B4-88DE-60CBEA6CB1F6}" srcOrd="0" destOrd="0" presId="urn:microsoft.com/office/officeart/2005/8/layout/cycle1"/>
    <dgm:cxn modelId="{B7565FC1-D470-47D0-B8EA-0A5E635A7EFB}" type="presParOf" srcId="{0A2245D1-4654-4CC9-8B33-A12D28182944}" destId="{ABD5B8E8-C284-48A9-ADFA-026A7E17DE2B}" srcOrd="0" destOrd="0" presId="urn:microsoft.com/office/officeart/2005/8/layout/cycle1"/>
    <dgm:cxn modelId="{076D8177-FEB2-4ACC-AE58-8EB264824847}" type="presParOf" srcId="{0A2245D1-4654-4CC9-8B33-A12D28182944}" destId="{9DFAEF68-7F6F-44C0-9B60-B6106E5425D2}" srcOrd="1" destOrd="0" presId="urn:microsoft.com/office/officeart/2005/8/layout/cycle1"/>
    <dgm:cxn modelId="{B505F9EE-4F7C-4C6C-9679-ADA2EF80C65F}" type="presParOf" srcId="{0A2245D1-4654-4CC9-8B33-A12D28182944}" destId="{EC76D055-680D-4D58-BC65-9C84042A70FC}" srcOrd="2" destOrd="0" presId="urn:microsoft.com/office/officeart/2005/8/layout/cycle1"/>
    <dgm:cxn modelId="{EA752854-E25A-4D68-9F1B-0DA677A37E9E}" type="presParOf" srcId="{0A2245D1-4654-4CC9-8B33-A12D28182944}" destId="{38FD3F36-0A53-4964-8023-AE09E98AED5D}" srcOrd="3" destOrd="0" presId="urn:microsoft.com/office/officeart/2005/8/layout/cycle1"/>
    <dgm:cxn modelId="{DBEA43E0-933C-4F70-80A5-4DF3A8D17C24}" type="presParOf" srcId="{0A2245D1-4654-4CC9-8B33-A12D28182944}" destId="{3187B671-FFEA-46EE-96E7-B95BDE46DB00}" srcOrd="4" destOrd="0" presId="urn:microsoft.com/office/officeart/2005/8/layout/cycle1"/>
    <dgm:cxn modelId="{5D3D9BEB-7485-4F05-9628-1D50D1CBDF44}" type="presParOf" srcId="{0A2245D1-4654-4CC9-8B33-A12D28182944}" destId="{28590E39-2DF2-4D2A-8034-85EF9C22FE7C}" srcOrd="5" destOrd="0" presId="urn:microsoft.com/office/officeart/2005/8/layout/cycle1"/>
    <dgm:cxn modelId="{109E1F29-ED5A-451B-A901-881AD0B083BF}" type="presParOf" srcId="{0A2245D1-4654-4CC9-8B33-A12D28182944}" destId="{4AE1335F-9A69-4610-9A4A-C033DEFDFF43}" srcOrd="6" destOrd="0" presId="urn:microsoft.com/office/officeart/2005/8/layout/cycle1"/>
    <dgm:cxn modelId="{89DD3F2B-1956-4806-9C6E-9F363953A50E}" type="presParOf" srcId="{0A2245D1-4654-4CC9-8B33-A12D28182944}" destId="{5CB31159-5107-43DC-A68A-9D25777A94DD}" srcOrd="7" destOrd="0" presId="urn:microsoft.com/office/officeart/2005/8/layout/cycle1"/>
    <dgm:cxn modelId="{1580D241-FAF7-4519-BD97-80CCDA45A4CB}" type="presParOf" srcId="{0A2245D1-4654-4CC9-8B33-A12D28182944}" destId="{DC1E2B1E-1C4C-45B4-88DE-60CBEA6CB1F6}" srcOrd="8" destOrd="0" presId="urn:microsoft.com/office/officeart/2005/8/layout/cycle1"/>
    <dgm:cxn modelId="{923CB3FC-7A32-4916-A7CA-B23896094C06}" type="presParOf" srcId="{0A2245D1-4654-4CC9-8B33-A12D28182944}" destId="{F5252E42-2502-418E-8CF8-D48B926C92FC}" srcOrd="9" destOrd="0" presId="urn:microsoft.com/office/officeart/2005/8/layout/cycle1"/>
    <dgm:cxn modelId="{FCBFEBD9-91CC-498C-86ED-5D4B841A9E4C}" type="presParOf" srcId="{0A2245D1-4654-4CC9-8B33-A12D28182944}" destId="{5883068F-9E30-4539-82AC-F25FA2961AE8}" srcOrd="10" destOrd="0" presId="urn:microsoft.com/office/officeart/2005/8/layout/cycle1"/>
    <dgm:cxn modelId="{65128F1D-F71A-408B-A771-F87EF393BD6A}" type="presParOf" srcId="{0A2245D1-4654-4CC9-8B33-A12D28182944}" destId="{7835A40A-BF03-4499-8027-14C94229956B}" srcOrd="11" destOrd="0" presId="urn:microsoft.com/office/officeart/2005/8/layout/cycle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ECA8C4-172F-4AC7-89DB-19A07F82E6EB}">
      <dsp:nvSpPr>
        <dsp:cNvPr id="0" name=""/>
        <dsp:cNvSpPr/>
      </dsp:nvSpPr>
      <dsp:spPr>
        <a:xfrm>
          <a:off x="719319" y="51"/>
          <a:ext cx="2921656" cy="1752993"/>
        </a:xfrm>
        <a:prstGeom prst="rect">
          <a:avLst/>
        </a:prstGeom>
        <a:gradFill rotWithShape="0">
          <a:gsLst>
            <a:gs pos="0">
              <a:schemeClr val="accent2">
                <a:shade val="50000"/>
                <a:hueOff val="0"/>
                <a:satOff val="0"/>
                <a:lumOff val="0"/>
                <a:alphaOff val="0"/>
                <a:lumMod val="110000"/>
                <a:satMod val="105000"/>
                <a:tint val="67000"/>
              </a:schemeClr>
            </a:gs>
            <a:gs pos="50000">
              <a:schemeClr val="accent2">
                <a:shade val="50000"/>
                <a:hueOff val="0"/>
                <a:satOff val="0"/>
                <a:lumOff val="0"/>
                <a:alphaOff val="0"/>
                <a:lumMod val="105000"/>
                <a:satMod val="103000"/>
                <a:tint val="73000"/>
              </a:schemeClr>
            </a:gs>
            <a:gs pos="100000">
              <a:schemeClr val="accent2">
                <a:shade val="5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b="1" i="0" kern="1200" dirty="0"/>
            <a:t>Accelerating time to market</a:t>
          </a:r>
          <a:endParaRPr lang="en-US" sz="2700" kern="1200" dirty="0"/>
        </a:p>
      </dsp:txBody>
      <dsp:txXfrm>
        <a:off x="719319" y="51"/>
        <a:ext cx="2921656" cy="1752993"/>
      </dsp:txXfrm>
    </dsp:sp>
    <dsp:sp modelId="{AD03565E-64C5-44BD-9EDB-561A318DD250}">
      <dsp:nvSpPr>
        <dsp:cNvPr id="0" name=""/>
        <dsp:cNvSpPr/>
      </dsp:nvSpPr>
      <dsp:spPr>
        <a:xfrm>
          <a:off x="3933140" y="51"/>
          <a:ext cx="2921656" cy="1752993"/>
        </a:xfrm>
        <a:prstGeom prst="rect">
          <a:avLst/>
        </a:prstGeom>
        <a:gradFill rotWithShape="0">
          <a:gsLst>
            <a:gs pos="0">
              <a:schemeClr val="accent2">
                <a:shade val="50000"/>
                <a:hueOff val="-274425"/>
                <a:satOff val="2186"/>
                <a:lumOff val="23372"/>
                <a:alphaOff val="0"/>
                <a:lumMod val="110000"/>
                <a:satMod val="105000"/>
                <a:tint val="67000"/>
              </a:schemeClr>
            </a:gs>
            <a:gs pos="50000">
              <a:schemeClr val="accent2">
                <a:shade val="50000"/>
                <a:hueOff val="-274425"/>
                <a:satOff val="2186"/>
                <a:lumOff val="23372"/>
                <a:alphaOff val="0"/>
                <a:lumMod val="105000"/>
                <a:satMod val="103000"/>
                <a:tint val="73000"/>
              </a:schemeClr>
            </a:gs>
            <a:gs pos="100000">
              <a:schemeClr val="accent2">
                <a:shade val="50000"/>
                <a:hueOff val="-274425"/>
                <a:satOff val="2186"/>
                <a:lumOff val="23372"/>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b="1" i="0" kern="1200" dirty="0"/>
            <a:t>Adapting to market dynamics and competition</a:t>
          </a:r>
          <a:endParaRPr lang="en-US" sz="2700" kern="1200" dirty="0"/>
        </a:p>
      </dsp:txBody>
      <dsp:txXfrm>
        <a:off x="3933140" y="51"/>
        <a:ext cx="2921656" cy="1752993"/>
      </dsp:txXfrm>
    </dsp:sp>
    <dsp:sp modelId="{4EAF3B80-EF15-4249-9647-0C677733B7D7}">
      <dsp:nvSpPr>
        <dsp:cNvPr id="0" name=""/>
        <dsp:cNvSpPr/>
      </dsp:nvSpPr>
      <dsp:spPr>
        <a:xfrm>
          <a:off x="719319" y="2045210"/>
          <a:ext cx="2921656" cy="1752993"/>
        </a:xfrm>
        <a:prstGeom prst="rect">
          <a:avLst/>
        </a:prstGeom>
        <a:gradFill rotWithShape="0">
          <a:gsLst>
            <a:gs pos="0">
              <a:schemeClr val="accent2">
                <a:shade val="50000"/>
                <a:hueOff val="-548849"/>
                <a:satOff val="4372"/>
                <a:lumOff val="46744"/>
                <a:alphaOff val="0"/>
                <a:lumMod val="110000"/>
                <a:satMod val="105000"/>
                <a:tint val="67000"/>
              </a:schemeClr>
            </a:gs>
            <a:gs pos="50000">
              <a:schemeClr val="accent2">
                <a:shade val="50000"/>
                <a:hueOff val="-548849"/>
                <a:satOff val="4372"/>
                <a:lumOff val="46744"/>
                <a:alphaOff val="0"/>
                <a:lumMod val="105000"/>
                <a:satMod val="103000"/>
                <a:tint val="73000"/>
              </a:schemeClr>
            </a:gs>
            <a:gs pos="100000">
              <a:schemeClr val="accent2">
                <a:shade val="50000"/>
                <a:hueOff val="-548849"/>
                <a:satOff val="4372"/>
                <a:lumOff val="46744"/>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b="1" i="0" kern="1200" dirty="0"/>
            <a:t>Sustaining stability and reliability in operations</a:t>
          </a:r>
          <a:endParaRPr lang="en-US" sz="2700" kern="1200" dirty="0"/>
        </a:p>
      </dsp:txBody>
      <dsp:txXfrm>
        <a:off x="719319" y="2045210"/>
        <a:ext cx="2921656" cy="1752993"/>
      </dsp:txXfrm>
    </dsp:sp>
    <dsp:sp modelId="{84F74001-2AB8-4307-B3F4-E51705C87C99}">
      <dsp:nvSpPr>
        <dsp:cNvPr id="0" name=""/>
        <dsp:cNvSpPr/>
      </dsp:nvSpPr>
      <dsp:spPr>
        <a:xfrm>
          <a:off x="3933140" y="2045210"/>
          <a:ext cx="2921656" cy="1752993"/>
        </a:xfrm>
        <a:prstGeom prst="rect">
          <a:avLst/>
        </a:prstGeom>
        <a:gradFill rotWithShape="0">
          <a:gsLst>
            <a:gs pos="0">
              <a:schemeClr val="accent2">
                <a:shade val="50000"/>
                <a:hueOff val="-274425"/>
                <a:satOff val="2186"/>
                <a:lumOff val="23372"/>
                <a:alphaOff val="0"/>
                <a:lumMod val="110000"/>
                <a:satMod val="105000"/>
                <a:tint val="67000"/>
              </a:schemeClr>
            </a:gs>
            <a:gs pos="50000">
              <a:schemeClr val="accent2">
                <a:shade val="50000"/>
                <a:hueOff val="-274425"/>
                <a:satOff val="2186"/>
                <a:lumOff val="23372"/>
                <a:alphaOff val="0"/>
                <a:lumMod val="105000"/>
                <a:satMod val="103000"/>
                <a:tint val="73000"/>
              </a:schemeClr>
            </a:gs>
            <a:gs pos="100000">
              <a:schemeClr val="accent2">
                <a:shade val="50000"/>
                <a:hueOff val="-274425"/>
                <a:satOff val="2186"/>
                <a:lumOff val="23372"/>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b="1" i="0" kern="1200" dirty="0"/>
            <a:t>Minimizing the mean time to recovery (MTTR)</a:t>
          </a:r>
          <a:endParaRPr lang="en-US" sz="2700" kern="1200" dirty="0"/>
        </a:p>
      </dsp:txBody>
      <dsp:txXfrm>
        <a:off x="3933140" y="2045210"/>
        <a:ext cx="2921656" cy="175299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FAEF68-7F6F-44C0-9B60-B6106E5425D2}">
      <dsp:nvSpPr>
        <dsp:cNvPr id="0" name=""/>
        <dsp:cNvSpPr/>
      </dsp:nvSpPr>
      <dsp:spPr>
        <a:xfrm>
          <a:off x="4095578" y="69023"/>
          <a:ext cx="1090200" cy="10902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020" tIns="33020" rIns="33020" bIns="33020" numCol="1" spcCol="1270" anchor="ctr" anchorCtr="0">
          <a:noAutofit/>
        </a:bodyPr>
        <a:lstStyle/>
        <a:p>
          <a:pPr marL="0" lvl="0" indent="0" algn="ctr" defTabSz="1155700">
            <a:lnSpc>
              <a:spcPct val="90000"/>
            </a:lnSpc>
            <a:spcBef>
              <a:spcPct val="0"/>
            </a:spcBef>
            <a:spcAft>
              <a:spcPct val="35000"/>
            </a:spcAft>
            <a:buNone/>
          </a:pPr>
          <a:r>
            <a:rPr lang="en-US" sz="2600" b="1" kern="1200" dirty="0">
              <a:solidFill>
                <a:prstClr val="black">
                  <a:hueOff val="0"/>
                  <a:satOff val="0"/>
                  <a:lumOff val="0"/>
                  <a:alphaOff val="0"/>
                </a:prstClr>
              </a:solidFill>
              <a:latin typeface="Arial" panose="020B0604020202020204" pitchFamily="34" charset="0"/>
              <a:ea typeface="+mn-ea"/>
              <a:cs typeface="Arial" panose="020B0604020202020204" pitchFamily="34" charset="0"/>
            </a:rPr>
            <a:t>Test</a:t>
          </a:r>
        </a:p>
      </dsp:txBody>
      <dsp:txXfrm>
        <a:off x="4095578" y="69023"/>
        <a:ext cx="1090200" cy="1090200"/>
      </dsp:txXfrm>
    </dsp:sp>
    <dsp:sp modelId="{EC76D055-680D-4D58-BC65-9C84042A70FC}">
      <dsp:nvSpPr>
        <dsp:cNvPr id="0" name=""/>
        <dsp:cNvSpPr/>
      </dsp:nvSpPr>
      <dsp:spPr>
        <a:xfrm>
          <a:off x="2175650" y="401"/>
          <a:ext cx="3078751" cy="3078751"/>
        </a:xfrm>
        <a:prstGeom prst="circularArrow">
          <a:avLst>
            <a:gd name="adj1" fmla="val 6905"/>
            <a:gd name="adj2" fmla="val 465589"/>
            <a:gd name="adj3" fmla="val 548419"/>
            <a:gd name="adj4" fmla="val 20585992"/>
            <a:gd name="adj5" fmla="val 8056"/>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187B671-FFEA-46EE-96E7-B95BDE46DB00}">
      <dsp:nvSpPr>
        <dsp:cNvPr id="0" name=""/>
        <dsp:cNvSpPr/>
      </dsp:nvSpPr>
      <dsp:spPr>
        <a:xfrm>
          <a:off x="4095578" y="1920329"/>
          <a:ext cx="1090200" cy="10902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b="1" kern="1200" dirty="0">
              <a:solidFill>
                <a:prstClr val="black">
                  <a:hueOff val="0"/>
                  <a:satOff val="0"/>
                  <a:lumOff val="0"/>
                  <a:alphaOff val="0"/>
                </a:prstClr>
              </a:solidFill>
              <a:latin typeface="Arial" panose="020B0604020202020204" pitchFamily="34" charset="0"/>
              <a:ea typeface="+mn-ea"/>
              <a:cs typeface="Arial" panose="020B0604020202020204" pitchFamily="34" charset="0"/>
            </a:rPr>
            <a:t>Deliver</a:t>
          </a:r>
        </a:p>
      </dsp:txBody>
      <dsp:txXfrm>
        <a:off x="4095578" y="1920329"/>
        <a:ext cx="1090200" cy="1090200"/>
      </dsp:txXfrm>
    </dsp:sp>
    <dsp:sp modelId="{28590E39-2DF2-4D2A-8034-85EF9C22FE7C}">
      <dsp:nvSpPr>
        <dsp:cNvPr id="0" name=""/>
        <dsp:cNvSpPr/>
      </dsp:nvSpPr>
      <dsp:spPr>
        <a:xfrm>
          <a:off x="2175650" y="401"/>
          <a:ext cx="3078751" cy="3078751"/>
        </a:xfrm>
        <a:prstGeom prst="circularArrow">
          <a:avLst>
            <a:gd name="adj1" fmla="val 6905"/>
            <a:gd name="adj2" fmla="val 465589"/>
            <a:gd name="adj3" fmla="val 5948419"/>
            <a:gd name="adj4" fmla="val 4385992"/>
            <a:gd name="adj5" fmla="val 8056"/>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CB31159-5107-43DC-A68A-9D25777A94DD}">
      <dsp:nvSpPr>
        <dsp:cNvPr id="0" name=""/>
        <dsp:cNvSpPr/>
      </dsp:nvSpPr>
      <dsp:spPr>
        <a:xfrm>
          <a:off x="2244272" y="1920329"/>
          <a:ext cx="1090200" cy="10902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b="1" kern="1200" dirty="0">
              <a:solidFill>
                <a:prstClr val="black">
                  <a:hueOff val="0"/>
                  <a:satOff val="0"/>
                  <a:lumOff val="0"/>
                  <a:alphaOff val="0"/>
                </a:prstClr>
              </a:solidFill>
              <a:latin typeface="Arial" panose="020B0604020202020204" pitchFamily="34" charset="0"/>
              <a:ea typeface="+mn-ea"/>
              <a:cs typeface="Arial" panose="020B0604020202020204" pitchFamily="34" charset="0"/>
            </a:rPr>
            <a:t>Deploy</a:t>
          </a:r>
        </a:p>
      </dsp:txBody>
      <dsp:txXfrm>
        <a:off x="2244272" y="1920329"/>
        <a:ext cx="1090200" cy="1090200"/>
      </dsp:txXfrm>
    </dsp:sp>
    <dsp:sp modelId="{DC1E2B1E-1C4C-45B4-88DE-60CBEA6CB1F6}">
      <dsp:nvSpPr>
        <dsp:cNvPr id="0" name=""/>
        <dsp:cNvSpPr/>
      </dsp:nvSpPr>
      <dsp:spPr>
        <a:xfrm>
          <a:off x="2175650" y="401"/>
          <a:ext cx="3078751" cy="3078751"/>
        </a:xfrm>
        <a:prstGeom prst="circularArrow">
          <a:avLst>
            <a:gd name="adj1" fmla="val 6905"/>
            <a:gd name="adj2" fmla="val 465589"/>
            <a:gd name="adj3" fmla="val 11348419"/>
            <a:gd name="adj4" fmla="val 9785992"/>
            <a:gd name="adj5" fmla="val 8056"/>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883068F-9E30-4539-82AC-F25FA2961AE8}">
      <dsp:nvSpPr>
        <dsp:cNvPr id="0" name=""/>
        <dsp:cNvSpPr/>
      </dsp:nvSpPr>
      <dsp:spPr>
        <a:xfrm>
          <a:off x="2244272" y="69023"/>
          <a:ext cx="1090200" cy="10902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b="1" kern="1200" dirty="0">
              <a:latin typeface="Arial" panose="020B0604020202020204" pitchFamily="34" charset="0"/>
              <a:cs typeface="Arial" panose="020B0604020202020204" pitchFamily="34" charset="0"/>
            </a:rPr>
            <a:t>Build</a:t>
          </a:r>
        </a:p>
      </dsp:txBody>
      <dsp:txXfrm>
        <a:off x="2244272" y="69023"/>
        <a:ext cx="1090200" cy="1090200"/>
      </dsp:txXfrm>
    </dsp:sp>
    <dsp:sp modelId="{7835A40A-BF03-4499-8027-14C94229956B}">
      <dsp:nvSpPr>
        <dsp:cNvPr id="0" name=""/>
        <dsp:cNvSpPr/>
      </dsp:nvSpPr>
      <dsp:spPr>
        <a:xfrm>
          <a:off x="2175650" y="401"/>
          <a:ext cx="3078751" cy="3078751"/>
        </a:xfrm>
        <a:prstGeom prst="circularArrow">
          <a:avLst>
            <a:gd name="adj1" fmla="val 6905"/>
            <a:gd name="adj2" fmla="val 465589"/>
            <a:gd name="adj3" fmla="val 16748419"/>
            <a:gd name="adj4" fmla="val 15185992"/>
            <a:gd name="adj5" fmla="val 8056"/>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9D4E11-9C44-4A69-B08E-8C90E25E9E99}" type="datetimeFigureOut">
              <a:rPr lang="en-US" smtClean="0"/>
              <a:t>4/8/2026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7DA465-4BEF-420A-80B9-168D75A79793}" type="slidenum">
              <a:rPr lang="en-US" smtClean="0"/>
              <a:t>‹#›</a:t>
            </a:fld>
            <a:endParaRPr lang="en-US"/>
          </a:p>
        </p:txBody>
      </p:sp>
    </p:spTree>
    <p:extLst>
      <p:ext uri="{BB962C8B-B14F-4D97-AF65-F5344CB8AC3E}">
        <p14:creationId xmlns:p14="http://schemas.microsoft.com/office/powerpoint/2010/main" val="10743697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68DE3-6FF2-9D5A-EFF1-050BA54EF3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35C585-7995-B5C5-C1D3-461DA14720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B656FD-CB5F-FDAA-95D0-D994AF70953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1DD9953-28FC-D6B4-2515-F6D605FB9799}"/>
              </a:ext>
            </a:extLst>
          </p:cNvPr>
          <p:cNvSpPr>
            <a:spLocks noGrp="1"/>
          </p:cNvSpPr>
          <p:nvPr>
            <p:ph type="sldNum" sz="quarter" idx="5"/>
          </p:nvPr>
        </p:nvSpPr>
        <p:spPr/>
        <p:txBody>
          <a:bodyPr/>
          <a:lstStyle/>
          <a:p>
            <a:fld id="{5D7DA465-4BEF-420A-80B9-168D75A79793}" type="slidenum">
              <a:rPr lang="en-US" smtClean="0"/>
              <a:t>1</a:t>
            </a:fld>
            <a:endParaRPr lang="en-US"/>
          </a:p>
        </p:txBody>
      </p:sp>
    </p:spTree>
    <p:extLst>
      <p:ext uri="{BB962C8B-B14F-4D97-AF65-F5344CB8AC3E}">
        <p14:creationId xmlns:p14="http://schemas.microsoft.com/office/powerpoint/2010/main" val="1083705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6EC3BE-AF79-90A5-D688-A20604B8E7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29007D-ABBF-C643-B40C-66F4ED5A27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741FEC-397B-4AF5-0C81-772EF6696D8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6BFE1D-8650-F4CB-E788-96286BB8602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503106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38608-7922-BD33-F437-46E8B91103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F61A32-6572-25D7-48EC-B7DBC43F98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89C8BA-C061-E282-3A76-CAECCBCC568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7726A8F-0DFC-9781-50AF-90DD20AE40A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120574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52ED25-1C08-F436-AF76-6350693A5D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58562D-5D37-D3D0-03B3-8043854E06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51C690-AC79-B073-2CDC-61DA83BB59C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EBD7490-41C7-9FE4-EF7C-F986C6EC378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554525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6A5A6A-1204-0AC3-C733-8EBC79CB7B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EE75FF-07CA-5A57-1F5A-0A96640964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943520-C81A-429F-CBC1-EAFFFE3AECB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82DAB9B-AE65-9E5B-BEB7-2E1FCA21F1B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791204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BCE27-3374-76AD-8810-31BECD2FED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CA8577-21EA-BB82-FF33-3EE8C35231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452A84-39F9-E58B-9D49-EA699082450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ACFECF9-1F20-4AA3-4365-FBF9E17C877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036284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C3AD0-107C-B2CB-4460-C14F801ACA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DE520C-772C-B325-AB9C-89E2BE207F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FBAD74-9154-78D3-FDC7-9A30069DF82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EE2E160-657C-4B00-812F-D686B706653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229683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2DF68E-CF55-AD90-EF38-D0B1158E35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BD059A-09E9-F733-C1A4-A55A21790B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DF4BC2-0024-A86A-ECE5-ECF44EBAD1F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5DBE2D6-A5EE-CCE4-7A81-BD07B34D21A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421895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195D1D-6388-EAEE-7505-09A53897F9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8B245F-DECE-2811-0227-B1D8A3FCF3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3A02DC-D8B6-5E80-CBF6-CE6DBE12D4C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1E83D57-75BB-68AC-1DAB-5000977BF7F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5587086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EA12F4-0094-F34D-A1D2-8EF6B24A30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AEADD-F150-5CA5-8DBB-2193BDEA5B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66FC8D-85C2-22B7-3FBA-38CF172E255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5C32AFE-DE98-ABF8-66F0-7028611477D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525696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A9F3E8-4505-C14F-F684-8D3DEB7921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77F557-38C1-BC5F-3083-460AFFFDC4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D480C2-74BE-2963-C883-F4F9CBC4360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07B95A7-C039-76E2-0119-EDD85151FA6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24474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D4AA5C-1F48-C620-2681-5B7BA28331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B479F9-B0D9-DC07-6D20-49EE77CF3F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BD8DB8-F7C5-B109-65E9-E47C1200CD3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5F20F04-FB33-4414-02D8-02268A21D11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228603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001F83-2395-E0B3-6CE7-A9884DD8C5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1717F8-7EC1-9285-C506-3E1B1B5E9C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EEA0EC-0925-C572-8D22-5867AB5EB0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F2AB028-3BA8-9C8C-11E2-16E387DCD1D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658228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50421-25CE-E0EA-D3FC-1184CCAFDA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959000-1F0C-4691-D160-1D57BFF5FF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EBB35C-90EA-99E6-985F-5B26BFDD7B9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3E8AD49-FD50-1C10-3C20-3371CC361E7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899992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49E004-5CE4-B328-0ECD-5B2AF4EC32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D2866B-1BD3-DBC7-1AD2-BA68AC13C9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F51186-2D0A-48CD-71A1-12E6517901B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B9C460E-A2D7-DEFB-B825-BAD0C52C957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973750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1402B-A6FA-A6EB-2DB9-C6E17AF787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5FB888-B9A6-E1CA-716B-9993942B08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62011C-D19C-0E4E-0665-A476975937F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4E401E5-1BEE-2C65-D9F7-202E4A13048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39581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AE9F4E-4431-2782-A0D9-D098539AB4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B45425-1C93-2430-28F2-524604A168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B4E24E-74E4-A040-7C5F-823ABE37F4D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7A6040A-16EA-7846-6269-CB7F691C606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998141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47FE1-425D-306D-F28A-1A4CEE6371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A8975B-2ACB-895B-5856-DDC5CDCD24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3B9C55-2E64-08EB-386A-2589B907839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75D1AA8-C617-531D-21FB-74A193462A2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976532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AB8DDB-2441-9C9D-E1CA-1CCCB5E159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34B7BD-4A59-E8BE-B095-B362F9C9D1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0C7E0E-B588-A63E-60D4-37837833B4C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597753A-6EBA-D97C-4BCD-0DE516F149D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598904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AE49D-C1E7-8342-6536-BDAA3CB060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7EB3E8-CE0C-5BC6-A4F4-E312E3850E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A7ED5F-19EE-5691-D201-0168C63662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80B62B2-2083-9FFC-077D-9DD0B1FA0C7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110911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5C08C1-AEEF-1816-A2B1-483DDF3415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E0FC56-66F9-9D45-BC19-8F033019E7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B1CC7B-A33E-3448-EED3-A481D0F0CA4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3337886-9B84-D0F2-5FD1-5265F17233F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97136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011027-5171-DE0E-0F8A-1DA68503AB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0552AA-6CF4-3E66-4F70-EE577D7C60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DB1648-4488-1869-931A-5D22A6E755E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148A456-83AB-C402-FB8D-38B0E6DDB06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151402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092DCB-4B21-B6EB-0DAB-4A40A6ACEC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BB1B1B-895B-1533-2F64-E2BFFAA694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F9DF85-D655-A849-0576-7CF3048D76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B4C86F7-0B84-5ACE-FC4B-6683E7A5D99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2378033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217C4-DEFA-6A4D-2AFD-CB3769E293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052603-8FEF-1088-31B5-B4CCF37385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46C096-872E-AA12-2D8D-9A92341A076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8965F7C-D076-0746-E989-9BDF82483F2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907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24E41E-1CE8-1561-B13D-1BD6BCD147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E1187A-759F-BF6B-E1AE-42DD7499C9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31F3D5-FA1B-49DF-0530-1B6738FA3C1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21DF6A2-B53C-488B-B509-C05204B38D4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4E50753-C76C-40FB-A654-1A38D8FDFA20}"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3378680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BE3CA-8603-956C-FE73-7961D0B26B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2846B5-91CF-4276-E2CE-F7F9C245FB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5140E9-E8A5-6367-59AC-BA157806A36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2579D7A-7931-B939-A2D4-E5BC257D41A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4E50753-C76C-40FB-A654-1A38D8FDFA20}"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368598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AD1C8-A001-3671-67CF-2C51F676FFC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206ADB7-3594-8E87-3AC3-2D28C93859B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1E6A22E-43AD-3FAF-B032-45E551E13188}"/>
              </a:ext>
            </a:extLst>
          </p:cNvPr>
          <p:cNvSpPr>
            <a:spLocks noGrp="1"/>
          </p:cNvSpPr>
          <p:nvPr>
            <p:ph type="dt" sz="half" idx="10"/>
          </p:nvPr>
        </p:nvSpPr>
        <p:spPr/>
        <p:txBody>
          <a:bodyPr/>
          <a:lstStyle/>
          <a:p>
            <a:fld id="{26C75AD8-6727-4031-AB70-90E6355DAEBF}" type="datetimeFigureOut">
              <a:rPr lang="en-US" smtClean="0"/>
              <a:t>4/8/2026</a:t>
            </a:fld>
            <a:endParaRPr lang="en-US"/>
          </a:p>
        </p:txBody>
      </p:sp>
      <p:sp>
        <p:nvSpPr>
          <p:cNvPr id="5" name="Footer Placeholder 4">
            <a:extLst>
              <a:ext uri="{FF2B5EF4-FFF2-40B4-BE49-F238E27FC236}">
                <a16:creationId xmlns:a16="http://schemas.microsoft.com/office/drawing/2014/main" id="{0BBC8F42-3300-56C2-9C00-53BF0F0E38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7F0A59-56B7-BB1A-9165-4BEE4A08108A}"/>
              </a:ext>
            </a:extLst>
          </p:cNvPr>
          <p:cNvSpPr>
            <a:spLocks noGrp="1"/>
          </p:cNvSpPr>
          <p:nvPr>
            <p:ph type="sldNum" sz="quarter" idx="12"/>
          </p:nvPr>
        </p:nvSpPr>
        <p:spPr/>
        <p:txBody>
          <a:bodyPr/>
          <a:lstStyle/>
          <a:p>
            <a:fld id="{9222EBA9-F5D8-4B2D-AD8E-964F40FFF1DD}" type="slidenum">
              <a:rPr lang="en-US" smtClean="0"/>
              <a:t>‹#›</a:t>
            </a:fld>
            <a:endParaRPr lang="en-US"/>
          </a:p>
        </p:txBody>
      </p:sp>
    </p:spTree>
    <p:extLst>
      <p:ext uri="{BB962C8B-B14F-4D97-AF65-F5344CB8AC3E}">
        <p14:creationId xmlns:p14="http://schemas.microsoft.com/office/powerpoint/2010/main" val="8595356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D494C1-D301-D617-62A6-B5B215F6BF3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64752BD-C41C-9957-4390-1752AB75884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0A4FB9-FBC8-8247-109F-FCD90198CD24}"/>
              </a:ext>
            </a:extLst>
          </p:cNvPr>
          <p:cNvSpPr>
            <a:spLocks noGrp="1"/>
          </p:cNvSpPr>
          <p:nvPr>
            <p:ph type="dt" sz="half" idx="10"/>
          </p:nvPr>
        </p:nvSpPr>
        <p:spPr/>
        <p:txBody>
          <a:bodyPr/>
          <a:lstStyle/>
          <a:p>
            <a:fld id="{26C75AD8-6727-4031-AB70-90E6355DAEBF}" type="datetimeFigureOut">
              <a:rPr lang="en-US" smtClean="0"/>
              <a:t>4/8/2026</a:t>
            </a:fld>
            <a:endParaRPr lang="en-US"/>
          </a:p>
        </p:txBody>
      </p:sp>
      <p:sp>
        <p:nvSpPr>
          <p:cNvPr id="5" name="Footer Placeholder 4">
            <a:extLst>
              <a:ext uri="{FF2B5EF4-FFF2-40B4-BE49-F238E27FC236}">
                <a16:creationId xmlns:a16="http://schemas.microsoft.com/office/drawing/2014/main" id="{6B37133C-F31A-8484-CA70-C9E5DE128C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A77AC4-2595-519D-729F-7AAFDEC9E04C}"/>
              </a:ext>
            </a:extLst>
          </p:cNvPr>
          <p:cNvSpPr>
            <a:spLocks noGrp="1"/>
          </p:cNvSpPr>
          <p:nvPr>
            <p:ph type="sldNum" sz="quarter" idx="12"/>
          </p:nvPr>
        </p:nvSpPr>
        <p:spPr/>
        <p:txBody>
          <a:bodyPr/>
          <a:lstStyle/>
          <a:p>
            <a:fld id="{9222EBA9-F5D8-4B2D-AD8E-964F40FFF1DD}" type="slidenum">
              <a:rPr lang="en-US" smtClean="0"/>
              <a:t>‹#›</a:t>
            </a:fld>
            <a:endParaRPr lang="en-US"/>
          </a:p>
        </p:txBody>
      </p:sp>
    </p:spTree>
    <p:extLst>
      <p:ext uri="{BB962C8B-B14F-4D97-AF65-F5344CB8AC3E}">
        <p14:creationId xmlns:p14="http://schemas.microsoft.com/office/powerpoint/2010/main" val="29053489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1F4A0-31B1-C2F4-E91B-0FD417FCD77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6C96E0D-9544-C6F5-25D3-66053C1F2DA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9F691AA-ECA0-DC27-6FA8-C5EF02D64C69}"/>
              </a:ext>
            </a:extLst>
          </p:cNvPr>
          <p:cNvSpPr>
            <a:spLocks noGrp="1"/>
          </p:cNvSpPr>
          <p:nvPr>
            <p:ph type="dt" sz="half" idx="10"/>
          </p:nvPr>
        </p:nvSpPr>
        <p:spPr/>
        <p:txBody>
          <a:bodyPr/>
          <a:lstStyle/>
          <a:p>
            <a:fld id="{26C75AD8-6727-4031-AB70-90E6355DAEBF}" type="datetimeFigureOut">
              <a:rPr lang="en-US" smtClean="0"/>
              <a:t>4/8/2026</a:t>
            </a:fld>
            <a:endParaRPr lang="en-US"/>
          </a:p>
        </p:txBody>
      </p:sp>
      <p:sp>
        <p:nvSpPr>
          <p:cNvPr id="5" name="Footer Placeholder 4">
            <a:extLst>
              <a:ext uri="{FF2B5EF4-FFF2-40B4-BE49-F238E27FC236}">
                <a16:creationId xmlns:a16="http://schemas.microsoft.com/office/drawing/2014/main" id="{9AB9868D-E9E0-0F4D-E947-F2C2217228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DC8033-3552-934C-4037-60C0EFB5BE63}"/>
              </a:ext>
            </a:extLst>
          </p:cNvPr>
          <p:cNvSpPr>
            <a:spLocks noGrp="1"/>
          </p:cNvSpPr>
          <p:nvPr>
            <p:ph type="sldNum" sz="quarter" idx="12"/>
          </p:nvPr>
        </p:nvSpPr>
        <p:spPr/>
        <p:txBody>
          <a:bodyPr/>
          <a:lstStyle/>
          <a:p>
            <a:fld id="{9222EBA9-F5D8-4B2D-AD8E-964F40FFF1DD}" type="slidenum">
              <a:rPr lang="en-US" smtClean="0"/>
              <a:t>‹#›</a:t>
            </a:fld>
            <a:endParaRPr lang="en-US"/>
          </a:p>
        </p:txBody>
      </p:sp>
    </p:spTree>
    <p:extLst>
      <p:ext uri="{BB962C8B-B14F-4D97-AF65-F5344CB8AC3E}">
        <p14:creationId xmlns:p14="http://schemas.microsoft.com/office/powerpoint/2010/main" val="20185990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47608-5968-371C-3C82-5455182A3ED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B31BF24-E95D-63EB-26FE-0465E2C5653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E682935-2122-CBB1-0F37-A5EE2DFA247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9AE2240-CDE3-B77F-97CF-45E873FB02BD}"/>
              </a:ext>
            </a:extLst>
          </p:cNvPr>
          <p:cNvSpPr>
            <a:spLocks noGrp="1"/>
          </p:cNvSpPr>
          <p:nvPr>
            <p:ph type="dt" sz="half" idx="10"/>
          </p:nvPr>
        </p:nvSpPr>
        <p:spPr/>
        <p:txBody>
          <a:bodyPr/>
          <a:lstStyle/>
          <a:p>
            <a:fld id="{26C75AD8-6727-4031-AB70-90E6355DAEBF}" type="datetimeFigureOut">
              <a:rPr lang="en-US" smtClean="0"/>
              <a:t>4/8/2026</a:t>
            </a:fld>
            <a:endParaRPr lang="en-US"/>
          </a:p>
        </p:txBody>
      </p:sp>
      <p:sp>
        <p:nvSpPr>
          <p:cNvPr id="6" name="Footer Placeholder 5">
            <a:extLst>
              <a:ext uri="{FF2B5EF4-FFF2-40B4-BE49-F238E27FC236}">
                <a16:creationId xmlns:a16="http://schemas.microsoft.com/office/drawing/2014/main" id="{F6D94A1D-3E47-96F1-2345-515C088590F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3EA3D5B-3399-9627-0440-B288CF47E434}"/>
              </a:ext>
            </a:extLst>
          </p:cNvPr>
          <p:cNvSpPr>
            <a:spLocks noGrp="1"/>
          </p:cNvSpPr>
          <p:nvPr>
            <p:ph type="sldNum" sz="quarter" idx="12"/>
          </p:nvPr>
        </p:nvSpPr>
        <p:spPr/>
        <p:txBody>
          <a:bodyPr/>
          <a:lstStyle/>
          <a:p>
            <a:fld id="{9222EBA9-F5D8-4B2D-AD8E-964F40FFF1DD}" type="slidenum">
              <a:rPr lang="en-US" smtClean="0"/>
              <a:t>‹#›</a:t>
            </a:fld>
            <a:endParaRPr lang="en-US"/>
          </a:p>
        </p:txBody>
      </p:sp>
    </p:spTree>
    <p:extLst>
      <p:ext uri="{BB962C8B-B14F-4D97-AF65-F5344CB8AC3E}">
        <p14:creationId xmlns:p14="http://schemas.microsoft.com/office/powerpoint/2010/main" val="17597019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0E29B-86DA-D02F-196C-283013B6F70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830789D-FA88-CEBC-F410-CF39B79EDC8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77D52B0-C28B-3777-C4D4-40BF0213CA2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F9CC55-B453-1C2B-573F-6B6CB3B15D2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0468186-E574-08D3-B1C9-0944A1F5348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4216783-CACF-23C2-6B18-CBE2E7EC5B77}"/>
              </a:ext>
            </a:extLst>
          </p:cNvPr>
          <p:cNvSpPr>
            <a:spLocks noGrp="1"/>
          </p:cNvSpPr>
          <p:nvPr>
            <p:ph type="dt" sz="half" idx="10"/>
          </p:nvPr>
        </p:nvSpPr>
        <p:spPr/>
        <p:txBody>
          <a:bodyPr/>
          <a:lstStyle/>
          <a:p>
            <a:fld id="{26C75AD8-6727-4031-AB70-90E6355DAEBF}" type="datetimeFigureOut">
              <a:rPr lang="en-US" smtClean="0"/>
              <a:t>4/8/2026</a:t>
            </a:fld>
            <a:endParaRPr lang="en-US"/>
          </a:p>
        </p:txBody>
      </p:sp>
      <p:sp>
        <p:nvSpPr>
          <p:cNvPr id="8" name="Footer Placeholder 7">
            <a:extLst>
              <a:ext uri="{FF2B5EF4-FFF2-40B4-BE49-F238E27FC236}">
                <a16:creationId xmlns:a16="http://schemas.microsoft.com/office/drawing/2014/main" id="{D2085B0D-F54E-AFCC-2A11-1E72F2E6D75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7500F25-0CF2-543D-A790-97EBF24FECC7}"/>
              </a:ext>
            </a:extLst>
          </p:cNvPr>
          <p:cNvSpPr>
            <a:spLocks noGrp="1"/>
          </p:cNvSpPr>
          <p:nvPr>
            <p:ph type="sldNum" sz="quarter" idx="12"/>
          </p:nvPr>
        </p:nvSpPr>
        <p:spPr/>
        <p:txBody>
          <a:bodyPr/>
          <a:lstStyle/>
          <a:p>
            <a:fld id="{9222EBA9-F5D8-4B2D-AD8E-964F40FFF1DD}" type="slidenum">
              <a:rPr lang="en-US" smtClean="0"/>
              <a:t>‹#›</a:t>
            </a:fld>
            <a:endParaRPr lang="en-US"/>
          </a:p>
        </p:txBody>
      </p:sp>
    </p:spTree>
    <p:extLst>
      <p:ext uri="{BB962C8B-B14F-4D97-AF65-F5344CB8AC3E}">
        <p14:creationId xmlns:p14="http://schemas.microsoft.com/office/powerpoint/2010/main" val="823138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D5F0B-55E3-79B5-0FA9-EBB6E047662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EFFC90D-4E31-68F9-3649-43E5A1734B4A}"/>
              </a:ext>
            </a:extLst>
          </p:cNvPr>
          <p:cNvSpPr>
            <a:spLocks noGrp="1"/>
          </p:cNvSpPr>
          <p:nvPr>
            <p:ph type="dt" sz="half" idx="10"/>
          </p:nvPr>
        </p:nvSpPr>
        <p:spPr/>
        <p:txBody>
          <a:bodyPr/>
          <a:lstStyle/>
          <a:p>
            <a:fld id="{26C75AD8-6727-4031-AB70-90E6355DAEBF}" type="datetimeFigureOut">
              <a:rPr lang="en-US" smtClean="0"/>
              <a:t>4/8/2026</a:t>
            </a:fld>
            <a:endParaRPr lang="en-US"/>
          </a:p>
        </p:txBody>
      </p:sp>
      <p:sp>
        <p:nvSpPr>
          <p:cNvPr id="4" name="Footer Placeholder 3">
            <a:extLst>
              <a:ext uri="{FF2B5EF4-FFF2-40B4-BE49-F238E27FC236}">
                <a16:creationId xmlns:a16="http://schemas.microsoft.com/office/drawing/2014/main" id="{700AE31B-8154-AFEA-99DC-23C1433AF9E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969E499-67B5-6818-9470-20D3245F9A36}"/>
              </a:ext>
            </a:extLst>
          </p:cNvPr>
          <p:cNvSpPr>
            <a:spLocks noGrp="1"/>
          </p:cNvSpPr>
          <p:nvPr>
            <p:ph type="sldNum" sz="quarter" idx="12"/>
          </p:nvPr>
        </p:nvSpPr>
        <p:spPr/>
        <p:txBody>
          <a:bodyPr/>
          <a:lstStyle/>
          <a:p>
            <a:fld id="{9222EBA9-F5D8-4B2D-AD8E-964F40FFF1DD}" type="slidenum">
              <a:rPr lang="en-US" smtClean="0"/>
              <a:t>‹#›</a:t>
            </a:fld>
            <a:endParaRPr lang="en-US"/>
          </a:p>
        </p:txBody>
      </p:sp>
    </p:spTree>
    <p:extLst>
      <p:ext uri="{BB962C8B-B14F-4D97-AF65-F5344CB8AC3E}">
        <p14:creationId xmlns:p14="http://schemas.microsoft.com/office/powerpoint/2010/main" val="36855950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D7925F9-8836-2731-2415-E9048D534C4B}"/>
              </a:ext>
            </a:extLst>
          </p:cNvPr>
          <p:cNvSpPr>
            <a:spLocks noGrp="1"/>
          </p:cNvSpPr>
          <p:nvPr>
            <p:ph type="dt" sz="half" idx="10"/>
          </p:nvPr>
        </p:nvSpPr>
        <p:spPr/>
        <p:txBody>
          <a:bodyPr/>
          <a:lstStyle/>
          <a:p>
            <a:fld id="{26C75AD8-6727-4031-AB70-90E6355DAEBF}" type="datetimeFigureOut">
              <a:rPr lang="en-US" smtClean="0"/>
              <a:t>4/8/2026</a:t>
            </a:fld>
            <a:endParaRPr lang="en-US"/>
          </a:p>
        </p:txBody>
      </p:sp>
      <p:sp>
        <p:nvSpPr>
          <p:cNvPr id="3" name="Footer Placeholder 2">
            <a:extLst>
              <a:ext uri="{FF2B5EF4-FFF2-40B4-BE49-F238E27FC236}">
                <a16:creationId xmlns:a16="http://schemas.microsoft.com/office/drawing/2014/main" id="{9BAA7D79-5525-8E0A-0872-9D9A4FEC208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4E29F34-711B-8DB9-3D9E-025C13C503CF}"/>
              </a:ext>
            </a:extLst>
          </p:cNvPr>
          <p:cNvSpPr>
            <a:spLocks noGrp="1"/>
          </p:cNvSpPr>
          <p:nvPr>
            <p:ph type="sldNum" sz="quarter" idx="12"/>
          </p:nvPr>
        </p:nvSpPr>
        <p:spPr/>
        <p:txBody>
          <a:bodyPr/>
          <a:lstStyle/>
          <a:p>
            <a:fld id="{9222EBA9-F5D8-4B2D-AD8E-964F40FFF1DD}" type="slidenum">
              <a:rPr lang="en-US" smtClean="0"/>
              <a:t>‹#›</a:t>
            </a:fld>
            <a:endParaRPr lang="en-US"/>
          </a:p>
        </p:txBody>
      </p:sp>
    </p:spTree>
    <p:extLst>
      <p:ext uri="{BB962C8B-B14F-4D97-AF65-F5344CB8AC3E}">
        <p14:creationId xmlns:p14="http://schemas.microsoft.com/office/powerpoint/2010/main" val="20154982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04517-18A4-4FA1-97C2-5B72718091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BC8E9F1-DBBE-1648-ACC4-3E85183E1D4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9F3CECB-5FCC-3498-F84D-6562D492B5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C0641B-8EC0-21D6-9666-AE48C289A1AD}"/>
              </a:ext>
            </a:extLst>
          </p:cNvPr>
          <p:cNvSpPr>
            <a:spLocks noGrp="1"/>
          </p:cNvSpPr>
          <p:nvPr>
            <p:ph type="dt" sz="half" idx="10"/>
          </p:nvPr>
        </p:nvSpPr>
        <p:spPr/>
        <p:txBody>
          <a:bodyPr/>
          <a:lstStyle/>
          <a:p>
            <a:fld id="{26C75AD8-6727-4031-AB70-90E6355DAEBF}" type="datetimeFigureOut">
              <a:rPr lang="en-US" smtClean="0"/>
              <a:t>4/8/2026</a:t>
            </a:fld>
            <a:endParaRPr lang="en-US"/>
          </a:p>
        </p:txBody>
      </p:sp>
      <p:sp>
        <p:nvSpPr>
          <p:cNvPr id="6" name="Footer Placeholder 5">
            <a:extLst>
              <a:ext uri="{FF2B5EF4-FFF2-40B4-BE49-F238E27FC236}">
                <a16:creationId xmlns:a16="http://schemas.microsoft.com/office/drawing/2014/main" id="{62C6EC1D-46D6-41E6-7401-40A89E8C8A1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8ED9433-9223-BF6C-24AE-02969CC0B71C}"/>
              </a:ext>
            </a:extLst>
          </p:cNvPr>
          <p:cNvSpPr>
            <a:spLocks noGrp="1"/>
          </p:cNvSpPr>
          <p:nvPr>
            <p:ph type="sldNum" sz="quarter" idx="12"/>
          </p:nvPr>
        </p:nvSpPr>
        <p:spPr/>
        <p:txBody>
          <a:bodyPr/>
          <a:lstStyle/>
          <a:p>
            <a:fld id="{9222EBA9-F5D8-4B2D-AD8E-964F40FFF1DD}" type="slidenum">
              <a:rPr lang="en-US" smtClean="0"/>
              <a:t>‹#›</a:t>
            </a:fld>
            <a:endParaRPr lang="en-US"/>
          </a:p>
        </p:txBody>
      </p:sp>
    </p:spTree>
    <p:extLst>
      <p:ext uri="{BB962C8B-B14F-4D97-AF65-F5344CB8AC3E}">
        <p14:creationId xmlns:p14="http://schemas.microsoft.com/office/powerpoint/2010/main" val="26238483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83CE3-9F07-2E7E-069E-328F6972B6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3B286A0-D003-72DE-EB76-122BE1FE4FF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B88D15B-F664-F0A4-7CFF-958E87B2DB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4D774E-F9F3-66A9-0A07-35536838A1A0}"/>
              </a:ext>
            </a:extLst>
          </p:cNvPr>
          <p:cNvSpPr>
            <a:spLocks noGrp="1"/>
          </p:cNvSpPr>
          <p:nvPr>
            <p:ph type="dt" sz="half" idx="10"/>
          </p:nvPr>
        </p:nvSpPr>
        <p:spPr/>
        <p:txBody>
          <a:bodyPr/>
          <a:lstStyle/>
          <a:p>
            <a:fld id="{26C75AD8-6727-4031-AB70-90E6355DAEBF}" type="datetimeFigureOut">
              <a:rPr lang="en-US" smtClean="0"/>
              <a:t>4/8/2026</a:t>
            </a:fld>
            <a:endParaRPr lang="en-US"/>
          </a:p>
        </p:txBody>
      </p:sp>
      <p:sp>
        <p:nvSpPr>
          <p:cNvPr id="6" name="Footer Placeholder 5">
            <a:extLst>
              <a:ext uri="{FF2B5EF4-FFF2-40B4-BE49-F238E27FC236}">
                <a16:creationId xmlns:a16="http://schemas.microsoft.com/office/drawing/2014/main" id="{E7A2903F-F711-F7FC-F01D-8A4675E3DDF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4683C8B-BC4A-059A-1B5E-FF9EB1F99B6B}"/>
              </a:ext>
            </a:extLst>
          </p:cNvPr>
          <p:cNvSpPr>
            <a:spLocks noGrp="1"/>
          </p:cNvSpPr>
          <p:nvPr>
            <p:ph type="sldNum" sz="quarter" idx="12"/>
          </p:nvPr>
        </p:nvSpPr>
        <p:spPr/>
        <p:txBody>
          <a:bodyPr/>
          <a:lstStyle/>
          <a:p>
            <a:fld id="{9222EBA9-F5D8-4B2D-AD8E-964F40FFF1DD}" type="slidenum">
              <a:rPr lang="en-US" smtClean="0"/>
              <a:t>‹#›</a:t>
            </a:fld>
            <a:endParaRPr lang="en-US"/>
          </a:p>
        </p:txBody>
      </p:sp>
    </p:spTree>
    <p:extLst>
      <p:ext uri="{BB962C8B-B14F-4D97-AF65-F5344CB8AC3E}">
        <p14:creationId xmlns:p14="http://schemas.microsoft.com/office/powerpoint/2010/main" val="2552953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C62A8-46E6-27A3-37F3-237FB7B930C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D04F02E-5074-7FEC-E1B9-F4B2E324935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4666A9-AD1B-D42A-C4C0-676F40089DFE}"/>
              </a:ext>
            </a:extLst>
          </p:cNvPr>
          <p:cNvSpPr>
            <a:spLocks noGrp="1"/>
          </p:cNvSpPr>
          <p:nvPr>
            <p:ph type="dt" sz="half" idx="10"/>
          </p:nvPr>
        </p:nvSpPr>
        <p:spPr/>
        <p:txBody>
          <a:bodyPr/>
          <a:lstStyle/>
          <a:p>
            <a:fld id="{26C75AD8-6727-4031-AB70-90E6355DAEBF}" type="datetimeFigureOut">
              <a:rPr lang="en-US" smtClean="0"/>
              <a:t>4/8/2026</a:t>
            </a:fld>
            <a:endParaRPr lang="en-US"/>
          </a:p>
        </p:txBody>
      </p:sp>
      <p:sp>
        <p:nvSpPr>
          <p:cNvPr id="5" name="Footer Placeholder 4">
            <a:extLst>
              <a:ext uri="{FF2B5EF4-FFF2-40B4-BE49-F238E27FC236}">
                <a16:creationId xmlns:a16="http://schemas.microsoft.com/office/drawing/2014/main" id="{000DA104-5DED-DF4E-392A-C03E4B6513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128105-952B-B1DC-CD82-38EBC3A06A12}"/>
              </a:ext>
            </a:extLst>
          </p:cNvPr>
          <p:cNvSpPr>
            <a:spLocks noGrp="1"/>
          </p:cNvSpPr>
          <p:nvPr>
            <p:ph type="sldNum" sz="quarter" idx="12"/>
          </p:nvPr>
        </p:nvSpPr>
        <p:spPr/>
        <p:txBody>
          <a:bodyPr/>
          <a:lstStyle/>
          <a:p>
            <a:fld id="{9222EBA9-F5D8-4B2D-AD8E-964F40FFF1DD}" type="slidenum">
              <a:rPr lang="en-US" smtClean="0"/>
              <a:t>‹#›</a:t>
            </a:fld>
            <a:endParaRPr lang="en-US"/>
          </a:p>
        </p:txBody>
      </p:sp>
    </p:spTree>
    <p:extLst>
      <p:ext uri="{BB962C8B-B14F-4D97-AF65-F5344CB8AC3E}">
        <p14:creationId xmlns:p14="http://schemas.microsoft.com/office/powerpoint/2010/main" val="12310223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4FD01F3-4BEC-41B7-2BDE-7E06C9873EF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0D4BC3B-3D9C-977F-788E-ACC7E9CE96E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1A111A-89BC-DF66-0463-F43333A7866A}"/>
              </a:ext>
            </a:extLst>
          </p:cNvPr>
          <p:cNvSpPr>
            <a:spLocks noGrp="1"/>
          </p:cNvSpPr>
          <p:nvPr>
            <p:ph type="dt" sz="half" idx="10"/>
          </p:nvPr>
        </p:nvSpPr>
        <p:spPr/>
        <p:txBody>
          <a:bodyPr/>
          <a:lstStyle/>
          <a:p>
            <a:fld id="{26C75AD8-6727-4031-AB70-90E6355DAEBF}" type="datetimeFigureOut">
              <a:rPr lang="en-US" smtClean="0"/>
              <a:t>4/8/2026</a:t>
            </a:fld>
            <a:endParaRPr lang="en-US"/>
          </a:p>
        </p:txBody>
      </p:sp>
      <p:sp>
        <p:nvSpPr>
          <p:cNvPr id="5" name="Footer Placeholder 4">
            <a:extLst>
              <a:ext uri="{FF2B5EF4-FFF2-40B4-BE49-F238E27FC236}">
                <a16:creationId xmlns:a16="http://schemas.microsoft.com/office/drawing/2014/main" id="{47A8A549-0BFE-FAB8-9B87-43E0207B6E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7CB065-A3F6-F2FF-4F8F-7C9EFA2036A0}"/>
              </a:ext>
            </a:extLst>
          </p:cNvPr>
          <p:cNvSpPr>
            <a:spLocks noGrp="1"/>
          </p:cNvSpPr>
          <p:nvPr>
            <p:ph type="sldNum" sz="quarter" idx="12"/>
          </p:nvPr>
        </p:nvSpPr>
        <p:spPr/>
        <p:txBody>
          <a:bodyPr/>
          <a:lstStyle/>
          <a:p>
            <a:fld id="{9222EBA9-F5D8-4B2D-AD8E-964F40FFF1DD}" type="slidenum">
              <a:rPr lang="en-US" smtClean="0"/>
              <a:t>‹#›</a:t>
            </a:fld>
            <a:endParaRPr lang="en-US"/>
          </a:p>
        </p:txBody>
      </p:sp>
    </p:spTree>
    <p:extLst>
      <p:ext uri="{BB962C8B-B14F-4D97-AF65-F5344CB8AC3E}">
        <p14:creationId xmlns:p14="http://schemas.microsoft.com/office/powerpoint/2010/main" val="19145620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6AAF0B-97C5-A7E9-99FB-069DFA8522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FE799F4-0586-FCF1-7796-FFBE5F944C3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4A3930-F78A-5717-2B13-9C168BAE5E5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6C75AD8-6727-4031-AB70-90E6355DAEBF}" type="datetimeFigureOut">
              <a:rPr lang="en-US" smtClean="0"/>
              <a:t>4/8/2026</a:t>
            </a:fld>
            <a:endParaRPr lang="en-US"/>
          </a:p>
        </p:txBody>
      </p:sp>
      <p:sp>
        <p:nvSpPr>
          <p:cNvPr id="5" name="Footer Placeholder 4">
            <a:extLst>
              <a:ext uri="{FF2B5EF4-FFF2-40B4-BE49-F238E27FC236}">
                <a16:creationId xmlns:a16="http://schemas.microsoft.com/office/drawing/2014/main" id="{6905B497-83F6-BD21-E492-D78C7AD337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05A1A65-CA88-36B2-EBE7-D29EF1CC438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222EBA9-F5D8-4B2D-AD8E-964F40FFF1DD}" type="slidenum">
              <a:rPr lang="en-US" smtClean="0"/>
              <a:t>‹#›</a:t>
            </a:fld>
            <a:endParaRPr lang="en-US"/>
          </a:p>
        </p:txBody>
      </p:sp>
    </p:spTree>
    <p:extLst>
      <p:ext uri="{BB962C8B-B14F-4D97-AF65-F5344CB8AC3E}">
        <p14:creationId xmlns:p14="http://schemas.microsoft.com/office/powerpoint/2010/main" val="25425039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5.xml.rels><?xml version="1.0" encoding="UTF-8" standalone="yes"?>
<Relationships xmlns="http://schemas.openxmlformats.org/package/2006/relationships"><Relationship Id="rId3" Type="http://schemas.openxmlformats.org/officeDocument/2006/relationships/hyperlink" Target="https://pieces.app/blog/best-ci-cd-tools"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3D5B660-5CF1-7004-8575-67B0D31DBE97}"/>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657F69E0-C4B0-4BEC-A689-4F8D877F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8096E6D0-4E13-D250-4177-9B0712E675F5}"/>
              </a:ext>
            </a:extLst>
          </p:cNvPr>
          <p:cNvPicPr>
            <a:picLocks noChangeAspect="1"/>
          </p:cNvPicPr>
          <p:nvPr/>
        </p:nvPicPr>
        <p:blipFill>
          <a:blip r:embed="rId3">
            <a:alphaModFix amt="50000"/>
            <a:extLst>
              <a:ext uri="{28A0092B-C50C-407E-A947-70E740481C1C}">
                <a14:useLocalDpi xmlns:a14="http://schemas.microsoft.com/office/drawing/2010/main" val="0"/>
              </a:ext>
            </a:extLst>
          </a:blip>
          <a:srcRect t="7125" r="-1" b="17605"/>
          <a:stretch>
            <a:fillRect/>
          </a:stretch>
        </p:blipFill>
        <p:spPr>
          <a:xfrm>
            <a:off x="20" y="10"/>
            <a:ext cx="12188930" cy="6857990"/>
          </a:xfrm>
          <a:prstGeom prst="rect">
            <a:avLst/>
          </a:prstGeom>
        </p:spPr>
      </p:pic>
      <p:sp>
        <p:nvSpPr>
          <p:cNvPr id="4" name="TextBox 3">
            <a:extLst>
              <a:ext uri="{FF2B5EF4-FFF2-40B4-BE49-F238E27FC236}">
                <a16:creationId xmlns:a16="http://schemas.microsoft.com/office/drawing/2014/main" id="{A1AEF84B-FCE9-809F-2941-DF76330E671F}"/>
              </a:ext>
            </a:extLst>
          </p:cNvPr>
          <p:cNvSpPr txBox="1"/>
          <p:nvPr/>
        </p:nvSpPr>
        <p:spPr>
          <a:xfrm>
            <a:off x="1524000" y="1122363"/>
            <a:ext cx="9144000" cy="3063240"/>
          </a:xfrm>
          <a:prstGeom prst="rect">
            <a:avLst/>
          </a:prstGeom>
        </p:spPr>
        <p:txBody>
          <a:bodyPr vert="horz" lIns="91440" tIns="45720" rIns="91440" bIns="45720" rtlCol="0" anchor="b">
            <a:normAutofit/>
          </a:bodyPr>
          <a:lstStyle/>
          <a:p>
            <a:pPr marL="0" marR="0" lvl="0" indent="0" algn="ctr" fontAlgn="auto">
              <a:lnSpc>
                <a:spcPct val="90000"/>
              </a:lnSpc>
              <a:spcBef>
                <a:spcPct val="0"/>
              </a:spcBef>
              <a:spcAft>
                <a:spcPts val="600"/>
              </a:spcAft>
              <a:buClrTx/>
              <a:buSzTx/>
              <a:tabLst/>
              <a:defRPr/>
            </a:pPr>
            <a:r>
              <a:rPr kumimoji="0" lang="en-US" sz="6600" b="1" i="0" u="none" strike="noStrike" cap="none" spc="0" normalizeH="0" baseline="0" noProof="0">
                <a:ln>
                  <a:noFill/>
                </a:ln>
                <a:solidFill>
                  <a:schemeClr val="bg1"/>
                </a:solidFill>
                <a:effectLst/>
                <a:uLnTx/>
                <a:uFillTx/>
                <a:latin typeface="+mj-lt"/>
                <a:ea typeface="+mj-ea"/>
                <a:cs typeface="+mj-cs"/>
              </a:rPr>
              <a:t>MICROFRONTENDS</a:t>
            </a:r>
          </a:p>
        </p:txBody>
      </p:sp>
      <p:sp>
        <p:nvSpPr>
          <p:cNvPr id="11" name="sketchy line">
            <a:extLst>
              <a:ext uri="{FF2B5EF4-FFF2-40B4-BE49-F238E27FC236}">
                <a16:creationId xmlns:a16="http://schemas.microsoft.com/office/drawing/2014/main" id="{9F6380B4-6A1C-481E-8408-B4E6C75B9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368623"/>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971135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99B9FE2B-7D01-1CFD-B146-1E547C14C6B9}"/>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132FE1C4-8A16-298E-408C-0E8715F8696E}"/>
              </a:ext>
            </a:extLst>
          </p:cNvPr>
          <p:cNvSpPr>
            <a:spLocks noGrp="1"/>
          </p:cNvSpPr>
          <p:nvPr>
            <p:ph type="title"/>
          </p:nvPr>
        </p:nvSpPr>
        <p:spPr>
          <a:xfrm>
            <a:off x="0" y="117984"/>
            <a:ext cx="10515600" cy="1325563"/>
          </a:xfrm>
        </p:spPr>
        <p:txBody>
          <a:bodyPr/>
          <a:lstStyle/>
          <a:p>
            <a:r>
              <a:rPr lang="en-US" b="1" dirty="0"/>
              <a:t>Introduction</a:t>
            </a:r>
          </a:p>
        </p:txBody>
      </p:sp>
      <p:sp>
        <p:nvSpPr>
          <p:cNvPr id="9" name="Rectangle 8">
            <a:extLst>
              <a:ext uri="{FF2B5EF4-FFF2-40B4-BE49-F238E27FC236}">
                <a16:creationId xmlns:a16="http://schemas.microsoft.com/office/drawing/2014/main" id="{C7A42855-5928-CA2C-B4AE-E712C60B2CB5}"/>
              </a:ext>
            </a:extLst>
          </p:cNvPr>
          <p:cNvSpPr/>
          <p:nvPr/>
        </p:nvSpPr>
        <p:spPr>
          <a:xfrm>
            <a:off x="148223" y="1437953"/>
            <a:ext cx="111760" cy="566696"/>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062DD26E-9CE9-ECDB-E9DD-18D9890C7496}"/>
              </a:ext>
            </a:extLst>
          </p:cNvPr>
          <p:cNvSpPr/>
          <p:nvPr/>
        </p:nvSpPr>
        <p:spPr>
          <a:xfrm>
            <a:off x="224422" y="1437953"/>
            <a:ext cx="11743155" cy="566696"/>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err="1">
                <a:solidFill>
                  <a:prstClr val="white"/>
                </a:solidFill>
                <a:latin typeface="Arial" panose="020B0604020202020204" pitchFamily="34" charset="0"/>
                <a:cs typeface="Arial" panose="020B0604020202020204" pitchFamily="34" charset="0"/>
              </a:rPr>
              <a:t>Microfrontends</a:t>
            </a:r>
            <a:r>
              <a:rPr lang="en-US" sz="2000" b="1" dirty="0">
                <a:solidFill>
                  <a:prstClr val="white"/>
                </a:solidFill>
                <a:latin typeface="Arial" panose="020B0604020202020204" pitchFamily="34" charset="0"/>
                <a:cs typeface="Arial" panose="020B0604020202020204" pitchFamily="34" charset="0"/>
              </a:rPr>
              <a:t> are transforming how teams build and deploy frontend applications at scale.</a:t>
            </a:r>
          </a:p>
        </p:txBody>
      </p:sp>
      <p:sp>
        <p:nvSpPr>
          <p:cNvPr id="13" name="Rectangle 12">
            <a:extLst>
              <a:ext uri="{FF2B5EF4-FFF2-40B4-BE49-F238E27FC236}">
                <a16:creationId xmlns:a16="http://schemas.microsoft.com/office/drawing/2014/main" id="{EA08A939-29D1-92F8-479E-7F2C6DACA5D9}"/>
              </a:ext>
            </a:extLst>
          </p:cNvPr>
          <p:cNvSpPr/>
          <p:nvPr/>
        </p:nvSpPr>
        <p:spPr>
          <a:xfrm>
            <a:off x="148223" y="2140379"/>
            <a:ext cx="111760" cy="786680"/>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E0315022-71C4-183C-ACAB-72C9A679A39D}"/>
              </a:ext>
            </a:extLst>
          </p:cNvPr>
          <p:cNvSpPr/>
          <p:nvPr/>
        </p:nvSpPr>
        <p:spPr>
          <a:xfrm>
            <a:off x="224422" y="2140379"/>
            <a:ext cx="11743155" cy="786680"/>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Good frontend development is hard. Scaling frontend development so that many teams can work simultaneously on a large and complex product is even harder.</a:t>
            </a:r>
          </a:p>
        </p:txBody>
      </p:sp>
      <p:sp>
        <p:nvSpPr>
          <p:cNvPr id="2" name="Rectangle 1">
            <a:extLst>
              <a:ext uri="{FF2B5EF4-FFF2-40B4-BE49-F238E27FC236}">
                <a16:creationId xmlns:a16="http://schemas.microsoft.com/office/drawing/2014/main" id="{B1031CE9-05EB-1B2E-1229-10B295F3D42E}"/>
              </a:ext>
            </a:extLst>
          </p:cNvPr>
          <p:cNvSpPr/>
          <p:nvPr/>
        </p:nvSpPr>
        <p:spPr>
          <a:xfrm>
            <a:off x="148223" y="3047355"/>
            <a:ext cx="111760" cy="786680"/>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Rectangle 2">
            <a:extLst>
              <a:ext uri="{FF2B5EF4-FFF2-40B4-BE49-F238E27FC236}">
                <a16:creationId xmlns:a16="http://schemas.microsoft.com/office/drawing/2014/main" id="{874A8D3B-00C2-F15D-0DB8-39C135E9EB31}"/>
              </a:ext>
            </a:extLst>
          </p:cNvPr>
          <p:cNvSpPr/>
          <p:nvPr/>
        </p:nvSpPr>
        <p:spPr>
          <a:xfrm>
            <a:off x="224422" y="3047355"/>
            <a:ext cx="11743155" cy="786680"/>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Perhaps you want to build a progressive or responsive web application but can't find an easy place to start integrating these features into the existing code.</a:t>
            </a:r>
          </a:p>
        </p:txBody>
      </p:sp>
      <p:sp>
        <p:nvSpPr>
          <p:cNvPr id="4" name="Rectangle 3">
            <a:extLst>
              <a:ext uri="{FF2B5EF4-FFF2-40B4-BE49-F238E27FC236}">
                <a16:creationId xmlns:a16="http://schemas.microsoft.com/office/drawing/2014/main" id="{D4BB7563-94B7-85E5-4BFA-2B979769B24B}"/>
              </a:ext>
            </a:extLst>
          </p:cNvPr>
          <p:cNvSpPr/>
          <p:nvPr/>
        </p:nvSpPr>
        <p:spPr>
          <a:xfrm>
            <a:off x="148223" y="3954331"/>
            <a:ext cx="111760" cy="786680"/>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Rectangle 4">
            <a:extLst>
              <a:ext uri="{FF2B5EF4-FFF2-40B4-BE49-F238E27FC236}">
                <a16:creationId xmlns:a16="http://schemas.microsoft.com/office/drawing/2014/main" id="{CC87CD3C-2308-164A-7FA3-7133BF124DD3}"/>
              </a:ext>
            </a:extLst>
          </p:cNvPr>
          <p:cNvSpPr/>
          <p:nvPr/>
        </p:nvSpPr>
        <p:spPr>
          <a:xfrm>
            <a:off x="224422" y="3954331"/>
            <a:ext cx="11743155" cy="786680"/>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Perhaps you want to start using new JavaScript language features (or one of the myriad languages that can compile to JavaScript), but you can't fit the necessary build tools into your existing build process.</a:t>
            </a:r>
          </a:p>
        </p:txBody>
      </p:sp>
      <p:sp>
        <p:nvSpPr>
          <p:cNvPr id="6" name="Rectangle 5">
            <a:extLst>
              <a:ext uri="{FF2B5EF4-FFF2-40B4-BE49-F238E27FC236}">
                <a16:creationId xmlns:a16="http://schemas.microsoft.com/office/drawing/2014/main" id="{44E1CDD1-5863-218C-C170-185F7E88AC8F}"/>
              </a:ext>
            </a:extLst>
          </p:cNvPr>
          <p:cNvSpPr/>
          <p:nvPr/>
        </p:nvSpPr>
        <p:spPr>
          <a:xfrm>
            <a:off x="148223" y="4866194"/>
            <a:ext cx="111760" cy="901559"/>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EE98FF5A-CEF4-F51A-2B78-8C8CADDABF49}"/>
              </a:ext>
            </a:extLst>
          </p:cNvPr>
          <p:cNvSpPr/>
          <p:nvPr/>
        </p:nvSpPr>
        <p:spPr>
          <a:xfrm>
            <a:off x="224422" y="4866194"/>
            <a:ext cx="11743155" cy="901559"/>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Or maybe you just want to scale your development so that multiple teams can work on a single product simultaneously, but the coupling and complexity in the existing monolith means that everyone is stepping on each other's toes.</a:t>
            </a:r>
          </a:p>
        </p:txBody>
      </p:sp>
      <p:sp>
        <p:nvSpPr>
          <p:cNvPr id="11" name="Rectangle 10">
            <a:extLst>
              <a:ext uri="{FF2B5EF4-FFF2-40B4-BE49-F238E27FC236}">
                <a16:creationId xmlns:a16="http://schemas.microsoft.com/office/drawing/2014/main" id="{FA6D850E-91DD-3404-09EA-E4D2A104900C}"/>
              </a:ext>
            </a:extLst>
          </p:cNvPr>
          <p:cNvSpPr/>
          <p:nvPr/>
        </p:nvSpPr>
        <p:spPr>
          <a:xfrm>
            <a:off x="148223" y="5892936"/>
            <a:ext cx="111760" cy="901559"/>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170B23DF-CB77-6BDF-2A63-698C1231718F}"/>
              </a:ext>
            </a:extLst>
          </p:cNvPr>
          <p:cNvSpPr/>
          <p:nvPr/>
        </p:nvSpPr>
        <p:spPr>
          <a:xfrm>
            <a:off x="224422" y="5892936"/>
            <a:ext cx="11743155" cy="901559"/>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Lately we are seeing more and more attention being paid to the overall architecture and organizational structures that are necessary for complex, modern web development</a:t>
            </a:r>
          </a:p>
        </p:txBody>
      </p:sp>
    </p:spTree>
    <p:extLst>
      <p:ext uri="{BB962C8B-B14F-4D97-AF65-F5344CB8AC3E}">
        <p14:creationId xmlns:p14="http://schemas.microsoft.com/office/powerpoint/2010/main" val="6265504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7087B08C-6A45-D0FB-4DF2-54AF337241B9}"/>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0F9DE2BF-0989-92A1-5F36-2D66FB0B9022}"/>
              </a:ext>
            </a:extLst>
          </p:cNvPr>
          <p:cNvSpPr>
            <a:spLocks noGrp="1"/>
          </p:cNvSpPr>
          <p:nvPr>
            <p:ph type="title"/>
          </p:nvPr>
        </p:nvSpPr>
        <p:spPr>
          <a:xfrm>
            <a:off x="0" y="117984"/>
            <a:ext cx="10515600" cy="1325563"/>
          </a:xfrm>
        </p:spPr>
        <p:txBody>
          <a:bodyPr/>
          <a:lstStyle/>
          <a:p>
            <a:r>
              <a:rPr lang="en-US" b="1" dirty="0"/>
              <a:t>What are </a:t>
            </a:r>
            <a:r>
              <a:rPr lang="en-US" b="1" dirty="0" err="1"/>
              <a:t>Microfrontends</a:t>
            </a:r>
            <a:r>
              <a:rPr lang="en-US" b="1" dirty="0"/>
              <a:t>?</a:t>
            </a:r>
          </a:p>
        </p:txBody>
      </p:sp>
      <p:sp>
        <p:nvSpPr>
          <p:cNvPr id="13" name="Rectangle 12">
            <a:extLst>
              <a:ext uri="{FF2B5EF4-FFF2-40B4-BE49-F238E27FC236}">
                <a16:creationId xmlns:a16="http://schemas.microsoft.com/office/drawing/2014/main" id="{1726B33C-2D09-7FD2-F0C7-99902F666ED9}"/>
              </a:ext>
            </a:extLst>
          </p:cNvPr>
          <p:cNvSpPr/>
          <p:nvPr/>
        </p:nvSpPr>
        <p:spPr>
          <a:xfrm>
            <a:off x="148223" y="1443547"/>
            <a:ext cx="111760" cy="786680"/>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256DA1A0-942A-AC91-7BFF-72808FBE68FC}"/>
              </a:ext>
            </a:extLst>
          </p:cNvPr>
          <p:cNvSpPr/>
          <p:nvPr/>
        </p:nvSpPr>
        <p:spPr>
          <a:xfrm>
            <a:off x="224422" y="1443547"/>
            <a:ext cx="11743155" cy="786680"/>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An architectural style where independently deliverable frontend applications are composed into a greater whole.</a:t>
            </a:r>
          </a:p>
        </p:txBody>
      </p:sp>
      <p:sp>
        <p:nvSpPr>
          <p:cNvPr id="2" name="Rectangle 1">
            <a:extLst>
              <a:ext uri="{FF2B5EF4-FFF2-40B4-BE49-F238E27FC236}">
                <a16:creationId xmlns:a16="http://schemas.microsoft.com/office/drawing/2014/main" id="{1904B8B9-3EA5-009D-C45A-A70FC65BF031}"/>
              </a:ext>
            </a:extLst>
          </p:cNvPr>
          <p:cNvSpPr/>
          <p:nvPr/>
        </p:nvSpPr>
        <p:spPr>
          <a:xfrm>
            <a:off x="148223" y="2350522"/>
            <a:ext cx="111760" cy="1494647"/>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Rectangle 2">
            <a:extLst>
              <a:ext uri="{FF2B5EF4-FFF2-40B4-BE49-F238E27FC236}">
                <a16:creationId xmlns:a16="http://schemas.microsoft.com/office/drawing/2014/main" id="{E5D4ABC0-DD6A-7DC7-1B14-8059CBC5CA0A}"/>
              </a:ext>
            </a:extLst>
          </p:cNvPr>
          <p:cNvSpPr/>
          <p:nvPr/>
        </p:nvSpPr>
        <p:spPr>
          <a:xfrm>
            <a:off x="224422" y="2350522"/>
            <a:ext cx="11743155" cy="1494647"/>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Some of the key benefits that we've seen from micro frontends are:</a:t>
            </a:r>
          </a:p>
          <a:p>
            <a:pPr marL="285750" marR="0" lvl="0" indent="-285750" algn="l"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smaller, more cohesive and maintainable codebases</a:t>
            </a:r>
          </a:p>
          <a:p>
            <a:pPr marL="285750" marR="0" lvl="0" indent="-285750" algn="l"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more scalable organizations with decoupled, autonomous teams</a:t>
            </a:r>
          </a:p>
          <a:p>
            <a:pPr marL="285750" marR="0" lvl="0" indent="-285750" algn="l"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the ability to upgrade, update, or even rewrite parts of the frontend in a more incremental fashion than was previously possible</a:t>
            </a:r>
          </a:p>
        </p:txBody>
      </p:sp>
      <p:sp>
        <p:nvSpPr>
          <p:cNvPr id="15" name="Rectangle 14">
            <a:extLst>
              <a:ext uri="{FF2B5EF4-FFF2-40B4-BE49-F238E27FC236}">
                <a16:creationId xmlns:a16="http://schemas.microsoft.com/office/drawing/2014/main" id="{BCDA929E-6618-9CDD-1F40-5EDC090DD447}"/>
              </a:ext>
            </a:extLst>
          </p:cNvPr>
          <p:cNvSpPr/>
          <p:nvPr/>
        </p:nvSpPr>
        <p:spPr>
          <a:xfrm>
            <a:off x="148223" y="3965464"/>
            <a:ext cx="111760" cy="786680"/>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F62FB83A-27AE-C152-2566-B8A03BFAC0AC}"/>
              </a:ext>
            </a:extLst>
          </p:cNvPr>
          <p:cNvSpPr/>
          <p:nvPr/>
        </p:nvSpPr>
        <p:spPr>
          <a:xfrm>
            <a:off x="224422" y="3965464"/>
            <a:ext cx="11743155" cy="786680"/>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The overall idea is to move away from a big monolithic UI to decoupled UI codebases that can be owned, managed, and deployed by separate teams independently.</a:t>
            </a:r>
          </a:p>
        </p:txBody>
      </p:sp>
      <p:sp>
        <p:nvSpPr>
          <p:cNvPr id="17" name="Rectangle 16">
            <a:extLst>
              <a:ext uri="{FF2B5EF4-FFF2-40B4-BE49-F238E27FC236}">
                <a16:creationId xmlns:a16="http://schemas.microsoft.com/office/drawing/2014/main" id="{631E2E90-6132-98E6-CA63-8B24F805AAF5}"/>
              </a:ext>
            </a:extLst>
          </p:cNvPr>
          <p:cNvSpPr/>
          <p:nvPr/>
        </p:nvSpPr>
        <p:spPr>
          <a:xfrm>
            <a:off x="148223" y="4872439"/>
            <a:ext cx="111760" cy="1867577"/>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Rectangle 17">
            <a:extLst>
              <a:ext uri="{FF2B5EF4-FFF2-40B4-BE49-F238E27FC236}">
                <a16:creationId xmlns:a16="http://schemas.microsoft.com/office/drawing/2014/main" id="{35B3EC06-8012-1045-C5D5-EC8BD18E4C87}"/>
              </a:ext>
            </a:extLst>
          </p:cNvPr>
          <p:cNvSpPr/>
          <p:nvPr/>
        </p:nvSpPr>
        <p:spPr>
          <a:xfrm>
            <a:off x="224422" y="4872439"/>
            <a:ext cx="11743155" cy="1867577"/>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defRPr/>
            </a:pPr>
            <a:r>
              <a:rPr lang="en-US" b="1" dirty="0">
                <a:solidFill>
                  <a:prstClr val="white"/>
                </a:solidFill>
                <a:latin typeface="Arial" panose="020B0604020202020204" pitchFamily="34" charset="0"/>
                <a:cs typeface="Arial" panose="020B0604020202020204" pitchFamily="34" charset="0"/>
              </a:rPr>
              <a:t>What can this piece of UI be</a:t>
            </a:r>
          </a:p>
          <a:p>
            <a:pPr marL="285750" marR="0" lvl="0" indent="-285750" algn="l"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1" i="0" u="none" strike="noStrike" kern="1200" cap="none" spc="0" normalizeH="0" baseline="0" noProof="0" dirty="0">
                <a:ln>
                  <a:noFill/>
                </a:ln>
                <a:solidFill>
                  <a:prstClr val="white"/>
                </a:solidFill>
                <a:effectLst/>
                <a:uLnTx/>
                <a:uFillTx/>
                <a:latin typeface="Arial" panose="020B0604020202020204" pitchFamily="34" charset="0"/>
                <a:ea typeface="+mn-ea"/>
              </a:rPr>
              <a:t>Pages – parts of a website owned by specific teams..</a:t>
            </a:r>
          </a:p>
          <a:p>
            <a:pPr marL="285750" marR="0" lvl="0" indent="-285750" algn="l"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1" i="0" u="none" strike="noStrike" kern="1200" cap="none" spc="0" normalizeH="0" baseline="0" noProof="0" dirty="0">
                <a:ln>
                  <a:noFill/>
                </a:ln>
                <a:solidFill>
                  <a:prstClr val="white"/>
                </a:solidFill>
                <a:effectLst/>
                <a:uLnTx/>
                <a:uFillTx/>
                <a:latin typeface="Arial" panose="020B0604020202020204" pitchFamily="34" charset="0"/>
                <a:ea typeface="+mn-ea"/>
              </a:rPr>
              <a:t>Components – Components like header and footer are good candidates for a </a:t>
            </a:r>
            <a:r>
              <a:rPr kumimoji="0" lang="en-US" sz="1600" b="1" i="0" u="none" strike="noStrike" kern="1200" cap="none" spc="0" normalizeH="0" baseline="0" noProof="0" dirty="0" err="1">
                <a:ln>
                  <a:noFill/>
                </a:ln>
                <a:solidFill>
                  <a:prstClr val="white"/>
                </a:solidFill>
                <a:effectLst/>
                <a:uLnTx/>
                <a:uFillTx/>
                <a:latin typeface="Arial" panose="020B0604020202020204" pitchFamily="34" charset="0"/>
                <a:ea typeface="+mn-ea"/>
              </a:rPr>
              <a:t>microfrontend</a:t>
            </a:r>
            <a:r>
              <a:rPr kumimoji="0" lang="en-US" sz="1600" b="1" i="0" u="none" strike="noStrike" kern="1200" cap="none" spc="0" normalizeH="0" baseline="0" noProof="0" dirty="0">
                <a:ln>
                  <a:noFill/>
                </a:ln>
                <a:solidFill>
                  <a:prstClr val="white"/>
                </a:solidFill>
                <a:effectLst/>
                <a:uLnTx/>
                <a:uFillTx/>
                <a:latin typeface="Arial" panose="020B0604020202020204" pitchFamily="34" charset="0"/>
                <a:ea typeface="+mn-ea"/>
              </a:rPr>
              <a:t> approach as well. They’re relatively static but need to stay consistent across the website and may integrate with teams who own different sets of pages.</a:t>
            </a:r>
          </a:p>
          <a:p>
            <a:pPr marL="285750" marR="0" lvl="0" indent="-285750" algn="l"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1" i="0" u="none" strike="noStrike" kern="1200" cap="none" spc="0" normalizeH="0" baseline="0" noProof="0" dirty="0">
                <a:ln>
                  <a:noFill/>
                </a:ln>
                <a:solidFill>
                  <a:prstClr val="white"/>
                </a:solidFill>
                <a:effectLst/>
                <a:uLnTx/>
                <a:uFillTx/>
                <a:latin typeface="Arial" panose="020B0604020202020204" pitchFamily="34" charset="0"/>
                <a:ea typeface="+mn-ea"/>
              </a:rPr>
              <a:t>Widgets – A recommendation widget may be owned by a recommendations team, for example, and it can be integrated into different parts of the page based on the context. </a:t>
            </a:r>
          </a:p>
        </p:txBody>
      </p:sp>
    </p:spTree>
    <p:extLst>
      <p:ext uri="{BB962C8B-B14F-4D97-AF65-F5344CB8AC3E}">
        <p14:creationId xmlns:p14="http://schemas.microsoft.com/office/powerpoint/2010/main" val="141587901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1B87B8FB-715A-C580-EEDC-281B7DE44CA2}"/>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6BA998F5-5F27-9965-88D1-15E5BAE48806}"/>
              </a:ext>
            </a:extLst>
          </p:cNvPr>
          <p:cNvSpPr>
            <a:spLocks noGrp="1"/>
          </p:cNvSpPr>
          <p:nvPr>
            <p:ph type="title"/>
          </p:nvPr>
        </p:nvSpPr>
        <p:spPr>
          <a:xfrm>
            <a:off x="0" y="117984"/>
            <a:ext cx="10515600" cy="1325563"/>
          </a:xfrm>
        </p:spPr>
        <p:txBody>
          <a:bodyPr/>
          <a:lstStyle/>
          <a:p>
            <a:r>
              <a:rPr lang="en-US" b="1" dirty="0"/>
              <a:t>Incremental upgrades:</a:t>
            </a:r>
          </a:p>
        </p:txBody>
      </p:sp>
      <p:sp>
        <p:nvSpPr>
          <p:cNvPr id="2" name="Rectangle 1">
            <a:extLst>
              <a:ext uri="{FF2B5EF4-FFF2-40B4-BE49-F238E27FC236}">
                <a16:creationId xmlns:a16="http://schemas.microsoft.com/office/drawing/2014/main" id="{0CDEB1A5-FD2F-DA63-BEDD-E752897FE1A7}"/>
              </a:ext>
            </a:extLst>
          </p:cNvPr>
          <p:cNvSpPr/>
          <p:nvPr/>
        </p:nvSpPr>
        <p:spPr>
          <a:xfrm>
            <a:off x="148223" y="1218673"/>
            <a:ext cx="111760" cy="990555"/>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Rectangle 2">
            <a:extLst>
              <a:ext uri="{FF2B5EF4-FFF2-40B4-BE49-F238E27FC236}">
                <a16:creationId xmlns:a16="http://schemas.microsoft.com/office/drawing/2014/main" id="{606A8EDB-1067-BB89-E7E0-1AEA5B134D68}"/>
              </a:ext>
            </a:extLst>
          </p:cNvPr>
          <p:cNvSpPr/>
          <p:nvPr/>
        </p:nvSpPr>
        <p:spPr>
          <a:xfrm>
            <a:off x="224422" y="1218673"/>
            <a:ext cx="11743155" cy="990555"/>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For many organizations this is the beginning of their micro frontends journey. The old, large, frontend monolith is being held back by yesteryear's tech stack, or by code written under delivery pressure, and it's getting to the point where a total rewrite is tempting</a:t>
            </a:r>
          </a:p>
        </p:txBody>
      </p:sp>
      <p:sp>
        <p:nvSpPr>
          <p:cNvPr id="15" name="Rectangle 14">
            <a:extLst>
              <a:ext uri="{FF2B5EF4-FFF2-40B4-BE49-F238E27FC236}">
                <a16:creationId xmlns:a16="http://schemas.microsoft.com/office/drawing/2014/main" id="{EE807934-E4A1-0AE3-497C-32A4B3A78178}"/>
              </a:ext>
            </a:extLst>
          </p:cNvPr>
          <p:cNvSpPr/>
          <p:nvPr/>
        </p:nvSpPr>
        <p:spPr>
          <a:xfrm>
            <a:off x="148223" y="2360813"/>
            <a:ext cx="111760" cy="949104"/>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0030E9EE-0B79-2C50-7526-A9E27A1005EF}"/>
              </a:ext>
            </a:extLst>
          </p:cNvPr>
          <p:cNvSpPr/>
          <p:nvPr/>
        </p:nvSpPr>
        <p:spPr>
          <a:xfrm>
            <a:off x="224422" y="2360813"/>
            <a:ext cx="11743155" cy="949104"/>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In order to avoid the perils of a full rewrite, we'd much prefer to strangle the old application piece by piece, and in the meantime continue to deliver new features to our customers without being weighed down by the monolith.</a:t>
            </a:r>
          </a:p>
        </p:txBody>
      </p:sp>
      <p:sp>
        <p:nvSpPr>
          <p:cNvPr id="6" name="Rectangle 5">
            <a:extLst>
              <a:ext uri="{FF2B5EF4-FFF2-40B4-BE49-F238E27FC236}">
                <a16:creationId xmlns:a16="http://schemas.microsoft.com/office/drawing/2014/main" id="{3C72CC56-19A3-9998-CF8C-846B96F98516}"/>
              </a:ext>
            </a:extLst>
          </p:cNvPr>
          <p:cNvSpPr/>
          <p:nvPr/>
        </p:nvSpPr>
        <p:spPr>
          <a:xfrm>
            <a:off x="148223" y="3461502"/>
            <a:ext cx="111760" cy="735360"/>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B0FDCF2A-7B66-47E6-D337-9FCEAA09B1D8}"/>
              </a:ext>
            </a:extLst>
          </p:cNvPr>
          <p:cNvSpPr/>
          <p:nvPr/>
        </p:nvSpPr>
        <p:spPr>
          <a:xfrm>
            <a:off x="224422" y="3461502"/>
            <a:ext cx="11743155" cy="735360"/>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The existing code still needs to be maintained, and in some cases, it may make sense to continue to add new features to it, but now the choice is available.</a:t>
            </a:r>
          </a:p>
        </p:txBody>
      </p:sp>
      <p:sp>
        <p:nvSpPr>
          <p:cNvPr id="9" name="Rectangle 8">
            <a:extLst>
              <a:ext uri="{FF2B5EF4-FFF2-40B4-BE49-F238E27FC236}">
                <a16:creationId xmlns:a16="http://schemas.microsoft.com/office/drawing/2014/main" id="{91E9BDF4-46DB-FD55-A1D7-44DEB61E7C6A}"/>
              </a:ext>
            </a:extLst>
          </p:cNvPr>
          <p:cNvSpPr/>
          <p:nvPr/>
        </p:nvSpPr>
        <p:spPr>
          <a:xfrm>
            <a:off x="148223" y="4348446"/>
            <a:ext cx="111760" cy="962107"/>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F0C22F23-9DB8-545F-8913-130BD262FB40}"/>
              </a:ext>
            </a:extLst>
          </p:cNvPr>
          <p:cNvSpPr/>
          <p:nvPr/>
        </p:nvSpPr>
        <p:spPr>
          <a:xfrm>
            <a:off x="224422" y="4348446"/>
            <a:ext cx="11743155" cy="962107"/>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The endgame here is that we're afforded more freedom to make case-by-case decisions on individual parts of our product, and to make incremental upgrades to our architecture, our dependencies, and our user experience.</a:t>
            </a:r>
          </a:p>
        </p:txBody>
      </p:sp>
      <p:sp>
        <p:nvSpPr>
          <p:cNvPr id="11" name="Rectangle 10">
            <a:extLst>
              <a:ext uri="{FF2B5EF4-FFF2-40B4-BE49-F238E27FC236}">
                <a16:creationId xmlns:a16="http://schemas.microsoft.com/office/drawing/2014/main" id="{22210B0A-1309-FE11-1EB1-6E5943E3092D}"/>
              </a:ext>
            </a:extLst>
          </p:cNvPr>
          <p:cNvSpPr/>
          <p:nvPr/>
        </p:nvSpPr>
        <p:spPr>
          <a:xfrm>
            <a:off x="148223" y="5462137"/>
            <a:ext cx="111760" cy="856601"/>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73722F88-47C9-2F9A-50CE-19C04CA79A32}"/>
              </a:ext>
            </a:extLst>
          </p:cNvPr>
          <p:cNvSpPr/>
          <p:nvPr/>
        </p:nvSpPr>
        <p:spPr>
          <a:xfrm>
            <a:off x="224422" y="5462137"/>
            <a:ext cx="11743155" cy="856601"/>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If there is a major breaking change in our main framework, each micro frontend can be upgraded whenever it makes sense, rather than being forced to stop the world and upgrade everything at once.</a:t>
            </a:r>
          </a:p>
        </p:txBody>
      </p:sp>
    </p:spTree>
    <p:extLst>
      <p:ext uri="{BB962C8B-B14F-4D97-AF65-F5344CB8AC3E}">
        <p14:creationId xmlns:p14="http://schemas.microsoft.com/office/powerpoint/2010/main" val="109965468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4F2A991A-E3B9-2281-099A-488D226F861A}"/>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F3DF213D-F7F0-6EEC-B1DE-2F1480B653B2}"/>
              </a:ext>
            </a:extLst>
          </p:cNvPr>
          <p:cNvSpPr>
            <a:spLocks noGrp="1"/>
          </p:cNvSpPr>
          <p:nvPr>
            <p:ph type="title"/>
          </p:nvPr>
        </p:nvSpPr>
        <p:spPr>
          <a:xfrm>
            <a:off x="0" y="117984"/>
            <a:ext cx="10515600" cy="1325563"/>
          </a:xfrm>
        </p:spPr>
        <p:txBody>
          <a:bodyPr/>
          <a:lstStyle/>
          <a:p>
            <a:r>
              <a:rPr lang="en-US" b="1" dirty="0"/>
              <a:t>Independent deployment:</a:t>
            </a:r>
          </a:p>
        </p:txBody>
      </p:sp>
      <p:sp>
        <p:nvSpPr>
          <p:cNvPr id="2" name="Rectangle 1">
            <a:extLst>
              <a:ext uri="{FF2B5EF4-FFF2-40B4-BE49-F238E27FC236}">
                <a16:creationId xmlns:a16="http://schemas.microsoft.com/office/drawing/2014/main" id="{CBEB5DBD-8C45-1A73-7F59-2DEA7449330A}"/>
              </a:ext>
            </a:extLst>
          </p:cNvPr>
          <p:cNvSpPr/>
          <p:nvPr/>
        </p:nvSpPr>
        <p:spPr>
          <a:xfrm>
            <a:off x="148223" y="1218674"/>
            <a:ext cx="111760" cy="774250"/>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Rectangle 2">
            <a:extLst>
              <a:ext uri="{FF2B5EF4-FFF2-40B4-BE49-F238E27FC236}">
                <a16:creationId xmlns:a16="http://schemas.microsoft.com/office/drawing/2014/main" id="{75260614-55B0-A2D5-E0C4-D0391D266EE5}"/>
              </a:ext>
            </a:extLst>
          </p:cNvPr>
          <p:cNvSpPr/>
          <p:nvPr/>
        </p:nvSpPr>
        <p:spPr>
          <a:xfrm>
            <a:off x="224422" y="1218674"/>
            <a:ext cx="11743155" cy="774250"/>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Just as with microservices, independent deploy ability of micro frontends is key. This reduces the scope of any given deployment, which in turn reduces the associated risk.</a:t>
            </a:r>
          </a:p>
        </p:txBody>
      </p:sp>
      <p:sp>
        <p:nvSpPr>
          <p:cNvPr id="15" name="Rectangle 14">
            <a:extLst>
              <a:ext uri="{FF2B5EF4-FFF2-40B4-BE49-F238E27FC236}">
                <a16:creationId xmlns:a16="http://schemas.microsoft.com/office/drawing/2014/main" id="{C1BF428D-1D07-F4E3-715F-78741D30DF17}"/>
              </a:ext>
            </a:extLst>
          </p:cNvPr>
          <p:cNvSpPr/>
          <p:nvPr/>
        </p:nvSpPr>
        <p:spPr>
          <a:xfrm>
            <a:off x="148223" y="2144510"/>
            <a:ext cx="111760" cy="774250"/>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AB04ADE2-9FEA-B5E5-AE80-0D0C1CBF1D12}"/>
              </a:ext>
            </a:extLst>
          </p:cNvPr>
          <p:cNvSpPr/>
          <p:nvPr/>
        </p:nvSpPr>
        <p:spPr>
          <a:xfrm>
            <a:off x="224422" y="2144510"/>
            <a:ext cx="11743155" cy="774250"/>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Regardless of how or where your frontend code is hosted, each micro frontend should have its own continuous delivery pipeline, which builds, tests and deploys it all the way to production.</a:t>
            </a:r>
          </a:p>
        </p:txBody>
      </p:sp>
      <p:sp>
        <p:nvSpPr>
          <p:cNvPr id="6" name="Rectangle 5">
            <a:extLst>
              <a:ext uri="{FF2B5EF4-FFF2-40B4-BE49-F238E27FC236}">
                <a16:creationId xmlns:a16="http://schemas.microsoft.com/office/drawing/2014/main" id="{9FF9CDE9-3E9B-F4B4-75FE-5D10003A9540}"/>
              </a:ext>
            </a:extLst>
          </p:cNvPr>
          <p:cNvSpPr/>
          <p:nvPr/>
        </p:nvSpPr>
        <p:spPr>
          <a:xfrm>
            <a:off x="148223" y="3070344"/>
            <a:ext cx="111760" cy="735360"/>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76551142-7744-B29E-7B33-063D91ED749E}"/>
              </a:ext>
            </a:extLst>
          </p:cNvPr>
          <p:cNvSpPr/>
          <p:nvPr/>
        </p:nvSpPr>
        <p:spPr>
          <a:xfrm>
            <a:off x="224422" y="3070344"/>
            <a:ext cx="11743155" cy="735360"/>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If a given micro frontend is ready to go to production, it should be able to do so, and that decision should be up to the team who build and maintain it.</a:t>
            </a:r>
          </a:p>
        </p:txBody>
      </p:sp>
      <p:pic>
        <p:nvPicPr>
          <p:cNvPr id="5" name="Picture 4">
            <a:extLst>
              <a:ext uri="{FF2B5EF4-FFF2-40B4-BE49-F238E27FC236}">
                <a16:creationId xmlns:a16="http://schemas.microsoft.com/office/drawing/2014/main" id="{2150ADE1-C4FA-DBD7-6716-15176F385C1C}"/>
              </a:ext>
            </a:extLst>
          </p:cNvPr>
          <p:cNvPicPr>
            <a:picLocks noChangeAspect="1"/>
          </p:cNvPicPr>
          <p:nvPr/>
        </p:nvPicPr>
        <p:blipFill>
          <a:blip r:embed="rId3"/>
          <a:stretch>
            <a:fillRect/>
          </a:stretch>
        </p:blipFill>
        <p:spPr>
          <a:xfrm>
            <a:off x="855785" y="4056185"/>
            <a:ext cx="10245969" cy="2613493"/>
          </a:xfrm>
          <a:prstGeom prst="rect">
            <a:avLst/>
          </a:prstGeom>
        </p:spPr>
      </p:pic>
    </p:spTree>
    <p:extLst>
      <p:ext uri="{BB962C8B-B14F-4D97-AF65-F5344CB8AC3E}">
        <p14:creationId xmlns:p14="http://schemas.microsoft.com/office/powerpoint/2010/main" val="120320381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08EC126F-08B6-6256-1EFE-1BA515995DE6}"/>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9624D663-6587-042A-E9A6-FAAA141C5CD9}"/>
              </a:ext>
            </a:extLst>
          </p:cNvPr>
          <p:cNvSpPr>
            <a:spLocks noGrp="1"/>
          </p:cNvSpPr>
          <p:nvPr>
            <p:ph type="title"/>
          </p:nvPr>
        </p:nvSpPr>
        <p:spPr>
          <a:xfrm>
            <a:off x="0" y="0"/>
            <a:ext cx="10515600" cy="1325563"/>
          </a:xfrm>
        </p:spPr>
        <p:txBody>
          <a:bodyPr/>
          <a:lstStyle/>
          <a:p>
            <a:r>
              <a:rPr lang="en-US" sz="5400" b="1" dirty="0">
                <a:latin typeface="Times New Roman" panose="02020603050405020304" pitchFamily="18" charset="0"/>
                <a:cs typeface="Times New Roman" panose="02020603050405020304" pitchFamily="18" charset="0"/>
              </a:rPr>
              <a:t>What is DevOps:</a:t>
            </a:r>
          </a:p>
        </p:txBody>
      </p:sp>
      <p:sp>
        <p:nvSpPr>
          <p:cNvPr id="9" name="Rectangle 8">
            <a:extLst>
              <a:ext uri="{FF2B5EF4-FFF2-40B4-BE49-F238E27FC236}">
                <a16:creationId xmlns:a16="http://schemas.microsoft.com/office/drawing/2014/main" id="{6195AD05-2DAE-DD12-9201-C20DF0CB0487}"/>
              </a:ext>
            </a:extLst>
          </p:cNvPr>
          <p:cNvSpPr/>
          <p:nvPr/>
        </p:nvSpPr>
        <p:spPr>
          <a:xfrm>
            <a:off x="148223" y="1268530"/>
            <a:ext cx="111760" cy="962977"/>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5962D4C0-3E61-4759-8EDE-9DB2BE2FB5FE}"/>
              </a:ext>
            </a:extLst>
          </p:cNvPr>
          <p:cNvSpPr/>
          <p:nvPr/>
        </p:nvSpPr>
        <p:spPr>
          <a:xfrm>
            <a:off x="224422" y="1268530"/>
            <a:ext cx="11743155" cy="962977"/>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DevOps is a software development methodology that accelerates the delivery of high-performance applications and services by combining and automating the work of software development (Dev) and IT operations (Ops) teams. [IBM]</a:t>
            </a:r>
          </a:p>
        </p:txBody>
      </p:sp>
      <p:sp>
        <p:nvSpPr>
          <p:cNvPr id="6" name="Rectangle 5">
            <a:extLst>
              <a:ext uri="{FF2B5EF4-FFF2-40B4-BE49-F238E27FC236}">
                <a16:creationId xmlns:a16="http://schemas.microsoft.com/office/drawing/2014/main" id="{7D8ADF08-59F6-0311-B3EF-460279BC9439}"/>
              </a:ext>
            </a:extLst>
          </p:cNvPr>
          <p:cNvSpPr/>
          <p:nvPr/>
        </p:nvSpPr>
        <p:spPr>
          <a:xfrm>
            <a:off x="148223" y="2332475"/>
            <a:ext cx="111760" cy="680721"/>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F0919276-09CF-E7FF-85CF-61545615DFAC}"/>
              </a:ext>
            </a:extLst>
          </p:cNvPr>
          <p:cNvSpPr/>
          <p:nvPr/>
        </p:nvSpPr>
        <p:spPr>
          <a:xfrm>
            <a:off x="224422" y="2332475"/>
            <a:ext cx="11743155" cy="680721"/>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DevOps is a concept that aims to address the challenges associated with traditional application lifecycle. [Microsoft]</a:t>
            </a:r>
          </a:p>
        </p:txBody>
      </p:sp>
      <p:sp>
        <p:nvSpPr>
          <p:cNvPr id="11" name="Rectangle 10">
            <a:extLst>
              <a:ext uri="{FF2B5EF4-FFF2-40B4-BE49-F238E27FC236}">
                <a16:creationId xmlns:a16="http://schemas.microsoft.com/office/drawing/2014/main" id="{E7CA5E66-156D-8FD7-E0EA-50372C37A9EA}"/>
              </a:ext>
            </a:extLst>
          </p:cNvPr>
          <p:cNvSpPr/>
          <p:nvPr/>
        </p:nvSpPr>
        <p:spPr>
          <a:xfrm>
            <a:off x="148223" y="3179244"/>
            <a:ext cx="111760" cy="680721"/>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161091FD-07B4-A8B5-38D8-44D17333561B}"/>
              </a:ext>
            </a:extLst>
          </p:cNvPr>
          <p:cNvSpPr/>
          <p:nvPr/>
        </p:nvSpPr>
        <p:spPr>
          <a:xfrm>
            <a:off x="224422" y="3179244"/>
            <a:ext cx="11743155" cy="680721"/>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"DevOps is the union of people, process, and products to enable continuous delivery of value to our end users." - Donovan Brown</a:t>
            </a:r>
          </a:p>
        </p:txBody>
      </p:sp>
      <p:sp>
        <p:nvSpPr>
          <p:cNvPr id="2" name="Rectangle 1">
            <a:extLst>
              <a:ext uri="{FF2B5EF4-FFF2-40B4-BE49-F238E27FC236}">
                <a16:creationId xmlns:a16="http://schemas.microsoft.com/office/drawing/2014/main" id="{92217FE4-1AE5-04A4-5324-DE05D8F65A63}"/>
              </a:ext>
            </a:extLst>
          </p:cNvPr>
          <p:cNvSpPr/>
          <p:nvPr/>
        </p:nvSpPr>
        <p:spPr>
          <a:xfrm>
            <a:off x="148223" y="4026013"/>
            <a:ext cx="111760" cy="680721"/>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Rectangle 2">
            <a:extLst>
              <a:ext uri="{FF2B5EF4-FFF2-40B4-BE49-F238E27FC236}">
                <a16:creationId xmlns:a16="http://schemas.microsoft.com/office/drawing/2014/main" id="{82550853-87B1-3796-6A2C-0A268C996EF8}"/>
              </a:ext>
            </a:extLst>
          </p:cNvPr>
          <p:cNvSpPr/>
          <p:nvPr/>
        </p:nvSpPr>
        <p:spPr>
          <a:xfrm>
            <a:off x="224422" y="4026013"/>
            <a:ext cx="11743155" cy="680721"/>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DevOps is a set of principles, practices, and values that are meant to enhance cross-team synergies, with the common goal of optimizing software delivery. [Microsoft]</a:t>
            </a:r>
          </a:p>
        </p:txBody>
      </p:sp>
      <p:sp>
        <p:nvSpPr>
          <p:cNvPr id="4" name="Rectangle 3">
            <a:extLst>
              <a:ext uri="{FF2B5EF4-FFF2-40B4-BE49-F238E27FC236}">
                <a16:creationId xmlns:a16="http://schemas.microsoft.com/office/drawing/2014/main" id="{5C81A794-1303-7A01-2FDA-718699E88B34}"/>
              </a:ext>
            </a:extLst>
          </p:cNvPr>
          <p:cNvSpPr/>
          <p:nvPr/>
        </p:nvSpPr>
        <p:spPr>
          <a:xfrm>
            <a:off x="148223" y="4872782"/>
            <a:ext cx="111760" cy="1301871"/>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Rectangle 4">
            <a:extLst>
              <a:ext uri="{FF2B5EF4-FFF2-40B4-BE49-F238E27FC236}">
                <a16:creationId xmlns:a16="http://schemas.microsoft.com/office/drawing/2014/main" id="{5BE0CD73-2350-F55E-A085-BA20A3C04582}"/>
              </a:ext>
            </a:extLst>
          </p:cNvPr>
          <p:cNvSpPr/>
          <p:nvPr/>
        </p:nvSpPr>
        <p:spPr>
          <a:xfrm>
            <a:off x="224422" y="4872782"/>
            <a:ext cx="11743155" cy="1301871"/>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The hallmarks of DevOps are continuous integration and continuous delivery (CI/CD), which support smaller, faster software updates. With CI/CD, small chunks of new code are merged into the code base at frequent intervals, and then automatically integrated, tested, and prepared for deployment to the production environment.</a:t>
            </a:r>
          </a:p>
        </p:txBody>
      </p:sp>
    </p:spTree>
    <p:extLst>
      <p:ext uri="{BB962C8B-B14F-4D97-AF65-F5344CB8AC3E}">
        <p14:creationId xmlns:p14="http://schemas.microsoft.com/office/powerpoint/2010/main" val="13455156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D96C2515-2EFF-5B1A-3699-C5F449FFC699}"/>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C3EFF36E-1B26-6836-82CA-0951BEAFE868}"/>
              </a:ext>
            </a:extLst>
          </p:cNvPr>
          <p:cNvSpPr>
            <a:spLocks noGrp="1"/>
          </p:cNvSpPr>
          <p:nvPr>
            <p:ph type="title"/>
          </p:nvPr>
        </p:nvSpPr>
        <p:spPr>
          <a:xfrm>
            <a:off x="0" y="0"/>
            <a:ext cx="10515600" cy="1325563"/>
          </a:xfrm>
        </p:spPr>
        <p:txBody>
          <a:bodyPr/>
          <a:lstStyle/>
          <a:p>
            <a:r>
              <a:rPr lang="en-US" sz="5400" b="1" dirty="0">
                <a:latin typeface="Times New Roman" panose="02020603050405020304" pitchFamily="18" charset="0"/>
                <a:cs typeface="Times New Roman" panose="02020603050405020304" pitchFamily="18" charset="0"/>
              </a:rPr>
              <a:t>What is DevOps:</a:t>
            </a:r>
          </a:p>
        </p:txBody>
      </p:sp>
      <p:pic>
        <p:nvPicPr>
          <p:cNvPr id="1026" name="Picture 2" descr="Screenshot of the DevOps toolchain and application lifecycle.">
            <a:extLst>
              <a:ext uri="{FF2B5EF4-FFF2-40B4-BE49-F238E27FC236}">
                <a16:creationId xmlns:a16="http://schemas.microsoft.com/office/drawing/2014/main" id="{1C5BF585-0149-4478-826D-9339768689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321338"/>
            <a:ext cx="10515601" cy="52575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76060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CC786A22-C9C5-168C-CCF0-1DC30C16884F}"/>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1FE64B8C-BAFD-10CD-6A3E-ED97CE0E7ED9}"/>
              </a:ext>
            </a:extLst>
          </p:cNvPr>
          <p:cNvSpPr>
            <a:spLocks noGrp="1"/>
          </p:cNvSpPr>
          <p:nvPr>
            <p:ph type="title"/>
          </p:nvPr>
        </p:nvSpPr>
        <p:spPr>
          <a:xfrm>
            <a:off x="0" y="0"/>
            <a:ext cx="11523406" cy="1325563"/>
          </a:xfrm>
        </p:spPr>
        <p:txBody>
          <a:bodyPr/>
          <a:lstStyle/>
          <a:p>
            <a:r>
              <a:rPr lang="en-US" b="1" dirty="0"/>
              <a:t>What are the key elements of DevOps culture?</a:t>
            </a:r>
          </a:p>
        </p:txBody>
      </p:sp>
      <p:pic>
        <p:nvPicPr>
          <p:cNvPr id="2050" name="Picture 2" descr="Diagram showing the key elements of DevOps culture.">
            <a:extLst>
              <a:ext uri="{FF2B5EF4-FFF2-40B4-BE49-F238E27FC236}">
                <a16:creationId xmlns:a16="http://schemas.microsoft.com/office/drawing/2014/main" id="{EDB0F4FC-4B2C-E0EF-5EA1-1A20F625F5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1935" y="1197744"/>
            <a:ext cx="9488129" cy="5451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39924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E69A8E70-CFD8-EB1C-997A-EDC1343B8507}"/>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1886C860-5123-37AC-1C50-1589659D661C}"/>
              </a:ext>
            </a:extLst>
          </p:cNvPr>
          <p:cNvSpPr>
            <a:spLocks noGrp="1"/>
          </p:cNvSpPr>
          <p:nvPr>
            <p:ph type="title"/>
          </p:nvPr>
        </p:nvSpPr>
        <p:spPr>
          <a:xfrm>
            <a:off x="0" y="0"/>
            <a:ext cx="10515600" cy="1325563"/>
          </a:xfrm>
        </p:spPr>
        <p:txBody>
          <a:bodyPr/>
          <a:lstStyle/>
          <a:p>
            <a:r>
              <a:rPr lang="en-US" sz="5400" b="1" dirty="0">
                <a:latin typeface="Times New Roman" panose="02020603050405020304" pitchFamily="18" charset="0"/>
                <a:cs typeface="Times New Roman" panose="02020603050405020304" pitchFamily="18" charset="0"/>
              </a:rPr>
              <a:t>DevOps goals and benefits:</a:t>
            </a:r>
          </a:p>
        </p:txBody>
      </p:sp>
      <p:sp>
        <p:nvSpPr>
          <p:cNvPr id="4" name="Rectangle 3">
            <a:extLst>
              <a:ext uri="{FF2B5EF4-FFF2-40B4-BE49-F238E27FC236}">
                <a16:creationId xmlns:a16="http://schemas.microsoft.com/office/drawing/2014/main" id="{FA9DFC84-AA72-313D-D6EB-A4A5F7CAE345}"/>
              </a:ext>
            </a:extLst>
          </p:cNvPr>
          <p:cNvSpPr/>
          <p:nvPr/>
        </p:nvSpPr>
        <p:spPr>
          <a:xfrm>
            <a:off x="148223" y="5285734"/>
            <a:ext cx="111760" cy="1301871"/>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Rectangle 4">
            <a:extLst>
              <a:ext uri="{FF2B5EF4-FFF2-40B4-BE49-F238E27FC236}">
                <a16:creationId xmlns:a16="http://schemas.microsoft.com/office/drawing/2014/main" id="{B432AB9D-DA08-52B9-173D-1A0330796FB9}"/>
              </a:ext>
            </a:extLst>
          </p:cNvPr>
          <p:cNvSpPr/>
          <p:nvPr/>
        </p:nvSpPr>
        <p:spPr>
          <a:xfrm>
            <a:off x="224422" y="5285734"/>
            <a:ext cx="11743155" cy="1301871"/>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It's important to note that DevOps benefits extend beyond the lifecycle of traditional applications. Its scope includes, for example, such areas as machine learning (with operations applied to implementing machine learning models) and infrastructure (with Infrastructure as Code applied to deployment of underlying platform services).</a:t>
            </a:r>
          </a:p>
        </p:txBody>
      </p:sp>
      <p:graphicFrame>
        <p:nvGraphicFramePr>
          <p:cNvPr id="13" name="Diagram 12">
            <a:extLst>
              <a:ext uri="{FF2B5EF4-FFF2-40B4-BE49-F238E27FC236}">
                <a16:creationId xmlns:a16="http://schemas.microsoft.com/office/drawing/2014/main" id="{04FB1F1C-EFE6-DCC9-DA83-474FD7553C5E}"/>
              </a:ext>
            </a:extLst>
          </p:cNvPr>
          <p:cNvGraphicFramePr/>
          <p:nvPr>
            <p:extLst>
              <p:ext uri="{D42A27DB-BD31-4B8C-83A1-F6EECF244321}">
                <p14:modId xmlns:p14="http://schemas.microsoft.com/office/powerpoint/2010/main" val="545812010"/>
              </p:ext>
            </p:extLst>
          </p:nvPr>
        </p:nvGraphicFramePr>
        <p:xfrm>
          <a:off x="2308941" y="1248697"/>
          <a:ext cx="7574116" cy="37982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65746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6046E119-CDAA-3D4A-961A-9C2A076CE7ED}"/>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7D5DAB6D-39E7-5F62-9933-E48B293567A5}"/>
              </a:ext>
            </a:extLst>
          </p:cNvPr>
          <p:cNvSpPr>
            <a:spLocks noGrp="1"/>
          </p:cNvSpPr>
          <p:nvPr>
            <p:ph type="title"/>
          </p:nvPr>
        </p:nvSpPr>
        <p:spPr>
          <a:xfrm>
            <a:off x="0" y="0"/>
            <a:ext cx="10515600" cy="1325563"/>
          </a:xfrm>
        </p:spPr>
        <p:txBody>
          <a:bodyPr/>
          <a:lstStyle/>
          <a:p>
            <a:r>
              <a:rPr lang="en-US" sz="5400" b="1" dirty="0">
                <a:latin typeface="Times New Roman" panose="02020603050405020304" pitchFamily="18" charset="0"/>
                <a:cs typeface="Times New Roman" panose="02020603050405020304" pitchFamily="18" charset="0"/>
              </a:rPr>
              <a:t>DevOps Lifecycle:</a:t>
            </a:r>
          </a:p>
        </p:txBody>
      </p:sp>
      <p:sp>
        <p:nvSpPr>
          <p:cNvPr id="4" name="Rectangle 3">
            <a:extLst>
              <a:ext uri="{FF2B5EF4-FFF2-40B4-BE49-F238E27FC236}">
                <a16:creationId xmlns:a16="http://schemas.microsoft.com/office/drawing/2014/main" id="{B0E92065-816A-55BC-54DA-148F162DD0A7}"/>
              </a:ext>
            </a:extLst>
          </p:cNvPr>
          <p:cNvSpPr/>
          <p:nvPr/>
        </p:nvSpPr>
        <p:spPr>
          <a:xfrm>
            <a:off x="148223" y="1325564"/>
            <a:ext cx="111760" cy="1152166"/>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Rectangle 4">
            <a:extLst>
              <a:ext uri="{FF2B5EF4-FFF2-40B4-BE49-F238E27FC236}">
                <a16:creationId xmlns:a16="http://schemas.microsoft.com/office/drawing/2014/main" id="{B9B40F43-7D38-D052-9C8E-4D461C549F12}"/>
              </a:ext>
            </a:extLst>
          </p:cNvPr>
          <p:cNvSpPr/>
          <p:nvPr/>
        </p:nvSpPr>
        <p:spPr>
          <a:xfrm>
            <a:off x="224422" y="1325564"/>
            <a:ext cx="11743155" cy="1152166"/>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The DevOps lifecycle is designed to optimize the rapid delivery of high-quality software. It includes a series of iterative, automated workflows that run within a larger automated and iterative development lifecycle.</a:t>
            </a:r>
          </a:p>
        </p:txBody>
      </p:sp>
      <p:pic>
        <p:nvPicPr>
          <p:cNvPr id="3" name="Picture 2">
            <a:extLst>
              <a:ext uri="{FF2B5EF4-FFF2-40B4-BE49-F238E27FC236}">
                <a16:creationId xmlns:a16="http://schemas.microsoft.com/office/drawing/2014/main" id="{BBE34A89-65A4-C467-C7E4-B5FF90DEAB07}"/>
              </a:ext>
            </a:extLst>
          </p:cNvPr>
          <p:cNvPicPr>
            <a:picLocks noChangeAspect="1"/>
          </p:cNvPicPr>
          <p:nvPr/>
        </p:nvPicPr>
        <p:blipFill>
          <a:blip r:embed="rId3"/>
          <a:srcRect l="10740" r="4773"/>
          <a:stretch>
            <a:fillRect/>
          </a:stretch>
        </p:blipFill>
        <p:spPr>
          <a:xfrm>
            <a:off x="1745224" y="2648149"/>
            <a:ext cx="8701549" cy="4037786"/>
          </a:xfrm>
          <a:prstGeom prst="rect">
            <a:avLst/>
          </a:prstGeom>
        </p:spPr>
      </p:pic>
    </p:spTree>
    <p:extLst>
      <p:ext uri="{BB962C8B-B14F-4D97-AF65-F5344CB8AC3E}">
        <p14:creationId xmlns:p14="http://schemas.microsoft.com/office/powerpoint/2010/main" val="17538971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9DE7C86A-6883-FAB6-7DAC-791E3DB41799}"/>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27B6972E-F292-3C3A-5313-F30C58D904ED}"/>
              </a:ext>
            </a:extLst>
          </p:cNvPr>
          <p:cNvSpPr>
            <a:spLocks noGrp="1"/>
          </p:cNvSpPr>
          <p:nvPr>
            <p:ph type="title"/>
          </p:nvPr>
        </p:nvSpPr>
        <p:spPr>
          <a:xfrm>
            <a:off x="0" y="0"/>
            <a:ext cx="10515600" cy="1325563"/>
          </a:xfrm>
        </p:spPr>
        <p:txBody>
          <a:bodyPr/>
          <a:lstStyle/>
          <a:p>
            <a:r>
              <a:rPr lang="en-US" sz="5400" b="1" dirty="0">
                <a:latin typeface="Times New Roman" panose="02020603050405020304" pitchFamily="18" charset="0"/>
                <a:cs typeface="Times New Roman" panose="02020603050405020304" pitchFamily="18" charset="0"/>
              </a:rPr>
              <a:t>DevOps Lifecycle:</a:t>
            </a:r>
          </a:p>
        </p:txBody>
      </p:sp>
      <p:sp>
        <p:nvSpPr>
          <p:cNvPr id="6" name="Rectangle 5">
            <a:extLst>
              <a:ext uri="{FF2B5EF4-FFF2-40B4-BE49-F238E27FC236}">
                <a16:creationId xmlns:a16="http://schemas.microsoft.com/office/drawing/2014/main" id="{CCD10B2B-2976-8B00-49A1-93BDF1D2EAE7}"/>
              </a:ext>
            </a:extLst>
          </p:cNvPr>
          <p:cNvSpPr/>
          <p:nvPr/>
        </p:nvSpPr>
        <p:spPr>
          <a:xfrm>
            <a:off x="148223" y="1325563"/>
            <a:ext cx="111760" cy="1840424"/>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7DA03C3C-B482-9FD2-F3DF-B7BFF6ACD0C8}"/>
              </a:ext>
            </a:extLst>
          </p:cNvPr>
          <p:cNvSpPr/>
          <p:nvPr/>
        </p:nvSpPr>
        <p:spPr>
          <a:xfrm>
            <a:off x="224422" y="1325563"/>
            <a:ext cx="11743155" cy="1840424"/>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en-US" b="1" dirty="0">
                <a:solidFill>
                  <a:schemeClr val="accent5">
                    <a:lumMod val="60000"/>
                    <a:lumOff val="40000"/>
                  </a:schemeClr>
                </a:solidFill>
                <a:latin typeface="Arial" panose="020B0604020202020204" pitchFamily="34" charset="0"/>
                <a:cs typeface="Arial" panose="020B0604020202020204" pitchFamily="34" charset="0"/>
              </a:rPr>
              <a:t>Building</a:t>
            </a:r>
            <a:r>
              <a:rPr lang="en-US" b="1" dirty="0">
                <a:solidFill>
                  <a:prstClr val="white"/>
                </a:solidFill>
                <a:latin typeface="Arial" panose="020B0604020202020204" pitchFamily="34" charset="0"/>
                <a:cs typeface="Arial" panose="020B0604020202020204" pitchFamily="34" charset="0"/>
              </a:rPr>
              <a:t>. New code is integrated into the existing code base, then tested and packaged for release and deployment. Activities that are often automated at this stage include merging code changes into a master copy; placing the updated code into a repository; and compiling, testing, and packaging code into an executable file. </a:t>
            </a:r>
            <a:r>
              <a:rPr lang="en-US" b="1" dirty="0">
                <a:solidFill>
                  <a:schemeClr val="accent5">
                    <a:lumMod val="60000"/>
                    <a:lumOff val="40000"/>
                  </a:schemeClr>
                </a:solidFill>
                <a:latin typeface="Arial" panose="020B0604020202020204" pitchFamily="34" charset="0"/>
                <a:cs typeface="Arial" panose="020B0604020202020204" pitchFamily="34" charset="0"/>
              </a:rPr>
              <a:t>In DevOps, the output of the build phase is often stored in a binary repository. Unlike a source code repository, a binary repository stores packaged outputs, such as libraries and executable files, to be reused in other phases of the development lifecycle.</a:t>
            </a:r>
          </a:p>
        </p:txBody>
      </p:sp>
      <p:sp>
        <p:nvSpPr>
          <p:cNvPr id="9" name="Rectangle 8">
            <a:extLst>
              <a:ext uri="{FF2B5EF4-FFF2-40B4-BE49-F238E27FC236}">
                <a16:creationId xmlns:a16="http://schemas.microsoft.com/office/drawing/2014/main" id="{EC08EB64-8C39-5324-BC50-B16B464A5781}"/>
              </a:ext>
            </a:extLst>
          </p:cNvPr>
          <p:cNvSpPr/>
          <p:nvPr/>
        </p:nvSpPr>
        <p:spPr>
          <a:xfrm>
            <a:off x="148223" y="3282182"/>
            <a:ext cx="111760" cy="1004683"/>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71F51AC3-2DFA-A10D-57E3-289DC6CFFC83}"/>
              </a:ext>
            </a:extLst>
          </p:cNvPr>
          <p:cNvSpPr/>
          <p:nvPr/>
        </p:nvSpPr>
        <p:spPr>
          <a:xfrm>
            <a:off x="224422" y="3282182"/>
            <a:ext cx="11743155" cy="1004683"/>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en-US" b="1" dirty="0">
                <a:solidFill>
                  <a:schemeClr val="accent5">
                    <a:lumMod val="60000"/>
                    <a:lumOff val="40000"/>
                  </a:schemeClr>
                </a:solidFill>
                <a:latin typeface="Arial" panose="020B0604020202020204" pitchFamily="34" charset="0"/>
                <a:cs typeface="Arial" panose="020B0604020202020204" pitchFamily="34" charset="0"/>
              </a:rPr>
              <a:t>Deploy</a:t>
            </a:r>
            <a:r>
              <a:rPr lang="en-US" b="1" dirty="0">
                <a:solidFill>
                  <a:prstClr val="white"/>
                </a:solidFill>
                <a:latin typeface="Arial" panose="020B0604020202020204" pitchFamily="34" charset="0"/>
                <a:cs typeface="Arial" panose="020B0604020202020204" pitchFamily="34" charset="0"/>
              </a:rPr>
              <a:t>. At this stage, the project moves to a production environment where users can access the updated application. Many organizations deploy first to a subset of end users to ensure that the application works properly. When stability is established, the application can be deployed to everyone.</a:t>
            </a:r>
            <a:endParaRPr lang="en-US" b="1" dirty="0">
              <a:solidFill>
                <a:schemeClr val="accent5">
                  <a:lumMod val="60000"/>
                  <a:lumOff val="40000"/>
                </a:schemeClr>
              </a:solidFill>
              <a:latin typeface="Arial" panose="020B0604020202020204" pitchFamily="34" charset="0"/>
              <a:cs typeface="Arial" panose="020B0604020202020204" pitchFamily="34" charset="0"/>
            </a:endParaRPr>
          </a:p>
        </p:txBody>
      </p:sp>
      <p:sp>
        <p:nvSpPr>
          <p:cNvPr id="11" name="Rectangle 10">
            <a:extLst>
              <a:ext uri="{FF2B5EF4-FFF2-40B4-BE49-F238E27FC236}">
                <a16:creationId xmlns:a16="http://schemas.microsoft.com/office/drawing/2014/main" id="{77D160EA-5DD6-8373-01A2-39055C7BD040}"/>
              </a:ext>
            </a:extLst>
          </p:cNvPr>
          <p:cNvSpPr/>
          <p:nvPr/>
        </p:nvSpPr>
        <p:spPr>
          <a:xfrm>
            <a:off x="148223" y="4403060"/>
            <a:ext cx="111760" cy="1129377"/>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ABE29D13-64AD-4634-A628-36EFBFBA5C4A}"/>
              </a:ext>
            </a:extLst>
          </p:cNvPr>
          <p:cNvSpPr/>
          <p:nvPr/>
        </p:nvSpPr>
        <p:spPr>
          <a:xfrm>
            <a:off x="224422" y="4403060"/>
            <a:ext cx="11743155" cy="1129377"/>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en-US" b="1" dirty="0">
                <a:solidFill>
                  <a:schemeClr val="accent5">
                    <a:lumMod val="60000"/>
                    <a:lumOff val="40000"/>
                  </a:schemeClr>
                </a:solidFill>
                <a:latin typeface="Arial" panose="020B0604020202020204" pitchFamily="34" charset="0"/>
                <a:cs typeface="Arial" panose="020B0604020202020204" pitchFamily="34" charset="0"/>
              </a:rPr>
              <a:t>Operate</a:t>
            </a:r>
            <a:r>
              <a:rPr lang="en-US" b="1" dirty="0">
                <a:solidFill>
                  <a:prstClr val="white"/>
                </a:solidFill>
                <a:latin typeface="Arial" panose="020B0604020202020204" pitchFamily="34" charset="0"/>
                <a:cs typeface="Arial" panose="020B0604020202020204" pitchFamily="34" charset="0"/>
              </a:rPr>
              <a:t>. In this stage, DevOps teams check that new features are running smoothly and are available to users with no interruptions in service. They use automated observability and management tools to continuously monitor and optimize operations to make sure that network, storage, platform, compute and security postures are all working properly.</a:t>
            </a:r>
            <a:endParaRPr lang="en-US" b="1" dirty="0">
              <a:solidFill>
                <a:schemeClr val="accent5">
                  <a:lumMod val="60000"/>
                  <a:lumOff val="40000"/>
                </a:schemeClr>
              </a:solidFill>
              <a:latin typeface="Arial" panose="020B0604020202020204" pitchFamily="34" charset="0"/>
              <a:cs typeface="Arial" panose="020B0604020202020204" pitchFamily="34" charset="0"/>
            </a:endParaRPr>
          </a:p>
        </p:txBody>
      </p:sp>
      <p:sp>
        <p:nvSpPr>
          <p:cNvPr id="13" name="Rectangle 12">
            <a:extLst>
              <a:ext uri="{FF2B5EF4-FFF2-40B4-BE49-F238E27FC236}">
                <a16:creationId xmlns:a16="http://schemas.microsoft.com/office/drawing/2014/main" id="{70ECA92A-45B4-D57E-E0A6-D85B3DB7E75E}"/>
              </a:ext>
            </a:extLst>
          </p:cNvPr>
          <p:cNvSpPr/>
          <p:nvPr/>
        </p:nvSpPr>
        <p:spPr>
          <a:xfrm>
            <a:off x="148223" y="5648632"/>
            <a:ext cx="111760" cy="1129377"/>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678AC774-FD6A-952C-C4F7-A5EAFB10FE4B}"/>
              </a:ext>
            </a:extLst>
          </p:cNvPr>
          <p:cNvSpPr/>
          <p:nvPr/>
        </p:nvSpPr>
        <p:spPr>
          <a:xfrm>
            <a:off x="224422" y="5648632"/>
            <a:ext cx="11743155" cy="1129377"/>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en-US" b="1" dirty="0">
                <a:solidFill>
                  <a:schemeClr val="accent5">
                    <a:lumMod val="60000"/>
                    <a:lumOff val="40000"/>
                  </a:schemeClr>
                </a:solidFill>
                <a:latin typeface="Arial" panose="020B0604020202020204" pitchFamily="34" charset="0"/>
                <a:cs typeface="Arial" panose="020B0604020202020204" pitchFamily="34" charset="0"/>
              </a:rPr>
              <a:t>Monitor</a:t>
            </a:r>
            <a:r>
              <a:rPr lang="en-US" b="1" dirty="0">
                <a:solidFill>
                  <a:prstClr val="white"/>
                </a:solidFill>
                <a:latin typeface="Arial" panose="020B0604020202020204" pitchFamily="34" charset="0"/>
                <a:cs typeface="Arial" panose="020B0604020202020204" pitchFamily="34" charset="0"/>
              </a:rPr>
              <a:t>. At this stage, teams collect and analyze feedback from users and lessons from previous workflows to inform improvements in processes and products moving forward. This continuous monitoring of features, functions, performance, and business value informs the planning for the next release of new features and enhancements.</a:t>
            </a:r>
            <a:endParaRPr lang="en-US" b="1" dirty="0">
              <a:solidFill>
                <a:schemeClr val="accent5">
                  <a:lumMod val="60000"/>
                  <a:lumOff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918432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E1075A8E-94E7-9002-A953-724D8A47234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9C1292A-209B-773B-CDBD-7824F1EA6944}"/>
              </a:ext>
            </a:extLst>
          </p:cNvPr>
          <p:cNvPicPr>
            <a:picLocks noChangeAspect="1"/>
          </p:cNvPicPr>
          <p:nvPr/>
        </p:nvPicPr>
        <p:blipFill>
          <a:blip r:embed="rId3"/>
          <a:stretch>
            <a:fillRect/>
          </a:stretch>
        </p:blipFill>
        <p:spPr>
          <a:xfrm>
            <a:off x="219815" y="241808"/>
            <a:ext cx="11752370" cy="6374385"/>
          </a:xfrm>
          <a:prstGeom prst="rect">
            <a:avLst/>
          </a:prstGeom>
        </p:spPr>
      </p:pic>
    </p:spTree>
    <p:extLst>
      <p:ext uri="{BB962C8B-B14F-4D97-AF65-F5344CB8AC3E}">
        <p14:creationId xmlns:p14="http://schemas.microsoft.com/office/powerpoint/2010/main" val="31558308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1D153233-1834-F533-57EA-B015C4CB1E64}"/>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DCDD0BC4-F2D6-B777-1A65-47EADC05F180}"/>
              </a:ext>
            </a:extLst>
          </p:cNvPr>
          <p:cNvPicPr>
            <a:picLocks noChangeAspect="1"/>
          </p:cNvPicPr>
          <p:nvPr/>
        </p:nvPicPr>
        <p:blipFill>
          <a:blip r:embed="rId3"/>
          <a:stretch>
            <a:fillRect/>
          </a:stretch>
        </p:blipFill>
        <p:spPr>
          <a:xfrm>
            <a:off x="88367" y="1466796"/>
            <a:ext cx="12015266" cy="3924408"/>
          </a:xfrm>
          <a:prstGeom prst="rect">
            <a:avLst/>
          </a:prstGeom>
        </p:spPr>
      </p:pic>
    </p:spTree>
    <p:extLst>
      <p:ext uri="{BB962C8B-B14F-4D97-AF65-F5344CB8AC3E}">
        <p14:creationId xmlns:p14="http://schemas.microsoft.com/office/powerpoint/2010/main" val="30602934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F4BCCAA3-668F-E6C6-2FA3-87F584FD854A}"/>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10087CF4-433B-16DB-5DA2-3E0014A1EE33}"/>
              </a:ext>
            </a:extLst>
          </p:cNvPr>
          <p:cNvSpPr>
            <a:spLocks noGrp="1"/>
          </p:cNvSpPr>
          <p:nvPr>
            <p:ph type="title"/>
          </p:nvPr>
        </p:nvSpPr>
        <p:spPr>
          <a:xfrm>
            <a:off x="0" y="0"/>
            <a:ext cx="10515600" cy="1325563"/>
          </a:xfrm>
        </p:spPr>
        <p:txBody>
          <a:bodyPr/>
          <a:lstStyle/>
          <a:p>
            <a:r>
              <a:rPr lang="en-US" sz="5400" b="1" dirty="0">
                <a:latin typeface="Times New Roman" panose="02020603050405020304" pitchFamily="18" charset="0"/>
                <a:cs typeface="Times New Roman" panose="02020603050405020304" pitchFamily="18" charset="0"/>
              </a:rPr>
              <a:t>CI/CD:</a:t>
            </a:r>
          </a:p>
        </p:txBody>
      </p:sp>
      <p:sp>
        <p:nvSpPr>
          <p:cNvPr id="9" name="Rectangle 8">
            <a:extLst>
              <a:ext uri="{FF2B5EF4-FFF2-40B4-BE49-F238E27FC236}">
                <a16:creationId xmlns:a16="http://schemas.microsoft.com/office/drawing/2014/main" id="{3EE7FCCF-2E01-B15C-6D3F-1A85A234D254}"/>
              </a:ext>
            </a:extLst>
          </p:cNvPr>
          <p:cNvSpPr/>
          <p:nvPr/>
        </p:nvSpPr>
        <p:spPr>
          <a:xfrm>
            <a:off x="148223" y="1268530"/>
            <a:ext cx="111760" cy="962977"/>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6B2B332D-28FE-3A4D-F4E7-9AD88FCF4DAD}"/>
              </a:ext>
            </a:extLst>
          </p:cNvPr>
          <p:cNvSpPr/>
          <p:nvPr/>
        </p:nvSpPr>
        <p:spPr>
          <a:xfrm>
            <a:off x="224422" y="1268530"/>
            <a:ext cx="11743155" cy="962977"/>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Software development is moving fast, and every engineering team says they are shipping 10x faster with the help of AI. With speed, it is important to maintain the quality of software and ensure no inconsistencies or bugs are slipping through. </a:t>
            </a:r>
          </a:p>
        </p:txBody>
      </p:sp>
      <p:sp>
        <p:nvSpPr>
          <p:cNvPr id="6" name="Rectangle 5">
            <a:extLst>
              <a:ext uri="{FF2B5EF4-FFF2-40B4-BE49-F238E27FC236}">
                <a16:creationId xmlns:a16="http://schemas.microsoft.com/office/drawing/2014/main" id="{26FE12BC-3FA6-8F1F-11A3-4EDF46A85075}"/>
              </a:ext>
            </a:extLst>
          </p:cNvPr>
          <p:cNvSpPr/>
          <p:nvPr/>
        </p:nvSpPr>
        <p:spPr>
          <a:xfrm>
            <a:off x="148223" y="2332475"/>
            <a:ext cx="111760" cy="962977"/>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55D6BAAD-E71A-AAC5-FF15-CA8477ACC218}"/>
              </a:ext>
            </a:extLst>
          </p:cNvPr>
          <p:cNvSpPr/>
          <p:nvPr/>
        </p:nvSpPr>
        <p:spPr>
          <a:xfrm>
            <a:off x="224422" y="2332475"/>
            <a:ext cx="11743155" cy="962977"/>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There are these bugs in production that happen because something wasn’t tested, merged incorrectly, or pushed a little too confidently on a Friday evening. It ended up allowing the software to be pushed out despite containing problematic content data.</a:t>
            </a:r>
          </a:p>
        </p:txBody>
      </p:sp>
      <p:sp>
        <p:nvSpPr>
          <p:cNvPr id="11" name="Rectangle 10">
            <a:extLst>
              <a:ext uri="{FF2B5EF4-FFF2-40B4-BE49-F238E27FC236}">
                <a16:creationId xmlns:a16="http://schemas.microsoft.com/office/drawing/2014/main" id="{DD257FD2-3834-E9E7-16A0-77F80881D75F}"/>
              </a:ext>
            </a:extLst>
          </p:cNvPr>
          <p:cNvSpPr/>
          <p:nvPr/>
        </p:nvSpPr>
        <p:spPr>
          <a:xfrm>
            <a:off x="148223" y="3429000"/>
            <a:ext cx="111760" cy="899382"/>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F64B8569-B33A-4ED9-397D-373CA8A5EEA5}"/>
              </a:ext>
            </a:extLst>
          </p:cNvPr>
          <p:cNvSpPr/>
          <p:nvPr/>
        </p:nvSpPr>
        <p:spPr>
          <a:xfrm>
            <a:off x="224422" y="3429000"/>
            <a:ext cx="11743155" cy="899382"/>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CI/CD stands for Continuous Integration and Continuous Delivery/Deployment. but at its core, it’s just about making sure code changes are merged, tested, and delivered in a way that doesn’t make developers (or users) panic.</a:t>
            </a:r>
          </a:p>
        </p:txBody>
      </p:sp>
      <p:sp>
        <p:nvSpPr>
          <p:cNvPr id="13" name="Rectangle 12">
            <a:extLst>
              <a:ext uri="{FF2B5EF4-FFF2-40B4-BE49-F238E27FC236}">
                <a16:creationId xmlns:a16="http://schemas.microsoft.com/office/drawing/2014/main" id="{46C1C94E-7845-25E0-7EEC-16A46BA1ECEE}"/>
              </a:ext>
            </a:extLst>
          </p:cNvPr>
          <p:cNvSpPr/>
          <p:nvPr/>
        </p:nvSpPr>
        <p:spPr>
          <a:xfrm>
            <a:off x="148223" y="4461930"/>
            <a:ext cx="111760" cy="1272948"/>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4011C1BF-F6A6-B0F3-0693-6866311AC77E}"/>
              </a:ext>
            </a:extLst>
          </p:cNvPr>
          <p:cNvSpPr/>
          <p:nvPr/>
        </p:nvSpPr>
        <p:spPr>
          <a:xfrm>
            <a:off x="224422" y="4461930"/>
            <a:ext cx="11743155" cy="1272948"/>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Continuous Integration (CI) is the habit of automatically checking and merging code changes into a shared repo.  So instead of everyone working in silos and hoping things don’t break when merged, every push triggers a set of actions: tests run, linters catch sloppy code, and issues are flagged early. </a:t>
            </a:r>
          </a:p>
        </p:txBody>
      </p:sp>
      <p:sp>
        <p:nvSpPr>
          <p:cNvPr id="15" name="Rectangle 14">
            <a:extLst>
              <a:ext uri="{FF2B5EF4-FFF2-40B4-BE49-F238E27FC236}">
                <a16:creationId xmlns:a16="http://schemas.microsoft.com/office/drawing/2014/main" id="{66D42669-B64E-9549-1AA8-BBA7E3D87671}"/>
              </a:ext>
            </a:extLst>
          </p:cNvPr>
          <p:cNvSpPr/>
          <p:nvPr/>
        </p:nvSpPr>
        <p:spPr>
          <a:xfrm>
            <a:off x="148223" y="5868426"/>
            <a:ext cx="111760" cy="899382"/>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BB0FF315-18F2-524B-C1F8-4BCEB314C1FC}"/>
              </a:ext>
            </a:extLst>
          </p:cNvPr>
          <p:cNvSpPr/>
          <p:nvPr/>
        </p:nvSpPr>
        <p:spPr>
          <a:xfrm>
            <a:off x="224422" y="5868426"/>
            <a:ext cx="11743155" cy="899382"/>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Continuous Delivery (CD) takes that validated code and gets it ready for release, automatically.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It doesn’t push it to production without human approval, but it makes sure that when you're ready to ship, everything is packaged, tested, and waiting. </a:t>
            </a:r>
          </a:p>
        </p:txBody>
      </p:sp>
    </p:spTree>
    <p:extLst>
      <p:ext uri="{BB962C8B-B14F-4D97-AF65-F5344CB8AC3E}">
        <p14:creationId xmlns:p14="http://schemas.microsoft.com/office/powerpoint/2010/main" val="42128261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5B402361-2AA5-E8A4-F536-15F253CEDF05}"/>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185C7BCD-A709-98CC-4A25-1339482BC9B3}"/>
              </a:ext>
            </a:extLst>
          </p:cNvPr>
          <p:cNvSpPr>
            <a:spLocks noGrp="1"/>
          </p:cNvSpPr>
          <p:nvPr>
            <p:ph type="title"/>
          </p:nvPr>
        </p:nvSpPr>
        <p:spPr>
          <a:xfrm>
            <a:off x="0" y="0"/>
            <a:ext cx="10515600" cy="1325563"/>
          </a:xfrm>
        </p:spPr>
        <p:txBody>
          <a:bodyPr/>
          <a:lstStyle/>
          <a:p>
            <a:r>
              <a:rPr lang="en-US" sz="5400" b="1" dirty="0">
                <a:latin typeface="Times New Roman" panose="02020603050405020304" pitchFamily="18" charset="0"/>
                <a:cs typeface="Times New Roman" panose="02020603050405020304" pitchFamily="18" charset="0"/>
              </a:rPr>
              <a:t>CI/CD Pipelines:</a:t>
            </a:r>
          </a:p>
        </p:txBody>
      </p:sp>
      <p:sp>
        <p:nvSpPr>
          <p:cNvPr id="9" name="Rectangle 8">
            <a:extLst>
              <a:ext uri="{FF2B5EF4-FFF2-40B4-BE49-F238E27FC236}">
                <a16:creationId xmlns:a16="http://schemas.microsoft.com/office/drawing/2014/main" id="{5B2DB8C2-CD4A-1B8D-D3BD-E50684A27C87}"/>
              </a:ext>
            </a:extLst>
          </p:cNvPr>
          <p:cNvSpPr/>
          <p:nvPr/>
        </p:nvSpPr>
        <p:spPr>
          <a:xfrm>
            <a:off x="148223" y="1268530"/>
            <a:ext cx="111760" cy="962977"/>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A8093AE4-B5AA-4325-AD18-B5FFB723E4B9}"/>
              </a:ext>
            </a:extLst>
          </p:cNvPr>
          <p:cNvSpPr/>
          <p:nvPr/>
        </p:nvSpPr>
        <p:spPr>
          <a:xfrm>
            <a:off x="224422" y="1268530"/>
            <a:ext cx="11743155" cy="962977"/>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The continuous integration/continuous delivery (CI/CD) pipeline is an automated DevOps workflow that streamlines the software delivery process.</a:t>
            </a:r>
          </a:p>
        </p:txBody>
      </p:sp>
      <p:sp>
        <p:nvSpPr>
          <p:cNvPr id="6" name="Rectangle 5">
            <a:extLst>
              <a:ext uri="{FF2B5EF4-FFF2-40B4-BE49-F238E27FC236}">
                <a16:creationId xmlns:a16="http://schemas.microsoft.com/office/drawing/2014/main" id="{938DD3C0-C2B6-879C-13CD-BFAEFEB6D64E}"/>
              </a:ext>
            </a:extLst>
          </p:cNvPr>
          <p:cNvSpPr/>
          <p:nvPr/>
        </p:nvSpPr>
        <p:spPr>
          <a:xfrm>
            <a:off x="148223" y="2332475"/>
            <a:ext cx="111760" cy="1345003"/>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E97FB166-0D98-60A2-AD83-6CA59D890E3E}"/>
              </a:ext>
            </a:extLst>
          </p:cNvPr>
          <p:cNvSpPr/>
          <p:nvPr/>
        </p:nvSpPr>
        <p:spPr>
          <a:xfrm>
            <a:off x="224422" y="2332475"/>
            <a:ext cx="11743155" cy="1345003"/>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A vital characteristic of the CI/CD pipeline is the use of automation to help ensure code quality. As the software changes progress through the pipeline, automated tests identify dependencies and other issues earlier, push code changes to different environments and deliver applications to production environments.</a:t>
            </a:r>
          </a:p>
        </p:txBody>
      </p:sp>
      <p:graphicFrame>
        <p:nvGraphicFramePr>
          <p:cNvPr id="2" name="Diagram 1">
            <a:extLst>
              <a:ext uri="{FF2B5EF4-FFF2-40B4-BE49-F238E27FC236}">
                <a16:creationId xmlns:a16="http://schemas.microsoft.com/office/drawing/2014/main" id="{44C129B6-43D5-2A93-92DA-E64F517DA448}"/>
              </a:ext>
            </a:extLst>
          </p:cNvPr>
          <p:cNvGraphicFramePr/>
          <p:nvPr>
            <p:extLst>
              <p:ext uri="{D42A27DB-BD31-4B8C-83A1-F6EECF244321}">
                <p14:modId xmlns:p14="http://schemas.microsoft.com/office/powerpoint/2010/main" val="4042008598"/>
              </p:ext>
            </p:extLst>
          </p:nvPr>
        </p:nvGraphicFramePr>
        <p:xfrm>
          <a:off x="1932609" y="3778446"/>
          <a:ext cx="7430052" cy="307955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857551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6D620E70-8AF1-8CB2-108D-67D89A70DAE8}"/>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17DED7BD-A77E-EA9A-BC58-2266E6F1A96D}"/>
              </a:ext>
            </a:extLst>
          </p:cNvPr>
          <p:cNvSpPr>
            <a:spLocks noGrp="1"/>
          </p:cNvSpPr>
          <p:nvPr>
            <p:ph type="title"/>
          </p:nvPr>
        </p:nvSpPr>
        <p:spPr>
          <a:xfrm>
            <a:off x="0" y="0"/>
            <a:ext cx="10515600" cy="1325563"/>
          </a:xfrm>
        </p:spPr>
        <p:txBody>
          <a:bodyPr/>
          <a:lstStyle/>
          <a:p>
            <a:r>
              <a:rPr lang="en-US" sz="5400" b="1" dirty="0">
                <a:latin typeface="Times New Roman" panose="02020603050405020304" pitchFamily="18" charset="0"/>
                <a:cs typeface="Times New Roman" panose="02020603050405020304" pitchFamily="18" charset="0"/>
              </a:rPr>
              <a:t>Building Our CI/CD pipeline:</a:t>
            </a:r>
          </a:p>
        </p:txBody>
      </p:sp>
      <p:pic>
        <p:nvPicPr>
          <p:cNvPr id="20" name="Picture 19">
            <a:extLst>
              <a:ext uri="{FF2B5EF4-FFF2-40B4-BE49-F238E27FC236}">
                <a16:creationId xmlns:a16="http://schemas.microsoft.com/office/drawing/2014/main" id="{29BAD587-B0C5-7533-6A99-574D7007B114}"/>
              </a:ext>
            </a:extLst>
          </p:cNvPr>
          <p:cNvPicPr>
            <a:picLocks noChangeAspect="1"/>
          </p:cNvPicPr>
          <p:nvPr/>
        </p:nvPicPr>
        <p:blipFill>
          <a:blip r:embed="rId3"/>
          <a:srcRect l="4253" t="24064"/>
          <a:stretch>
            <a:fillRect/>
          </a:stretch>
        </p:blipFill>
        <p:spPr>
          <a:xfrm>
            <a:off x="151969" y="1244075"/>
            <a:ext cx="10068339" cy="1325563"/>
          </a:xfrm>
          <a:prstGeom prst="rect">
            <a:avLst/>
          </a:prstGeom>
        </p:spPr>
      </p:pic>
      <p:cxnSp>
        <p:nvCxnSpPr>
          <p:cNvPr id="22" name="Straight Arrow Connector 21">
            <a:extLst>
              <a:ext uri="{FF2B5EF4-FFF2-40B4-BE49-F238E27FC236}">
                <a16:creationId xmlns:a16="http://schemas.microsoft.com/office/drawing/2014/main" id="{BAC57E76-689E-E971-424B-C41310F17613}"/>
              </a:ext>
            </a:extLst>
          </p:cNvPr>
          <p:cNvCxnSpPr>
            <a:cxnSpLocks/>
          </p:cNvCxnSpPr>
          <p:nvPr/>
        </p:nvCxnSpPr>
        <p:spPr>
          <a:xfrm>
            <a:off x="1480500" y="2445026"/>
            <a:ext cx="0" cy="1317305"/>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sp>
        <p:nvSpPr>
          <p:cNvPr id="23" name="Rectangle 22">
            <a:extLst>
              <a:ext uri="{FF2B5EF4-FFF2-40B4-BE49-F238E27FC236}">
                <a16:creationId xmlns:a16="http://schemas.microsoft.com/office/drawing/2014/main" id="{64326F1A-F417-4677-9554-28183DFD681A}"/>
              </a:ext>
            </a:extLst>
          </p:cNvPr>
          <p:cNvSpPr/>
          <p:nvPr/>
        </p:nvSpPr>
        <p:spPr>
          <a:xfrm>
            <a:off x="72456" y="3915076"/>
            <a:ext cx="4605994" cy="2146852"/>
          </a:xfrm>
          <a:prstGeom prst="rect">
            <a:avLst/>
          </a:prstGeom>
          <a:solidFill>
            <a:schemeClr val="accent6">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Every DevOps workflow starts with source control. Git lets your whole team work on the same codebase without stepping on each other — and it gives you a full history so you can always roll back.</a:t>
            </a:r>
          </a:p>
        </p:txBody>
      </p:sp>
      <p:pic>
        <p:nvPicPr>
          <p:cNvPr id="25" name="Picture 24">
            <a:extLst>
              <a:ext uri="{FF2B5EF4-FFF2-40B4-BE49-F238E27FC236}">
                <a16:creationId xmlns:a16="http://schemas.microsoft.com/office/drawing/2014/main" id="{93DC2B88-8C65-F4BB-0DBE-B0F2C9C10C43}"/>
              </a:ext>
            </a:extLst>
          </p:cNvPr>
          <p:cNvPicPr>
            <a:picLocks noChangeAspect="1"/>
          </p:cNvPicPr>
          <p:nvPr/>
        </p:nvPicPr>
        <p:blipFill>
          <a:blip r:embed="rId4"/>
          <a:stretch>
            <a:fillRect/>
          </a:stretch>
        </p:blipFill>
        <p:spPr>
          <a:xfrm>
            <a:off x="4790664" y="2951922"/>
            <a:ext cx="7156170" cy="3588026"/>
          </a:xfrm>
          <a:prstGeom prst="rect">
            <a:avLst/>
          </a:prstGeom>
        </p:spPr>
      </p:pic>
    </p:spTree>
    <p:extLst>
      <p:ext uri="{BB962C8B-B14F-4D97-AF65-F5344CB8AC3E}">
        <p14:creationId xmlns:p14="http://schemas.microsoft.com/office/powerpoint/2010/main" val="18591785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C9EE70FC-F9C0-890E-5248-403874350BF7}"/>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B215E641-8608-200E-676A-86E413FF1B3C}"/>
              </a:ext>
            </a:extLst>
          </p:cNvPr>
          <p:cNvSpPr>
            <a:spLocks noGrp="1"/>
          </p:cNvSpPr>
          <p:nvPr>
            <p:ph type="title"/>
          </p:nvPr>
        </p:nvSpPr>
        <p:spPr>
          <a:xfrm>
            <a:off x="0" y="0"/>
            <a:ext cx="10515600" cy="1325563"/>
          </a:xfrm>
        </p:spPr>
        <p:txBody>
          <a:bodyPr/>
          <a:lstStyle/>
          <a:p>
            <a:r>
              <a:rPr lang="en-US" sz="5400" b="1" dirty="0">
                <a:latin typeface="Times New Roman" panose="02020603050405020304" pitchFamily="18" charset="0"/>
                <a:cs typeface="Times New Roman" panose="02020603050405020304" pitchFamily="18" charset="0"/>
              </a:rPr>
              <a:t>Building Our CI/CD pipeline:</a:t>
            </a:r>
          </a:p>
        </p:txBody>
      </p:sp>
      <p:pic>
        <p:nvPicPr>
          <p:cNvPr id="20" name="Picture 19">
            <a:extLst>
              <a:ext uri="{FF2B5EF4-FFF2-40B4-BE49-F238E27FC236}">
                <a16:creationId xmlns:a16="http://schemas.microsoft.com/office/drawing/2014/main" id="{8B67B8C6-575F-E041-E479-E71D13CD730C}"/>
              </a:ext>
            </a:extLst>
          </p:cNvPr>
          <p:cNvPicPr>
            <a:picLocks noChangeAspect="1"/>
          </p:cNvPicPr>
          <p:nvPr/>
        </p:nvPicPr>
        <p:blipFill>
          <a:blip r:embed="rId3"/>
          <a:srcRect l="4253" t="24064"/>
          <a:stretch>
            <a:fillRect/>
          </a:stretch>
        </p:blipFill>
        <p:spPr>
          <a:xfrm>
            <a:off x="151969" y="1244075"/>
            <a:ext cx="10068339" cy="1325563"/>
          </a:xfrm>
          <a:prstGeom prst="rect">
            <a:avLst/>
          </a:prstGeom>
        </p:spPr>
      </p:pic>
      <p:cxnSp>
        <p:nvCxnSpPr>
          <p:cNvPr id="22" name="Straight Arrow Connector 21">
            <a:extLst>
              <a:ext uri="{FF2B5EF4-FFF2-40B4-BE49-F238E27FC236}">
                <a16:creationId xmlns:a16="http://schemas.microsoft.com/office/drawing/2014/main" id="{119D94D8-F4DB-7EE0-112B-82A8B46A66F4}"/>
              </a:ext>
            </a:extLst>
          </p:cNvPr>
          <p:cNvCxnSpPr>
            <a:cxnSpLocks/>
          </p:cNvCxnSpPr>
          <p:nvPr/>
        </p:nvCxnSpPr>
        <p:spPr>
          <a:xfrm>
            <a:off x="1480500" y="2445026"/>
            <a:ext cx="0" cy="1317305"/>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sp>
        <p:nvSpPr>
          <p:cNvPr id="23" name="Rectangle 22">
            <a:extLst>
              <a:ext uri="{FF2B5EF4-FFF2-40B4-BE49-F238E27FC236}">
                <a16:creationId xmlns:a16="http://schemas.microsoft.com/office/drawing/2014/main" id="{324FE722-AA54-87EB-90F0-A815CB18B99B}"/>
              </a:ext>
            </a:extLst>
          </p:cNvPr>
          <p:cNvSpPr/>
          <p:nvPr/>
        </p:nvSpPr>
        <p:spPr>
          <a:xfrm>
            <a:off x="72456" y="3915076"/>
            <a:ext cx="4605994" cy="2146852"/>
          </a:xfrm>
          <a:prstGeom prst="rect">
            <a:avLst/>
          </a:prstGeom>
          <a:solidFill>
            <a:schemeClr val="accent6">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Every DevOps workflow starts with source control. Git lets your whole team work on the same codebase without stepping on each other — and it gives you a full history so you can always roll back.</a:t>
            </a:r>
          </a:p>
        </p:txBody>
      </p:sp>
      <p:pic>
        <p:nvPicPr>
          <p:cNvPr id="3" name="Picture 2">
            <a:extLst>
              <a:ext uri="{FF2B5EF4-FFF2-40B4-BE49-F238E27FC236}">
                <a16:creationId xmlns:a16="http://schemas.microsoft.com/office/drawing/2014/main" id="{A4927606-4FDD-613D-5BC2-E4747BEB6991}"/>
              </a:ext>
            </a:extLst>
          </p:cNvPr>
          <p:cNvPicPr>
            <a:picLocks noChangeAspect="1"/>
          </p:cNvPicPr>
          <p:nvPr/>
        </p:nvPicPr>
        <p:blipFill>
          <a:blip r:embed="rId4"/>
          <a:stretch>
            <a:fillRect/>
          </a:stretch>
        </p:blipFill>
        <p:spPr>
          <a:xfrm>
            <a:off x="5056969" y="2569638"/>
            <a:ext cx="6983061" cy="4303641"/>
          </a:xfrm>
          <a:prstGeom prst="rect">
            <a:avLst/>
          </a:prstGeom>
        </p:spPr>
      </p:pic>
    </p:spTree>
    <p:extLst>
      <p:ext uri="{BB962C8B-B14F-4D97-AF65-F5344CB8AC3E}">
        <p14:creationId xmlns:p14="http://schemas.microsoft.com/office/powerpoint/2010/main" val="19670690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005C8E5B-512D-2AD3-AAFB-11D912F6B344}"/>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62F1F6D1-3B0A-88C3-3DC6-0E87ED61A1C0}"/>
              </a:ext>
            </a:extLst>
          </p:cNvPr>
          <p:cNvSpPr>
            <a:spLocks noGrp="1"/>
          </p:cNvSpPr>
          <p:nvPr>
            <p:ph type="title"/>
          </p:nvPr>
        </p:nvSpPr>
        <p:spPr>
          <a:xfrm>
            <a:off x="0" y="0"/>
            <a:ext cx="10515600" cy="1325563"/>
          </a:xfrm>
        </p:spPr>
        <p:txBody>
          <a:bodyPr/>
          <a:lstStyle/>
          <a:p>
            <a:r>
              <a:rPr lang="en-US" sz="5400" b="1" dirty="0">
                <a:latin typeface="Times New Roman" panose="02020603050405020304" pitchFamily="18" charset="0"/>
                <a:cs typeface="Times New Roman" panose="02020603050405020304" pitchFamily="18" charset="0"/>
              </a:rPr>
              <a:t>Building Our CI/CD pipeline:</a:t>
            </a:r>
          </a:p>
        </p:txBody>
      </p:sp>
      <p:pic>
        <p:nvPicPr>
          <p:cNvPr id="20" name="Picture 19">
            <a:extLst>
              <a:ext uri="{FF2B5EF4-FFF2-40B4-BE49-F238E27FC236}">
                <a16:creationId xmlns:a16="http://schemas.microsoft.com/office/drawing/2014/main" id="{150971C2-5BB1-A1F2-16D5-2A3D0B500B3B}"/>
              </a:ext>
            </a:extLst>
          </p:cNvPr>
          <p:cNvPicPr>
            <a:picLocks noChangeAspect="1"/>
          </p:cNvPicPr>
          <p:nvPr/>
        </p:nvPicPr>
        <p:blipFill>
          <a:blip r:embed="rId3"/>
          <a:srcRect l="4253" t="24064"/>
          <a:stretch>
            <a:fillRect/>
          </a:stretch>
        </p:blipFill>
        <p:spPr>
          <a:xfrm>
            <a:off x="151969" y="1244075"/>
            <a:ext cx="10068339" cy="1325563"/>
          </a:xfrm>
          <a:prstGeom prst="rect">
            <a:avLst/>
          </a:prstGeom>
        </p:spPr>
      </p:pic>
      <p:cxnSp>
        <p:nvCxnSpPr>
          <p:cNvPr id="22" name="Straight Arrow Connector 21">
            <a:extLst>
              <a:ext uri="{FF2B5EF4-FFF2-40B4-BE49-F238E27FC236}">
                <a16:creationId xmlns:a16="http://schemas.microsoft.com/office/drawing/2014/main" id="{4F415290-F768-3AD1-8050-014A809A5D3E}"/>
              </a:ext>
            </a:extLst>
          </p:cNvPr>
          <p:cNvCxnSpPr>
            <a:cxnSpLocks/>
            <a:endCxn id="23" idx="0"/>
          </p:cNvCxnSpPr>
          <p:nvPr/>
        </p:nvCxnSpPr>
        <p:spPr>
          <a:xfrm flipH="1">
            <a:off x="2454966" y="2425147"/>
            <a:ext cx="2553925" cy="1766251"/>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sp>
        <p:nvSpPr>
          <p:cNvPr id="23" name="Rectangle 22">
            <a:extLst>
              <a:ext uri="{FF2B5EF4-FFF2-40B4-BE49-F238E27FC236}">
                <a16:creationId xmlns:a16="http://schemas.microsoft.com/office/drawing/2014/main" id="{CB7E45F3-8010-5A2D-AEDA-E29D536CCEB8}"/>
              </a:ext>
            </a:extLst>
          </p:cNvPr>
          <p:cNvSpPr/>
          <p:nvPr/>
        </p:nvSpPr>
        <p:spPr>
          <a:xfrm>
            <a:off x="151969" y="4191398"/>
            <a:ext cx="4605994" cy="2507575"/>
          </a:xfrm>
          <a:prstGeom prst="rect">
            <a:avLst/>
          </a:prstGeom>
          <a:solidFill>
            <a:schemeClr val="accent5">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Docker wraps your app and all its dependencies — runtime, libraries, OS packages — into a single portable unit called an image. When you run an image, you get a container: an isolated process with its own filesystem, networking, and process space.</a:t>
            </a:r>
          </a:p>
        </p:txBody>
      </p:sp>
      <p:pic>
        <p:nvPicPr>
          <p:cNvPr id="6" name="Picture 5">
            <a:extLst>
              <a:ext uri="{FF2B5EF4-FFF2-40B4-BE49-F238E27FC236}">
                <a16:creationId xmlns:a16="http://schemas.microsoft.com/office/drawing/2014/main" id="{C74BBE80-E151-D542-C093-76051FB85997}"/>
              </a:ext>
            </a:extLst>
          </p:cNvPr>
          <p:cNvPicPr>
            <a:picLocks noChangeAspect="1"/>
          </p:cNvPicPr>
          <p:nvPr/>
        </p:nvPicPr>
        <p:blipFill>
          <a:blip r:embed="rId4"/>
          <a:stretch>
            <a:fillRect/>
          </a:stretch>
        </p:blipFill>
        <p:spPr>
          <a:xfrm>
            <a:off x="5188226" y="2683566"/>
            <a:ext cx="6773127" cy="4015407"/>
          </a:xfrm>
          <a:prstGeom prst="rect">
            <a:avLst/>
          </a:prstGeom>
        </p:spPr>
      </p:pic>
    </p:spTree>
    <p:extLst>
      <p:ext uri="{BB962C8B-B14F-4D97-AF65-F5344CB8AC3E}">
        <p14:creationId xmlns:p14="http://schemas.microsoft.com/office/powerpoint/2010/main" val="12475622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EB5D0510-93EE-4D00-5CBA-D9ED17790F78}"/>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88101472-5C17-F43E-0EDF-050A340524DE}"/>
              </a:ext>
            </a:extLst>
          </p:cNvPr>
          <p:cNvSpPr>
            <a:spLocks noGrp="1"/>
          </p:cNvSpPr>
          <p:nvPr>
            <p:ph type="title"/>
          </p:nvPr>
        </p:nvSpPr>
        <p:spPr>
          <a:xfrm>
            <a:off x="0" y="0"/>
            <a:ext cx="10515600" cy="1325563"/>
          </a:xfrm>
        </p:spPr>
        <p:txBody>
          <a:bodyPr/>
          <a:lstStyle/>
          <a:p>
            <a:r>
              <a:rPr lang="en-US" sz="5400" b="1" dirty="0">
                <a:latin typeface="Times New Roman" panose="02020603050405020304" pitchFamily="18" charset="0"/>
                <a:cs typeface="Times New Roman" panose="02020603050405020304" pitchFamily="18" charset="0"/>
              </a:rPr>
              <a:t>Building Our CI/CD pipeline:</a:t>
            </a:r>
          </a:p>
        </p:txBody>
      </p:sp>
      <p:pic>
        <p:nvPicPr>
          <p:cNvPr id="20" name="Picture 19">
            <a:extLst>
              <a:ext uri="{FF2B5EF4-FFF2-40B4-BE49-F238E27FC236}">
                <a16:creationId xmlns:a16="http://schemas.microsoft.com/office/drawing/2014/main" id="{51DEA2C9-5AFC-D1A4-51AA-7E6A4B1A389A}"/>
              </a:ext>
            </a:extLst>
          </p:cNvPr>
          <p:cNvPicPr>
            <a:picLocks noChangeAspect="1"/>
          </p:cNvPicPr>
          <p:nvPr/>
        </p:nvPicPr>
        <p:blipFill>
          <a:blip r:embed="rId3"/>
          <a:srcRect l="4253" t="24064"/>
          <a:stretch>
            <a:fillRect/>
          </a:stretch>
        </p:blipFill>
        <p:spPr>
          <a:xfrm>
            <a:off x="151969" y="1244075"/>
            <a:ext cx="10068339" cy="1325563"/>
          </a:xfrm>
          <a:prstGeom prst="rect">
            <a:avLst/>
          </a:prstGeom>
        </p:spPr>
      </p:pic>
      <p:cxnSp>
        <p:nvCxnSpPr>
          <p:cNvPr id="22" name="Straight Arrow Connector 21">
            <a:extLst>
              <a:ext uri="{FF2B5EF4-FFF2-40B4-BE49-F238E27FC236}">
                <a16:creationId xmlns:a16="http://schemas.microsoft.com/office/drawing/2014/main" id="{91D1C553-0FD3-3588-CF27-17D1FD003DD9}"/>
              </a:ext>
            </a:extLst>
          </p:cNvPr>
          <p:cNvCxnSpPr>
            <a:cxnSpLocks/>
            <a:endCxn id="23" idx="0"/>
          </p:cNvCxnSpPr>
          <p:nvPr/>
        </p:nvCxnSpPr>
        <p:spPr>
          <a:xfrm flipH="1">
            <a:off x="2454966" y="2425147"/>
            <a:ext cx="2553925" cy="1766251"/>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sp>
        <p:nvSpPr>
          <p:cNvPr id="23" name="Rectangle 22">
            <a:extLst>
              <a:ext uri="{FF2B5EF4-FFF2-40B4-BE49-F238E27FC236}">
                <a16:creationId xmlns:a16="http://schemas.microsoft.com/office/drawing/2014/main" id="{D8869D40-C9C8-77B1-B468-50D1BF118AC7}"/>
              </a:ext>
            </a:extLst>
          </p:cNvPr>
          <p:cNvSpPr/>
          <p:nvPr/>
        </p:nvSpPr>
        <p:spPr>
          <a:xfrm>
            <a:off x="151969" y="4191398"/>
            <a:ext cx="4605994" cy="2507575"/>
          </a:xfrm>
          <a:prstGeom prst="rect">
            <a:avLst/>
          </a:prstGeom>
          <a:solidFill>
            <a:schemeClr val="accent5">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Docker wraps your app and all its dependencies — runtime, libraries, OS packages — into a single portable unit called an image. When you run an image, you get a container: an isolated process with its own filesystem, networking, and process space.</a:t>
            </a:r>
          </a:p>
        </p:txBody>
      </p:sp>
      <p:pic>
        <p:nvPicPr>
          <p:cNvPr id="3" name="Picture 2">
            <a:extLst>
              <a:ext uri="{FF2B5EF4-FFF2-40B4-BE49-F238E27FC236}">
                <a16:creationId xmlns:a16="http://schemas.microsoft.com/office/drawing/2014/main" id="{7CED2089-F27A-29BB-9053-280C6A6BD4E6}"/>
              </a:ext>
            </a:extLst>
          </p:cNvPr>
          <p:cNvPicPr>
            <a:picLocks noChangeAspect="1"/>
          </p:cNvPicPr>
          <p:nvPr/>
        </p:nvPicPr>
        <p:blipFill>
          <a:blip r:embed="rId4"/>
          <a:stretch>
            <a:fillRect/>
          </a:stretch>
        </p:blipFill>
        <p:spPr>
          <a:xfrm>
            <a:off x="5138530" y="2599455"/>
            <a:ext cx="6901501" cy="4195439"/>
          </a:xfrm>
          <a:prstGeom prst="rect">
            <a:avLst/>
          </a:prstGeom>
        </p:spPr>
      </p:pic>
    </p:spTree>
    <p:extLst>
      <p:ext uri="{BB962C8B-B14F-4D97-AF65-F5344CB8AC3E}">
        <p14:creationId xmlns:p14="http://schemas.microsoft.com/office/powerpoint/2010/main" val="20984913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20B31052-7D8F-9A1D-0AC9-E682DAE21533}"/>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BF80198B-0BC7-6EA0-3473-FB693B548B12}"/>
              </a:ext>
            </a:extLst>
          </p:cNvPr>
          <p:cNvSpPr>
            <a:spLocks noGrp="1"/>
          </p:cNvSpPr>
          <p:nvPr>
            <p:ph type="title"/>
          </p:nvPr>
        </p:nvSpPr>
        <p:spPr>
          <a:xfrm>
            <a:off x="0" y="0"/>
            <a:ext cx="10515600" cy="1325563"/>
          </a:xfrm>
        </p:spPr>
        <p:txBody>
          <a:bodyPr/>
          <a:lstStyle/>
          <a:p>
            <a:r>
              <a:rPr lang="en-US" sz="5400" b="1" dirty="0">
                <a:latin typeface="Times New Roman" panose="02020603050405020304" pitchFamily="18" charset="0"/>
                <a:cs typeface="Times New Roman" panose="02020603050405020304" pitchFamily="18" charset="0"/>
              </a:rPr>
              <a:t>Building Our CI/CD pipeline:</a:t>
            </a:r>
          </a:p>
        </p:txBody>
      </p:sp>
      <p:pic>
        <p:nvPicPr>
          <p:cNvPr id="20" name="Picture 19">
            <a:extLst>
              <a:ext uri="{FF2B5EF4-FFF2-40B4-BE49-F238E27FC236}">
                <a16:creationId xmlns:a16="http://schemas.microsoft.com/office/drawing/2014/main" id="{CD53CE49-4545-1B55-4CA4-A67226799F6F}"/>
              </a:ext>
            </a:extLst>
          </p:cNvPr>
          <p:cNvPicPr>
            <a:picLocks noChangeAspect="1"/>
          </p:cNvPicPr>
          <p:nvPr/>
        </p:nvPicPr>
        <p:blipFill>
          <a:blip r:embed="rId3"/>
          <a:srcRect l="4253" t="24064"/>
          <a:stretch>
            <a:fillRect/>
          </a:stretch>
        </p:blipFill>
        <p:spPr>
          <a:xfrm>
            <a:off x="151969" y="1244075"/>
            <a:ext cx="10068339" cy="1325563"/>
          </a:xfrm>
          <a:prstGeom prst="rect">
            <a:avLst/>
          </a:prstGeom>
        </p:spPr>
      </p:pic>
      <p:cxnSp>
        <p:nvCxnSpPr>
          <p:cNvPr id="22" name="Straight Arrow Connector 21">
            <a:extLst>
              <a:ext uri="{FF2B5EF4-FFF2-40B4-BE49-F238E27FC236}">
                <a16:creationId xmlns:a16="http://schemas.microsoft.com/office/drawing/2014/main" id="{8415ACF8-1014-73B4-8834-15885D09DF4D}"/>
              </a:ext>
            </a:extLst>
          </p:cNvPr>
          <p:cNvCxnSpPr>
            <a:cxnSpLocks/>
            <a:endCxn id="23" idx="0"/>
          </p:cNvCxnSpPr>
          <p:nvPr/>
        </p:nvCxnSpPr>
        <p:spPr>
          <a:xfrm flipH="1">
            <a:off x="2454966" y="2425147"/>
            <a:ext cx="2553925" cy="1766251"/>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sp>
        <p:nvSpPr>
          <p:cNvPr id="23" name="Rectangle 22">
            <a:extLst>
              <a:ext uri="{FF2B5EF4-FFF2-40B4-BE49-F238E27FC236}">
                <a16:creationId xmlns:a16="http://schemas.microsoft.com/office/drawing/2014/main" id="{B13D61CE-2481-6CF9-0521-7406F0E42185}"/>
              </a:ext>
            </a:extLst>
          </p:cNvPr>
          <p:cNvSpPr/>
          <p:nvPr/>
        </p:nvSpPr>
        <p:spPr>
          <a:xfrm>
            <a:off x="151969" y="4191398"/>
            <a:ext cx="4605994" cy="2507575"/>
          </a:xfrm>
          <a:prstGeom prst="rect">
            <a:avLst/>
          </a:prstGeom>
          <a:solidFill>
            <a:schemeClr val="accent5">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Docker wraps your app and all its dependencies — runtime, libraries, OS packages — into a single portable unit called an image. When you run an image, you get a container: an isolated process with its own filesystem, networking, and process space.</a:t>
            </a:r>
          </a:p>
        </p:txBody>
      </p:sp>
      <p:pic>
        <p:nvPicPr>
          <p:cNvPr id="4" name="Picture 3">
            <a:extLst>
              <a:ext uri="{FF2B5EF4-FFF2-40B4-BE49-F238E27FC236}">
                <a16:creationId xmlns:a16="http://schemas.microsoft.com/office/drawing/2014/main" id="{0C192AC4-824D-F9BA-CF36-28A8E80DF47F}"/>
              </a:ext>
            </a:extLst>
          </p:cNvPr>
          <p:cNvPicPr>
            <a:picLocks noChangeAspect="1"/>
          </p:cNvPicPr>
          <p:nvPr/>
        </p:nvPicPr>
        <p:blipFill>
          <a:blip r:embed="rId4"/>
          <a:stretch>
            <a:fillRect/>
          </a:stretch>
        </p:blipFill>
        <p:spPr>
          <a:xfrm>
            <a:off x="5008891" y="2592766"/>
            <a:ext cx="7031139" cy="4175782"/>
          </a:xfrm>
          <a:prstGeom prst="rect">
            <a:avLst/>
          </a:prstGeom>
        </p:spPr>
      </p:pic>
    </p:spTree>
    <p:extLst>
      <p:ext uri="{BB962C8B-B14F-4D97-AF65-F5344CB8AC3E}">
        <p14:creationId xmlns:p14="http://schemas.microsoft.com/office/powerpoint/2010/main" val="25819583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A4F8E00B-18AD-BC98-80E2-29FA5230763F}"/>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BA5C7F6C-3B45-EDC0-DBE8-2F47D374E572}"/>
              </a:ext>
            </a:extLst>
          </p:cNvPr>
          <p:cNvSpPr>
            <a:spLocks noGrp="1"/>
          </p:cNvSpPr>
          <p:nvPr>
            <p:ph type="title"/>
          </p:nvPr>
        </p:nvSpPr>
        <p:spPr>
          <a:xfrm>
            <a:off x="0" y="0"/>
            <a:ext cx="10515600" cy="1325563"/>
          </a:xfrm>
        </p:spPr>
        <p:txBody>
          <a:bodyPr/>
          <a:lstStyle/>
          <a:p>
            <a:r>
              <a:rPr lang="en-US" sz="5400" b="1" dirty="0">
                <a:latin typeface="Times New Roman" panose="02020603050405020304" pitchFamily="18" charset="0"/>
                <a:cs typeface="Times New Roman" panose="02020603050405020304" pitchFamily="18" charset="0"/>
              </a:rPr>
              <a:t>Building Our CI/CD pipeline:</a:t>
            </a:r>
          </a:p>
        </p:txBody>
      </p:sp>
      <p:pic>
        <p:nvPicPr>
          <p:cNvPr id="20" name="Picture 19">
            <a:extLst>
              <a:ext uri="{FF2B5EF4-FFF2-40B4-BE49-F238E27FC236}">
                <a16:creationId xmlns:a16="http://schemas.microsoft.com/office/drawing/2014/main" id="{325C4167-8AD9-F7EA-DE89-FDA51E045475}"/>
              </a:ext>
            </a:extLst>
          </p:cNvPr>
          <p:cNvPicPr>
            <a:picLocks noChangeAspect="1"/>
          </p:cNvPicPr>
          <p:nvPr/>
        </p:nvPicPr>
        <p:blipFill>
          <a:blip r:embed="rId3"/>
          <a:srcRect l="4253" t="24064"/>
          <a:stretch>
            <a:fillRect/>
          </a:stretch>
        </p:blipFill>
        <p:spPr>
          <a:xfrm>
            <a:off x="1990708" y="1147970"/>
            <a:ext cx="10068339" cy="1325563"/>
          </a:xfrm>
          <a:prstGeom prst="rect">
            <a:avLst/>
          </a:prstGeom>
        </p:spPr>
      </p:pic>
      <p:cxnSp>
        <p:nvCxnSpPr>
          <p:cNvPr id="22" name="Straight Arrow Connector 21">
            <a:extLst>
              <a:ext uri="{FF2B5EF4-FFF2-40B4-BE49-F238E27FC236}">
                <a16:creationId xmlns:a16="http://schemas.microsoft.com/office/drawing/2014/main" id="{6ACD3FA5-9E6D-7850-3052-1D7A15612FAD}"/>
              </a:ext>
            </a:extLst>
          </p:cNvPr>
          <p:cNvCxnSpPr>
            <a:cxnSpLocks/>
          </p:cNvCxnSpPr>
          <p:nvPr/>
        </p:nvCxnSpPr>
        <p:spPr>
          <a:xfrm>
            <a:off x="10495723" y="2355574"/>
            <a:ext cx="19877" cy="1265929"/>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sp>
        <p:nvSpPr>
          <p:cNvPr id="23" name="Rectangle 22">
            <a:extLst>
              <a:ext uri="{FF2B5EF4-FFF2-40B4-BE49-F238E27FC236}">
                <a16:creationId xmlns:a16="http://schemas.microsoft.com/office/drawing/2014/main" id="{15BAE980-CB3B-393B-1AAC-06CC75C3037B}"/>
              </a:ext>
            </a:extLst>
          </p:cNvPr>
          <p:cNvSpPr/>
          <p:nvPr/>
        </p:nvSpPr>
        <p:spPr>
          <a:xfrm>
            <a:off x="7583556" y="3789949"/>
            <a:ext cx="4485430" cy="2988019"/>
          </a:xfrm>
          <a:prstGeom prst="rect">
            <a:avLst/>
          </a:prstGeom>
          <a:solidFill>
            <a:schemeClr val="accent2">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Real apps have multiple services — a web server, a database, a cache, and a background worker. Running and connecting them manually with Docker run is painful. Docker Compose lets you define the entire environment in one YAML file and bring it all up with a single command.</a:t>
            </a:r>
          </a:p>
        </p:txBody>
      </p:sp>
      <p:pic>
        <p:nvPicPr>
          <p:cNvPr id="13" name="Picture 12">
            <a:extLst>
              <a:ext uri="{FF2B5EF4-FFF2-40B4-BE49-F238E27FC236}">
                <a16:creationId xmlns:a16="http://schemas.microsoft.com/office/drawing/2014/main" id="{5216486B-B868-4158-2DDF-B115FF0FDD13}"/>
              </a:ext>
            </a:extLst>
          </p:cNvPr>
          <p:cNvPicPr>
            <a:picLocks noChangeAspect="1"/>
          </p:cNvPicPr>
          <p:nvPr/>
        </p:nvPicPr>
        <p:blipFill>
          <a:blip r:embed="rId4"/>
          <a:stretch>
            <a:fillRect/>
          </a:stretch>
        </p:blipFill>
        <p:spPr>
          <a:xfrm>
            <a:off x="123014" y="2533168"/>
            <a:ext cx="7331075" cy="4046536"/>
          </a:xfrm>
          <a:prstGeom prst="rect">
            <a:avLst/>
          </a:prstGeom>
        </p:spPr>
      </p:pic>
    </p:spTree>
    <p:extLst>
      <p:ext uri="{BB962C8B-B14F-4D97-AF65-F5344CB8AC3E}">
        <p14:creationId xmlns:p14="http://schemas.microsoft.com/office/powerpoint/2010/main" val="12293272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7E35A109-06C6-FDDC-BF5E-58E3112F55AB}"/>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1F31EF25-DA90-4EFF-73BA-2CDD5D89F559}"/>
              </a:ext>
            </a:extLst>
          </p:cNvPr>
          <p:cNvSpPr>
            <a:spLocks noGrp="1"/>
          </p:cNvSpPr>
          <p:nvPr>
            <p:ph type="title"/>
          </p:nvPr>
        </p:nvSpPr>
        <p:spPr>
          <a:xfrm>
            <a:off x="0" y="0"/>
            <a:ext cx="10515600" cy="1325563"/>
          </a:xfrm>
        </p:spPr>
        <p:txBody>
          <a:bodyPr/>
          <a:lstStyle/>
          <a:p>
            <a:r>
              <a:rPr lang="en-US" sz="5400" b="1" dirty="0">
                <a:latin typeface="Times New Roman" panose="02020603050405020304" pitchFamily="18" charset="0"/>
                <a:cs typeface="Times New Roman" panose="02020603050405020304" pitchFamily="18" charset="0"/>
              </a:rPr>
              <a:t>Building Our CI/CD pipeline:</a:t>
            </a:r>
          </a:p>
        </p:txBody>
      </p:sp>
      <p:pic>
        <p:nvPicPr>
          <p:cNvPr id="20" name="Picture 19">
            <a:extLst>
              <a:ext uri="{FF2B5EF4-FFF2-40B4-BE49-F238E27FC236}">
                <a16:creationId xmlns:a16="http://schemas.microsoft.com/office/drawing/2014/main" id="{1F55BC2E-0B76-9799-AE99-F8351AE9B444}"/>
              </a:ext>
            </a:extLst>
          </p:cNvPr>
          <p:cNvPicPr>
            <a:picLocks noChangeAspect="1"/>
          </p:cNvPicPr>
          <p:nvPr/>
        </p:nvPicPr>
        <p:blipFill>
          <a:blip r:embed="rId3"/>
          <a:srcRect l="4253" t="24064"/>
          <a:stretch>
            <a:fillRect/>
          </a:stretch>
        </p:blipFill>
        <p:spPr>
          <a:xfrm>
            <a:off x="1990708" y="1147970"/>
            <a:ext cx="10068339" cy="1325563"/>
          </a:xfrm>
          <a:prstGeom prst="rect">
            <a:avLst/>
          </a:prstGeom>
        </p:spPr>
      </p:pic>
      <p:cxnSp>
        <p:nvCxnSpPr>
          <p:cNvPr id="22" name="Straight Arrow Connector 21">
            <a:extLst>
              <a:ext uri="{FF2B5EF4-FFF2-40B4-BE49-F238E27FC236}">
                <a16:creationId xmlns:a16="http://schemas.microsoft.com/office/drawing/2014/main" id="{8FC6567D-9B14-5537-8376-E0B147161669}"/>
              </a:ext>
            </a:extLst>
          </p:cNvPr>
          <p:cNvCxnSpPr>
            <a:cxnSpLocks/>
          </p:cNvCxnSpPr>
          <p:nvPr/>
        </p:nvCxnSpPr>
        <p:spPr>
          <a:xfrm>
            <a:off x="10495723" y="2355574"/>
            <a:ext cx="19877" cy="1265929"/>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sp>
        <p:nvSpPr>
          <p:cNvPr id="23" name="Rectangle 22">
            <a:extLst>
              <a:ext uri="{FF2B5EF4-FFF2-40B4-BE49-F238E27FC236}">
                <a16:creationId xmlns:a16="http://schemas.microsoft.com/office/drawing/2014/main" id="{BA2B5298-2FB8-EF11-742A-2EBF2D318D22}"/>
              </a:ext>
            </a:extLst>
          </p:cNvPr>
          <p:cNvSpPr/>
          <p:nvPr/>
        </p:nvSpPr>
        <p:spPr>
          <a:xfrm>
            <a:off x="7583556" y="3789949"/>
            <a:ext cx="4485430" cy="2988019"/>
          </a:xfrm>
          <a:prstGeom prst="rect">
            <a:avLst/>
          </a:prstGeom>
          <a:solidFill>
            <a:schemeClr val="accent2">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Real apps have multiple services — a web server, a database, a cache, and a background worker. Running and connecting them manually with Docker run is painful. Docker Compose lets you define the entire environment in one YAML file and bring it all up with a single command.</a:t>
            </a:r>
          </a:p>
        </p:txBody>
      </p:sp>
      <p:pic>
        <p:nvPicPr>
          <p:cNvPr id="3" name="Picture 2">
            <a:extLst>
              <a:ext uri="{FF2B5EF4-FFF2-40B4-BE49-F238E27FC236}">
                <a16:creationId xmlns:a16="http://schemas.microsoft.com/office/drawing/2014/main" id="{DC1C4959-CC2E-FCAD-9B42-D53FF95DD456}"/>
              </a:ext>
            </a:extLst>
          </p:cNvPr>
          <p:cNvPicPr>
            <a:picLocks noChangeAspect="1"/>
          </p:cNvPicPr>
          <p:nvPr/>
        </p:nvPicPr>
        <p:blipFill>
          <a:blip r:embed="rId4"/>
          <a:stretch>
            <a:fillRect/>
          </a:stretch>
        </p:blipFill>
        <p:spPr>
          <a:xfrm>
            <a:off x="-1" y="2355574"/>
            <a:ext cx="6500193" cy="4422394"/>
          </a:xfrm>
          <a:prstGeom prst="rect">
            <a:avLst/>
          </a:prstGeom>
        </p:spPr>
      </p:pic>
    </p:spTree>
    <p:extLst>
      <p:ext uri="{BB962C8B-B14F-4D97-AF65-F5344CB8AC3E}">
        <p14:creationId xmlns:p14="http://schemas.microsoft.com/office/powerpoint/2010/main" val="42457848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741642BE-5D52-ABCC-6922-418C4CA90798}"/>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88A4232B-D59B-D629-3829-6CA3275A2957}"/>
              </a:ext>
            </a:extLst>
          </p:cNvPr>
          <p:cNvSpPr>
            <a:spLocks noGrp="1"/>
          </p:cNvSpPr>
          <p:nvPr>
            <p:ph type="title"/>
          </p:nvPr>
        </p:nvSpPr>
        <p:spPr>
          <a:xfrm>
            <a:off x="0" y="0"/>
            <a:ext cx="10515600" cy="1325563"/>
          </a:xfrm>
        </p:spPr>
        <p:txBody>
          <a:bodyPr/>
          <a:lstStyle/>
          <a:p>
            <a:r>
              <a:rPr lang="en-US" sz="5400" b="1" dirty="0">
                <a:latin typeface="Times New Roman" panose="02020603050405020304" pitchFamily="18" charset="0"/>
                <a:cs typeface="Times New Roman" panose="02020603050405020304" pitchFamily="18" charset="0"/>
              </a:rPr>
              <a:t>Building Our CI/CD pipeline:</a:t>
            </a:r>
          </a:p>
        </p:txBody>
      </p:sp>
      <p:pic>
        <p:nvPicPr>
          <p:cNvPr id="20" name="Picture 19">
            <a:extLst>
              <a:ext uri="{FF2B5EF4-FFF2-40B4-BE49-F238E27FC236}">
                <a16:creationId xmlns:a16="http://schemas.microsoft.com/office/drawing/2014/main" id="{E9671C9F-9833-8684-8DC3-9A1E5921F3CA}"/>
              </a:ext>
            </a:extLst>
          </p:cNvPr>
          <p:cNvPicPr>
            <a:picLocks noChangeAspect="1"/>
          </p:cNvPicPr>
          <p:nvPr/>
        </p:nvPicPr>
        <p:blipFill>
          <a:blip r:embed="rId3"/>
          <a:srcRect l="4253" t="24064"/>
          <a:stretch>
            <a:fillRect/>
          </a:stretch>
        </p:blipFill>
        <p:spPr>
          <a:xfrm>
            <a:off x="1990708" y="1147970"/>
            <a:ext cx="10068339" cy="1325563"/>
          </a:xfrm>
          <a:prstGeom prst="rect">
            <a:avLst/>
          </a:prstGeom>
        </p:spPr>
      </p:pic>
      <p:cxnSp>
        <p:nvCxnSpPr>
          <p:cNvPr id="22" name="Straight Arrow Connector 21">
            <a:extLst>
              <a:ext uri="{FF2B5EF4-FFF2-40B4-BE49-F238E27FC236}">
                <a16:creationId xmlns:a16="http://schemas.microsoft.com/office/drawing/2014/main" id="{611708C7-2A0D-CA1D-CC84-9BF14CB92670}"/>
              </a:ext>
            </a:extLst>
          </p:cNvPr>
          <p:cNvCxnSpPr>
            <a:cxnSpLocks/>
          </p:cNvCxnSpPr>
          <p:nvPr/>
        </p:nvCxnSpPr>
        <p:spPr>
          <a:xfrm>
            <a:off x="10495723" y="2355574"/>
            <a:ext cx="19877" cy="1265929"/>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sp>
        <p:nvSpPr>
          <p:cNvPr id="23" name="Rectangle 22">
            <a:extLst>
              <a:ext uri="{FF2B5EF4-FFF2-40B4-BE49-F238E27FC236}">
                <a16:creationId xmlns:a16="http://schemas.microsoft.com/office/drawing/2014/main" id="{FADFEEEF-548F-9F54-C8F5-9616BD5304D7}"/>
              </a:ext>
            </a:extLst>
          </p:cNvPr>
          <p:cNvSpPr/>
          <p:nvPr/>
        </p:nvSpPr>
        <p:spPr>
          <a:xfrm>
            <a:off x="7583556" y="3789949"/>
            <a:ext cx="4485430" cy="2988019"/>
          </a:xfrm>
          <a:prstGeom prst="rect">
            <a:avLst/>
          </a:prstGeom>
          <a:solidFill>
            <a:schemeClr val="accent2">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Real apps have multiple services — a web server, a database, a cache, and a background worker. Running and connecting them manually with Docker run is painful. Docker Compose lets you define the entire environment in one YAML file and bring it all up with a single command.</a:t>
            </a:r>
          </a:p>
        </p:txBody>
      </p:sp>
      <p:pic>
        <p:nvPicPr>
          <p:cNvPr id="4" name="Picture 3">
            <a:extLst>
              <a:ext uri="{FF2B5EF4-FFF2-40B4-BE49-F238E27FC236}">
                <a16:creationId xmlns:a16="http://schemas.microsoft.com/office/drawing/2014/main" id="{D181418B-EC0F-6EF9-8E8A-5B5074AC693C}"/>
              </a:ext>
            </a:extLst>
          </p:cNvPr>
          <p:cNvPicPr>
            <a:picLocks noChangeAspect="1"/>
          </p:cNvPicPr>
          <p:nvPr/>
        </p:nvPicPr>
        <p:blipFill>
          <a:blip r:embed="rId4"/>
          <a:stretch>
            <a:fillRect/>
          </a:stretch>
        </p:blipFill>
        <p:spPr>
          <a:xfrm>
            <a:off x="0" y="2224638"/>
            <a:ext cx="6301409" cy="4633362"/>
          </a:xfrm>
          <a:prstGeom prst="rect">
            <a:avLst/>
          </a:prstGeom>
        </p:spPr>
      </p:pic>
    </p:spTree>
    <p:extLst>
      <p:ext uri="{BB962C8B-B14F-4D97-AF65-F5344CB8AC3E}">
        <p14:creationId xmlns:p14="http://schemas.microsoft.com/office/powerpoint/2010/main" val="3912941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729FBCB7-942A-6BE0-9108-4D914C44B888}"/>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EB5728D3-7752-682F-FFD0-5DB4D9EF7B1F}"/>
              </a:ext>
            </a:extLst>
          </p:cNvPr>
          <p:cNvSpPr>
            <a:spLocks noGrp="1"/>
          </p:cNvSpPr>
          <p:nvPr>
            <p:ph type="title"/>
          </p:nvPr>
        </p:nvSpPr>
        <p:spPr>
          <a:xfrm>
            <a:off x="0" y="0"/>
            <a:ext cx="10515600" cy="1325563"/>
          </a:xfrm>
        </p:spPr>
        <p:txBody>
          <a:bodyPr/>
          <a:lstStyle/>
          <a:p>
            <a:r>
              <a:rPr lang="en-US" sz="5400" b="1" dirty="0">
                <a:latin typeface="Times New Roman" panose="02020603050405020304" pitchFamily="18" charset="0"/>
                <a:cs typeface="Times New Roman" panose="02020603050405020304" pitchFamily="18" charset="0"/>
              </a:rPr>
              <a:t>Building Our CI/CD pipeline:</a:t>
            </a:r>
          </a:p>
        </p:txBody>
      </p:sp>
      <p:pic>
        <p:nvPicPr>
          <p:cNvPr id="20" name="Picture 19">
            <a:extLst>
              <a:ext uri="{FF2B5EF4-FFF2-40B4-BE49-F238E27FC236}">
                <a16:creationId xmlns:a16="http://schemas.microsoft.com/office/drawing/2014/main" id="{12F4D801-6BBE-EB34-8795-2250EAB41470}"/>
              </a:ext>
            </a:extLst>
          </p:cNvPr>
          <p:cNvPicPr>
            <a:picLocks noChangeAspect="1"/>
          </p:cNvPicPr>
          <p:nvPr/>
        </p:nvPicPr>
        <p:blipFill>
          <a:blip r:embed="rId3"/>
          <a:srcRect l="4253" t="24064"/>
          <a:stretch>
            <a:fillRect/>
          </a:stretch>
        </p:blipFill>
        <p:spPr>
          <a:xfrm>
            <a:off x="803412" y="1263554"/>
            <a:ext cx="10068339" cy="1082082"/>
          </a:xfrm>
          <a:prstGeom prst="rect">
            <a:avLst/>
          </a:prstGeom>
        </p:spPr>
      </p:pic>
      <p:pic>
        <p:nvPicPr>
          <p:cNvPr id="3" name="Picture 2">
            <a:extLst>
              <a:ext uri="{FF2B5EF4-FFF2-40B4-BE49-F238E27FC236}">
                <a16:creationId xmlns:a16="http://schemas.microsoft.com/office/drawing/2014/main" id="{AC470180-D111-7222-EB1A-2C2303546E45}"/>
              </a:ext>
            </a:extLst>
          </p:cNvPr>
          <p:cNvPicPr>
            <a:picLocks noChangeAspect="1"/>
          </p:cNvPicPr>
          <p:nvPr/>
        </p:nvPicPr>
        <p:blipFill>
          <a:blip r:embed="rId4"/>
          <a:stretch>
            <a:fillRect/>
          </a:stretch>
        </p:blipFill>
        <p:spPr>
          <a:xfrm>
            <a:off x="894522" y="2499665"/>
            <a:ext cx="9799982" cy="4268883"/>
          </a:xfrm>
          <a:prstGeom prst="rect">
            <a:avLst/>
          </a:prstGeom>
        </p:spPr>
      </p:pic>
    </p:spTree>
    <p:extLst>
      <p:ext uri="{BB962C8B-B14F-4D97-AF65-F5344CB8AC3E}">
        <p14:creationId xmlns:p14="http://schemas.microsoft.com/office/powerpoint/2010/main" val="13614323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20837F6C-06C6-755F-B4D7-CAFC7A284458}"/>
            </a:ext>
          </a:extLst>
        </p:cNvPr>
        <p:cNvGrpSpPr/>
        <p:nvPr/>
      </p:nvGrpSpPr>
      <p:grpSpPr>
        <a:xfrm>
          <a:off x="0" y="0"/>
          <a:ext cx="0" cy="0"/>
          <a:chOff x="0" y="0"/>
          <a:chExt cx="0" cy="0"/>
        </a:xfrm>
      </p:grpSpPr>
      <p:sp>
        <p:nvSpPr>
          <p:cNvPr id="15" name="Title 1">
            <a:extLst>
              <a:ext uri="{FF2B5EF4-FFF2-40B4-BE49-F238E27FC236}">
                <a16:creationId xmlns:a16="http://schemas.microsoft.com/office/drawing/2014/main" id="{AF113E30-2BB6-5E16-2814-EA047662056B}"/>
              </a:ext>
            </a:extLst>
          </p:cNvPr>
          <p:cNvSpPr txBox="1">
            <a:spLocks/>
          </p:cNvSpPr>
          <p:nvPr/>
        </p:nvSpPr>
        <p:spPr>
          <a:xfrm>
            <a:off x="228599"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5400" b="1"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References:</a:t>
            </a:r>
          </a:p>
        </p:txBody>
      </p:sp>
      <p:sp>
        <p:nvSpPr>
          <p:cNvPr id="16" name="TextBox 15">
            <a:extLst>
              <a:ext uri="{FF2B5EF4-FFF2-40B4-BE49-F238E27FC236}">
                <a16:creationId xmlns:a16="http://schemas.microsoft.com/office/drawing/2014/main" id="{55836550-7F6C-4741-41F6-84B197D95F7F}"/>
              </a:ext>
            </a:extLst>
          </p:cNvPr>
          <p:cNvSpPr txBox="1"/>
          <p:nvPr/>
        </p:nvSpPr>
        <p:spPr>
          <a:xfrm>
            <a:off x="228599" y="1535739"/>
            <a:ext cx="10774017" cy="400110"/>
          </a:xfrm>
          <a:prstGeom prst="rect">
            <a:avLst/>
          </a:prstGeom>
          <a:noFill/>
        </p:spPr>
        <p:txBody>
          <a:bodyPr wrap="square" rtlCol="0">
            <a:spAutoFit/>
          </a:bodyPr>
          <a:lstStyle/>
          <a:p>
            <a:pPr lvl="0"/>
            <a:r>
              <a:rPr lang="en-US" sz="2000" b="1" i="1" u="sng" dirty="0">
                <a:solidFill>
                  <a:srgbClr val="0E2841">
                    <a:lumMod val="75000"/>
                    <a:lumOff val="25000"/>
                  </a:srgbClr>
                </a:solidFill>
                <a:latin typeface="Calibri" panose="020F0502020204030204" pitchFamily="34" charset="0"/>
                <a:ea typeface="Calibri" panose="020F0502020204030204" pitchFamily="34" charset="0"/>
                <a:cs typeface="Calibri" panose="020F0502020204030204" pitchFamily="34" charset="0"/>
              </a:rPr>
              <a:t>https://learn.microsoft.com/en-gb/training/paths/devops-foundations-core-principles-practices/</a:t>
            </a:r>
            <a:endParaRPr kumimoji="0" lang="en-US" sz="2000" b="1" i="1" u="sng" strike="noStrike" kern="1200" cap="none" spc="0" normalizeH="0" baseline="0" noProof="0" dirty="0">
              <a:ln>
                <a:noFill/>
              </a:ln>
              <a:solidFill>
                <a:srgbClr val="0E2841">
                  <a:lumMod val="75000"/>
                  <a:lumOff val="25000"/>
                </a:srgbClr>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83F5A99B-00D6-0B05-C9CF-23BB1D270C69}"/>
              </a:ext>
            </a:extLst>
          </p:cNvPr>
          <p:cNvSpPr txBox="1"/>
          <p:nvPr/>
        </p:nvSpPr>
        <p:spPr>
          <a:xfrm>
            <a:off x="228599" y="2146025"/>
            <a:ext cx="11648768" cy="400110"/>
          </a:xfrm>
          <a:prstGeom prst="rect">
            <a:avLst/>
          </a:prstGeom>
          <a:noFill/>
        </p:spPr>
        <p:txBody>
          <a:bodyPr wrap="square" rtlCol="0">
            <a:spAutoFit/>
          </a:bodyPr>
          <a:lstStyle/>
          <a:p>
            <a:pPr lvl="0"/>
            <a:r>
              <a:rPr lang="en-US" sz="2000" b="1" i="1" u="sng" dirty="0">
                <a:solidFill>
                  <a:srgbClr val="0E2841">
                    <a:lumMod val="75000"/>
                    <a:lumOff val="25000"/>
                  </a:srgbClr>
                </a:solidFill>
                <a:latin typeface="Calibri" panose="020F0502020204030204" pitchFamily="34" charset="0"/>
                <a:ea typeface="Calibri" panose="020F0502020204030204" pitchFamily="34" charset="0"/>
                <a:cs typeface="Calibri" panose="020F0502020204030204" pitchFamily="34" charset="0"/>
              </a:rPr>
              <a:t>https://www.ibm.com/think/topics/devops</a:t>
            </a:r>
            <a:endParaRPr kumimoji="0" lang="en-US" sz="2000" b="1" i="1" u="sng" strike="noStrike" kern="1200" cap="none" spc="0" normalizeH="0" baseline="0" noProof="0" dirty="0">
              <a:ln>
                <a:noFill/>
              </a:ln>
              <a:solidFill>
                <a:srgbClr val="0E2841">
                  <a:lumMod val="75000"/>
                  <a:lumOff val="25000"/>
                </a:srgbClr>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B979D2C8-DAE6-BD0B-59EE-FE189E245BCF}"/>
              </a:ext>
            </a:extLst>
          </p:cNvPr>
          <p:cNvSpPr txBox="1"/>
          <p:nvPr/>
        </p:nvSpPr>
        <p:spPr>
          <a:xfrm>
            <a:off x="228599" y="2756311"/>
            <a:ext cx="11648768" cy="400110"/>
          </a:xfrm>
          <a:prstGeom prst="rect">
            <a:avLst/>
          </a:prstGeom>
          <a:noFill/>
        </p:spPr>
        <p:txBody>
          <a:bodyPr wrap="square" rtlCol="0">
            <a:spAutoFit/>
          </a:bodyPr>
          <a:lstStyle/>
          <a:p>
            <a:pPr lvl="0"/>
            <a:r>
              <a:rPr lang="en-US" sz="2000" b="1" i="1" u="sng" dirty="0">
                <a:solidFill>
                  <a:srgbClr val="0E2841">
                    <a:lumMod val="75000"/>
                    <a:lumOff val="25000"/>
                  </a:srgbClr>
                </a:solidFill>
                <a:latin typeface="Calibri" panose="020F0502020204030204" pitchFamily="34" charset="0"/>
                <a:ea typeface="Calibri" panose="020F0502020204030204" pitchFamily="34" charset="0"/>
                <a:cs typeface="Calibri" panose="020F0502020204030204" pitchFamily="34" charset="0"/>
              </a:rPr>
              <a:t>https://www.ibm.com/think/topics/ci-cd-pipeline</a:t>
            </a:r>
            <a:endParaRPr kumimoji="0" lang="en-US" sz="2000" b="1" i="1" u="sng" strike="noStrike" kern="1200" cap="none" spc="0" normalizeH="0" baseline="0" noProof="0" dirty="0">
              <a:ln>
                <a:noFill/>
              </a:ln>
              <a:solidFill>
                <a:srgbClr val="0E2841">
                  <a:lumMod val="75000"/>
                  <a:lumOff val="25000"/>
                </a:srgbClr>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9A5C17B4-A69A-F872-B64D-43F88D85A73B}"/>
              </a:ext>
            </a:extLst>
          </p:cNvPr>
          <p:cNvSpPr txBox="1"/>
          <p:nvPr/>
        </p:nvSpPr>
        <p:spPr>
          <a:xfrm>
            <a:off x="228599" y="3301470"/>
            <a:ext cx="11648768" cy="400110"/>
          </a:xfrm>
          <a:prstGeom prst="rect">
            <a:avLst/>
          </a:prstGeom>
          <a:noFill/>
        </p:spPr>
        <p:txBody>
          <a:bodyPr wrap="square" rtlCol="0">
            <a:spAutoFit/>
          </a:bodyPr>
          <a:lstStyle/>
          <a:p>
            <a:pPr lvl="0"/>
            <a:r>
              <a:rPr lang="en-US" sz="2000" b="1" i="1" u="sng" dirty="0">
                <a:solidFill>
                  <a:srgbClr val="0E2841">
                    <a:lumMod val="75000"/>
                    <a:lumOff val="25000"/>
                  </a:srgbClr>
                </a:solidFill>
                <a:latin typeface="Calibri" panose="020F0502020204030204" pitchFamily="34" charset="0"/>
                <a:ea typeface="Calibri" panose="020F0502020204030204" pitchFamily="34" charset="0"/>
                <a:cs typeface="Calibri" panose="020F0502020204030204" pitchFamily="34" charset="0"/>
                <a:hlinkClick r:id="rId3"/>
              </a:rPr>
              <a:t>https://pieces.app/blog/best-ci-cd-tools</a:t>
            </a:r>
            <a:r>
              <a:rPr lang="en-US" sz="2000" b="1" i="1" u="sng" dirty="0">
                <a:solidFill>
                  <a:srgbClr val="0E2841">
                    <a:lumMod val="75000"/>
                    <a:lumOff val="25000"/>
                  </a:srgbClr>
                </a:solidFill>
                <a:latin typeface="Calibri" panose="020F0502020204030204" pitchFamily="34" charset="0"/>
                <a:ea typeface="Calibri" panose="020F0502020204030204" pitchFamily="34" charset="0"/>
                <a:cs typeface="Calibri" panose="020F0502020204030204" pitchFamily="34" charset="0"/>
              </a:rPr>
              <a:t>   VERY IMPORTANT!!!!</a:t>
            </a:r>
            <a:endParaRPr kumimoji="0" lang="en-US" sz="2000" b="1" i="1" u="sng" strike="noStrike" kern="1200" cap="none" spc="0" normalizeH="0" baseline="0" noProof="0" dirty="0">
              <a:ln>
                <a:noFill/>
              </a:ln>
              <a:solidFill>
                <a:srgbClr val="0E2841">
                  <a:lumMod val="75000"/>
                  <a:lumOff val="25000"/>
                </a:srgbClr>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7CAA1D9F-FC3E-8FE9-3D8C-32DA7F7F45E7}"/>
              </a:ext>
            </a:extLst>
          </p:cNvPr>
          <p:cNvSpPr txBox="1"/>
          <p:nvPr/>
        </p:nvSpPr>
        <p:spPr>
          <a:xfrm>
            <a:off x="228599" y="3846629"/>
            <a:ext cx="11648768" cy="400110"/>
          </a:xfrm>
          <a:prstGeom prst="rect">
            <a:avLst/>
          </a:prstGeom>
          <a:noFill/>
        </p:spPr>
        <p:txBody>
          <a:bodyPr wrap="square" rtlCol="0">
            <a:spAutoFit/>
          </a:bodyPr>
          <a:lstStyle/>
          <a:p>
            <a:pPr lvl="0"/>
            <a:r>
              <a:rPr lang="en-US" sz="2000" b="1" i="1" u="sng" dirty="0">
                <a:solidFill>
                  <a:srgbClr val="0E2841">
                    <a:lumMod val="75000"/>
                    <a:lumOff val="25000"/>
                  </a:srgbClr>
                </a:solidFill>
                <a:latin typeface="Calibri" panose="020F0502020204030204" pitchFamily="34" charset="0"/>
                <a:ea typeface="Calibri" panose="020F0502020204030204" pitchFamily="34" charset="0"/>
                <a:cs typeface="Calibri" panose="020F0502020204030204" pitchFamily="34" charset="0"/>
              </a:rPr>
              <a:t>https://learn.microsoft.com/en-us/training/modules/introduction-to-devops/</a:t>
            </a:r>
            <a:endParaRPr kumimoji="0" lang="en-US" sz="2000" b="1" i="1" u="sng" strike="noStrike" kern="1200" cap="none" spc="0" normalizeH="0" baseline="0" noProof="0" dirty="0">
              <a:ln>
                <a:noFill/>
              </a:ln>
              <a:solidFill>
                <a:srgbClr val="0E2841">
                  <a:lumMod val="75000"/>
                  <a:lumOff val="25000"/>
                </a:srgbClr>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993319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1BACFB3-8B18-F186-25D2-C0E0C1E7154A}"/>
            </a:ext>
          </a:extLst>
        </p:cNvPr>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4522B21E-B2B9-4C72-9A71-C87EFD137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2" name="Rectangle 21">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44125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4" name="Rectangle 23">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2"/>
            <a:ext cx="10999072" cy="461854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Title 1">
            <a:extLst>
              <a:ext uri="{FF2B5EF4-FFF2-40B4-BE49-F238E27FC236}">
                <a16:creationId xmlns:a16="http://schemas.microsoft.com/office/drawing/2014/main" id="{8147A38C-CCA5-39B7-802B-57C179F5D6CE}"/>
              </a:ext>
            </a:extLst>
          </p:cNvPr>
          <p:cNvSpPr txBox="1">
            <a:spLocks/>
          </p:cNvSpPr>
          <p:nvPr/>
        </p:nvSpPr>
        <p:spPr>
          <a:xfrm>
            <a:off x="1524000" y="1293338"/>
            <a:ext cx="9144000" cy="327459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600"/>
              </a:spcAft>
              <a:buClrTx/>
              <a:buSzTx/>
              <a:buFontTx/>
              <a:buNone/>
              <a:tabLst/>
              <a:defRPr/>
            </a:pPr>
            <a:r>
              <a:rPr kumimoji="0" lang="en-US" sz="7200" b="1" i="0" u="none" strike="noStrike" kern="1200" cap="none" spc="0" normalizeH="0" baseline="0" noProof="0" dirty="0">
                <a:ln>
                  <a:noFill/>
                </a:ln>
                <a:solidFill>
                  <a:prstClr val="black"/>
                </a:solidFill>
                <a:effectLst/>
                <a:uLnTx/>
                <a:uFillTx/>
                <a:latin typeface="Aptos Display" panose="02110004020202020204"/>
                <a:ea typeface="+mj-ea"/>
                <a:cs typeface="+mj-cs"/>
              </a:rPr>
              <a:t>THANK YOU</a:t>
            </a:r>
          </a:p>
        </p:txBody>
      </p:sp>
      <p:cxnSp>
        <p:nvCxnSpPr>
          <p:cNvPr id="26" name="Straight Connector 25">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54708"/>
            <a:ext cx="11000232"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67148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1573</TotalTime>
  <Words>2127</Words>
  <Application>Microsoft Office PowerPoint</Application>
  <PresentationFormat>Widescreen</PresentationFormat>
  <Paragraphs>114</Paragraphs>
  <Slides>26</Slides>
  <Notes>26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Aptos</vt:lpstr>
      <vt:lpstr>Aptos Display</vt:lpstr>
      <vt:lpstr>Arial</vt:lpstr>
      <vt:lpstr>Calibri</vt:lpstr>
      <vt:lpstr>Times New Roman</vt:lpstr>
      <vt:lpstr>Office Theme</vt:lpstr>
      <vt:lpstr>PowerPoint Presentation</vt:lpstr>
      <vt:lpstr>Introduction</vt:lpstr>
      <vt:lpstr>What are Microfrontends?</vt:lpstr>
      <vt:lpstr>Incremental upgrades:</vt:lpstr>
      <vt:lpstr>Independent deployment:</vt:lpstr>
      <vt:lpstr>What is DevOps:</vt:lpstr>
      <vt:lpstr>What is DevOps:</vt:lpstr>
      <vt:lpstr>What are the key elements of DevOps culture?</vt:lpstr>
      <vt:lpstr>DevOps goals and benefits:</vt:lpstr>
      <vt:lpstr>DevOps Lifecycle:</vt:lpstr>
      <vt:lpstr>DevOps Lifecycle:</vt:lpstr>
      <vt:lpstr>PowerPoint Presentation</vt:lpstr>
      <vt:lpstr>PowerPoint Presentation</vt:lpstr>
      <vt:lpstr>CI/CD:</vt:lpstr>
      <vt:lpstr>CI/CD Pipelines:</vt:lpstr>
      <vt:lpstr>Building Our CI/CD pipeline:</vt:lpstr>
      <vt:lpstr>Building Our CI/CD pipeline:</vt:lpstr>
      <vt:lpstr>Building Our CI/CD pipeline:</vt:lpstr>
      <vt:lpstr>Building Our CI/CD pipeline:</vt:lpstr>
      <vt:lpstr>Building Our CI/CD pipeline:</vt:lpstr>
      <vt:lpstr>Building Our CI/CD pipeline:</vt:lpstr>
      <vt:lpstr>Building Our CI/CD pipeline:</vt:lpstr>
      <vt:lpstr>Building Our CI/CD pipeline:</vt:lpstr>
      <vt:lpstr>Building Our CI/CD pipeline: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alHasan 20367648</dc:creator>
  <cp:lastModifiedBy>Al hassan mohamed kamel abd elhalim</cp:lastModifiedBy>
  <cp:revision>524</cp:revision>
  <dcterms:created xsi:type="dcterms:W3CDTF">2026-03-07T15:17:43Z</dcterms:created>
  <dcterms:modified xsi:type="dcterms:W3CDTF">2026-04-08T13:41:31Z</dcterms:modified>
</cp:coreProperties>
</file>