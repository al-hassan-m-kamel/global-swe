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97" r:id="rId2"/>
    <p:sldId id="330" r:id="rId3"/>
    <p:sldId id="332" r:id="rId4"/>
    <p:sldId id="331"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4" r:id="rId18"/>
    <p:sldId id="333" r:id="rId19"/>
    <p:sldId id="274"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902" autoAdjust="0"/>
  </p:normalViewPr>
  <p:slideViewPr>
    <p:cSldViewPr snapToGrid="0">
      <p:cViewPr varScale="1">
        <p:scale>
          <a:sx n="78" d="100"/>
          <a:sy n="78" d="100"/>
        </p:scale>
        <p:origin x="85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D4E11-9C44-4A69-B08E-8C90E25E9E99}"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DA465-4BEF-420A-80B9-168D75A79793}" type="slidenum">
              <a:rPr lang="en-US" smtClean="0"/>
              <a:t>‹#›</a:t>
            </a:fld>
            <a:endParaRPr lang="en-US"/>
          </a:p>
        </p:txBody>
      </p:sp>
    </p:spTree>
    <p:extLst>
      <p:ext uri="{BB962C8B-B14F-4D97-AF65-F5344CB8AC3E}">
        <p14:creationId xmlns:p14="http://schemas.microsoft.com/office/powerpoint/2010/main" val="107436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8DE3-6FF2-9D5A-EFF1-050BA54EF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5C585-7995-B5C5-C1D3-461DA1472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656FD-CB5F-FDAA-95D0-D994AF709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D9953-28FC-D6B4-2515-F6D605FB9799}"/>
              </a:ext>
            </a:extLst>
          </p:cNvPr>
          <p:cNvSpPr>
            <a:spLocks noGrp="1"/>
          </p:cNvSpPr>
          <p:nvPr>
            <p:ph type="sldNum" sz="quarter" idx="5"/>
          </p:nvPr>
        </p:nvSpPr>
        <p:spPr/>
        <p:txBody>
          <a:bodyPr/>
          <a:lstStyle/>
          <a:p>
            <a:fld id="{5D7DA465-4BEF-420A-80B9-168D75A79793}" type="slidenum">
              <a:rPr lang="en-US" smtClean="0"/>
              <a:t>1</a:t>
            </a:fld>
            <a:endParaRPr lang="en-US"/>
          </a:p>
        </p:txBody>
      </p:sp>
    </p:spTree>
    <p:extLst>
      <p:ext uri="{BB962C8B-B14F-4D97-AF65-F5344CB8AC3E}">
        <p14:creationId xmlns:p14="http://schemas.microsoft.com/office/powerpoint/2010/main" val="1083705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22517-87A1-BB00-6013-87473DE30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08ABB-5C7D-633C-CC35-967CCACCA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85314-24DC-EDE2-4F15-8EF5F0796E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2C1288-E5FA-D383-5200-747A58BCED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42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0E5C0-21F5-9446-CE93-235A33107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E72BB-8071-7625-49A6-22B21B2EF4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EEA5C-5BB7-1484-2D8E-D97A84C8C5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E5D88-91B0-4239-272A-7B3911E654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34910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EDE6-6A75-D57A-23C6-0305F9D1E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623942-8F05-320D-9A8A-4F3C41B04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6B588-5C2D-C9C6-8605-2416435674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997E07-8A91-D258-B097-278777D966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65941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38608-7922-BD33-F437-46E8B91103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61A32-6572-25D7-48EC-B7DBC43F9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9C8BA-C061-E282-3A76-CAECCBCC56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26A8F-0DFC-9781-50AF-90DD20AE40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2057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ED25-1C08-F436-AF76-6350693A5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8562D-5D37-D3D0-03B3-8043854E06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1C690-AC79-B073-2CDC-61DA83BB59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BD7490-41C7-9FE4-EF7C-F986C6EC37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55452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5A6A-1204-0AC3-C733-8EBC79CB7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E75FF-07CA-5A57-1F5A-0A9664096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943520-C81A-429F-CBC1-EAFFFE3AEC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2DAB9B-AE65-9E5B-BEB7-2E1FCA21F1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9120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1A35-0CC8-3090-3054-8AC7438EC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219CF-721F-2F2D-B03A-B4C204F6C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2409B-180C-A489-626F-F43F0FC870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20ABD9-A196-69CF-26DC-893093A98A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4526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54624-9496-AC18-44BF-8335D1EF5A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527B1-E2E8-CFC9-C25D-07F98B75E5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A914C-BCCC-8DB9-DA68-4464509E27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ED62A9-85A0-7468-15E4-ABB829C67E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776574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074B6-A128-0CBD-0CE7-742E36039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1CC536-B610-17B4-E593-23C65EC0BB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2E5DE6-4E7E-02C1-A20A-3AE9A9391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A8736D-1A15-26C9-4676-4B1809450B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7358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C3D10-196C-EEF5-EBE6-874469A7D6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DF8A2-30BE-4865-D012-02BB1221A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3A887-8287-D93D-1F0B-6308A83EF2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A0AC22-5499-6677-5858-3B334122BD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1677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D799B-1453-5F66-429F-9E205CC6D0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440F0-1050-E12C-A789-FEE115B4B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FB52A7-D058-3F6C-EA4B-03901CF9A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676717-620B-93A9-2EE4-8F0DAD70DE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7226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8741B-9D43-90CE-2D74-1CA20FC0B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3FB6D-4C93-A52F-AB3E-25FCDE434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AC027D-51A7-14A5-FABB-FDC176F4A5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5FADC0-1B3B-39E0-CD93-0B08177B55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24532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1FB70-C75A-66EF-9E14-A73B5DAB96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5C7C4-51DA-794C-96EB-AC19FB7A2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4FCB7-B5FD-24E4-8E4C-CA7EF25D7A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F9C00C-45A2-4501-EC5E-46AB67357B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37497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030A6-7E08-2EF4-90F0-7F2918D67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34054-DD6C-8897-9FEB-0A7D57A6C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25486-B979-C754-B71F-F2E7C04DA6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8BC63-9A1D-7136-9019-A879FC1A80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13134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3F36-8D02-3BBB-7EBF-B6F896799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2DB25-F69F-1FC5-D578-1C26CF6D3B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C28B6-223E-B9F1-86D2-4C2A992A6E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DF4FB7-EF97-EC97-5C99-F91385C0D0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0811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AC21-CC4D-77EB-19DC-4C5C6F3A8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2FD31-9812-F729-E411-6C46783DF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6BA57-40E3-8E1E-E56C-1BD8A0839C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A1CAE1-CE49-CE29-0EA8-F31B267B4D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503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EDBDE-63A4-87F1-ECE2-69BAF3674D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35614-FD65-AD31-C001-A3FE07437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E27F1-02BB-9EC2-C8C5-061805D18C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83F792-9BD3-BEBF-D4C2-75424C93B3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77192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41E-1CE8-1561-B13D-1BD6BCD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187A-759F-BF6B-E1AE-42DD7499C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F3D5-FA1B-49DF-0530-1B6738FA3C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1DF6A2-B53C-488B-B509-C05204B38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786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E3CA-8603-956C-FE73-7961D0B2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46B5-91CF-4276-E2CE-F7F9C245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40E9-E8A5-6367-59AC-BA157806A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79D7A-7931-B939-A2D4-E5BC257D41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85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D1C8-A001-3671-67CF-2C51F676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06ADB7-3594-8E87-3AC3-2D28C938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E6A22E-43AD-3FAF-B032-45E551E13188}"/>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5" name="Footer Placeholder 4">
            <a:extLst>
              <a:ext uri="{FF2B5EF4-FFF2-40B4-BE49-F238E27FC236}">
                <a16:creationId xmlns:a16="http://schemas.microsoft.com/office/drawing/2014/main" id="{0BBC8F42-3300-56C2-9C00-53BF0F0E3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F0A59-56B7-BB1A-9165-4BEE4A08108A}"/>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595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94C1-D301-D617-62A6-B5B215F6B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752BD-C41C-9957-4390-1752AB758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A4FB9-FBC8-8247-109F-FCD90198CD24}"/>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5" name="Footer Placeholder 4">
            <a:extLst>
              <a:ext uri="{FF2B5EF4-FFF2-40B4-BE49-F238E27FC236}">
                <a16:creationId xmlns:a16="http://schemas.microsoft.com/office/drawing/2014/main" id="{6B37133C-F31A-8484-CA70-C9E5DE128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77AC4-2595-519D-729F-7AAFDEC9E04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90534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F4A0-31B1-C2F4-E91B-0FD417FC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C96E0D-9544-C6F5-25D3-66053C1F2D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691AA-ECA0-DC27-6FA8-C5EF02D64C69}"/>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5" name="Footer Placeholder 4">
            <a:extLst>
              <a:ext uri="{FF2B5EF4-FFF2-40B4-BE49-F238E27FC236}">
                <a16:creationId xmlns:a16="http://schemas.microsoft.com/office/drawing/2014/main" id="{9AB9868D-E9E0-0F4D-E947-F2C22172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C8033-3552-934C-4037-60C0EFB5BE63}"/>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859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7608-5968-371C-3C82-5455182A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1BF24-E95D-63EB-26FE-0465E2C56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82935-2122-CBB1-0F37-A5EE2DFA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E2240-CDE3-B77F-97CF-45E873FB02BD}"/>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6" name="Footer Placeholder 5">
            <a:extLst>
              <a:ext uri="{FF2B5EF4-FFF2-40B4-BE49-F238E27FC236}">
                <a16:creationId xmlns:a16="http://schemas.microsoft.com/office/drawing/2014/main" id="{F6D94A1D-3E47-96F1-2345-515C08859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A3D5B-3399-9627-0440-B288CF47E434}"/>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75970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E29B-86DA-D02F-196C-283013B6F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0789D-FA88-CEBC-F410-CF39B79ED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D52B0-C28B-3777-C4D4-40BF0213CA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F9CC55-B453-1C2B-573F-6B6CB3B15D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68186-E574-08D3-B1C9-0944A1F53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16783-CACF-23C2-6B18-CBE2E7EC5B77}"/>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8" name="Footer Placeholder 7">
            <a:extLst>
              <a:ext uri="{FF2B5EF4-FFF2-40B4-BE49-F238E27FC236}">
                <a16:creationId xmlns:a16="http://schemas.microsoft.com/office/drawing/2014/main" id="{D2085B0D-F54E-AFCC-2A11-1E72F2E6D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00F25-0CF2-543D-A790-97EBF24FECC7}"/>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231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5F0B-55E3-79B5-0FA9-EBB6E0476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FFC90D-4E31-68F9-3649-43E5A1734B4A}"/>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4" name="Footer Placeholder 3">
            <a:extLst>
              <a:ext uri="{FF2B5EF4-FFF2-40B4-BE49-F238E27FC236}">
                <a16:creationId xmlns:a16="http://schemas.microsoft.com/office/drawing/2014/main" id="{700AE31B-8154-AFEA-99DC-23C1433AF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9E499-67B5-6818-9470-20D3245F9A36}"/>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368559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925F9-8836-2731-2415-E9048D534C4B}"/>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3" name="Footer Placeholder 2">
            <a:extLst>
              <a:ext uri="{FF2B5EF4-FFF2-40B4-BE49-F238E27FC236}">
                <a16:creationId xmlns:a16="http://schemas.microsoft.com/office/drawing/2014/main" id="{9BAA7D79-5525-8E0A-0872-9D9A4FEC20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29F34-711B-8DB9-3D9E-025C13C503CF}"/>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549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4517-18A4-4FA1-97C2-5B7271809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8E9F1-DBBE-1648-ACC4-3E85183E1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3CECB-5FCC-3498-F84D-6562D492B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0641B-8EC0-21D6-9666-AE48C289A1AD}"/>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6" name="Footer Placeholder 5">
            <a:extLst>
              <a:ext uri="{FF2B5EF4-FFF2-40B4-BE49-F238E27FC236}">
                <a16:creationId xmlns:a16="http://schemas.microsoft.com/office/drawing/2014/main" id="{62C6EC1D-46D6-41E6-7401-40A89E8C8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D9433-9223-BF6C-24AE-02969CC0B71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62384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3CE3-9F07-2E7E-069E-328F6972B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286A0-D003-72DE-EB76-122BE1FE4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8D15B-F664-F0A4-7CFF-958E87B2D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D774E-F9F3-66A9-0A07-35536838A1A0}"/>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6" name="Footer Placeholder 5">
            <a:extLst>
              <a:ext uri="{FF2B5EF4-FFF2-40B4-BE49-F238E27FC236}">
                <a16:creationId xmlns:a16="http://schemas.microsoft.com/office/drawing/2014/main" id="{E7A2903F-F711-F7FC-F01D-8A4675E3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83C8B-BC4A-059A-1B5E-FF9EB1F99B6B}"/>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55295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62A8-46E6-27A3-37F3-237FB7B930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4F02E-5074-7FEC-E1B9-F4B2E3249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66A9-AD1B-D42A-C4C0-676F40089DFE}"/>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5" name="Footer Placeholder 4">
            <a:extLst>
              <a:ext uri="{FF2B5EF4-FFF2-40B4-BE49-F238E27FC236}">
                <a16:creationId xmlns:a16="http://schemas.microsoft.com/office/drawing/2014/main" id="{000DA104-5DED-DF4E-392A-C03E4B6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8105-952B-B1DC-CD82-38EBC3A06A12}"/>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2310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01F3-4BEC-41B7-2BDE-7E06C9873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D4BC3B-3D9C-977F-788E-ACC7E9CE9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A111A-89BC-DF66-0463-F43333A7866A}"/>
              </a:ext>
            </a:extLst>
          </p:cNvPr>
          <p:cNvSpPr>
            <a:spLocks noGrp="1"/>
          </p:cNvSpPr>
          <p:nvPr>
            <p:ph type="dt" sz="half" idx="10"/>
          </p:nvPr>
        </p:nvSpPr>
        <p:spPr/>
        <p:txBody>
          <a:bodyPr/>
          <a:lstStyle/>
          <a:p>
            <a:fld id="{26C75AD8-6727-4031-AB70-90E6355DAEBF}" type="datetimeFigureOut">
              <a:rPr lang="en-US" smtClean="0"/>
              <a:t>4/16/2026</a:t>
            </a:fld>
            <a:endParaRPr lang="en-US"/>
          </a:p>
        </p:txBody>
      </p:sp>
      <p:sp>
        <p:nvSpPr>
          <p:cNvPr id="5" name="Footer Placeholder 4">
            <a:extLst>
              <a:ext uri="{FF2B5EF4-FFF2-40B4-BE49-F238E27FC236}">
                <a16:creationId xmlns:a16="http://schemas.microsoft.com/office/drawing/2014/main" id="{47A8A549-0BFE-FAB8-9B87-43E0207B6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CB065-A3F6-F2FF-4F8F-7C9EFA2036A0}"/>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914562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AF0B-97C5-A7E9-99FB-069DFA852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E799F4-0586-FCF1-7796-FFBE5F94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A3930-F78A-5717-2B13-9C168BAE5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75AD8-6727-4031-AB70-90E6355DAEBF}" type="datetimeFigureOut">
              <a:rPr lang="en-US" smtClean="0"/>
              <a:t>4/16/2026</a:t>
            </a:fld>
            <a:endParaRPr lang="en-US"/>
          </a:p>
        </p:txBody>
      </p:sp>
      <p:sp>
        <p:nvSpPr>
          <p:cNvPr id="5" name="Footer Placeholder 4">
            <a:extLst>
              <a:ext uri="{FF2B5EF4-FFF2-40B4-BE49-F238E27FC236}">
                <a16:creationId xmlns:a16="http://schemas.microsoft.com/office/drawing/2014/main" id="{6905B497-83F6-BD21-E492-D78C7AD33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5A1A65-CA88-36B2-EBE7-D29EF1CC4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2EBA9-F5D8-4B2D-AD8E-964F40FFF1DD}" type="slidenum">
              <a:rPr lang="en-US" smtClean="0"/>
              <a:t>‹#›</a:t>
            </a:fld>
            <a:endParaRPr lang="en-US"/>
          </a:p>
        </p:txBody>
      </p:sp>
    </p:spTree>
    <p:extLst>
      <p:ext uri="{BB962C8B-B14F-4D97-AF65-F5344CB8AC3E}">
        <p14:creationId xmlns:p14="http://schemas.microsoft.com/office/powerpoint/2010/main" val="25425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D5B660-5CF1-7004-8575-67B0D31DBE9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096E6D0-4E13-D250-4177-9B0712E675F5}"/>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t="7125" r="-1" b="17605"/>
          <a:stretch>
            <a:fillRect/>
          </a:stretch>
        </p:blipFill>
        <p:spPr>
          <a:xfrm>
            <a:off x="20" y="10"/>
            <a:ext cx="12188930" cy="6857990"/>
          </a:xfrm>
          <a:prstGeom prst="rect">
            <a:avLst/>
          </a:prstGeom>
        </p:spPr>
      </p:pic>
      <p:sp>
        <p:nvSpPr>
          <p:cNvPr id="4" name="TextBox 3">
            <a:extLst>
              <a:ext uri="{FF2B5EF4-FFF2-40B4-BE49-F238E27FC236}">
                <a16:creationId xmlns:a16="http://schemas.microsoft.com/office/drawing/2014/main" id="{A1AEF84B-FCE9-809F-2941-DF76330E671F}"/>
              </a:ext>
            </a:extLst>
          </p:cNvPr>
          <p:cNvSpPr txBox="1"/>
          <p:nvPr/>
        </p:nvSpPr>
        <p:spPr>
          <a:xfrm>
            <a:off x="1524000" y="1122363"/>
            <a:ext cx="9144000" cy="3063240"/>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en-US" sz="6600" b="1" i="0" u="none" strike="noStrike" cap="none" spc="0" normalizeH="0" baseline="0" noProof="0">
                <a:ln>
                  <a:noFill/>
                </a:ln>
                <a:solidFill>
                  <a:schemeClr val="bg1"/>
                </a:solidFill>
                <a:effectLst/>
                <a:uLnTx/>
                <a:uFillTx/>
                <a:latin typeface="+mj-lt"/>
                <a:ea typeface="+mj-ea"/>
                <a:cs typeface="+mj-cs"/>
              </a:rPr>
              <a:t>MICROFRONTENDS</a:t>
            </a:r>
          </a:p>
        </p:txBody>
      </p:sp>
      <p:sp>
        <p:nvSpPr>
          <p:cNvPr id="1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7113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0365D02-19FA-AAE3-E3B0-7D472B3DCBD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406634F-7FF3-76FF-7C23-54738EB18ADE}"/>
              </a:ext>
            </a:extLst>
          </p:cNvPr>
          <p:cNvSpPr>
            <a:spLocks noGrp="1"/>
          </p:cNvSpPr>
          <p:nvPr>
            <p:ph type="title"/>
          </p:nvPr>
        </p:nvSpPr>
        <p:spPr>
          <a:xfrm>
            <a:off x="0" y="117984"/>
            <a:ext cx="10515600" cy="1325563"/>
          </a:xfrm>
        </p:spPr>
        <p:txBody>
          <a:bodyPr/>
          <a:lstStyle/>
          <a:p>
            <a:r>
              <a:rPr lang="en-US" b="1" dirty="0"/>
              <a:t>Microservices: an intro to </a:t>
            </a:r>
            <a:r>
              <a:rPr lang="en-US" b="1" dirty="0" err="1"/>
              <a:t>Microfrontends</a:t>
            </a:r>
            <a:r>
              <a:rPr lang="en-US" b="1" dirty="0"/>
              <a:t>:</a:t>
            </a:r>
          </a:p>
        </p:txBody>
      </p:sp>
      <p:sp>
        <p:nvSpPr>
          <p:cNvPr id="13" name="Rectangle 12">
            <a:extLst>
              <a:ext uri="{FF2B5EF4-FFF2-40B4-BE49-F238E27FC236}">
                <a16:creationId xmlns:a16="http://schemas.microsoft.com/office/drawing/2014/main" id="{925C7941-223A-A5E3-F34E-F4DA878D7826}"/>
              </a:ext>
            </a:extLst>
          </p:cNvPr>
          <p:cNvSpPr/>
          <p:nvPr/>
        </p:nvSpPr>
        <p:spPr>
          <a:xfrm>
            <a:off x="148223" y="1443547"/>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F80E1A10-5920-7329-C852-46E1D64105E5}"/>
              </a:ext>
            </a:extLst>
          </p:cNvPr>
          <p:cNvSpPr/>
          <p:nvPr/>
        </p:nvSpPr>
        <p:spPr>
          <a:xfrm>
            <a:off x="224422" y="1443547"/>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 small, independently deployable unit of a system that owns a single business capability, exposes an API, and manages its own data. Contrast with a monolith where all logic and data live in one deployable.</a:t>
            </a:r>
          </a:p>
        </p:txBody>
      </p:sp>
      <p:graphicFrame>
        <p:nvGraphicFramePr>
          <p:cNvPr id="16" name="Table 15">
            <a:extLst>
              <a:ext uri="{FF2B5EF4-FFF2-40B4-BE49-F238E27FC236}">
                <a16:creationId xmlns:a16="http://schemas.microsoft.com/office/drawing/2014/main" id="{D6531A75-1E37-3E2F-405C-53EEDB520703}"/>
              </a:ext>
            </a:extLst>
          </p:cNvPr>
          <p:cNvGraphicFramePr>
            <a:graphicFrameLocks noGrp="1"/>
          </p:cNvGraphicFramePr>
          <p:nvPr>
            <p:extLst>
              <p:ext uri="{D42A27DB-BD31-4B8C-83A1-F6EECF244321}">
                <p14:modId xmlns:p14="http://schemas.microsoft.com/office/powerpoint/2010/main" val="3137340935"/>
              </p:ext>
            </p:extLst>
          </p:nvPr>
        </p:nvGraphicFramePr>
        <p:xfrm>
          <a:off x="1451897" y="2402734"/>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130199866"/>
                    </a:ext>
                  </a:extLst>
                </a:gridCol>
                <a:gridCol w="4064000">
                  <a:extLst>
                    <a:ext uri="{9D8B030D-6E8A-4147-A177-3AD203B41FA5}">
                      <a16:colId xmlns:a16="http://schemas.microsoft.com/office/drawing/2014/main" val="1167220756"/>
                    </a:ext>
                  </a:extLst>
                </a:gridCol>
              </a:tblGrid>
              <a:tr h="357711">
                <a:tc>
                  <a:txBody>
                    <a:bodyPr/>
                    <a:lstStyle/>
                    <a:p>
                      <a:pPr algn="ctr"/>
                      <a:r>
                        <a:rPr lang="en-US" sz="2000" b="1" dirty="0">
                          <a:latin typeface="Arial" panose="020B0604020202020204" pitchFamily="34" charset="0"/>
                          <a:cs typeface="Arial" panose="020B0604020202020204" pitchFamily="34" charset="0"/>
                        </a:rPr>
                        <a:t>Monolith</a:t>
                      </a:r>
                    </a:p>
                  </a:txBody>
                  <a:tcPr anchor="ctr"/>
                </a:tc>
                <a:tc>
                  <a:txBody>
                    <a:bodyPr/>
                    <a:lstStyle/>
                    <a:p>
                      <a:pPr algn="ctr"/>
                      <a:r>
                        <a:rPr lang="en-US" sz="2000" b="1" dirty="0">
                          <a:latin typeface="Arial" panose="020B0604020202020204" pitchFamily="34" charset="0"/>
                          <a:cs typeface="Arial" panose="020B0604020202020204" pitchFamily="34" charset="0"/>
                        </a:rPr>
                        <a:t>Microservices</a:t>
                      </a:r>
                    </a:p>
                  </a:txBody>
                  <a:tcPr anchor="ctr"/>
                </a:tc>
                <a:extLst>
                  <a:ext uri="{0D108BD9-81ED-4DB2-BD59-A6C34878D82A}">
                    <a16:rowId xmlns:a16="http://schemas.microsoft.com/office/drawing/2014/main" val="2597872219"/>
                  </a:ext>
                </a:extLst>
              </a:tr>
              <a:tr h="334781">
                <a:tc>
                  <a:txBody>
                    <a:bodyPr/>
                    <a:lstStyle/>
                    <a:p>
                      <a:pPr algn="ctr"/>
                      <a:r>
                        <a:rPr lang="en-US" sz="1800" b="1" i="0" kern="1200" dirty="0">
                          <a:solidFill>
                            <a:schemeClr val="dk1"/>
                          </a:solidFill>
                          <a:effectLst/>
                          <a:latin typeface="Arial" panose="020B0604020202020204" pitchFamily="34" charset="0"/>
                          <a:ea typeface="+mn-ea"/>
                          <a:cs typeface="Arial" panose="020B0604020202020204" pitchFamily="34" charset="0"/>
                        </a:rPr>
                        <a:t>Simple to develop &amp; debug</a:t>
                      </a:r>
                    </a:p>
                  </a:txBody>
                  <a:tcPr anchor="ctr"/>
                </a:tc>
                <a:tc>
                  <a:txBody>
                    <a:bodyPr/>
                    <a:lstStyle/>
                    <a:p>
                      <a:pPr algn="ctr"/>
                      <a:r>
                        <a:rPr lang="en-US" sz="1800" b="1" i="0" kern="1200" dirty="0">
                          <a:solidFill>
                            <a:schemeClr val="dk1"/>
                          </a:solidFill>
                          <a:effectLst/>
                          <a:latin typeface="Arial" panose="020B0604020202020204" pitchFamily="34" charset="0"/>
                          <a:ea typeface="+mn-ea"/>
                          <a:cs typeface="Arial" panose="020B0604020202020204" pitchFamily="34" charset="0"/>
                        </a:rPr>
                        <a:t>Independent scaling</a:t>
                      </a:r>
                    </a:p>
                  </a:txBody>
                  <a:tcPr anchor="ctr"/>
                </a:tc>
                <a:extLst>
                  <a:ext uri="{0D108BD9-81ED-4DB2-BD59-A6C34878D82A}">
                    <a16:rowId xmlns:a16="http://schemas.microsoft.com/office/drawing/2014/main" val="3330345406"/>
                  </a:ext>
                </a:extLst>
              </a:tr>
              <a:tr h="3347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Single deploy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Tech heterogeneity</a:t>
                      </a:r>
                    </a:p>
                  </a:txBody>
                  <a:tcPr anchor="ctr"/>
                </a:tc>
                <a:extLst>
                  <a:ext uri="{0D108BD9-81ED-4DB2-BD59-A6C34878D82A}">
                    <a16:rowId xmlns:a16="http://schemas.microsoft.com/office/drawing/2014/main" val="3900203081"/>
                  </a:ext>
                </a:extLst>
              </a:tr>
              <a:tr h="3347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Shared DB</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Fault isolation</a:t>
                      </a:r>
                    </a:p>
                  </a:txBody>
                  <a:tcPr anchor="ctr"/>
                </a:tc>
                <a:extLst>
                  <a:ext uri="{0D108BD9-81ED-4DB2-BD59-A6C34878D82A}">
                    <a16:rowId xmlns:a16="http://schemas.microsoft.com/office/drawing/2014/main" val="3880853319"/>
                  </a:ext>
                </a:extLst>
              </a:tr>
              <a:tr h="3347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Scales as a whole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Complex ops (DevOps)</a:t>
                      </a:r>
                    </a:p>
                  </a:txBody>
                  <a:tcPr anchor="ctr"/>
                </a:tc>
                <a:extLst>
                  <a:ext uri="{0D108BD9-81ED-4DB2-BD59-A6C34878D82A}">
                    <a16:rowId xmlns:a16="http://schemas.microsoft.com/office/drawing/2014/main" val="500046264"/>
                  </a:ext>
                </a:extLst>
              </a:tr>
              <a:tr h="3347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Tight coupling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Arial" panose="020B0604020202020204" pitchFamily="34" charset="0"/>
                          <a:ea typeface="+mn-ea"/>
                          <a:cs typeface="Arial" panose="020B0604020202020204" pitchFamily="34" charset="0"/>
                        </a:rPr>
                        <a:t>Network latency</a:t>
                      </a:r>
                    </a:p>
                  </a:txBody>
                  <a:tcPr anchor="ctr"/>
                </a:tc>
                <a:extLst>
                  <a:ext uri="{0D108BD9-81ED-4DB2-BD59-A6C34878D82A}">
                    <a16:rowId xmlns:a16="http://schemas.microsoft.com/office/drawing/2014/main" val="855533653"/>
                  </a:ext>
                </a:extLst>
              </a:tr>
            </a:tbl>
          </a:graphicData>
        </a:graphic>
      </p:graphicFrame>
      <p:sp>
        <p:nvSpPr>
          <p:cNvPr id="20" name="Rectangle 19">
            <a:extLst>
              <a:ext uri="{FF2B5EF4-FFF2-40B4-BE49-F238E27FC236}">
                <a16:creationId xmlns:a16="http://schemas.microsoft.com/office/drawing/2014/main" id="{2BE08A36-8B1B-6212-E19F-EDEF02D0C7B2}"/>
              </a:ext>
            </a:extLst>
          </p:cNvPr>
          <p:cNvSpPr/>
          <p:nvPr/>
        </p:nvSpPr>
        <p:spPr>
          <a:xfrm>
            <a:off x="148223" y="4800281"/>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EFBE3BF7-6C74-4037-327C-8ECD0AF14D1B}"/>
              </a:ext>
            </a:extLst>
          </p:cNvPr>
          <p:cNvSpPr/>
          <p:nvPr/>
        </p:nvSpPr>
        <p:spPr>
          <a:xfrm>
            <a:off x="224422" y="4800281"/>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Communication types are either synchronous or a</a:t>
            </a:r>
            <a:r>
              <a:rPr lang="en-US" b="1" dirty="0"/>
              <a:t>synchronous. Prefer async for writes/events, sync for queries needing immediate data</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Rectangle 21">
            <a:extLst>
              <a:ext uri="{FF2B5EF4-FFF2-40B4-BE49-F238E27FC236}">
                <a16:creationId xmlns:a16="http://schemas.microsoft.com/office/drawing/2014/main" id="{DF42C734-7EF7-6732-23FC-7256B89AAAD7}"/>
              </a:ext>
            </a:extLst>
          </p:cNvPr>
          <p:cNvSpPr/>
          <p:nvPr/>
        </p:nvSpPr>
        <p:spPr>
          <a:xfrm>
            <a:off x="148223" y="5759468"/>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Rectangle 22">
            <a:extLst>
              <a:ext uri="{FF2B5EF4-FFF2-40B4-BE49-F238E27FC236}">
                <a16:creationId xmlns:a16="http://schemas.microsoft.com/office/drawing/2014/main" id="{D5D58B4F-09E0-E983-1F85-B69216D41091}"/>
              </a:ext>
            </a:extLst>
          </p:cNvPr>
          <p:cNvSpPr/>
          <p:nvPr/>
        </p:nvSpPr>
        <p:spPr>
          <a:xfrm>
            <a:off x="224422" y="5759468"/>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API Gateway: Single entry point for all clients. Handles: routing, auth, rate limiting, SSL termination, aggregation. Backends for Frontends (BFF) pattern =&gt; one gateway per client type.</a:t>
            </a:r>
          </a:p>
        </p:txBody>
      </p:sp>
    </p:spTree>
    <p:extLst>
      <p:ext uri="{BB962C8B-B14F-4D97-AF65-F5344CB8AC3E}">
        <p14:creationId xmlns:p14="http://schemas.microsoft.com/office/powerpoint/2010/main" val="31667974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0" grpId="0" animBg="1"/>
      <p:bldP spid="21" grpId="0" animBg="1"/>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459C610-15C9-11FE-E9F4-66EA6B419C7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15EFB81-80F4-C65A-0DF7-8700532395D8}"/>
              </a:ext>
            </a:extLst>
          </p:cNvPr>
          <p:cNvSpPr>
            <a:spLocks noGrp="1"/>
          </p:cNvSpPr>
          <p:nvPr>
            <p:ph type="title"/>
          </p:nvPr>
        </p:nvSpPr>
        <p:spPr>
          <a:xfrm>
            <a:off x="0" y="117984"/>
            <a:ext cx="10515600" cy="1325563"/>
          </a:xfrm>
        </p:spPr>
        <p:txBody>
          <a:bodyPr/>
          <a:lstStyle/>
          <a:p>
            <a:r>
              <a:rPr lang="en-US" b="1" dirty="0"/>
              <a:t>Microservices: an intro to </a:t>
            </a:r>
            <a:r>
              <a:rPr lang="en-US" b="1" dirty="0" err="1"/>
              <a:t>Microfrontends</a:t>
            </a:r>
            <a:r>
              <a:rPr lang="en-US" b="1" dirty="0"/>
              <a:t>:</a:t>
            </a:r>
          </a:p>
        </p:txBody>
      </p:sp>
      <p:sp>
        <p:nvSpPr>
          <p:cNvPr id="13" name="Rectangle 12">
            <a:extLst>
              <a:ext uri="{FF2B5EF4-FFF2-40B4-BE49-F238E27FC236}">
                <a16:creationId xmlns:a16="http://schemas.microsoft.com/office/drawing/2014/main" id="{8EE9675B-7434-B5ED-673B-953B68ADFEB5}"/>
              </a:ext>
            </a:extLst>
          </p:cNvPr>
          <p:cNvSpPr/>
          <p:nvPr/>
        </p:nvSpPr>
        <p:spPr>
          <a:xfrm>
            <a:off x="148223" y="1414049"/>
            <a:ext cx="111760" cy="55240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0D83C43-F64C-6D9D-6C63-7F95A2A7673F}"/>
              </a:ext>
            </a:extLst>
          </p:cNvPr>
          <p:cNvSpPr/>
          <p:nvPr/>
        </p:nvSpPr>
        <p:spPr>
          <a:xfrm>
            <a:off x="224422" y="1414049"/>
            <a:ext cx="11743155" cy="55240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What is the difference between microservices and SOA(Service Oriented Architecture)?</a:t>
            </a:r>
          </a:p>
        </p:txBody>
      </p:sp>
      <p:sp>
        <p:nvSpPr>
          <p:cNvPr id="2" name="Rectangle 1">
            <a:extLst>
              <a:ext uri="{FF2B5EF4-FFF2-40B4-BE49-F238E27FC236}">
                <a16:creationId xmlns:a16="http://schemas.microsoft.com/office/drawing/2014/main" id="{9312CCFA-1B75-730C-9760-45CC399B6CFE}"/>
              </a:ext>
            </a:extLst>
          </p:cNvPr>
          <p:cNvSpPr/>
          <p:nvPr/>
        </p:nvSpPr>
        <p:spPr>
          <a:xfrm>
            <a:off x="148223" y="2072808"/>
            <a:ext cx="111760" cy="135619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34944217-15AA-E91F-D5B3-8ECD2AC00974}"/>
              </a:ext>
            </a:extLst>
          </p:cNvPr>
          <p:cNvSpPr/>
          <p:nvPr/>
        </p:nvSpPr>
        <p:spPr>
          <a:xfrm>
            <a:off x="224422" y="2072808"/>
            <a:ext cx="11743155" cy="135619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latin typeface="Arial" panose="020B0604020202020204" pitchFamily="34" charset="0"/>
                <a:cs typeface="Arial" panose="020B0604020202020204" pitchFamily="34" charset="0"/>
              </a:rPr>
              <a:t>SOA (Service-Oriented Architecture) services typically communicate over SOAP/ESB and share common data schemas. Microservices are finer-grained, communicate over lightweight protocols (REST/</a:t>
            </a:r>
            <a:r>
              <a:rPr lang="en-US" b="1" dirty="0" err="1">
                <a:latin typeface="Arial" panose="020B0604020202020204" pitchFamily="34" charset="0"/>
                <a:cs typeface="Arial" panose="020B0604020202020204" pitchFamily="34" charset="0"/>
              </a:rPr>
              <a:t>gRPC</a:t>
            </a:r>
            <a:r>
              <a:rPr lang="en-US" b="1" dirty="0">
                <a:latin typeface="Arial" panose="020B0604020202020204" pitchFamily="34" charset="0"/>
                <a:cs typeface="Arial" panose="020B0604020202020204" pitchFamily="34" charset="0"/>
              </a:rPr>
              <a:t>/messaging), each owns its own database, and are independently deployable. SOA often has a central "smart pipe" (ESB); microservices prefer "smart endpoints, dumb pipes".</a:t>
            </a:r>
            <a:endParaRPr kumimoji="0" lang="en-US" sz="2000" b="1" i="0" u="none" strike="noStrike" kern="120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05D9B94-980E-9E8C-7FB1-FB19EAF640F8}"/>
              </a:ext>
            </a:extLst>
          </p:cNvPr>
          <p:cNvSpPr/>
          <p:nvPr/>
        </p:nvSpPr>
        <p:spPr>
          <a:xfrm>
            <a:off x="148223" y="3665636"/>
            <a:ext cx="111760" cy="55240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7AA905EB-D53E-F94C-7B8F-54E2097BF485}"/>
              </a:ext>
            </a:extLst>
          </p:cNvPr>
          <p:cNvSpPr/>
          <p:nvPr/>
        </p:nvSpPr>
        <p:spPr>
          <a:xfrm>
            <a:off x="224422" y="3665636"/>
            <a:ext cx="11743155" cy="552402"/>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ea typeface="+mn-ea"/>
                <a:cs typeface="Arial" panose="020B0604020202020204" pitchFamily="34" charset="0"/>
              </a:rPr>
              <a:t>What are the drawbacks of microservices?</a:t>
            </a:r>
          </a:p>
        </p:txBody>
      </p:sp>
      <p:sp>
        <p:nvSpPr>
          <p:cNvPr id="6" name="Rectangle 5">
            <a:extLst>
              <a:ext uri="{FF2B5EF4-FFF2-40B4-BE49-F238E27FC236}">
                <a16:creationId xmlns:a16="http://schemas.microsoft.com/office/drawing/2014/main" id="{505707DE-6C8C-189A-A333-0C8BBC237A5E}"/>
              </a:ext>
            </a:extLst>
          </p:cNvPr>
          <p:cNvSpPr/>
          <p:nvPr/>
        </p:nvSpPr>
        <p:spPr>
          <a:xfrm>
            <a:off x="148223" y="4324395"/>
            <a:ext cx="111760" cy="172244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84D8299-E6AA-763B-6A23-93A739D4A7E4}"/>
              </a:ext>
            </a:extLst>
          </p:cNvPr>
          <p:cNvSpPr/>
          <p:nvPr/>
        </p:nvSpPr>
        <p:spPr>
          <a:xfrm>
            <a:off x="224422" y="4324395"/>
            <a:ext cx="11743155" cy="172244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lvl="0" indent="-285750">
              <a:buFont typeface="Arial" panose="020B0604020202020204" pitchFamily="34" charset="0"/>
              <a:buChar char="•"/>
              <a:defRPr/>
            </a:pPr>
            <a:r>
              <a:rPr lang="en-US" b="1" dirty="0">
                <a:latin typeface="Arial" panose="020B0604020202020204" pitchFamily="34" charset="0"/>
                <a:cs typeface="Arial" panose="020B0604020202020204" pitchFamily="34" charset="0"/>
              </a:rPr>
              <a:t>Operational complexity requires orchestration (Kubernetes) and CI/CD pipelines per service.</a:t>
            </a:r>
          </a:p>
          <a:p>
            <a:pPr marL="285750" lvl="0" indent="-285750">
              <a:buFont typeface="Arial" panose="020B0604020202020204" pitchFamily="34" charset="0"/>
              <a:buChar char="•"/>
              <a:defRPr/>
            </a:pPr>
            <a:r>
              <a:rPr lang="en-US" b="1" dirty="0">
                <a:latin typeface="Arial" panose="020B0604020202020204" pitchFamily="34" charset="0"/>
                <a:cs typeface="Arial" panose="020B0604020202020204" pitchFamily="34" charset="0"/>
              </a:rPr>
              <a:t>Network latency — in-process calls become network calls.</a:t>
            </a:r>
          </a:p>
          <a:p>
            <a:pPr marL="285750" lvl="0" indent="-285750">
              <a:buFont typeface="Arial" panose="020B0604020202020204" pitchFamily="34" charset="0"/>
              <a:buChar char="•"/>
              <a:defRPr/>
            </a:pPr>
            <a:r>
              <a:rPr lang="en-US" b="1" dirty="0">
                <a:latin typeface="Arial" panose="020B0604020202020204" pitchFamily="34" charset="0"/>
                <a:cs typeface="Arial" panose="020B0604020202020204" pitchFamily="34" charset="0"/>
              </a:rPr>
              <a:t>Distributed debugging — hard without distributed tracing.</a:t>
            </a:r>
          </a:p>
          <a:p>
            <a:pPr marL="285750" lvl="0" indent="-285750">
              <a:buFont typeface="Arial" panose="020B0604020202020204" pitchFamily="34" charset="0"/>
              <a:buChar char="•"/>
              <a:defRPr/>
            </a:pPr>
            <a:r>
              <a:rPr lang="en-US" b="1" dirty="0">
                <a:latin typeface="Arial" panose="020B0604020202020204" pitchFamily="34" charset="0"/>
                <a:cs typeface="Arial" panose="020B0604020202020204" pitchFamily="34" charset="0"/>
              </a:rPr>
              <a:t>Data consistency — no ACID across services; eventual consistency adds complexity.</a:t>
            </a:r>
          </a:p>
          <a:p>
            <a:pPr marL="285750" lvl="0" indent="-285750">
              <a:buFont typeface="Arial" panose="020B0604020202020204" pitchFamily="34" charset="0"/>
              <a:buChar char="•"/>
              <a:defRPr/>
            </a:pPr>
            <a:r>
              <a:rPr lang="en-US" b="1" dirty="0">
                <a:latin typeface="Arial" panose="020B0604020202020204" pitchFamily="34" charset="0"/>
                <a:cs typeface="Arial" panose="020B0604020202020204" pitchFamily="34" charset="0"/>
              </a:rPr>
              <a:t>Testing — integration testing across many services is hard.</a:t>
            </a:r>
          </a:p>
          <a:p>
            <a:pPr lvl="0">
              <a:defRPr/>
            </a:pPr>
            <a:r>
              <a:rPr kumimoji="0" lang="en-US" sz="2000" b="1" i="0" u="none" strike="noStrike" kern="1200" cap="none" spc="0" normalizeH="0" baseline="0" noProof="0" dirty="0">
                <a:ln>
                  <a:noFill/>
                </a:ln>
                <a:solidFill>
                  <a:schemeClr val="accent2"/>
                </a:solidFill>
                <a:effectLst/>
                <a:uLnTx/>
                <a:uFillTx/>
                <a:latin typeface="Arial" panose="020B0604020202020204" pitchFamily="34" charset="0"/>
                <a:cs typeface="Arial" panose="020B0604020202020204" pitchFamily="34" charset="0"/>
              </a:rPr>
              <a:t>“It trades technical simplicity for organizational scalability."</a:t>
            </a:r>
          </a:p>
        </p:txBody>
      </p:sp>
    </p:spTree>
    <p:extLst>
      <p:ext uri="{BB962C8B-B14F-4D97-AF65-F5344CB8AC3E}">
        <p14:creationId xmlns:p14="http://schemas.microsoft.com/office/powerpoint/2010/main" val="40446246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84655CA-E658-408A-187B-6E0EF888F5C5}"/>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5F2ECA4-A9E4-DFCB-155D-8A6A669982A7}"/>
              </a:ext>
            </a:extLst>
          </p:cNvPr>
          <p:cNvSpPr>
            <a:spLocks noGrp="1"/>
          </p:cNvSpPr>
          <p:nvPr>
            <p:ph type="title"/>
          </p:nvPr>
        </p:nvSpPr>
        <p:spPr>
          <a:xfrm>
            <a:off x="0" y="117984"/>
            <a:ext cx="10515600" cy="1325563"/>
          </a:xfrm>
        </p:spPr>
        <p:txBody>
          <a:bodyPr/>
          <a:lstStyle/>
          <a:p>
            <a:r>
              <a:rPr lang="en-US" b="1" dirty="0"/>
              <a:t>Introduction</a:t>
            </a:r>
          </a:p>
        </p:txBody>
      </p:sp>
      <p:sp>
        <p:nvSpPr>
          <p:cNvPr id="9" name="Rectangle 8">
            <a:extLst>
              <a:ext uri="{FF2B5EF4-FFF2-40B4-BE49-F238E27FC236}">
                <a16:creationId xmlns:a16="http://schemas.microsoft.com/office/drawing/2014/main" id="{B37E888E-C6DD-EF99-64C0-1B6333E3CFB8}"/>
              </a:ext>
            </a:extLst>
          </p:cNvPr>
          <p:cNvSpPr/>
          <p:nvPr/>
        </p:nvSpPr>
        <p:spPr>
          <a:xfrm>
            <a:off x="148223" y="1437953"/>
            <a:ext cx="111760" cy="5666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53F411D5-B82E-2972-3285-16BCF5B403F2}"/>
              </a:ext>
            </a:extLst>
          </p:cNvPr>
          <p:cNvSpPr/>
          <p:nvPr/>
        </p:nvSpPr>
        <p:spPr>
          <a:xfrm>
            <a:off x="224422" y="1437953"/>
            <a:ext cx="11743155" cy="5666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err="1">
                <a:solidFill>
                  <a:prstClr val="white"/>
                </a:solidFill>
                <a:latin typeface="Arial" panose="020B0604020202020204" pitchFamily="34" charset="0"/>
                <a:cs typeface="Arial" panose="020B0604020202020204" pitchFamily="34" charset="0"/>
              </a:rPr>
              <a:t>Microfrontends</a:t>
            </a:r>
            <a:r>
              <a:rPr lang="en-US" sz="2000" b="1" dirty="0">
                <a:solidFill>
                  <a:prstClr val="white"/>
                </a:solidFill>
                <a:latin typeface="Arial" panose="020B0604020202020204" pitchFamily="34" charset="0"/>
                <a:cs typeface="Arial" panose="020B0604020202020204" pitchFamily="34" charset="0"/>
              </a:rPr>
              <a:t> are transforming how teams build and deploy frontend applications at scale.</a:t>
            </a:r>
          </a:p>
        </p:txBody>
      </p:sp>
      <p:sp>
        <p:nvSpPr>
          <p:cNvPr id="13" name="Rectangle 12">
            <a:extLst>
              <a:ext uri="{FF2B5EF4-FFF2-40B4-BE49-F238E27FC236}">
                <a16:creationId xmlns:a16="http://schemas.microsoft.com/office/drawing/2014/main" id="{C696366B-8BAC-B48C-0E6D-AB23D4274F84}"/>
              </a:ext>
            </a:extLst>
          </p:cNvPr>
          <p:cNvSpPr/>
          <p:nvPr/>
        </p:nvSpPr>
        <p:spPr>
          <a:xfrm>
            <a:off x="148223" y="2140379"/>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A4D336D-A2B6-E719-2647-C44550B8E2A4}"/>
              </a:ext>
            </a:extLst>
          </p:cNvPr>
          <p:cNvSpPr/>
          <p:nvPr/>
        </p:nvSpPr>
        <p:spPr>
          <a:xfrm>
            <a:off x="224422" y="2140379"/>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Good frontend development is hard. Scaling frontend development so that many teams can work simultaneously on a large and complex product is even harder.</a:t>
            </a:r>
          </a:p>
        </p:txBody>
      </p:sp>
      <p:sp>
        <p:nvSpPr>
          <p:cNvPr id="2" name="Rectangle 1">
            <a:extLst>
              <a:ext uri="{FF2B5EF4-FFF2-40B4-BE49-F238E27FC236}">
                <a16:creationId xmlns:a16="http://schemas.microsoft.com/office/drawing/2014/main" id="{F3E0D9A8-3DBC-EDCB-BCC9-FD15128AE0AE}"/>
              </a:ext>
            </a:extLst>
          </p:cNvPr>
          <p:cNvSpPr/>
          <p:nvPr/>
        </p:nvSpPr>
        <p:spPr>
          <a:xfrm>
            <a:off x="148223" y="3047355"/>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9655950B-CC12-9039-6ACF-ED55D51FFFC3}"/>
              </a:ext>
            </a:extLst>
          </p:cNvPr>
          <p:cNvSpPr/>
          <p:nvPr/>
        </p:nvSpPr>
        <p:spPr>
          <a:xfrm>
            <a:off x="224422" y="3047355"/>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Perhaps you want to build a progressive or responsive web application but can't find an easy place to start integrating these features into the existing code.</a:t>
            </a:r>
          </a:p>
        </p:txBody>
      </p:sp>
      <p:sp>
        <p:nvSpPr>
          <p:cNvPr id="4" name="Rectangle 3">
            <a:extLst>
              <a:ext uri="{FF2B5EF4-FFF2-40B4-BE49-F238E27FC236}">
                <a16:creationId xmlns:a16="http://schemas.microsoft.com/office/drawing/2014/main" id="{509CFADB-0B90-14AA-3544-08DD519B485B}"/>
              </a:ext>
            </a:extLst>
          </p:cNvPr>
          <p:cNvSpPr/>
          <p:nvPr/>
        </p:nvSpPr>
        <p:spPr>
          <a:xfrm>
            <a:off x="148223" y="3954331"/>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12ACCD8-00D4-DFAB-6B21-2FE16D33DFDB}"/>
              </a:ext>
            </a:extLst>
          </p:cNvPr>
          <p:cNvSpPr/>
          <p:nvPr/>
        </p:nvSpPr>
        <p:spPr>
          <a:xfrm>
            <a:off x="224422" y="3954331"/>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Perhaps you want to start using new JavaScript language features (or one of the myriad languages that can compile to JavaScript), but you can't fit the necessary build tools into your existing build process.</a:t>
            </a:r>
          </a:p>
        </p:txBody>
      </p:sp>
      <p:sp>
        <p:nvSpPr>
          <p:cNvPr id="6" name="Rectangle 5">
            <a:extLst>
              <a:ext uri="{FF2B5EF4-FFF2-40B4-BE49-F238E27FC236}">
                <a16:creationId xmlns:a16="http://schemas.microsoft.com/office/drawing/2014/main" id="{10C7C550-72EE-F555-4E00-362FAF81AD07}"/>
              </a:ext>
            </a:extLst>
          </p:cNvPr>
          <p:cNvSpPr/>
          <p:nvPr/>
        </p:nvSpPr>
        <p:spPr>
          <a:xfrm>
            <a:off x="148223" y="4866194"/>
            <a:ext cx="111760"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A04E3EC-08DD-ABCA-FB44-34076D959BC7}"/>
              </a:ext>
            </a:extLst>
          </p:cNvPr>
          <p:cNvSpPr/>
          <p:nvPr/>
        </p:nvSpPr>
        <p:spPr>
          <a:xfrm>
            <a:off x="224422" y="4866194"/>
            <a:ext cx="11743155"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Or maybe you just want to scale your development so that multiple teams can work on a single product simultaneously, but the coupling and complexity in the existing monolith means that everyone is stepping on each other's toes.</a:t>
            </a:r>
          </a:p>
        </p:txBody>
      </p:sp>
      <p:sp>
        <p:nvSpPr>
          <p:cNvPr id="11" name="Rectangle 10">
            <a:extLst>
              <a:ext uri="{FF2B5EF4-FFF2-40B4-BE49-F238E27FC236}">
                <a16:creationId xmlns:a16="http://schemas.microsoft.com/office/drawing/2014/main" id="{50E901B2-F434-9CFA-30A6-35B8E84EF251}"/>
              </a:ext>
            </a:extLst>
          </p:cNvPr>
          <p:cNvSpPr/>
          <p:nvPr/>
        </p:nvSpPr>
        <p:spPr>
          <a:xfrm>
            <a:off x="148223" y="5892936"/>
            <a:ext cx="111760"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C3CAA6E1-AC58-89FD-A513-68C5515F16D1}"/>
              </a:ext>
            </a:extLst>
          </p:cNvPr>
          <p:cNvSpPr/>
          <p:nvPr/>
        </p:nvSpPr>
        <p:spPr>
          <a:xfrm>
            <a:off x="224422" y="5892936"/>
            <a:ext cx="11743155" cy="901559"/>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Lately we are seeing more and more attention being paid to the overall architecture and organizational structures that are necessary for complex, modern web development</a:t>
            </a:r>
          </a:p>
        </p:txBody>
      </p:sp>
    </p:spTree>
    <p:extLst>
      <p:ext uri="{BB962C8B-B14F-4D97-AF65-F5344CB8AC3E}">
        <p14:creationId xmlns:p14="http://schemas.microsoft.com/office/powerpoint/2010/main" val="19941982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087B08C-6A45-D0FB-4DF2-54AF337241B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F9DE2BF-0989-92A1-5F36-2D66FB0B9022}"/>
              </a:ext>
            </a:extLst>
          </p:cNvPr>
          <p:cNvSpPr>
            <a:spLocks noGrp="1"/>
          </p:cNvSpPr>
          <p:nvPr>
            <p:ph type="title"/>
          </p:nvPr>
        </p:nvSpPr>
        <p:spPr>
          <a:xfrm>
            <a:off x="0" y="117984"/>
            <a:ext cx="10515600" cy="1325563"/>
          </a:xfrm>
        </p:spPr>
        <p:txBody>
          <a:bodyPr/>
          <a:lstStyle/>
          <a:p>
            <a:r>
              <a:rPr lang="en-US" b="1" dirty="0"/>
              <a:t>What are </a:t>
            </a:r>
            <a:r>
              <a:rPr lang="en-US" b="1" dirty="0" err="1"/>
              <a:t>Microfrontends</a:t>
            </a:r>
            <a:r>
              <a:rPr lang="en-US" b="1" dirty="0"/>
              <a:t>?</a:t>
            </a:r>
          </a:p>
        </p:txBody>
      </p:sp>
      <p:sp>
        <p:nvSpPr>
          <p:cNvPr id="13" name="Rectangle 12">
            <a:extLst>
              <a:ext uri="{FF2B5EF4-FFF2-40B4-BE49-F238E27FC236}">
                <a16:creationId xmlns:a16="http://schemas.microsoft.com/office/drawing/2014/main" id="{1726B33C-2D09-7FD2-F0C7-99902F666ED9}"/>
              </a:ext>
            </a:extLst>
          </p:cNvPr>
          <p:cNvSpPr/>
          <p:nvPr/>
        </p:nvSpPr>
        <p:spPr>
          <a:xfrm>
            <a:off x="148223" y="1443547"/>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56DA1A0-942A-AC91-7BFF-72808FBE68FC}"/>
              </a:ext>
            </a:extLst>
          </p:cNvPr>
          <p:cNvSpPr/>
          <p:nvPr/>
        </p:nvSpPr>
        <p:spPr>
          <a:xfrm>
            <a:off x="224422" y="1443547"/>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An architectural style where independently deliverable frontend applications are composed into a greater whole.</a:t>
            </a:r>
          </a:p>
        </p:txBody>
      </p:sp>
      <p:sp>
        <p:nvSpPr>
          <p:cNvPr id="2" name="Rectangle 1">
            <a:extLst>
              <a:ext uri="{FF2B5EF4-FFF2-40B4-BE49-F238E27FC236}">
                <a16:creationId xmlns:a16="http://schemas.microsoft.com/office/drawing/2014/main" id="{1904B8B9-3EA5-009D-C45A-A70FC65BF031}"/>
              </a:ext>
            </a:extLst>
          </p:cNvPr>
          <p:cNvSpPr/>
          <p:nvPr/>
        </p:nvSpPr>
        <p:spPr>
          <a:xfrm>
            <a:off x="148223" y="2350522"/>
            <a:ext cx="111760" cy="149464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E5D4ABC0-DD6A-7DC7-1B14-8059CBC5CA0A}"/>
              </a:ext>
            </a:extLst>
          </p:cNvPr>
          <p:cNvSpPr/>
          <p:nvPr/>
        </p:nvSpPr>
        <p:spPr>
          <a:xfrm>
            <a:off x="224422" y="2350522"/>
            <a:ext cx="11743155" cy="149464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Some of the key benefits that we've seen from micro frontends are:</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smaller, more cohesive and maintainable codebases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more scalable organizations with decoupled, autonomous teams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ability to upgrade, update, or even rewrite parts of the frontend in a more incremental fashion than was previously possible</a:t>
            </a:r>
          </a:p>
        </p:txBody>
      </p:sp>
      <p:sp>
        <p:nvSpPr>
          <p:cNvPr id="15" name="Rectangle 14">
            <a:extLst>
              <a:ext uri="{FF2B5EF4-FFF2-40B4-BE49-F238E27FC236}">
                <a16:creationId xmlns:a16="http://schemas.microsoft.com/office/drawing/2014/main" id="{BCDA929E-6618-9CDD-1F40-5EDC090DD447}"/>
              </a:ext>
            </a:extLst>
          </p:cNvPr>
          <p:cNvSpPr/>
          <p:nvPr/>
        </p:nvSpPr>
        <p:spPr>
          <a:xfrm>
            <a:off x="148223" y="3965464"/>
            <a:ext cx="111760"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F62FB83A-27AE-C152-2566-B8A03BFAC0AC}"/>
              </a:ext>
            </a:extLst>
          </p:cNvPr>
          <p:cNvSpPr/>
          <p:nvPr/>
        </p:nvSpPr>
        <p:spPr>
          <a:xfrm>
            <a:off x="224422" y="3965464"/>
            <a:ext cx="11743155" cy="78668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overall idea is to move away from a big monolithic UI to decoupled UI codebases that can be owned, managed, and deployed by separate teams independently.</a:t>
            </a:r>
          </a:p>
        </p:txBody>
      </p:sp>
      <p:sp>
        <p:nvSpPr>
          <p:cNvPr id="17" name="Rectangle 16">
            <a:extLst>
              <a:ext uri="{FF2B5EF4-FFF2-40B4-BE49-F238E27FC236}">
                <a16:creationId xmlns:a16="http://schemas.microsoft.com/office/drawing/2014/main" id="{631E2E90-6132-98E6-CA63-8B24F805AAF5}"/>
              </a:ext>
            </a:extLst>
          </p:cNvPr>
          <p:cNvSpPr/>
          <p:nvPr/>
        </p:nvSpPr>
        <p:spPr>
          <a:xfrm>
            <a:off x="148223" y="4872439"/>
            <a:ext cx="111760" cy="18675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35B3EC06-8012-1045-C5D5-EC8BD18E4C87}"/>
              </a:ext>
            </a:extLst>
          </p:cNvPr>
          <p:cNvSpPr/>
          <p:nvPr/>
        </p:nvSpPr>
        <p:spPr>
          <a:xfrm>
            <a:off x="224422" y="4872439"/>
            <a:ext cx="11743155" cy="186757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What can this piece of UI be</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Pages – parts of a website owned by specific teams..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Components – Components like header and footer are good candidates for a </a:t>
            </a:r>
            <a:r>
              <a:rPr kumimoji="0" lang="en-US" sz="1600" b="1" i="0" u="none" strike="noStrike" kern="1200" cap="none" spc="0" normalizeH="0" baseline="0" noProof="0" dirty="0" err="1">
                <a:ln>
                  <a:noFill/>
                </a:ln>
                <a:solidFill>
                  <a:prstClr val="white"/>
                </a:solidFill>
                <a:effectLst/>
                <a:uLnTx/>
                <a:uFillTx/>
                <a:latin typeface="Arial" panose="020B0604020202020204" pitchFamily="34" charset="0"/>
                <a:ea typeface="+mn-ea"/>
              </a:rPr>
              <a:t>microfrontend</a:t>
            </a: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 approach as well. They’re relatively static but need to stay consistent across the website and may integrate with teams who own different sets of pages.</a:t>
            </a:r>
          </a:p>
          <a:p>
            <a:pPr marL="285750" marR="0" lvl="0" indent="-2857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prstClr val="white"/>
                </a:solidFill>
                <a:effectLst/>
                <a:uLnTx/>
                <a:uFillTx/>
                <a:latin typeface="Arial" panose="020B0604020202020204" pitchFamily="34" charset="0"/>
                <a:ea typeface="+mn-ea"/>
              </a:rPr>
              <a:t>Widgets – A recommendation widget may be owned by a recommendations team, for example, and it can be integrated into different parts of the page based on the context. </a:t>
            </a:r>
          </a:p>
        </p:txBody>
      </p:sp>
    </p:spTree>
    <p:extLst>
      <p:ext uri="{BB962C8B-B14F-4D97-AF65-F5344CB8AC3E}">
        <p14:creationId xmlns:p14="http://schemas.microsoft.com/office/powerpoint/2010/main" val="14158790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1B87B8FB-715A-C580-EEDC-281B7DE44CA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BA998F5-5F27-9965-88D1-15E5BAE48806}"/>
              </a:ext>
            </a:extLst>
          </p:cNvPr>
          <p:cNvSpPr>
            <a:spLocks noGrp="1"/>
          </p:cNvSpPr>
          <p:nvPr>
            <p:ph type="title"/>
          </p:nvPr>
        </p:nvSpPr>
        <p:spPr>
          <a:xfrm>
            <a:off x="0" y="117984"/>
            <a:ext cx="10515600" cy="1325563"/>
          </a:xfrm>
        </p:spPr>
        <p:txBody>
          <a:bodyPr/>
          <a:lstStyle/>
          <a:p>
            <a:r>
              <a:rPr lang="en-US" b="1" dirty="0"/>
              <a:t>Incremental upgrades:</a:t>
            </a:r>
          </a:p>
        </p:txBody>
      </p:sp>
      <p:sp>
        <p:nvSpPr>
          <p:cNvPr id="2" name="Rectangle 1">
            <a:extLst>
              <a:ext uri="{FF2B5EF4-FFF2-40B4-BE49-F238E27FC236}">
                <a16:creationId xmlns:a16="http://schemas.microsoft.com/office/drawing/2014/main" id="{0CDEB1A5-FD2F-DA63-BEDD-E752897FE1A7}"/>
              </a:ext>
            </a:extLst>
          </p:cNvPr>
          <p:cNvSpPr/>
          <p:nvPr/>
        </p:nvSpPr>
        <p:spPr>
          <a:xfrm>
            <a:off x="148223" y="1218673"/>
            <a:ext cx="111760" cy="99055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606A8EDB-1067-BB89-E7E0-1AEA5B134D68}"/>
              </a:ext>
            </a:extLst>
          </p:cNvPr>
          <p:cNvSpPr/>
          <p:nvPr/>
        </p:nvSpPr>
        <p:spPr>
          <a:xfrm>
            <a:off x="224422" y="1218673"/>
            <a:ext cx="11743155" cy="99055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For many organizations this is the beginning of their micro frontends journey. The old, large, frontend monolith is being held back by yesteryear's tech stack, or by code written under delivery pressure, and it's getting to the point where a total rewrite is tempting</a:t>
            </a:r>
          </a:p>
        </p:txBody>
      </p:sp>
      <p:sp>
        <p:nvSpPr>
          <p:cNvPr id="15" name="Rectangle 14">
            <a:extLst>
              <a:ext uri="{FF2B5EF4-FFF2-40B4-BE49-F238E27FC236}">
                <a16:creationId xmlns:a16="http://schemas.microsoft.com/office/drawing/2014/main" id="{EE807934-E4A1-0AE3-497C-32A4B3A78178}"/>
              </a:ext>
            </a:extLst>
          </p:cNvPr>
          <p:cNvSpPr/>
          <p:nvPr/>
        </p:nvSpPr>
        <p:spPr>
          <a:xfrm>
            <a:off x="148223" y="2360813"/>
            <a:ext cx="111760" cy="94910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0030E9EE-0B79-2C50-7526-A9E27A1005EF}"/>
              </a:ext>
            </a:extLst>
          </p:cNvPr>
          <p:cNvSpPr/>
          <p:nvPr/>
        </p:nvSpPr>
        <p:spPr>
          <a:xfrm>
            <a:off x="224422" y="2360813"/>
            <a:ext cx="11743155" cy="94910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 order to avoid the perils of a full rewrite, we'd much prefer to strangle the old application piece by piece, and in the meantime continue to deliver new features to our customers without being weighed down by the monolith.</a:t>
            </a:r>
          </a:p>
        </p:txBody>
      </p:sp>
      <p:sp>
        <p:nvSpPr>
          <p:cNvPr id="6" name="Rectangle 5">
            <a:extLst>
              <a:ext uri="{FF2B5EF4-FFF2-40B4-BE49-F238E27FC236}">
                <a16:creationId xmlns:a16="http://schemas.microsoft.com/office/drawing/2014/main" id="{3C72CC56-19A3-9998-CF8C-846B96F98516}"/>
              </a:ext>
            </a:extLst>
          </p:cNvPr>
          <p:cNvSpPr/>
          <p:nvPr/>
        </p:nvSpPr>
        <p:spPr>
          <a:xfrm>
            <a:off x="148223" y="3461502"/>
            <a:ext cx="111760"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B0FDCF2A-7B66-47E6-D337-9FCEAA09B1D8}"/>
              </a:ext>
            </a:extLst>
          </p:cNvPr>
          <p:cNvSpPr/>
          <p:nvPr/>
        </p:nvSpPr>
        <p:spPr>
          <a:xfrm>
            <a:off x="224422" y="3461502"/>
            <a:ext cx="11743155"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existing code still needs to be maintained, and in some cases, it may make sense to continue to add new features to it, but now the choice is available.</a:t>
            </a:r>
          </a:p>
        </p:txBody>
      </p:sp>
      <p:sp>
        <p:nvSpPr>
          <p:cNvPr id="9" name="Rectangle 8">
            <a:extLst>
              <a:ext uri="{FF2B5EF4-FFF2-40B4-BE49-F238E27FC236}">
                <a16:creationId xmlns:a16="http://schemas.microsoft.com/office/drawing/2014/main" id="{91E9BDF4-46DB-FD55-A1D7-44DEB61E7C6A}"/>
              </a:ext>
            </a:extLst>
          </p:cNvPr>
          <p:cNvSpPr/>
          <p:nvPr/>
        </p:nvSpPr>
        <p:spPr>
          <a:xfrm>
            <a:off x="148223" y="4348446"/>
            <a:ext cx="111760" cy="96210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0C22F23-9DB8-545F-8913-130BD262FB40}"/>
              </a:ext>
            </a:extLst>
          </p:cNvPr>
          <p:cNvSpPr/>
          <p:nvPr/>
        </p:nvSpPr>
        <p:spPr>
          <a:xfrm>
            <a:off x="224422" y="4348446"/>
            <a:ext cx="11743155" cy="96210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endgame here is that we're afforded more freedom to make case-by-case decisions on individual parts of our product, and to make incremental upgrades to our architecture, our dependencies, and our user experience.</a:t>
            </a:r>
          </a:p>
        </p:txBody>
      </p:sp>
      <p:sp>
        <p:nvSpPr>
          <p:cNvPr id="11" name="Rectangle 10">
            <a:extLst>
              <a:ext uri="{FF2B5EF4-FFF2-40B4-BE49-F238E27FC236}">
                <a16:creationId xmlns:a16="http://schemas.microsoft.com/office/drawing/2014/main" id="{22210B0A-1309-FE11-1EB1-6E5943E3092D}"/>
              </a:ext>
            </a:extLst>
          </p:cNvPr>
          <p:cNvSpPr/>
          <p:nvPr/>
        </p:nvSpPr>
        <p:spPr>
          <a:xfrm>
            <a:off x="148223" y="5462137"/>
            <a:ext cx="111760" cy="85660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73722F88-47C9-2F9A-50CE-19C04CA79A32}"/>
              </a:ext>
            </a:extLst>
          </p:cNvPr>
          <p:cNvSpPr/>
          <p:nvPr/>
        </p:nvSpPr>
        <p:spPr>
          <a:xfrm>
            <a:off x="224422" y="5462137"/>
            <a:ext cx="11743155" cy="856601"/>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there is a major breaking change in our main framework, each micro frontend can be upgraded whenever it makes sense, rather than being forced to stop the world and upgrade everything at once.</a:t>
            </a:r>
          </a:p>
        </p:txBody>
      </p:sp>
    </p:spTree>
    <p:extLst>
      <p:ext uri="{BB962C8B-B14F-4D97-AF65-F5344CB8AC3E}">
        <p14:creationId xmlns:p14="http://schemas.microsoft.com/office/powerpoint/2010/main" val="10996546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4F2A991A-E3B9-2281-099A-488D226F861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3DF213D-F7F0-6EEC-B1DE-2F1480B653B2}"/>
              </a:ext>
            </a:extLst>
          </p:cNvPr>
          <p:cNvSpPr>
            <a:spLocks noGrp="1"/>
          </p:cNvSpPr>
          <p:nvPr>
            <p:ph type="title"/>
          </p:nvPr>
        </p:nvSpPr>
        <p:spPr>
          <a:xfrm>
            <a:off x="0" y="117984"/>
            <a:ext cx="10515600" cy="1325563"/>
          </a:xfrm>
        </p:spPr>
        <p:txBody>
          <a:bodyPr/>
          <a:lstStyle/>
          <a:p>
            <a:r>
              <a:rPr lang="en-US" b="1" dirty="0"/>
              <a:t>Independent deployment:</a:t>
            </a:r>
          </a:p>
        </p:txBody>
      </p:sp>
      <p:sp>
        <p:nvSpPr>
          <p:cNvPr id="2" name="Rectangle 1">
            <a:extLst>
              <a:ext uri="{FF2B5EF4-FFF2-40B4-BE49-F238E27FC236}">
                <a16:creationId xmlns:a16="http://schemas.microsoft.com/office/drawing/2014/main" id="{CBEB5DBD-8C45-1A73-7F59-2DEA7449330A}"/>
              </a:ext>
            </a:extLst>
          </p:cNvPr>
          <p:cNvSpPr/>
          <p:nvPr/>
        </p:nvSpPr>
        <p:spPr>
          <a:xfrm>
            <a:off x="148223" y="1218674"/>
            <a:ext cx="111760"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75260614-55B0-A2D5-E0C4-D0391D266EE5}"/>
              </a:ext>
            </a:extLst>
          </p:cNvPr>
          <p:cNvSpPr/>
          <p:nvPr/>
        </p:nvSpPr>
        <p:spPr>
          <a:xfrm>
            <a:off x="224422" y="1218674"/>
            <a:ext cx="11743155"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Just as with microservices, independent deploy ability of micro frontends is key. This reduces the scope of any given deployment, which in turn reduces the associated risk.</a:t>
            </a:r>
          </a:p>
        </p:txBody>
      </p:sp>
      <p:sp>
        <p:nvSpPr>
          <p:cNvPr id="15" name="Rectangle 14">
            <a:extLst>
              <a:ext uri="{FF2B5EF4-FFF2-40B4-BE49-F238E27FC236}">
                <a16:creationId xmlns:a16="http://schemas.microsoft.com/office/drawing/2014/main" id="{C1BF428D-1D07-F4E3-715F-78741D30DF17}"/>
              </a:ext>
            </a:extLst>
          </p:cNvPr>
          <p:cNvSpPr/>
          <p:nvPr/>
        </p:nvSpPr>
        <p:spPr>
          <a:xfrm>
            <a:off x="148223" y="2144510"/>
            <a:ext cx="111760"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B04ADE2-9FEA-B5E5-AE80-0D0C1CBF1D12}"/>
              </a:ext>
            </a:extLst>
          </p:cNvPr>
          <p:cNvSpPr/>
          <p:nvPr/>
        </p:nvSpPr>
        <p:spPr>
          <a:xfrm>
            <a:off x="224422" y="2144510"/>
            <a:ext cx="11743155" cy="77425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Regardless of how or where your frontend code is hosted, each micro frontend should have its own continuous delivery pipeline, which builds, tests and deploys it all the way to production.</a:t>
            </a:r>
          </a:p>
        </p:txBody>
      </p:sp>
      <p:sp>
        <p:nvSpPr>
          <p:cNvPr id="6" name="Rectangle 5">
            <a:extLst>
              <a:ext uri="{FF2B5EF4-FFF2-40B4-BE49-F238E27FC236}">
                <a16:creationId xmlns:a16="http://schemas.microsoft.com/office/drawing/2014/main" id="{9FF9CDE9-3E9B-F4B4-75FE-5D10003A9540}"/>
              </a:ext>
            </a:extLst>
          </p:cNvPr>
          <p:cNvSpPr/>
          <p:nvPr/>
        </p:nvSpPr>
        <p:spPr>
          <a:xfrm>
            <a:off x="148223" y="3070344"/>
            <a:ext cx="111760"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76551142-7744-B29E-7B33-063D91ED749E}"/>
              </a:ext>
            </a:extLst>
          </p:cNvPr>
          <p:cNvSpPr/>
          <p:nvPr/>
        </p:nvSpPr>
        <p:spPr>
          <a:xfrm>
            <a:off x="224422" y="3070344"/>
            <a:ext cx="11743155" cy="73536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If a given micro frontend is ready to go to production, it should be able to do so, and that decision should be up to the team who build and maintain it.</a:t>
            </a:r>
          </a:p>
        </p:txBody>
      </p:sp>
      <p:pic>
        <p:nvPicPr>
          <p:cNvPr id="5" name="Picture 4">
            <a:extLst>
              <a:ext uri="{FF2B5EF4-FFF2-40B4-BE49-F238E27FC236}">
                <a16:creationId xmlns:a16="http://schemas.microsoft.com/office/drawing/2014/main" id="{2150ADE1-C4FA-DBD7-6716-15176F385C1C}"/>
              </a:ext>
            </a:extLst>
          </p:cNvPr>
          <p:cNvPicPr>
            <a:picLocks noChangeAspect="1"/>
          </p:cNvPicPr>
          <p:nvPr/>
        </p:nvPicPr>
        <p:blipFill>
          <a:blip r:embed="rId3"/>
          <a:stretch>
            <a:fillRect/>
          </a:stretch>
        </p:blipFill>
        <p:spPr>
          <a:xfrm>
            <a:off x="855785" y="4056185"/>
            <a:ext cx="10245969" cy="2613493"/>
          </a:xfrm>
          <a:prstGeom prst="rect">
            <a:avLst/>
          </a:prstGeom>
        </p:spPr>
      </p:pic>
    </p:spTree>
    <p:extLst>
      <p:ext uri="{BB962C8B-B14F-4D97-AF65-F5344CB8AC3E}">
        <p14:creationId xmlns:p14="http://schemas.microsoft.com/office/powerpoint/2010/main" val="1203203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ACC26A65-F571-43CA-4626-D2377A844D1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76D6312-5384-6CF5-21C4-3DA3AF5C1D17}"/>
              </a:ext>
            </a:extLst>
          </p:cNvPr>
          <p:cNvSpPr>
            <a:spLocks noGrp="1"/>
          </p:cNvSpPr>
          <p:nvPr>
            <p:ph type="title"/>
          </p:nvPr>
        </p:nvSpPr>
        <p:spPr>
          <a:xfrm>
            <a:off x="0" y="117984"/>
            <a:ext cx="10515600" cy="1325563"/>
          </a:xfrm>
        </p:spPr>
        <p:txBody>
          <a:bodyPr/>
          <a:lstStyle/>
          <a:p>
            <a:pPr fontAlgn="base"/>
            <a:r>
              <a:rPr lang="en-US" b="1" dirty="0"/>
              <a:t>Autonomous teams:</a:t>
            </a:r>
          </a:p>
        </p:txBody>
      </p:sp>
      <p:sp>
        <p:nvSpPr>
          <p:cNvPr id="2" name="Rectangle 1">
            <a:extLst>
              <a:ext uri="{FF2B5EF4-FFF2-40B4-BE49-F238E27FC236}">
                <a16:creationId xmlns:a16="http://schemas.microsoft.com/office/drawing/2014/main" id="{902CC2AE-B3A0-04AF-2A27-1BB5871E81B2}"/>
              </a:ext>
            </a:extLst>
          </p:cNvPr>
          <p:cNvSpPr/>
          <p:nvPr/>
        </p:nvSpPr>
        <p:spPr>
          <a:xfrm>
            <a:off x="148223" y="1218674"/>
            <a:ext cx="111760" cy="92475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873180F2-60EB-E4F1-B97F-2D5077E44AB5}"/>
              </a:ext>
            </a:extLst>
          </p:cNvPr>
          <p:cNvSpPr/>
          <p:nvPr/>
        </p:nvSpPr>
        <p:spPr>
          <a:xfrm>
            <a:off x="224422" y="1218674"/>
            <a:ext cx="11743155" cy="924758"/>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As a higher-order benefit of decoupling both our codebases and our release cycles, we get a long way towards having fully independent teams, who can own a section of a product from ideation through to production and beyond.</a:t>
            </a:r>
          </a:p>
        </p:txBody>
      </p:sp>
      <p:pic>
        <p:nvPicPr>
          <p:cNvPr id="10" name="Picture 9">
            <a:extLst>
              <a:ext uri="{FF2B5EF4-FFF2-40B4-BE49-F238E27FC236}">
                <a16:creationId xmlns:a16="http://schemas.microsoft.com/office/drawing/2014/main" id="{E149DD99-64F4-4877-0C99-0F78E79C018E}"/>
              </a:ext>
            </a:extLst>
          </p:cNvPr>
          <p:cNvPicPr>
            <a:picLocks noChangeAspect="1"/>
          </p:cNvPicPr>
          <p:nvPr/>
        </p:nvPicPr>
        <p:blipFill>
          <a:blip r:embed="rId3"/>
          <a:stretch>
            <a:fillRect/>
          </a:stretch>
        </p:blipFill>
        <p:spPr>
          <a:xfrm>
            <a:off x="1179871" y="2271252"/>
            <a:ext cx="9448799" cy="4267200"/>
          </a:xfrm>
          <a:prstGeom prst="rect">
            <a:avLst/>
          </a:prstGeom>
        </p:spPr>
      </p:pic>
    </p:spTree>
    <p:extLst>
      <p:ext uri="{BB962C8B-B14F-4D97-AF65-F5344CB8AC3E}">
        <p14:creationId xmlns:p14="http://schemas.microsoft.com/office/powerpoint/2010/main" val="2151562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0C712B5-92AA-F21D-4BB0-3F1FCA48442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AAEF4CA-978B-A074-62F8-816FDFAA08F8}"/>
              </a:ext>
            </a:extLst>
          </p:cNvPr>
          <p:cNvSpPr>
            <a:spLocks noGrp="1"/>
          </p:cNvSpPr>
          <p:nvPr>
            <p:ph type="title"/>
          </p:nvPr>
        </p:nvSpPr>
        <p:spPr>
          <a:xfrm>
            <a:off x="0" y="117984"/>
            <a:ext cx="10515600" cy="1325563"/>
          </a:xfrm>
        </p:spPr>
        <p:txBody>
          <a:bodyPr/>
          <a:lstStyle/>
          <a:p>
            <a:pPr fontAlgn="base"/>
            <a:r>
              <a:rPr lang="en-US" b="1" dirty="0"/>
              <a:t>The example:</a:t>
            </a:r>
          </a:p>
        </p:txBody>
      </p:sp>
      <p:pic>
        <p:nvPicPr>
          <p:cNvPr id="7" name="Picture 6">
            <a:extLst>
              <a:ext uri="{FF2B5EF4-FFF2-40B4-BE49-F238E27FC236}">
                <a16:creationId xmlns:a16="http://schemas.microsoft.com/office/drawing/2014/main" id="{85D6CCC3-2F9C-32C9-9D47-EFE4F80D8A1B}"/>
              </a:ext>
            </a:extLst>
          </p:cNvPr>
          <p:cNvPicPr>
            <a:picLocks noChangeAspect="1"/>
          </p:cNvPicPr>
          <p:nvPr/>
        </p:nvPicPr>
        <p:blipFill>
          <a:blip r:embed="rId3"/>
          <a:stretch>
            <a:fillRect/>
          </a:stretch>
        </p:blipFill>
        <p:spPr>
          <a:xfrm>
            <a:off x="1229032" y="2231922"/>
            <a:ext cx="9733936" cy="4508093"/>
          </a:xfrm>
          <a:prstGeom prst="rect">
            <a:avLst/>
          </a:prstGeom>
        </p:spPr>
      </p:pic>
      <p:sp>
        <p:nvSpPr>
          <p:cNvPr id="9" name="Rectangle 8">
            <a:extLst>
              <a:ext uri="{FF2B5EF4-FFF2-40B4-BE49-F238E27FC236}">
                <a16:creationId xmlns:a16="http://schemas.microsoft.com/office/drawing/2014/main" id="{BB9895D4-F880-60DE-D590-E3C906AC11FA}"/>
              </a:ext>
            </a:extLst>
          </p:cNvPr>
          <p:cNvSpPr/>
          <p:nvPr/>
        </p:nvSpPr>
        <p:spPr>
          <a:xfrm>
            <a:off x="148223" y="1218674"/>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4CCCA230-FB8B-93E6-1221-A81506115E9C}"/>
              </a:ext>
            </a:extLst>
          </p:cNvPr>
          <p:cNvSpPr/>
          <p:nvPr/>
        </p:nvSpPr>
        <p:spPr>
          <a:xfrm>
            <a:off x="224422" y="1218674"/>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Imagine a website where customers can order food for delivery. On the surface, it's a fairly simple concept, but there's a surprising amount of detail if you want to do it well:</a:t>
            </a:r>
          </a:p>
        </p:txBody>
      </p:sp>
    </p:spTree>
    <p:extLst>
      <p:ext uri="{BB962C8B-B14F-4D97-AF65-F5344CB8AC3E}">
        <p14:creationId xmlns:p14="http://schemas.microsoft.com/office/powerpoint/2010/main" val="847578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80036439-2453-8DAC-192B-EC101F116DB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32D5A38-230A-2815-8E21-38C14140A5E8}"/>
              </a:ext>
            </a:extLst>
          </p:cNvPr>
          <p:cNvSpPr>
            <a:spLocks noGrp="1"/>
          </p:cNvSpPr>
          <p:nvPr>
            <p:ph type="title"/>
          </p:nvPr>
        </p:nvSpPr>
        <p:spPr>
          <a:xfrm>
            <a:off x="0" y="117984"/>
            <a:ext cx="10515600" cy="1325563"/>
          </a:xfrm>
        </p:spPr>
        <p:txBody>
          <a:bodyPr/>
          <a:lstStyle/>
          <a:p>
            <a:pPr fontAlgn="base"/>
            <a:r>
              <a:rPr lang="en-US" b="1" dirty="0"/>
              <a:t>Integration approaches:</a:t>
            </a:r>
          </a:p>
        </p:txBody>
      </p:sp>
      <p:pic>
        <p:nvPicPr>
          <p:cNvPr id="3" name="Picture 2">
            <a:extLst>
              <a:ext uri="{FF2B5EF4-FFF2-40B4-BE49-F238E27FC236}">
                <a16:creationId xmlns:a16="http://schemas.microsoft.com/office/drawing/2014/main" id="{28F57CE5-F23F-2CDC-AE21-FCF601AA0D69}"/>
              </a:ext>
            </a:extLst>
          </p:cNvPr>
          <p:cNvPicPr>
            <a:picLocks noChangeAspect="1"/>
          </p:cNvPicPr>
          <p:nvPr/>
        </p:nvPicPr>
        <p:blipFill>
          <a:blip r:embed="rId3"/>
          <a:stretch>
            <a:fillRect/>
          </a:stretch>
        </p:blipFill>
        <p:spPr>
          <a:xfrm>
            <a:off x="464033" y="1443547"/>
            <a:ext cx="11263933" cy="4931776"/>
          </a:xfrm>
          <a:prstGeom prst="rect">
            <a:avLst/>
          </a:prstGeom>
        </p:spPr>
      </p:pic>
    </p:spTree>
    <p:extLst>
      <p:ext uri="{BB962C8B-B14F-4D97-AF65-F5344CB8AC3E}">
        <p14:creationId xmlns:p14="http://schemas.microsoft.com/office/powerpoint/2010/main" val="35237191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D1426F3B-7883-08CE-C185-3ED60CE0BD1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BBD6CA9-7D0F-F21E-792A-F4E7718514E2}"/>
              </a:ext>
            </a:extLst>
          </p:cNvPr>
          <p:cNvSpPr>
            <a:spLocks noGrp="1"/>
          </p:cNvSpPr>
          <p:nvPr>
            <p:ph type="title"/>
          </p:nvPr>
        </p:nvSpPr>
        <p:spPr>
          <a:xfrm>
            <a:off x="0" y="-58996"/>
            <a:ext cx="10515600" cy="1325563"/>
          </a:xfrm>
        </p:spPr>
        <p:txBody>
          <a:bodyPr/>
          <a:lstStyle/>
          <a:p>
            <a:pPr fontAlgn="base"/>
            <a:r>
              <a:rPr lang="en-US" b="1" dirty="0"/>
              <a:t>Server-side template composition:</a:t>
            </a:r>
          </a:p>
        </p:txBody>
      </p:sp>
      <p:pic>
        <p:nvPicPr>
          <p:cNvPr id="4" name="Picture 3">
            <a:extLst>
              <a:ext uri="{FF2B5EF4-FFF2-40B4-BE49-F238E27FC236}">
                <a16:creationId xmlns:a16="http://schemas.microsoft.com/office/drawing/2014/main" id="{8257FEDD-FACC-7409-906F-E49E3481A3D6}"/>
              </a:ext>
            </a:extLst>
          </p:cNvPr>
          <p:cNvPicPr>
            <a:picLocks noChangeAspect="1"/>
          </p:cNvPicPr>
          <p:nvPr/>
        </p:nvPicPr>
        <p:blipFill>
          <a:blip r:embed="rId3"/>
          <a:stretch>
            <a:fillRect/>
          </a:stretch>
        </p:blipFill>
        <p:spPr>
          <a:xfrm>
            <a:off x="255240" y="1226468"/>
            <a:ext cx="3825147" cy="2804758"/>
          </a:xfrm>
          <a:prstGeom prst="rect">
            <a:avLst/>
          </a:prstGeom>
        </p:spPr>
      </p:pic>
      <p:pic>
        <p:nvPicPr>
          <p:cNvPr id="6" name="Picture 5">
            <a:extLst>
              <a:ext uri="{FF2B5EF4-FFF2-40B4-BE49-F238E27FC236}">
                <a16:creationId xmlns:a16="http://schemas.microsoft.com/office/drawing/2014/main" id="{AF8777C3-1D4A-4977-6BC7-35F06AC13C3D}"/>
              </a:ext>
            </a:extLst>
          </p:cNvPr>
          <p:cNvPicPr>
            <a:picLocks noChangeAspect="1"/>
          </p:cNvPicPr>
          <p:nvPr/>
        </p:nvPicPr>
        <p:blipFill>
          <a:blip r:embed="rId4"/>
          <a:stretch>
            <a:fillRect/>
          </a:stretch>
        </p:blipFill>
        <p:spPr>
          <a:xfrm>
            <a:off x="4178311" y="1123125"/>
            <a:ext cx="4896863" cy="5616891"/>
          </a:xfrm>
          <a:prstGeom prst="rect">
            <a:avLst/>
          </a:prstGeom>
        </p:spPr>
      </p:pic>
      <p:sp>
        <p:nvSpPr>
          <p:cNvPr id="7" name="Rectangle: Rounded Corners 6">
            <a:extLst>
              <a:ext uri="{FF2B5EF4-FFF2-40B4-BE49-F238E27FC236}">
                <a16:creationId xmlns:a16="http://schemas.microsoft.com/office/drawing/2014/main" id="{DC141250-1564-BEEE-5BCB-69E5005421CA}"/>
              </a:ext>
            </a:extLst>
          </p:cNvPr>
          <p:cNvSpPr/>
          <p:nvPr/>
        </p:nvSpPr>
        <p:spPr>
          <a:xfrm>
            <a:off x="117588" y="4375355"/>
            <a:ext cx="3962799" cy="22220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This is fairly standard server-side composition. The reason we could justifiably call this micro frontends is that we've split up our code in such a way that each piece represents a self-contained domain concept that can be delivered by an independent team.</a:t>
            </a:r>
          </a:p>
        </p:txBody>
      </p:sp>
      <p:sp>
        <p:nvSpPr>
          <p:cNvPr id="9" name="Rectangle: Rounded Corners 8">
            <a:extLst>
              <a:ext uri="{FF2B5EF4-FFF2-40B4-BE49-F238E27FC236}">
                <a16:creationId xmlns:a16="http://schemas.microsoft.com/office/drawing/2014/main" id="{E944220B-A85E-4A4C-108E-A3277906FBAD}"/>
              </a:ext>
            </a:extLst>
          </p:cNvPr>
          <p:cNvSpPr/>
          <p:nvPr/>
        </p:nvSpPr>
        <p:spPr>
          <a:xfrm>
            <a:off x="8140710" y="884904"/>
            <a:ext cx="3962799" cy="222209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What's not shown here is how those various HTML files end up on the web server, but the assumption is that they each have their own deployment pipeline, which allows us to deploy changes to one page without affecting or thinking about any other page.</a:t>
            </a:r>
          </a:p>
        </p:txBody>
      </p:sp>
    </p:spTree>
    <p:extLst>
      <p:ext uri="{BB962C8B-B14F-4D97-AF65-F5344CB8AC3E}">
        <p14:creationId xmlns:p14="http://schemas.microsoft.com/office/powerpoint/2010/main" val="11974982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9FDC620-F71E-864A-ACA6-427081D535C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0585CBD-F997-ED22-5647-DD76C3A0C977}"/>
              </a:ext>
            </a:extLst>
          </p:cNvPr>
          <p:cNvSpPr>
            <a:spLocks noGrp="1"/>
          </p:cNvSpPr>
          <p:nvPr>
            <p:ph type="title"/>
          </p:nvPr>
        </p:nvSpPr>
        <p:spPr>
          <a:xfrm>
            <a:off x="0" y="-58996"/>
            <a:ext cx="10515600" cy="1325563"/>
          </a:xfrm>
        </p:spPr>
        <p:txBody>
          <a:bodyPr/>
          <a:lstStyle/>
          <a:p>
            <a:pPr fontAlgn="base"/>
            <a:r>
              <a:rPr lang="en-US" b="1" dirty="0"/>
              <a:t>Server-side template composition:</a:t>
            </a:r>
          </a:p>
        </p:txBody>
      </p:sp>
      <p:pic>
        <p:nvPicPr>
          <p:cNvPr id="3" name="Picture 2">
            <a:extLst>
              <a:ext uri="{FF2B5EF4-FFF2-40B4-BE49-F238E27FC236}">
                <a16:creationId xmlns:a16="http://schemas.microsoft.com/office/drawing/2014/main" id="{1B89C77E-DF98-F51B-1ED2-894A25A278D9}"/>
              </a:ext>
            </a:extLst>
          </p:cNvPr>
          <p:cNvPicPr>
            <a:picLocks noChangeAspect="1"/>
          </p:cNvPicPr>
          <p:nvPr/>
        </p:nvPicPr>
        <p:blipFill>
          <a:blip r:embed="rId3"/>
          <a:stretch>
            <a:fillRect/>
          </a:stretch>
        </p:blipFill>
        <p:spPr>
          <a:xfrm>
            <a:off x="634062" y="1792796"/>
            <a:ext cx="10923875" cy="3762430"/>
          </a:xfrm>
          <a:prstGeom prst="rect">
            <a:avLst/>
          </a:prstGeom>
        </p:spPr>
      </p:pic>
    </p:spTree>
    <p:extLst>
      <p:ext uri="{BB962C8B-B14F-4D97-AF65-F5344CB8AC3E}">
        <p14:creationId xmlns:p14="http://schemas.microsoft.com/office/powerpoint/2010/main" val="1916370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59273999-6900-80D0-602A-1D420FE86EF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B4AB495-F459-8735-5D4A-07E71CEE23FB}"/>
              </a:ext>
            </a:extLst>
          </p:cNvPr>
          <p:cNvSpPr>
            <a:spLocks noGrp="1"/>
          </p:cNvSpPr>
          <p:nvPr>
            <p:ph type="title"/>
          </p:nvPr>
        </p:nvSpPr>
        <p:spPr>
          <a:xfrm>
            <a:off x="0" y="117984"/>
            <a:ext cx="10515600" cy="1325563"/>
          </a:xfrm>
        </p:spPr>
        <p:txBody>
          <a:bodyPr/>
          <a:lstStyle/>
          <a:p>
            <a:pPr fontAlgn="base"/>
            <a:r>
              <a:rPr lang="en-US" b="1" dirty="0"/>
              <a:t>Build-time integration:</a:t>
            </a:r>
          </a:p>
        </p:txBody>
      </p:sp>
      <p:sp>
        <p:nvSpPr>
          <p:cNvPr id="9" name="Rectangle 8">
            <a:extLst>
              <a:ext uri="{FF2B5EF4-FFF2-40B4-BE49-F238E27FC236}">
                <a16:creationId xmlns:a16="http://schemas.microsoft.com/office/drawing/2014/main" id="{95138DCB-0695-5149-65AD-C6C032337B93}"/>
              </a:ext>
            </a:extLst>
          </p:cNvPr>
          <p:cNvSpPr/>
          <p:nvPr/>
        </p:nvSpPr>
        <p:spPr>
          <a:xfrm>
            <a:off x="148223" y="1218674"/>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6A99C29-E763-3F96-3628-30E085A3D131}"/>
              </a:ext>
            </a:extLst>
          </p:cNvPr>
          <p:cNvSpPr/>
          <p:nvPr/>
        </p:nvSpPr>
        <p:spPr>
          <a:xfrm>
            <a:off x="224422" y="1218674"/>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One approach that we sometimes see is to publish each micro frontend as a package and have the container application include them all as library dependencies.</a:t>
            </a:r>
          </a:p>
        </p:txBody>
      </p:sp>
      <p:pic>
        <p:nvPicPr>
          <p:cNvPr id="3" name="Picture 2">
            <a:extLst>
              <a:ext uri="{FF2B5EF4-FFF2-40B4-BE49-F238E27FC236}">
                <a16:creationId xmlns:a16="http://schemas.microsoft.com/office/drawing/2014/main" id="{4469FBC7-44EE-D826-DF5B-18A5A0329D9B}"/>
              </a:ext>
            </a:extLst>
          </p:cNvPr>
          <p:cNvPicPr>
            <a:picLocks noChangeAspect="1"/>
          </p:cNvPicPr>
          <p:nvPr/>
        </p:nvPicPr>
        <p:blipFill>
          <a:blip r:embed="rId3"/>
          <a:stretch>
            <a:fillRect/>
          </a:stretch>
        </p:blipFill>
        <p:spPr>
          <a:xfrm>
            <a:off x="148222" y="2309877"/>
            <a:ext cx="5239855" cy="4051594"/>
          </a:xfrm>
          <a:prstGeom prst="rect">
            <a:avLst/>
          </a:prstGeom>
        </p:spPr>
      </p:pic>
      <p:sp>
        <p:nvSpPr>
          <p:cNvPr id="4" name="Rectangle: Rounded Corners 3">
            <a:extLst>
              <a:ext uri="{FF2B5EF4-FFF2-40B4-BE49-F238E27FC236}">
                <a16:creationId xmlns:a16="http://schemas.microsoft.com/office/drawing/2014/main" id="{C9AE07EC-9E59-C46A-EA7F-B6AF209B72A0}"/>
              </a:ext>
            </a:extLst>
          </p:cNvPr>
          <p:cNvSpPr/>
          <p:nvPr/>
        </p:nvSpPr>
        <p:spPr>
          <a:xfrm>
            <a:off x="5800633" y="2738961"/>
            <a:ext cx="5152502" cy="257605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produces a single deployable JavaScript bundle, as is usual, allowing us to de-duplicate common dependencies from our various applications. However, this approach means that we have to recompile and release every single micro frontend to make a change to any individual part of the product.</a:t>
            </a:r>
          </a:p>
        </p:txBody>
      </p:sp>
    </p:spTree>
    <p:extLst>
      <p:ext uri="{BB962C8B-B14F-4D97-AF65-F5344CB8AC3E}">
        <p14:creationId xmlns:p14="http://schemas.microsoft.com/office/powerpoint/2010/main" val="1737181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772ECDF0-6A5F-7EB6-BAFF-67D6491DADA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C94AEDD-09BE-5D3D-5389-BE3CAE3167CA}"/>
              </a:ext>
            </a:extLst>
          </p:cNvPr>
          <p:cNvSpPr>
            <a:spLocks noGrp="1"/>
          </p:cNvSpPr>
          <p:nvPr>
            <p:ph type="title"/>
          </p:nvPr>
        </p:nvSpPr>
        <p:spPr>
          <a:xfrm>
            <a:off x="0" y="117984"/>
            <a:ext cx="10515600" cy="1325563"/>
          </a:xfrm>
        </p:spPr>
        <p:txBody>
          <a:bodyPr/>
          <a:lstStyle/>
          <a:p>
            <a:pPr fontAlgn="base"/>
            <a:r>
              <a:rPr lang="en-US" b="1" dirty="0"/>
              <a:t>Run-time integration via </a:t>
            </a:r>
            <a:r>
              <a:rPr lang="en-US" b="1" dirty="0" err="1"/>
              <a:t>iframes</a:t>
            </a:r>
            <a:r>
              <a:rPr lang="en-US" b="1" dirty="0"/>
              <a:t>:</a:t>
            </a:r>
          </a:p>
        </p:txBody>
      </p:sp>
      <p:sp>
        <p:nvSpPr>
          <p:cNvPr id="9" name="Rectangle 8">
            <a:extLst>
              <a:ext uri="{FF2B5EF4-FFF2-40B4-BE49-F238E27FC236}">
                <a16:creationId xmlns:a16="http://schemas.microsoft.com/office/drawing/2014/main" id="{64E5F6BA-5D5B-0204-D29C-E736F2EC3C76}"/>
              </a:ext>
            </a:extLst>
          </p:cNvPr>
          <p:cNvSpPr/>
          <p:nvPr/>
        </p:nvSpPr>
        <p:spPr>
          <a:xfrm>
            <a:off x="148223" y="1218674"/>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C262735A-9996-A3EE-8416-F94C5ABBD1B8}"/>
              </a:ext>
            </a:extLst>
          </p:cNvPr>
          <p:cNvSpPr/>
          <p:nvPr/>
        </p:nvSpPr>
        <p:spPr>
          <a:xfrm>
            <a:off x="224422" y="1218674"/>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By their nature, </a:t>
            </a:r>
            <a:r>
              <a:rPr kumimoji="0" lang="en-US"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iframes</a:t>
            </a: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make it easy to build a page out of independent sub-pages. They also offer a good degree of isolation in terms of styling and global variables not interfering with each other.</a:t>
            </a:r>
          </a:p>
        </p:txBody>
      </p:sp>
      <p:pic>
        <p:nvPicPr>
          <p:cNvPr id="5" name="Picture 4">
            <a:extLst>
              <a:ext uri="{FF2B5EF4-FFF2-40B4-BE49-F238E27FC236}">
                <a16:creationId xmlns:a16="http://schemas.microsoft.com/office/drawing/2014/main" id="{0FD59F94-0D44-E28A-5455-D61A2D2ECC2E}"/>
              </a:ext>
            </a:extLst>
          </p:cNvPr>
          <p:cNvPicPr>
            <a:picLocks noChangeAspect="1"/>
          </p:cNvPicPr>
          <p:nvPr/>
        </p:nvPicPr>
        <p:blipFill>
          <a:blip r:embed="rId3"/>
          <a:stretch>
            <a:fillRect/>
          </a:stretch>
        </p:blipFill>
        <p:spPr>
          <a:xfrm>
            <a:off x="259982" y="2215273"/>
            <a:ext cx="6917565" cy="4524743"/>
          </a:xfrm>
          <a:prstGeom prst="rect">
            <a:avLst/>
          </a:prstGeom>
        </p:spPr>
      </p:pic>
    </p:spTree>
    <p:extLst>
      <p:ext uri="{BB962C8B-B14F-4D97-AF65-F5344CB8AC3E}">
        <p14:creationId xmlns:p14="http://schemas.microsoft.com/office/powerpoint/2010/main" val="34737086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B7629A3D-FE49-5C96-3DEC-B12409A02DFB}"/>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3582617-93F9-C10A-EDC3-E18E000131F1}"/>
              </a:ext>
            </a:extLst>
          </p:cNvPr>
          <p:cNvSpPr>
            <a:spLocks noGrp="1"/>
          </p:cNvSpPr>
          <p:nvPr>
            <p:ph type="title"/>
          </p:nvPr>
        </p:nvSpPr>
        <p:spPr>
          <a:xfrm>
            <a:off x="0" y="-108159"/>
            <a:ext cx="10515600" cy="1325563"/>
          </a:xfrm>
        </p:spPr>
        <p:txBody>
          <a:bodyPr/>
          <a:lstStyle/>
          <a:p>
            <a:pPr fontAlgn="base"/>
            <a:r>
              <a:rPr lang="en-US" b="1" dirty="0"/>
              <a:t>Run-time integration via JavaScript:</a:t>
            </a:r>
          </a:p>
        </p:txBody>
      </p:sp>
      <p:pic>
        <p:nvPicPr>
          <p:cNvPr id="3" name="Picture 2">
            <a:extLst>
              <a:ext uri="{FF2B5EF4-FFF2-40B4-BE49-F238E27FC236}">
                <a16:creationId xmlns:a16="http://schemas.microsoft.com/office/drawing/2014/main" id="{97F8F5ED-2059-B06F-5B63-D8A2BA295042}"/>
              </a:ext>
            </a:extLst>
          </p:cNvPr>
          <p:cNvPicPr>
            <a:picLocks noChangeAspect="1"/>
          </p:cNvPicPr>
          <p:nvPr/>
        </p:nvPicPr>
        <p:blipFill>
          <a:blip r:embed="rId3"/>
          <a:stretch>
            <a:fillRect/>
          </a:stretch>
        </p:blipFill>
        <p:spPr>
          <a:xfrm>
            <a:off x="152015" y="894735"/>
            <a:ext cx="8254566" cy="5864942"/>
          </a:xfrm>
          <a:prstGeom prst="rect">
            <a:avLst/>
          </a:prstGeom>
        </p:spPr>
      </p:pic>
      <p:sp>
        <p:nvSpPr>
          <p:cNvPr id="2" name="Rectangle: Rounded Corners 1">
            <a:extLst>
              <a:ext uri="{FF2B5EF4-FFF2-40B4-BE49-F238E27FC236}">
                <a16:creationId xmlns:a16="http://schemas.microsoft.com/office/drawing/2014/main" id="{72FA0705-5F15-4F92-C559-F30294702046}"/>
              </a:ext>
            </a:extLst>
          </p:cNvPr>
          <p:cNvSpPr/>
          <p:nvPr/>
        </p:nvSpPr>
        <p:spPr>
          <a:xfrm>
            <a:off x="3640200" y="894735"/>
            <a:ext cx="5152502" cy="12234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Each micro frontend is included on the page using a &lt;script&gt; tag, and upon load exposes a global function as its entry-point.</a:t>
            </a:r>
          </a:p>
        </p:txBody>
      </p:sp>
    </p:spTree>
    <p:extLst>
      <p:ext uri="{BB962C8B-B14F-4D97-AF65-F5344CB8AC3E}">
        <p14:creationId xmlns:p14="http://schemas.microsoft.com/office/powerpoint/2010/main" val="1726380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AD70370-5057-8AF2-004D-FAFB109C414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981E105-33E2-A9B5-7F9C-AB523E3F1DCD}"/>
              </a:ext>
            </a:extLst>
          </p:cNvPr>
          <p:cNvSpPr>
            <a:spLocks noGrp="1"/>
          </p:cNvSpPr>
          <p:nvPr>
            <p:ph type="title"/>
          </p:nvPr>
        </p:nvSpPr>
        <p:spPr>
          <a:xfrm>
            <a:off x="-1" y="117984"/>
            <a:ext cx="11543071" cy="1325563"/>
          </a:xfrm>
        </p:spPr>
        <p:txBody>
          <a:bodyPr/>
          <a:lstStyle/>
          <a:p>
            <a:pPr fontAlgn="base"/>
            <a:r>
              <a:rPr lang="en-US" b="1" dirty="0"/>
              <a:t>Backend Communication (Backend For Fronts):</a:t>
            </a:r>
          </a:p>
        </p:txBody>
      </p:sp>
      <p:sp>
        <p:nvSpPr>
          <p:cNvPr id="9" name="Rectangle 8">
            <a:extLst>
              <a:ext uri="{FF2B5EF4-FFF2-40B4-BE49-F238E27FC236}">
                <a16:creationId xmlns:a16="http://schemas.microsoft.com/office/drawing/2014/main" id="{31BF770E-AEB5-6DB5-A2AB-5190E72E5D96}"/>
              </a:ext>
            </a:extLst>
          </p:cNvPr>
          <p:cNvSpPr/>
          <p:nvPr/>
        </p:nvSpPr>
        <p:spPr>
          <a:xfrm>
            <a:off x="148223" y="1218674"/>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CC97ECA-3627-AE8F-B040-C2109C5F9D13}"/>
              </a:ext>
            </a:extLst>
          </p:cNvPr>
          <p:cNvSpPr/>
          <p:nvPr/>
        </p:nvSpPr>
        <p:spPr>
          <a:xfrm>
            <a:off x="224422" y="1218674"/>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One pattern that helps here is the BFF pattern, where each frontend application has a corresponding backend, whose purpose is solely to serve the needs of that frontend.</a:t>
            </a:r>
          </a:p>
        </p:txBody>
      </p:sp>
      <p:sp>
        <p:nvSpPr>
          <p:cNvPr id="2" name="Rectangle 1">
            <a:extLst>
              <a:ext uri="{FF2B5EF4-FFF2-40B4-BE49-F238E27FC236}">
                <a16:creationId xmlns:a16="http://schemas.microsoft.com/office/drawing/2014/main" id="{B5FC5F30-0618-D45E-FF0F-E36E8CC8512E}"/>
              </a:ext>
            </a:extLst>
          </p:cNvPr>
          <p:cNvSpPr/>
          <p:nvPr/>
        </p:nvSpPr>
        <p:spPr>
          <a:xfrm>
            <a:off x="148223" y="2204758"/>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63E0FB73-1BD5-F9FA-84E5-0491F99C58EA}"/>
              </a:ext>
            </a:extLst>
          </p:cNvPr>
          <p:cNvSpPr/>
          <p:nvPr/>
        </p:nvSpPr>
        <p:spPr>
          <a:xfrm>
            <a:off x="224422" y="2204758"/>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BFF might be self-contained with its own business logic and database, or it might just be an aggregator of downstream services.</a:t>
            </a:r>
          </a:p>
        </p:txBody>
      </p:sp>
      <p:sp>
        <p:nvSpPr>
          <p:cNvPr id="4" name="Rectangle 3">
            <a:extLst>
              <a:ext uri="{FF2B5EF4-FFF2-40B4-BE49-F238E27FC236}">
                <a16:creationId xmlns:a16="http://schemas.microsoft.com/office/drawing/2014/main" id="{4A4ADE68-CEDE-FF44-2D1E-2DEE0D635F19}"/>
              </a:ext>
            </a:extLst>
          </p:cNvPr>
          <p:cNvSpPr/>
          <p:nvPr/>
        </p:nvSpPr>
        <p:spPr>
          <a:xfrm>
            <a:off x="148223" y="3190842"/>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620B8972-81A2-6B3D-9E27-06A3934A1C3F}"/>
              </a:ext>
            </a:extLst>
          </p:cNvPr>
          <p:cNvSpPr/>
          <p:nvPr/>
        </p:nvSpPr>
        <p:spPr>
          <a:xfrm>
            <a:off x="224422" y="3190842"/>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guiding principle here is that the team building a particular micro frontend shouldn't have to wait for other teams to build things for them.</a:t>
            </a:r>
          </a:p>
        </p:txBody>
      </p:sp>
      <p:pic>
        <p:nvPicPr>
          <p:cNvPr id="10" name="Picture 9">
            <a:extLst>
              <a:ext uri="{FF2B5EF4-FFF2-40B4-BE49-F238E27FC236}">
                <a16:creationId xmlns:a16="http://schemas.microsoft.com/office/drawing/2014/main" id="{DD78A350-820F-5016-81F6-AFFEBF0D2630}"/>
              </a:ext>
            </a:extLst>
          </p:cNvPr>
          <p:cNvPicPr>
            <a:picLocks noChangeAspect="1"/>
          </p:cNvPicPr>
          <p:nvPr/>
        </p:nvPicPr>
        <p:blipFill>
          <a:blip r:embed="rId3"/>
          <a:stretch>
            <a:fillRect/>
          </a:stretch>
        </p:blipFill>
        <p:spPr>
          <a:xfrm>
            <a:off x="148223" y="4127766"/>
            <a:ext cx="6911939" cy="2681074"/>
          </a:xfrm>
          <a:prstGeom prst="rect">
            <a:avLst/>
          </a:prstGeom>
        </p:spPr>
      </p:pic>
    </p:spTree>
    <p:extLst>
      <p:ext uri="{BB962C8B-B14F-4D97-AF65-F5344CB8AC3E}">
        <p14:creationId xmlns:p14="http://schemas.microsoft.com/office/powerpoint/2010/main" val="27708664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9C5FEC6-9099-E51E-A942-00FC29D5109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718BD97-6D0C-B3AC-FB7A-E89DD1FA0F9C}"/>
              </a:ext>
            </a:extLst>
          </p:cNvPr>
          <p:cNvSpPr>
            <a:spLocks noGrp="1"/>
          </p:cNvSpPr>
          <p:nvPr>
            <p:ph type="title"/>
          </p:nvPr>
        </p:nvSpPr>
        <p:spPr>
          <a:xfrm>
            <a:off x="-1" y="-216311"/>
            <a:ext cx="11543071" cy="1325563"/>
          </a:xfrm>
        </p:spPr>
        <p:txBody>
          <a:bodyPr/>
          <a:lstStyle/>
          <a:p>
            <a:pPr fontAlgn="base"/>
            <a:r>
              <a:rPr lang="en-US" b="1" dirty="0"/>
              <a:t>C &amp; Python:</a:t>
            </a:r>
          </a:p>
        </p:txBody>
      </p:sp>
      <p:sp>
        <p:nvSpPr>
          <p:cNvPr id="9" name="Rectangle 8">
            <a:extLst>
              <a:ext uri="{FF2B5EF4-FFF2-40B4-BE49-F238E27FC236}">
                <a16:creationId xmlns:a16="http://schemas.microsoft.com/office/drawing/2014/main" id="{CB372013-39A2-6B61-03FD-FA6D87CF375C}"/>
              </a:ext>
            </a:extLst>
          </p:cNvPr>
          <p:cNvSpPr/>
          <p:nvPr/>
        </p:nvSpPr>
        <p:spPr>
          <a:xfrm>
            <a:off x="148223" y="884379"/>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447BCA12-FB6F-9B5E-E76E-13A3C28AECEC}"/>
              </a:ext>
            </a:extLst>
          </p:cNvPr>
          <p:cNvSpPr/>
          <p:nvPr/>
        </p:nvSpPr>
        <p:spPr>
          <a:xfrm>
            <a:off x="224422" y="884379"/>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 </a:t>
            </a:r>
            <a:r>
              <a:rPr kumimoji="0" lang="en-US"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ctypes</a:t>
            </a: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 the simplest flow. Your C code compiles to a shared library, Python loads it at runtime, and calls flow directly through the OS loader.</a:t>
            </a:r>
          </a:p>
        </p:txBody>
      </p:sp>
      <p:pic>
        <p:nvPicPr>
          <p:cNvPr id="7" name="Picture 6">
            <a:extLst>
              <a:ext uri="{FF2B5EF4-FFF2-40B4-BE49-F238E27FC236}">
                <a16:creationId xmlns:a16="http://schemas.microsoft.com/office/drawing/2014/main" id="{AC3695B3-3B0D-1810-3C0C-6BF15A40B99B}"/>
              </a:ext>
            </a:extLst>
          </p:cNvPr>
          <p:cNvPicPr>
            <a:picLocks noChangeAspect="1"/>
          </p:cNvPicPr>
          <p:nvPr/>
        </p:nvPicPr>
        <p:blipFill>
          <a:blip r:embed="rId3"/>
          <a:stretch>
            <a:fillRect/>
          </a:stretch>
        </p:blipFill>
        <p:spPr>
          <a:xfrm>
            <a:off x="1971366" y="1851204"/>
            <a:ext cx="7600335" cy="2536721"/>
          </a:xfrm>
          <a:prstGeom prst="rect">
            <a:avLst/>
          </a:prstGeom>
        </p:spPr>
      </p:pic>
      <p:pic>
        <p:nvPicPr>
          <p:cNvPr id="13" name="Picture 12">
            <a:extLst>
              <a:ext uri="{FF2B5EF4-FFF2-40B4-BE49-F238E27FC236}">
                <a16:creationId xmlns:a16="http://schemas.microsoft.com/office/drawing/2014/main" id="{9928777B-72EA-E930-82CA-7D8BFA3EF1A9}"/>
              </a:ext>
            </a:extLst>
          </p:cNvPr>
          <p:cNvPicPr>
            <a:picLocks noChangeAspect="1"/>
          </p:cNvPicPr>
          <p:nvPr/>
        </p:nvPicPr>
        <p:blipFill>
          <a:blip r:embed="rId4"/>
          <a:stretch>
            <a:fillRect/>
          </a:stretch>
        </p:blipFill>
        <p:spPr>
          <a:xfrm>
            <a:off x="148223" y="4306528"/>
            <a:ext cx="4282811" cy="2536721"/>
          </a:xfrm>
          <a:prstGeom prst="rect">
            <a:avLst/>
          </a:prstGeom>
        </p:spPr>
      </p:pic>
      <p:pic>
        <p:nvPicPr>
          <p:cNvPr id="15" name="Picture 14">
            <a:extLst>
              <a:ext uri="{FF2B5EF4-FFF2-40B4-BE49-F238E27FC236}">
                <a16:creationId xmlns:a16="http://schemas.microsoft.com/office/drawing/2014/main" id="{907830A2-8245-6D54-D4A2-C7311C79056C}"/>
              </a:ext>
            </a:extLst>
          </p:cNvPr>
          <p:cNvPicPr>
            <a:picLocks noChangeAspect="1"/>
          </p:cNvPicPr>
          <p:nvPr/>
        </p:nvPicPr>
        <p:blipFill>
          <a:blip r:embed="rId5"/>
          <a:stretch>
            <a:fillRect/>
          </a:stretch>
        </p:blipFill>
        <p:spPr>
          <a:xfrm>
            <a:off x="4597526" y="5324165"/>
            <a:ext cx="4282811" cy="501445"/>
          </a:xfrm>
          <a:prstGeom prst="rect">
            <a:avLst/>
          </a:prstGeom>
        </p:spPr>
      </p:pic>
      <p:pic>
        <p:nvPicPr>
          <p:cNvPr id="17" name="Picture 16">
            <a:extLst>
              <a:ext uri="{FF2B5EF4-FFF2-40B4-BE49-F238E27FC236}">
                <a16:creationId xmlns:a16="http://schemas.microsoft.com/office/drawing/2014/main" id="{E1583F1A-C941-58F2-BBF0-A7F88C687709}"/>
              </a:ext>
            </a:extLst>
          </p:cNvPr>
          <p:cNvPicPr>
            <a:picLocks noChangeAspect="1"/>
          </p:cNvPicPr>
          <p:nvPr/>
        </p:nvPicPr>
        <p:blipFill>
          <a:blip r:embed="rId6"/>
          <a:stretch>
            <a:fillRect/>
          </a:stretch>
        </p:blipFill>
        <p:spPr>
          <a:xfrm>
            <a:off x="8967019" y="4026948"/>
            <a:ext cx="3195485" cy="2536721"/>
          </a:xfrm>
          <a:prstGeom prst="rect">
            <a:avLst/>
          </a:prstGeom>
        </p:spPr>
      </p:pic>
    </p:spTree>
    <p:extLst>
      <p:ext uri="{BB962C8B-B14F-4D97-AF65-F5344CB8AC3E}">
        <p14:creationId xmlns:p14="http://schemas.microsoft.com/office/powerpoint/2010/main" val="2347205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CC7E8B80-9F0B-172A-A6EE-D9717BA1E5E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EBFDD47-3F09-AF28-BD04-01E16F0A29BC}"/>
              </a:ext>
            </a:extLst>
          </p:cNvPr>
          <p:cNvSpPr>
            <a:spLocks noGrp="1"/>
          </p:cNvSpPr>
          <p:nvPr>
            <p:ph type="title"/>
          </p:nvPr>
        </p:nvSpPr>
        <p:spPr>
          <a:xfrm>
            <a:off x="-1" y="-216311"/>
            <a:ext cx="11543071" cy="1325563"/>
          </a:xfrm>
        </p:spPr>
        <p:txBody>
          <a:bodyPr/>
          <a:lstStyle/>
          <a:p>
            <a:pPr fontAlgn="base"/>
            <a:r>
              <a:rPr lang="en-US" b="1" dirty="0"/>
              <a:t>C &amp; Python:</a:t>
            </a:r>
          </a:p>
        </p:txBody>
      </p:sp>
      <p:sp>
        <p:nvSpPr>
          <p:cNvPr id="9" name="Rectangle 8">
            <a:extLst>
              <a:ext uri="{FF2B5EF4-FFF2-40B4-BE49-F238E27FC236}">
                <a16:creationId xmlns:a16="http://schemas.microsoft.com/office/drawing/2014/main" id="{787708B1-5916-9860-8E45-04D8F6C68DE7}"/>
              </a:ext>
            </a:extLst>
          </p:cNvPr>
          <p:cNvSpPr/>
          <p:nvPr/>
        </p:nvSpPr>
        <p:spPr>
          <a:xfrm>
            <a:off x="148223" y="884379"/>
            <a:ext cx="111760"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0E65D38-B6F3-3426-57F8-532F06C71464}"/>
              </a:ext>
            </a:extLst>
          </p:cNvPr>
          <p:cNvSpPr/>
          <p:nvPr/>
        </p:nvSpPr>
        <p:spPr>
          <a:xfrm>
            <a:off x="224422" y="884379"/>
            <a:ext cx="11743155" cy="875597"/>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2. </a:t>
            </a:r>
            <a:r>
              <a:rPr kumimoji="0" lang="en-US"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cffi</a:t>
            </a: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 same idea as </a:t>
            </a:r>
            <a:r>
              <a:rPr kumimoji="0" lang="en-US"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ctypes</a:t>
            </a: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but you hand it the C function signature as a string. </a:t>
            </a:r>
            <a:r>
              <a:rPr kumimoji="0" lang="en-US"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Cffi</a:t>
            </a:r>
            <a:r>
              <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parses it, builds a binding internally, and then the OS linker does the same job. cleaner API, popular in real projects</a:t>
            </a:r>
          </a:p>
        </p:txBody>
      </p:sp>
      <p:pic>
        <p:nvPicPr>
          <p:cNvPr id="19" name="Picture 18">
            <a:extLst>
              <a:ext uri="{FF2B5EF4-FFF2-40B4-BE49-F238E27FC236}">
                <a16:creationId xmlns:a16="http://schemas.microsoft.com/office/drawing/2014/main" id="{C53AD7D3-8A59-44B4-B14F-D24D7345BE5F}"/>
              </a:ext>
            </a:extLst>
          </p:cNvPr>
          <p:cNvPicPr>
            <a:picLocks noChangeAspect="1"/>
          </p:cNvPicPr>
          <p:nvPr/>
        </p:nvPicPr>
        <p:blipFill>
          <a:blip r:embed="rId3"/>
          <a:stretch>
            <a:fillRect/>
          </a:stretch>
        </p:blipFill>
        <p:spPr>
          <a:xfrm>
            <a:off x="2084440" y="1839497"/>
            <a:ext cx="7610166" cy="2319548"/>
          </a:xfrm>
          <a:prstGeom prst="rect">
            <a:avLst/>
          </a:prstGeom>
        </p:spPr>
      </p:pic>
      <p:pic>
        <p:nvPicPr>
          <p:cNvPr id="21" name="Picture 20">
            <a:extLst>
              <a:ext uri="{FF2B5EF4-FFF2-40B4-BE49-F238E27FC236}">
                <a16:creationId xmlns:a16="http://schemas.microsoft.com/office/drawing/2014/main" id="{04A627F6-09F4-E010-AF63-53820681BC4C}"/>
              </a:ext>
            </a:extLst>
          </p:cNvPr>
          <p:cNvPicPr>
            <a:picLocks noChangeAspect="1"/>
          </p:cNvPicPr>
          <p:nvPr/>
        </p:nvPicPr>
        <p:blipFill>
          <a:blip r:embed="rId4"/>
          <a:stretch>
            <a:fillRect/>
          </a:stretch>
        </p:blipFill>
        <p:spPr>
          <a:xfrm>
            <a:off x="224422" y="3746090"/>
            <a:ext cx="4214225" cy="2959509"/>
          </a:xfrm>
          <a:prstGeom prst="rect">
            <a:avLst/>
          </a:prstGeom>
        </p:spPr>
      </p:pic>
    </p:spTree>
    <p:extLst>
      <p:ext uri="{BB962C8B-B14F-4D97-AF65-F5344CB8AC3E}">
        <p14:creationId xmlns:p14="http://schemas.microsoft.com/office/powerpoint/2010/main" val="12846589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837F6C-06C6-755F-B4D7-CAFC7A284458}"/>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AF113E30-2BB6-5E16-2814-EA047662056B}"/>
              </a:ext>
            </a:extLst>
          </p:cNvPr>
          <p:cNvSpPr txBox="1">
            <a:spLocks/>
          </p:cNvSpPr>
          <p:nvPr/>
        </p:nvSpPr>
        <p:spPr>
          <a:xfrm>
            <a:off x="2285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References:</a:t>
            </a:r>
          </a:p>
        </p:txBody>
      </p:sp>
      <p:sp>
        <p:nvSpPr>
          <p:cNvPr id="16" name="TextBox 15">
            <a:extLst>
              <a:ext uri="{FF2B5EF4-FFF2-40B4-BE49-F238E27FC236}">
                <a16:creationId xmlns:a16="http://schemas.microsoft.com/office/drawing/2014/main" id="{55836550-7F6C-4741-41F6-84B197D95F7F}"/>
              </a:ext>
            </a:extLst>
          </p:cNvPr>
          <p:cNvSpPr txBox="1"/>
          <p:nvPr/>
        </p:nvSpPr>
        <p:spPr>
          <a:xfrm>
            <a:off x="228599" y="1535739"/>
            <a:ext cx="10774017"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https://martinfowler.com/articles/micro-frontends.html</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83F5A99B-00D6-0B05-C9CF-23BB1D270C69}"/>
              </a:ext>
            </a:extLst>
          </p:cNvPr>
          <p:cNvSpPr txBox="1"/>
          <p:nvPr/>
        </p:nvSpPr>
        <p:spPr>
          <a:xfrm>
            <a:off x="228599" y="214602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https://www.youtube.com/watch?v=lKKsjpH09dU</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933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ACFB3-8B18-F186-25D2-C0E0C1E7154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8147A38C-CCA5-39B7-802B-57C179F5D6CE}"/>
              </a:ext>
            </a:extLst>
          </p:cNvPr>
          <p:cNvSpPr txBox="1">
            <a:spLocks/>
          </p:cNvSpPr>
          <p:nvPr/>
        </p:nvSpPr>
        <p:spPr>
          <a:xfrm>
            <a:off x="1524000" y="1293338"/>
            <a:ext cx="9144000" cy="32745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Aptos Display" panose="02110004020202020204"/>
                <a:ea typeface="+mj-ea"/>
                <a:cs typeface="+mj-cs"/>
              </a:rPr>
              <a:t>THANK YOU</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1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1782</TotalTime>
  <Words>1524</Words>
  <Application>Microsoft Office PowerPoint</Application>
  <PresentationFormat>Widescreen</PresentationFormat>
  <Paragraphs>103</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Times New Roman</vt:lpstr>
      <vt:lpstr>Office Theme</vt:lpstr>
      <vt:lpstr>PowerPoint Presentation</vt:lpstr>
      <vt:lpstr>Microservices: an intro to Microfrontends:</vt:lpstr>
      <vt:lpstr>Microservices: an intro to Microfrontends:</vt:lpstr>
      <vt:lpstr>Introduction</vt:lpstr>
      <vt:lpstr>What are Microfrontends?</vt:lpstr>
      <vt:lpstr>Incremental upgrades:</vt:lpstr>
      <vt:lpstr>Independent deployment:</vt:lpstr>
      <vt:lpstr>Autonomous teams:</vt:lpstr>
      <vt:lpstr>The example:</vt:lpstr>
      <vt:lpstr>Integration approaches:</vt:lpstr>
      <vt:lpstr>Server-side template composition:</vt:lpstr>
      <vt:lpstr>Server-side template composition:</vt:lpstr>
      <vt:lpstr>Build-time integration:</vt:lpstr>
      <vt:lpstr>Run-time integration via iframes:</vt:lpstr>
      <vt:lpstr>Run-time integration via JavaScript:</vt:lpstr>
      <vt:lpstr>Backend Communication (Backend For Fronts):</vt:lpstr>
      <vt:lpstr>C &amp; Python:</vt:lpstr>
      <vt:lpstr>C &amp; Python: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alHasan 20367648</cp:lastModifiedBy>
  <cp:revision>621</cp:revision>
  <dcterms:created xsi:type="dcterms:W3CDTF">2026-03-07T15:17:43Z</dcterms:created>
  <dcterms:modified xsi:type="dcterms:W3CDTF">2026-04-16T06:23:03Z</dcterms:modified>
</cp:coreProperties>
</file>